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31.svg" ContentType="image/svg+xml"/>
  <Override PartName="/ppt/media/image3.svg" ContentType="image/svg+xml"/>
  <Override PartName="/ppt/media/image7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9" r:id="rId57"/>
    <p:sldId id="280" r:id="rId58"/>
    <p:sldId id="281" r:id="rId59"/>
    <p:sldId id="282" r:id="rId60"/>
    <p:sldId id="276" r:id="rId26"/>
    <p:sldId id="277" r:id="rId27"/>
    <p:sldId id="278" r:id="rId28"/>
  </p:sldIdLst>
  <p:sldSz cx="18288000" cy="10287000"/>
  <p:notesSz cx="6858000" cy="9144000"/>
  <p:embeddedFontLst>
    <p:embeddedFont>
      <p:font typeface="Manrope Bold" charset="1" panose="00000000000000000000"/>
      <p:regular r:id="rId32"/>
    </p:embeddedFont>
    <p:embeddedFont>
      <p:font typeface="Manrope" charset="1" panose="00000000000000000000"/>
      <p:regular r:id="rId33"/>
    </p:embeddedFont>
    <p:embeddedFont>
      <p:font typeface="Courier New" charset="1" panose="02070309020205020404"/>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theme" Target="theme/theme2.xml"/><Relationship Id="rId31" Type="http://schemas.openxmlformats.org/officeDocument/2006/relationships/notesSlide" Target="notesSlides/notesSlide1.xml"/><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notesSlide" Target="notesSlides/notesSlide2.xml"/><Relationship Id="rId35" Type="http://schemas.openxmlformats.org/officeDocument/2006/relationships/notesSlide" Target="notesSlides/notesSlide3.xml"/><Relationship Id="rId36" Type="http://schemas.openxmlformats.org/officeDocument/2006/relationships/notesSlide" Target="notesSlides/notesSlide4.xml"/><Relationship Id="rId37" Type="http://schemas.openxmlformats.org/officeDocument/2006/relationships/notesSlide" Target="notesSlides/notesSlide5.xml"/><Relationship Id="rId38" Type="http://schemas.openxmlformats.org/officeDocument/2006/relationships/notesSlide" Target="notesSlides/notesSlide6.xml"/><Relationship Id="rId39" Type="http://schemas.openxmlformats.org/officeDocument/2006/relationships/notesSlide" Target="notesSlides/notesSlide7.xml"/><Relationship Id="rId40" Type="http://schemas.openxmlformats.org/officeDocument/2006/relationships/notesSlide" Target="notesSlides/notesSlide8.xml"/><Relationship Id="rId41" Type="http://schemas.openxmlformats.org/officeDocument/2006/relationships/notesSlide" Target="notesSlides/notesSlide9.xml"/><Relationship Id="rId42" Type="http://schemas.openxmlformats.org/officeDocument/2006/relationships/notesSlide" Target="notesSlides/notesSlide10.xml"/><Relationship Id="rId43" Type="http://schemas.openxmlformats.org/officeDocument/2006/relationships/notesSlide" Target="notesSlides/notesSlide11.xml"/><Relationship Id="rId44" Type="http://schemas.openxmlformats.org/officeDocument/2006/relationships/notesSlide" Target="notesSlides/notesSlide12.xml"/><Relationship Id="rId45" Type="http://schemas.openxmlformats.org/officeDocument/2006/relationships/notesSlide" Target="notesSlides/notesSlide13.xml"/><Relationship Id="rId46" Type="http://schemas.openxmlformats.org/officeDocument/2006/relationships/font" Target="fonts/font46.fntdata"/><Relationship Id="rId47" Type="http://schemas.openxmlformats.org/officeDocument/2006/relationships/notesSlide" Target="notesSlides/notesSlide14.xml"/><Relationship Id="rId48" Type="http://schemas.openxmlformats.org/officeDocument/2006/relationships/notesSlide" Target="notesSlides/notesSlide15.xml"/><Relationship Id="rId49" Type="http://schemas.openxmlformats.org/officeDocument/2006/relationships/notesSlide" Target="notesSlides/notesSlide16.xml"/><Relationship Id="rId50" Type="http://schemas.openxmlformats.org/officeDocument/2006/relationships/notesSlide" Target="notesSlides/notesSlide17.xml"/><Relationship Id="rId51" Type="http://schemas.openxmlformats.org/officeDocument/2006/relationships/notesSlide" Target="notesSlides/notesSlide18.xml"/><Relationship Id="rId52" Type="http://schemas.openxmlformats.org/officeDocument/2006/relationships/notesSlide" Target="notesSlides/notesSlide19.xml"/><Relationship Id="rId53" Type="http://schemas.openxmlformats.org/officeDocument/2006/relationships/notesSlide" Target="notesSlides/notesSlide20.xml"/><Relationship Id="rId54" Type="http://schemas.openxmlformats.org/officeDocument/2006/relationships/notesSlide" Target="notesSlides/notesSlide21.xml"/><Relationship Id="rId55" Type="http://schemas.openxmlformats.org/officeDocument/2006/relationships/notesSlide" Target="notesSlides/notesSlide22.xml"/><Relationship Id="rId56" Type="http://schemas.openxmlformats.org/officeDocument/2006/relationships/notesSlide" Target="notesSlides/notesSlide23.xml"/><Relationship Id="rId57" Type="http://schemas.openxmlformats.org/officeDocument/2006/relationships/slide" Target="slides/slide21.xml"/><Relationship Id="rId58" Type="http://schemas.openxmlformats.org/officeDocument/2006/relationships/slide" Target="slides/slide22.xml"/><Relationship Id="rId59" Type="http://schemas.openxmlformats.org/officeDocument/2006/relationships/slide" Target="slides/slide23.xml"/><Relationship Id="rId6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intégrer la musique</a:t>
            </a:r>
          </a:p>
          <a:p>
            <a:r>
              <a:rPr lang="en-US"/>
              <a:t/>
            </a:r>
          </a:p>
          <a:p>
            <a:r>
              <a:rPr lang="en-US"/>
              <a:t>checker le tout </a:t>
            </a:r>
          </a:p>
          <a:p>
            <a:r>
              <a:rPr lang="en-US"/>
              <a:t/>
            </a:r>
          </a:p>
          <a:p>
            <a:r>
              <a:rPr lang="en-US"/>
              <a:t>présentation paris : exporter le PPT ? </a:t>
            </a:r>
          </a:p>
          <a:p>
            <a:r>
              <a:rPr lang="en-US"/>
              <a:t/>
            </a:r>
          </a:p>
          <a:p>
            <a:r>
              <a:rPr lang="en-US"/>
              <a:t>dernière slide : changer le TM ?? </a:t>
            </a:r>
          </a:p>
          <a:p>
            <a:r>
              <a:rPr lang="en-US"/>
              <a:t>checker les url pour les réseaux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jpe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png"/><Relationship Id="rId10" Type="http://schemas.openxmlformats.org/officeDocument/2006/relationships/image" Target="../media/image3.svg"/><Relationship Id="rId11" Type="http://schemas.openxmlformats.org/officeDocument/2006/relationships/image" Target="../media/image9.jpeg"/><Relationship Id="rId12"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jpeg"/><Relationship Id="rId4" Type="http://schemas.openxmlformats.org/officeDocument/2006/relationships/image" Target="../media/image1.jpe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jpeg"/><Relationship Id="rId5"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5.png"/><Relationship Id="rId4" Type="http://schemas.openxmlformats.org/officeDocument/2006/relationships/image" Target="../media/image28.png"/><Relationship Id="rId5" Type="http://schemas.openxmlformats.org/officeDocument/2006/relationships/image" Target="../media/image1.jpe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43.png"/><Relationship Id="rId14" Type="http://schemas.openxmlformats.org/officeDocument/2006/relationships/image" Target="../media/image44.png"/><Relationship Id="rId15"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1.jpe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 Id="rId11" Type="http://schemas.openxmlformats.org/officeDocument/2006/relationships/image" Target="../media/image52.png"/><Relationship Id="rId12" Type="http://schemas.openxmlformats.org/officeDocument/2006/relationships/image" Target="../media/image5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5.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5.png"/><Relationship Id="rId4" Type="http://schemas.openxmlformats.org/officeDocument/2006/relationships/image" Target="../media/image1.jpeg"/><Relationship Id="rId5" Type="http://schemas.openxmlformats.org/officeDocument/2006/relationships/image" Target="../media/image28.png"/><Relationship Id="rId6" Type="http://schemas.openxmlformats.org/officeDocument/2006/relationships/image" Target="../media/image56.png"/><Relationship Id="rId7" Type="http://schemas.openxmlformats.org/officeDocument/2006/relationships/image" Target="../media/image5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28.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 Id="rId15" Type="http://schemas.openxmlformats.org/officeDocument/2006/relationships/image" Target="../media/image6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68.png"/><Relationship Id="rId6" Type="http://schemas.openxmlformats.org/officeDocument/2006/relationships/image" Target="../media/image2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6.png"/><Relationship Id="rId4" Type="http://schemas.openxmlformats.org/officeDocument/2006/relationships/image" Target="../media/image77.svg"/><Relationship Id="rId5" Type="http://schemas.openxmlformats.org/officeDocument/2006/relationships/image" Target="../media/image1.jpeg"/><Relationship Id="rId6" Type="http://schemas.openxmlformats.org/officeDocument/2006/relationships/image" Target="../media/image68.png"/><Relationship Id="rId7" Type="http://schemas.openxmlformats.org/officeDocument/2006/relationships/image" Target="../media/image28.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80.png"/><Relationship Id="rId11" Type="http://schemas.openxmlformats.org/officeDocument/2006/relationships/image" Target="../media/image81.png"/><Relationship Id="rId12" Type="http://schemas.openxmlformats.org/officeDocument/2006/relationships/image" Target="../media/image72.png"/><Relationship Id="rId13" Type="http://schemas.openxmlformats.org/officeDocument/2006/relationships/image" Target="../media/image7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2.png"/><Relationship Id="rId4" Type="http://schemas.openxmlformats.org/officeDocument/2006/relationships/image" Target="../media/image1.jpe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8.png"/><Relationship Id="rId4" Type="http://schemas.openxmlformats.org/officeDocument/2006/relationships/image" Target="../media/image1.jpe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28.png"/><Relationship Id="rId10" Type="http://schemas.openxmlformats.org/officeDocument/2006/relationships/image" Target="../media/image9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28.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jpeg"/><Relationship Id="rId4" Type="http://schemas.openxmlformats.org/officeDocument/2006/relationships/image" Target="../media/image28.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jpeg"/><Relationship Id="rId4" Type="http://schemas.openxmlformats.org/officeDocument/2006/relationships/image" Target="../media/image104.png"/><Relationship Id="rId5" Type="http://schemas.openxmlformats.org/officeDocument/2006/relationships/image" Target="../media/image28.png"/><Relationship Id="rId6" Type="http://schemas.openxmlformats.org/officeDocument/2006/relationships/image" Target="../media/image105.png"/><Relationship Id="rId7" Type="http://schemas.openxmlformats.org/officeDocument/2006/relationships/image" Target="../media/image81.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7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jpeg"/><Relationship Id="rId4" Type="http://schemas.openxmlformats.org/officeDocument/2006/relationships/image" Target="../media/image109.png"/><Relationship Id="rId5" Type="http://schemas.openxmlformats.org/officeDocument/2006/relationships/image" Target="../media/image28.png"/><Relationship Id="rId6" Type="http://schemas.openxmlformats.org/officeDocument/2006/relationships/image" Target="../media/image110.png"/><Relationship Id="rId7" Type="http://schemas.openxmlformats.org/officeDocument/2006/relationships/image" Target="../media/image111.png"/><Relationship Id="rId8" Type="http://schemas.openxmlformats.org/officeDocument/2006/relationships/image" Target="../media/image112.png"/><Relationship Id="rId9" Type="http://schemas.openxmlformats.org/officeDocument/2006/relationships/image" Target="../media/image113.png"/><Relationship Id="rId10" Type="http://schemas.openxmlformats.org/officeDocument/2006/relationships/image" Target="../media/image114.png"/><Relationship Id="rId11" Type="http://schemas.openxmlformats.org/officeDocument/2006/relationships/image" Target="../media/image115.png"/><Relationship Id="rId12" Type="http://schemas.openxmlformats.org/officeDocument/2006/relationships/image" Target="../media/image1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jpe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image" Target="../media/image28.png"/><Relationship Id="rId8" Type="http://schemas.openxmlformats.org/officeDocument/2006/relationships/image" Target="../media/image120.png"/><Relationship Id="rId9" Type="http://schemas.openxmlformats.org/officeDocument/2006/relationships/image" Target="../media/image121.png"/><Relationship Id="rId10" Type="http://schemas.openxmlformats.org/officeDocument/2006/relationships/image" Target="../media/image122.png"/><Relationship Id="rId11" Type="http://schemas.openxmlformats.org/officeDocument/2006/relationships/image" Target="../media/image123.png"/><Relationship Id="rId12" Type="http://schemas.openxmlformats.org/officeDocument/2006/relationships/image" Target="../media/image124.png"/><Relationship Id="rId13" Type="http://schemas.openxmlformats.org/officeDocument/2006/relationships/image" Target="../media/image125.png"/><Relationship Id="rId14" Type="http://schemas.openxmlformats.org/officeDocument/2006/relationships/image" Target="../media/image1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8.png"/><Relationship Id="rId4" Type="http://schemas.openxmlformats.org/officeDocument/2006/relationships/image" Target="../media/image1.jpeg"/><Relationship Id="rId5" Type="http://schemas.openxmlformats.org/officeDocument/2006/relationships/image" Target="../media/image85.png"/><Relationship Id="rId6" Type="http://schemas.openxmlformats.org/officeDocument/2006/relationships/image" Target="../media/image127.png"/><Relationship Id="rId7" Type="http://schemas.openxmlformats.org/officeDocument/2006/relationships/image" Target="../media/image67.png"/><Relationship Id="rId8" Type="http://schemas.openxmlformats.org/officeDocument/2006/relationships/image" Target="../media/image128.png"/><Relationship Id="rId9" Type="http://schemas.openxmlformats.org/officeDocument/2006/relationships/image" Target="../media/image90.png"/><Relationship Id="rId10" Type="http://schemas.openxmlformats.org/officeDocument/2006/relationships/image" Target="../media/image28.png"/><Relationship Id="rId11" Type="http://schemas.openxmlformats.org/officeDocument/2006/relationships/image" Target="../media/image1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skin1.jpeg"/><Relationship Id="rId4" Type="http://schemas.openxmlformats.org/officeDocument/2006/relationships/image" Target="../media/image1.jpe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jpeg"/><Relationship Id="rId4" Type="http://schemas.openxmlformats.org/officeDocument/2006/relationships/image" Target="../media/image109.png"/><Relationship Id="rId5" Type="http://schemas.openxmlformats.org/officeDocument/2006/relationships/image" Target="../media/image28.png"/><Relationship Id="rId6" Type="http://schemas.openxmlformats.org/officeDocument/2006/relationships/image" Target="../media/image110.png"/><Relationship Id="rId7" Type="http://schemas.openxmlformats.org/officeDocument/2006/relationships/image" Target="../media/image111.png"/><Relationship Id="rId8" Type="http://schemas.openxmlformats.org/officeDocument/2006/relationships/image" Target="../media/image112.png"/><Relationship Id="rId9" Type="http://schemas.openxmlformats.org/officeDocument/2006/relationships/image" Target="../media/image113.png"/><Relationship Id="rId10" Type="http://schemas.openxmlformats.org/officeDocument/2006/relationships/image" Target="../media/image114.png"/><Relationship Id="rId11" Type="http://schemas.openxmlformats.org/officeDocument/2006/relationships/image" Target="../media/image115.png"/><Relationship Id="rId12" Type="http://schemas.openxmlformats.org/officeDocument/2006/relationships/image" Target="../media/image1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5.png"/><Relationship Id="rId4" Type="http://schemas.openxmlformats.org/officeDocument/2006/relationships/image" Target="../media/image28.png"/><Relationship Id="rId5" Type="http://schemas.openxmlformats.org/officeDocument/2006/relationships/image" Target="../media/image1.jpe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43.png"/><Relationship Id="rId14" Type="http://schemas.openxmlformats.org/officeDocument/2006/relationships/image" Target="../media/image44.png"/><Relationship Id="rId15"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28.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0.png"/><Relationship Id="rId4" Type="http://schemas.openxmlformats.org/officeDocument/2006/relationships/image" Target="../media/image131.svg"/><Relationship Id="rId5" Type="http://schemas.openxmlformats.org/officeDocument/2006/relationships/image" Target="../media/image1.jpeg"/><Relationship Id="rId6" Type="http://schemas.openxmlformats.org/officeDocument/2006/relationships/image" Target="../media/image28.png"/><Relationship Id="rId7" Type="http://schemas.openxmlformats.org/officeDocument/2006/relationships/image" Target="../media/image132.png"/><Relationship Id="rId8" Type="http://schemas.openxmlformats.org/officeDocument/2006/relationships/image" Target="../media/image133.png"/><Relationship Id="rId9" Type="http://schemas.openxmlformats.org/officeDocument/2006/relationships/image" Target="../media/image1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hyperlink" Target="https://draddor.com" TargetMode="External"/><Relationship Id="rId8" Type="http://schemas.openxmlformats.org/officeDocument/2006/relationships/image" Target="../media/image137.png"/><Relationship Id="rId9" Type="http://schemas.openxmlformats.org/officeDocument/2006/relationships/image" Target="../media/image138.png"/><Relationship Id="rId10" Type="http://schemas.openxmlformats.org/officeDocument/2006/relationships/image" Target="../media/image13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jpeg"/><Relationship Id="rId4" Type="http://schemas.openxmlformats.org/officeDocument/2006/relationships/image" Target="../media/image140.png"/><Relationship Id="rId5" Type="http://schemas.openxmlformats.org/officeDocument/2006/relationships/image" Target="../media/image141.jpeg"/><Relationship Id="rId6" Type="http://schemas.openxmlformats.org/officeDocument/2006/relationships/image" Target="../media/image142.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11111"/>
            </a:solidFill>
          </p:spPr>
          <p:txBody>
            <a:bodyPr/>
            <a:p/>
          </p:txBody>
        </p:sp>
      </p:grpSp>
      <p:grpSp>
        <p:nvGrpSpPr>
          <p:cNvPr name="Group 4" id="4"/>
          <p:cNvGrpSpPr/>
          <p:nvPr/>
        </p:nvGrpSpPr>
        <p:grpSpPr>
          <a:xfrm rot="0">
            <a:off x="9153525" y="-9525"/>
            <a:ext cx="9163507" cy="10306050"/>
            <a:chOff x="0" y="0"/>
            <a:chExt cx="12218010" cy="13741400"/>
          </a:xfrm>
        </p:grpSpPr>
        <p:sp>
          <p:nvSpPr>
            <p:cNvPr name="Freeform 5" id="5"/>
            <p:cNvSpPr/>
            <p:nvPr/>
          </p:nvSpPr>
          <p:spPr>
            <a:xfrm flipH="false" flipV="false" rot="0">
              <a:off x="12700" y="12700"/>
              <a:ext cx="12192635" cy="13716000"/>
            </a:xfrm>
            <a:custGeom>
              <a:avLst/>
              <a:gdLst/>
              <a:ahLst/>
              <a:cxnLst/>
              <a:rect r="r" b="b" t="t" l="l"/>
              <a:pathLst>
                <a:path h="13716000" w="12192635">
                  <a:moveTo>
                    <a:pt x="0" y="0"/>
                  </a:moveTo>
                  <a:lnTo>
                    <a:pt x="12192635" y="0"/>
                  </a:lnTo>
                  <a:lnTo>
                    <a:pt x="12192635" y="13716000"/>
                  </a:lnTo>
                  <a:lnTo>
                    <a:pt x="0" y="13716000"/>
                  </a:lnTo>
                  <a:close/>
                </a:path>
              </a:pathLst>
            </a:custGeom>
            <a:solidFill>
              <a:srgbClr val="000000"/>
            </a:solidFill>
          </p:spPr>
          <p:txBody>
            <a:bodyPr/>
            <a:p/>
          </p:txBody>
        </p:sp>
      </p:grpSp>
      <p:grpSp>
        <p:nvGrpSpPr>
          <p:cNvPr name="Group 6" id="6"/>
          <p:cNvGrpSpPr/>
          <p:nvPr/>
        </p:nvGrpSpPr>
        <p:grpSpPr>
          <a:xfrm rot="0">
            <a:off x="12677418" y="8974380"/>
            <a:ext cx="5301012" cy="717597"/>
            <a:chOff x="0" y="0"/>
            <a:chExt cx="7068016" cy="956796"/>
          </a:xfrm>
        </p:grpSpPr>
        <p:sp>
          <p:nvSpPr>
            <p:cNvPr name="Freeform 7" id="7"/>
            <p:cNvSpPr/>
            <p:nvPr/>
          </p:nvSpPr>
          <p:spPr>
            <a:xfrm flipH="false" flipV="false" rot="0">
              <a:off x="0" y="0"/>
              <a:ext cx="7068015" cy="956796"/>
            </a:xfrm>
            <a:custGeom>
              <a:avLst/>
              <a:gdLst/>
              <a:ahLst/>
              <a:cxnLst/>
              <a:rect r="r" b="b" t="t" l="l"/>
              <a:pathLst>
                <a:path h="956796" w="7068015">
                  <a:moveTo>
                    <a:pt x="0" y="0"/>
                  </a:moveTo>
                  <a:lnTo>
                    <a:pt x="7068015" y="0"/>
                  </a:lnTo>
                  <a:lnTo>
                    <a:pt x="7068015" y="956796"/>
                  </a:lnTo>
                  <a:lnTo>
                    <a:pt x="0" y="956796"/>
                  </a:lnTo>
                  <a:close/>
                </a:path>
              </a:pathLst>
            </a:custGeom>
            <a:blipFill>
              <a:blip r:embed="rId3">
                <a:alphaModFix amt="0"/>
              </a:blip>
              <a:stretch>
                <a:fillRect l="0" t="-118972" r="6257" b="-50892"/>
              </a:stretch>
            </a:blipFill>
          </p:spPr>
          <p:txBody>
            <a:bodyPr/>
            <a:p/>
          </p:txBody>
        </p:sp>
        <p:sp>
          <p:nvSpPr>
            <p:cNvPr name="TextBox 8" id="8"/>
            <p:cNvSpPr txBox="true"/>
            <p:nvPr/>
          </p:nvSpPr>
          <p:spPr>
            <a:xfrm>
              <a:off x="0" y="9525"/>
              <a:ext cx="7068016" cy="947271"/>
            </a:xfrm>
            <a:prstGeom prst="rect">
              <a:avLst/>
            </a:prstGeom>
          </p:spPr>
          <p:txBody>
            <a:bodyPr anchor="ctr" rtlCol="false" tIns="0" lIns="0" bIns="0" rIns="0"/>
            <a:lstStyle/>
            <a:p>
              <a:pPr algn="l">
                <a:lnSpc>
                  <a:spcPts val="2819"/>
                </a:lnSpc>
              </a:pPr>
              <a:r>
                <a:rPr lang="en-US" b="true" sz="2349" spc="234">
                  <a:solidFill>
                    <a:srgbClr val="FFFFFF"/>
                  </a:solidFill>
                  <a:latin typeface="Manrope Bold"/>
                  <a:ea typeface="Manrope Bold"/>
                  <a:cs typeface="Manrope Bold"/>
                  <a:sym typeface="Manrope Bold"/>
                </a:rPr>
                <a:t>DR.ADDOR - Swiss Longevity  </a:t>
              </a:r>
            </a:p>
          </p:txBody>
        </p:sp>
      </p:grpSp>
      <p:grpSp>
        <p:nvGrpSpPr>
          <p:cNvPr name="Group 9" id="9"/>
          <p:cNvGrpSpPr/>
          <p:nvPr/>
        </p:nvGrpSpPr>
        <p:grpSpPr>
          <a:xfrm rot="6600000">
            <a:off x="11623015" y="853211"/>
            <a:ext cx="4191457" cy="4534357"/>
            <a:chOff x="0" y="0"/>
            <a:chExt cx="5588610" cy="6045810"/>
          </a:xfrm>
        </p:grpSpPr>
        <p:sp>
          <p:nvSpPr>
            <p:cNvPr name="Freeform 10" id="10"/>
            <p:cNvSpPr/>
            <p:nvPr/>
          </p:nvSpPr>
          <p:spPr>
            <a:xfrm flipH="false" flipV="false" rot="0">
              <a:off x="0" y="0"/>
              <a:ext cx="5588635" cy="6045835"/>
            </a:xfrm>
            <a:custGeom>
              <a:avLst/>
              <a:gdLst/>
              <a:ahLst/>
              <a:cxnLst/>
              <a:rect r="r" b="b" t="t" l="l"/>
              <a:pathLst>
                <a:path h="6045835" w="5588635">
                  <a:moveTo>
                    <a:pt x="0" y="1842135"/>
                  </a:moveTo>
                  <a:cubicBezTo>
                    <a:pt x="0" y="824738"/>
                    <a:pt x="824484" y="0"/>
                    <a:pt x="1841500" y="0"/>
                  </a:cubicBezTo>
                  <a:lnTo>
                    <a:pt x="3747135" y="0"/>
                  </a:lnTo>
                  <a:lnTo>
                    <a:pt x="3747135" y="12700"/>
                  </a:lnTo>
                  <a:lnTo>
                    <a:pt x="3747135" y="0"/>
                  </a:lnTo>
                  <a:lnTo>
                    <a:pt x="3747135" y="12700"/>
                  </a:lnTo>
                  <a:lnTo>
                    <a:pt x="3747135" y="0"/>
                  </a:lnTo>
                  <a:cubicBezTo>
                    <a:pt x="4764151" y="0"/>
                    <a:pt x="5588635" y="824738"/>
                    <a:pt x="5588635" y="1842135"/>
                  </a:cubicBezTo>
                  <a:lnTo>
                    <a:pt x="5588635" y="4203700"/>
                  </a:lnTo>
                  <a:lnTo>
                    <a:pt x="5575935" y="4203700"/>
                  </a:lnTo>
                  <a:lnTo>
                    <a:pt x="5588635" y="4203700"/>
                  </a:lnTo>
                  <a:cubicBezTo>
                    <a:pt x="5588635" y="5221097"/>
                    <a:pt x="4764151" y="6045835"/>
                    <a:pt x="3747135" y="6045835"/>
                  </a:cubicBezTo>
                  <a:lnTo>
                    <a:pt x="3747135" y="6033135"/>
                  </a:lnTo>
                  <a:lnTo>
                    <a:pt x="3747135" y="6045835"/>
                  </a:lnTo>
                  <a:lnTo>
                    <a:pt x="1841500" y="6045835"/>
                  </a:lnTo>
                  <a:lnTo>
                    <a:pt x="1841500" y="6033135"/>
                  </a:lnTo>
                  <a:lnTo>
                    <a:pt x="1841500" y="6045835"/>
                  </a:lnTo>
                  <a:cubicBezTo>
                    <a:pt x="824484" y="6045835"/>
                    <a:pt x="0" y="5221097"/>
                    <a:pt x="0" y="4203700"/>
                  </a:cubicBezTo>
                  <a:lnTo>
                    <a:pt x="0" y="1842135"/>
                  </a:lnTo>
                  <a:lnTo>
                    <a:pt x="12700" y="1842135"/>
                  </a:lnTo>
                  <a:lnTo>
                    <a:pt x="0" y="1842135"/>
                  </a:lnTo>
                  <a:moveTo>
                    <a:pt x="25400" y="1842135"/>
                  </a:moveTo>
                  <a:lnTo>
                    <a:pt x="25400" y="4203700"/>
                  </a:lnTo>
                  <a:lnTo>
                    <a:pt x="12700" y="4203700"/>
                  </a:lnTo>
                  <a:lnTo>
                    <a:pt x="25400" y="4203700"/>
                  </a:lnTo>
                  <a:cubicBezTo>
                    <a:pt x="25400" y="5207000"/>
                    <a:pt x="838454" y="6020435"/>
                    <a:pt x="1841500" y="6020435"/>
                  </a:cubicBezTo>
                  <a:lnTo>
                    <a:pt x="3747135" y="6020435"/>
                  </a:lnTo>
                  <a:cubicBezTo>
                    <a:pt x="4750181" y="6020435"/>
                    <a:pt x="5563235" y="5207000"/>
                    <a:pt x="5563235" y="4203700"/>
                  </a:cubicBezTo>
                  <a:lnTo>
                    <a:pt x="5563235" y="1842135"/>
                  </a:lnTo>
                  <a:lnTo>
                    <a:pt x="5575935" y="1842135"/>
                  </a:lnTo>
                  <a:lnTo>
                    <a:pt x="5563235" y="1842135"/>
                  </a:lnTo>
                  <a:cubicBezTo>
                    <a:pt x="5563235" y="838835"/>
                    <a:pt x="4750181" y="25400"/>
                    <a:pt x="3747135" y="25400"/>
                  </a:cubicBezTo>
                  <a:lnTo>
                    <a:pt x="1841500" y="25400"/>
                  </a:lnTo>
                  <a:lnTo>
                    <a:pt x="1841500" y="12700"/>
                  </a:lnTo>
                  <a:lnTo>
                    <a:pt x="1841500" y="25400"/>
                  </a:lnTo>
                  <a:cubicBezTo>
                    <a:pt x="838454" y="25400"/>
                    <a:pt x="25400" y="838835"/>
                    <a:pt x="25400" y="1842135"/>
                  </a:cubicBezTo>
                  <a:close/>
                </a:path>
              </a:pathLst>
            </a:custGeom>
            <a:solidFill>
              <a:srgbClr val="374151"/>
            </a:solidFill>
          </p:spPr>
          <p:txBody>
            <a:bodyPr/>
            <a:p/>
          </p:txBody>
        </p:sp>
      </p:grpSp>
      <p:grpSp>
        <p:nvGrpSpPr>
          <p:cNvPr name="Group 11" id="11"/>
          <p:cNvGrpSpPr/>
          <p:nvPr/>
        </p:nvGrpSpPr>
        <p:grpSpPr>
          <a:xfrm rot="0">
            <a:off x="12105818" y="1791386"/>
            <a:ext cx="3218993" cy="2648407"/>
            <a:chOff x="0" y="0"/>
            <a:chExt cx="4291990" cy="3531210"/>
          </a:xfrm>
        </p:grpSpPr>
        <p:sp>
          <p:nvSpPr>
            <p:cNvPr name="Freeform 12" id="12"/>
            <p:cNvSpPr/>
            <p:nvPr/>
          </p:nvSpPr>
          <p:spPr>
            <a:xfrm flipH="false" flipV="false" rot="0">
              <a:off x="0" y="0"/>
              <a:ext cx="4291965" cy="3531108"/>
            </a:xfrm>
            <a:custGeom>
              <a:avLst/>
              <a:gdLst/>
              <a:ahLst/>
              <a:cxnLst/>
              <a:rect r="r" b="b" t="t" l="l"/>
              <a:pathLst>
                <a:path h="3531108" w="4291965">
                  <a:moveTo>
                    <a:pt x="0" y="1765554"/>
                  </a:moveTo>
                  <a:cubicBezTo>
                    <a:pt x="0" y="790448"/>
                    <a:pt x="791464" y="0"/>
                    <a:pt x="1767840" y="0"/>
                  </a:cubicBezTo>
                  <a:lnTo>
                    <a:pt x="2524125" y="0"/>
                  </a:lnTo>
                  <a:lnTo>
                    <a:pt x="2524125" y="12700"/>
                  </a:lnTo>
                  <a:lnTo>
                    <a:pt x="2524125" y="0"/>
                  </a:lnTo>
                  <a:cubicBezTo>
                    <a:pt x="3500501" y="0"/>
                    <a:pt x="4291965" y="790448"/>
                    <a:pt x="4291965" y="1765554"/>
                  </a:cubicBezTo>
                  <a:lnTo>
                    <a:pt x="4279265" y="1765554"/>
                  </a:lnTo>
                  <a:lnTo>
                    <a:pt x="4291965" y="1765554"/>
                  </a:lnTo>
                  <a:lnTo>
                    <a:pt x="4279265" y="1765554"/>
                  </a:lnTo>
                  <a:lnTo>
                    <a:pt x="4291965" y="1765554"/>
                  </a:lnTo>
                  <a:cubicBezTo>
                    <a:pt x="4291965" y="2740660"/>
                    <a:pt x="3500501" y="3531108"/>
                    <a:pt x="2524125" y="3531108"/>
                  </a:cubicBezTo>
                  <a:lnTo>
                    <a:pt x="2524125" y="3518408"/>
                  </a:lnTo>
                  <a:lnTo>
                    <a:pt x="2524125" y="3531108"/>
                  </a:lnTo>
                  <a:lnTo>
                    <a:pt x="1767840" y="3531108"/>
                  </a:lnTo>
                  <a:lnTo>
                    <a:pt x="1767840" y="3518408"/>
                  </a:lnTo>
                  <a:lnTo>
                    <a:pt x="1767840" y="3531108"/>
                  </a:lnTo>
                  <a:cubicBezTo>
                    <a:pt x="791464" y="3531235"/>
                    <a:pt x="0" y="2740787"/>
                    <a:pt x="0" y="1765554"/>
                  </a:cubicBezTo>
                  <a:moveTo>
                    <a:pt x="25400" y="1765554"/>
                  </a:moveTo>
                  <a:lnTo>
                    <a:pt x="12700" y="1765554"/>
                  </a:lnTo>
                  <a:lnTo>
                    <a:pt x="25400" y="1765554"/>
                  </a:lnTo>
                  <a:cubicBezTo>
                    <a:pt x="25400" y="2726690"/>
                    <a:pt x="805561" y="3505835"/>
                    <a:pt x="1767840" y="3505835"/>
                  </a:cubicBezTo>
                  <a:lnTo>
                    <a:pt x="2524125" y="3505835"/>
                  </a:lnTo>
                  <a:cubicBezTo>
                    <a:pt x="3486531" y="3505835"/>
                    <a:pt x="4266565" y="2726690"/>
                    <a:pt x="4266565" y="1765681"/>
                  </a:cubicBezTo>
                  <a:cubicBezTo>
                    <a:pt x="4266565" y="804672"/>
                    <a:pt x="3486531" y="25400"/>
                    <a:pt x="2524125" y="25400"/>
                  </a:cubicBezTo>
                  <a:lnTo>
                    <a:pt x="1767840" y="25400"/>
                  </a:lnTo>
                  <a:lnTo>
                    <a:pt x="1767840" y="12700"/>
                  </a:lnTo>
                  <a:lnTo>
                    <a:pt x="1767840" y="25400"/>
                  </a:lnTo>
                  <a:cubicBezTo>
                    <a:pt x="805561" y="25400"/>
                    <a:pt x="25400" y="804545"/>
                    <a:pt x="25400" y="1765554"/>
                  </a:cubicBezTo>
                  <a:close/>
                </a:path>
              </a:pathLst>
            </a:custGeom>
            <a:solidFill>
              <a:srgbClr val="1F2937"/>
            </a:solidFill>
          </p:spPr>
          <p:txBody>
            <a:bodyPr/>
            <a:p/>
          </p:txBody>
        </p:sp>
      </p:grpSp>
      <p:sp>
        <p:nvSpPr>
          <p:cNvPr name="Freeform 13" id="13"/>
          <p:cNvSpPr/>
          <p:nvPr/>
        </p:nvSpPr>
        <p:spPr>
          <a:xfrm flipH="false" flipV="false" rot="0">
            <a:off x="12539227" y="2280818"/>
            <a:ext cx="2338459" cy="1485595"/>
          </a:xfrm>
          <a:custGeom>
            <a:avLst/>
            <a:gdLst/>
            <a:ahLst/>
            <a:cxnLst/>
            <a:rect r="r" b="b" t="t" l="l"/>
            <a:pathLst>
              <a:path h="1485595" w="2338459">
                <a:moveTo>
                  <a:pt x="0" y="0"/>
                </a:moveTo>
                <a:lnTo>
                  <a:pt x="2338459" y="0"/>
                </a:lnTo>
                <a:lnTo>
                  <a:pt x="2338459" y="1485596"/>
                </a:lnTo>
                <a:lnTo>
                  <a:pt x="0" y="1485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14" id="14"/>
          <p:cNvSpPr txBox="true"/>
          <p:nvPr/>
        </p:nvSpPr>
        <p:spPr>
          <a:xfrm rot="0">
            <a:off x="1669753" y="310248"/>
            <a:ext cx="6172200" cy="2962275"/>
          </a:xfrm>
          <a:prstGeom prst="rect">
            <a:avLst/>
          </a:prstGeom>
        </p:spPr>
        <p:txBody>
          <a:bodyPr anchor="t" rtlCol="false" tIns="0" lIns="0" bIns="0" rIns="0">
            <a:spAutoFit/>
          </a:bodyPr>
          <a:lstStyle/>
          <a:p>
            <a:pPr algn="ctr">
              <a:lnSpc>
                <a:spcPts val="8639"/>
              </a:lnSpc>
              <a:spcBef>
                <a:spcPct val="0"/>
              </a:spcBef>
            </a:pPr>
            <a:r>
              <a:rPr lang="en-US" sz="7199">
                <a:solidFill>
                  <a:srgbClr val="FFFFFF"/>
                </a:solidFill>
                <a:latin typeface="Manrope"/>
                <a:ea typeface="Manrope"/>
                <a:cs typeface="Manrope"/>
                <a:sym typeface="Manrope"/>
              </a:rPr>
              <a:t>SWISS LONGEVITY</a:t>
            </a:r>
          </a:p>
          <a:p>
            <a:pPr algn="ctr">
              <a:lnSpc>
                <a:spcPts val="4199"/>
              </a:lnSpc>
              <a:spcBef>
                <a:spcPct val="0"/>
              </a:spcBef>
            </a:pPr>
          </a:p>
          <a:p>
            <a:pPr algn="ctr">
              <a:lnSpc>
                <a:spcPts val="4199"/>
              </a:lnSpc>
              <a:spcBef>
                <a:spcPct val="0"/>
              </a:spcBef>
            </a:pPr>
            <a:r>
              <a:rPr lang="en-US" sz="3499">
                <a:solidFill>
                  <a:srgbClr val="FFFFFF"/>
                </a:solidFill>
                <a:latin typeface="Manrope"/>
                <a:ea typeface="Manrope"/>
                <a:cs typeface="Manrope"/>
                <a:sym typeface="Manrope"/>
              </a:rPr>
              <a:t>7 SEPTEMBRE 2026</a:t>
            </a:r>
          </a:p>
          <a:p>
            <a:pPr algn="ctr">
              <a:lnSpc>
                <a:spcPts val="3239"/>
              </a:lnSpc>
              <a:spcBef>
                <a:spcPct val="0"/>
              </a:spcBef>
            </a:pPr>
          </a:p>
          <a:p>
            <a:pPr algn="ctr">
              <a:lnSpc>
                <a:spcPts val="3239"/>
              </a:lnSpc>
              <a:spcBef>
                <a:spcPct val="0"/>
              </a:spcBef>
            </a:pPr>
            <a:r>
              <a:rPr lang="en-US" sz="2699">
                <a:solidFill>
                  <a:srgbClr val="FFFFFF"/>
                </a:solidFill>
                <a:latin typeface="Manrope"/>
                <a:ea typeface="Manrope"/>
                <a:cs typeface="Manrope"/>
                <a:sym typeface="Manrope"/>
              </a:rPr>
              <a:t>ANNECY - FRANCE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11111"/>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1E1E24"/>
            </a:solidFill>
          </p:spPr>
          <p:txBody>
            <a:bodyPr/>
            <a:p/>
          </p:txBody>
        </p:sp>
      </p:grpSp>
      <p:grpSp>
        <p:nvGrpSpPr>
          <p:cNvPr name="Group 6" id="6"/>
          <p:cNvGrpSpPr/>
          <p:nvPr/>
        </p:nvGrpSpPr>
        <p:grpSpPr>
          <a:xfrm rot="0">
            <a:off x="162337"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9134932" y="-9525"/>
            <a:ext cx="9163507" cy="10306050"/>
            <a:chOff x="0" y="0"/>
            <a:chExt cx="12218010" cy="13741400"/>
          </a:xfrm>
        </p:grpSpPr>
        <p:sp>
          <p:nvSpPr>
            <p:cNvPr name="Freeform 9" id="9"/>
            <p:cNvSpPr/>
            <p:nvPr/>
          </p:nvSpPr>
          <p:spPr>
            <a:xfrm flipH="false" flipV="false" rot="0">
              <a:off x="12700" y="12700"/>
              <a:ext cx="12192635" cy="13716000"/>
            </a:xfrm>
            <a:custGeom>
              <a:avLst/>
              <a:gdLst/>
              <a:ahLst/>
              <a:cxnLst/>
              <a:rect r="r" b="b" t="t" l="l"/>
              <a:pathLst>
                <a:path h="13716000" w="12192635">
                  <a:moveTo>
                    <a:pt x="0" y="0"/>
                  </a:moveTo>
                  <a:lnTo>
                    <a:pt x="12192635" y="0"/>
                  </a:lnTo>
                  <a:lnTo>
                    <a:pt x="12192635" y="13716000"/>
                  </a:lnTo>
                  <a:lnTo>
                    <a:pt x="0" y="13716000"/>
                  </a:lnTo>
                  <a:close/>
                </a:path>
              </a:pathLst>
            </a:custGeom>
            <a:solidFill>
              <a:srgbClr val="000000"/>
            </a:solidFill>
          </p:spPr>
          <p:txBody>
            <a:bodyPr/>
            <a:p/>
          </p:txBody>
        </p:sp>
      </p:grpSp>
      <p:grpSp>
        <p:nvGrpSpPr>
          <p:cNvPr name="Group 10" id="10"/>
          <p:cNvGrpSpPr/>
          <p:nvPr/>
        </p:nvGrpSpPr>
        <p:grpSpPr>
          <a:xfrm rot="0">
            <a:off x="9144457" y="0"/>
            <a:ext cx="9144457" cy="10287000"/>
            <a:chOff x="0" y="0"/>
            <a:chExt cx="12192610" cy="13716000"/>
          </a:xfrm>
        </p:grpSpPr>
        <p:sp>
          <p:nvSpPr>
            <p:cNvPr name="Freeform 11" id="11" descr="preencoded.png"/>
            <p:cNvSpPr/>
            <p:nvPr/>
          </p:nvSpPr>
          <p:spPr>
            <a:xfrm flipH="false" flipV="false" rot="0">
              <a:off x="0" y="0"/>
              <a:ext cx="12192635" cy="13716000"/>
            </a:xfrm>
            <a:custGeom>
              <a:avLst/>
              <a:gdLst/>
              <a:ahLst/>
              <a:cxnLst/>
              <a:rect r="r" b="b" t="t" l="l"/>
              <a:pathLst>
                <a:path h="13716000" w="12192635">
                  <a:moveTo>
                    <a:pt x="0" y="0"/>
                  </a:moveTo>
                  <a:lnTo>
                    <a:pt x="12192635" y="0"/>
                  </a:lnTo>
                  <a:lnTo>
                    <a:pt x="12192635" y="13716000"/>
                  </a:lnTo>
                  <a:lnTo>
                    <a:pt x="0" y="13716000"/>
                  </a:lnTo>
                  <a:lnTo>
                    <a:pt x="0" y="0"/>
                  </a:lnTo>
                  <a:close/>
                </a:path>
              </a:pathLst>
            </a:custGeom>
            <a:blipFill>
              <a:blip r:embed="rId4">
                <a:alphaModFix amt="19999"/>
              </a:blip>
              <a:stretch>
                <a:fillRect l="0" t="5553" r="0" b="5553"/>
              </a:stretch>
            </a:blipFill>
          </p:spPr>
          <p:txBody>
            <a:bodyPr/>
            <a:p/>
          </p:txBody>
        </p:sp>
      </p:grpSp>
      <p:grpSp>
        <p:nvGrpSpPr>
          <p:cNvPr name="Group 12" id="12"/>
          <p:cNvGrpSpPr/>
          <p:nvPr/>
        </p:nvGrpSpPr>
        <p:grpSpPr>
          <a:xfrm rot="0">
            <a:off x="828446" y="949176"/>
            <a:ext cx="7572604" cy="2524173"/>
            <a:chOff x="0" y="0"/>
            <a:chExt cx="10096805" cy="3365564"/>
          </a:xfrm>
        </p:grpSpPr>
        <p:sp>
          <p:nvSpPr>
            <p:cNvPr name="Freeform 13" id="13"/>
            <p:cNvSpPr/>
            <p:nvPr/>
          </p:nvSpPr>
          <p:spPr>
            <a:xfrm flipH="false" flipV="false" rot="0">
              <a:off x="0" y="0"/>
              <a:ext cx="10096804" cy="3365563"/>
            </a:xfrm>
            <a:custGeom>
              <a:avLst/>
              <a:gdLst/>
              <a:ahLst/>
              <a:cxnLst/>
              <a:rect r="r" b="b" t="t" l="l"/>
              <a:pathLst>
                <a:path h="3365563" w="10096804">
                  <a:moveTo>
                    <a:pt x="0" y="0"/>
                  </a:moveTo>
                  <a:lnTo>
                    <a:pt x="10096804" y="0"/>
                  </a:lnTo>
                  <a:lnTo>
                    <a:pt x="10096804" y="3365563"/>
                  </a:lnTo>
                  <a:lnTo>
                    <a:pt x="0" y="3365563"/>
                  </a:lnTo>
                  <a:close/>
                </a:path>
              </a:pathLst>
            </a:custGeom>
            <a:blipFill>
              <a:blip r:embed="rId5">
                <a:alphaModFix amt="0"/>
              </a:blip>
              <a:stretch>
                <a:fillRect l="0" t="-15990" r="0" b="-921"/>
              </a:stretch>
            </a:blipFill>
          </p:spPr>
          <p:txBody>
            <a:bodyPr/>
            <a:p/>
          </p:txBody>
        </p:sp>
        <p:sp>
          <p:nvSpPr>
            <p:cNvPr name="TextBox 14" id="14"/>
            <p:cNvSpPr txBox="true"/>
            <p:nvPr/>
          </p:nvSpPr>
          <p:spPr>
            <a:xfrm>
              <a:off x="0" y="-9525"/>
              <a:ext cx="10096805" cy="3375089"/>
            </a:xfrm>
            <a:prstGeom prst="rect">
              <a:avLst/>
            </a:prstGeom>
          </p:spPr>
          <p:txBody>
            <a:bodyPr anchor="ctr" rtlCol="false" tIns="0" lIns="0" bIns="0" rIns="0"/>
            <a:lstStyle/>
            <a:p>
              <a:pPr algn="l">
                <a:lnSpc>
                  <a:spcPts val="8100"/>
                </a:lnSpc>
              </a:pPr>
              <a:r>
                <a:rPr lang="en-US" b="true" sz="6750" spc="-168">
                  <a:solidFill>
                    <a:srgbClr val="FFFFFF"/>
                  </a:solidFill>
                  <a:latin typeface="Manrope Bold"/>
                  <a:ea typeface="Manrope Bold"/>
                  <a:cs typeface="Manrope Bold"/>
                  <a:sym typeface="Manrope Bold"/>
                </a:rPr>
                <a:t>Mon </a:t>
              </a:r>
              <a:r>
                <a:rPr lang="en-US" b="true" sz="6750" spc="-168">
                  <a:solidFill>
                    <a:srgbClr val="535456"/>
                  </a:solidFill>
                  <a:latin typeface="Manrope Bold"/>
                  <a:ea typeface="Manrope Bold"/>
                  <a:cs typeface="Manrope Bold"/>
                  <a:sym typeface="Manrope Bold"/>
                </a:rPr>
                <a:t>"</a:t>
              </a:r>
              <a:r>
                <a:rPr lang="en-US" b="true" sz="6750" spc="-168">
                  <a:solidFill>
                    <a:srgbClr val="FFFFFF"/>
                  </a:solidFill>
                  <a:latin typeface="Manrope Bold"/>
                  <a:ea typeface="Manrope Bold"/>
                  <a:cs typeface="Manrope Bold"/>
                  <a:sym typeface="Manrope Bold"/>
                </a:rPr>
                <a:t>A</a:t>
              </a:r>
              <a:r>
                <a:rPr lang="en-US" b="true" sz="6750" spc="-168">
                  <a:solidFill>
                    <a:srgbClr val="535456"/>
                  </a:solidFill>
                  <a:latin typeface="Manrope Bold"/>
                  <a:ea typeface="Manrope Bold"/>
                  <a:cs typeface="Manrope Bold"/>
                  <a:sym typeface="Manrope Bold"/>
                </a:rPr>
                <a:t>"</a:t>
              </a:r>
              <a:r>
                <a:rPr lang="en-US" b="true" sz="6750" spc="-168">
                  <a:solidFill>
                    <a:srgbClr val="FFFFFF"/>
                  </a:solidFill>
                  <a:latin typeface="Manrope Bold"/>
                  <a:ea typeface="Manrope Bold"/>
                  <a:cs typeface="Manrope Bold"/>
                  <a:sym typeface="Manrope Bold"/>
                </a:rPr>
                <a:t>, une</a:t>
              </a:r>
            </a:p>
            <a:p>
              <a:pPr algn="l">
                <a:lnSpc>
                  <a:spcPts val="8100"/>
                </a:lnSpc>
              </a:pPr>
              <a:r>
                <a:rPr lang="en-US" b="true" sz="6750" spc="-168">
                  <a:solidFill>
                    <a:srgbClr val="FFFFFF"/>
                  </a:solidFill>
                  <a:latin typeface="Manrope Bold"/>
                  <a:ea typeface="Manrope Bold"/>
                  <a:cs typeface="Manrope Bold"/>
                  <a:sym typeface="Manrope Bold"/>
                </a:rPr>
                <a:t>histoire de famille </a:t>
              </a:r>
            </a:p>
          </p:txBody>
        </p:sp>
      </p:grpSp>
      <p:grpSp>
        <p:nvGrpSpPr>
          <p:cNvPr name="Group 15" id="15"/>
          <p:cNvGrpSpPr/>
          <p:nvPr/>
        </p:nvGrpSpPr>
        <p:grpSpPr>
          <a:xfrm rot="0">
            <a:off x="828446" y="3530498"/>
            <a:ext cx="8344814" cy="498491"/>
            <a:chOff x="0" y="0"/>
            <a:chExt cx="11126419" cy="664654"/>
          </a:xfrm>
        </p:grpSpPr>
        <p:sp>
          <p:nvSpPr>
            <p:cNvPr name="Freeform 16" id="16"/>
            <p:cNvSpPr/>
            <p:nvPr/>
          </p:nvSpPr>
          <p:spPr>
            <a:xfrm flipH="false" flipV="false" rot="0">
              <a:off x="0" y="0"/>
              <a:ext cx="11126420" cy="664655"/>
            </a:xfrm>
            <a:custGeom>
              <a:avLst/>
              <a:gdLst/>
              <a:ahLst/>
              <a:cxnLst/>
              <a:rect r="r" b="b" t="t" l="l"/>
              <a:pathLst>
                <a:path h="664655" w="11126420">
                  <a:moveTo>
                    <a:pt x="0" y="0"/>
                  </a:moveTo>
                  <a:lnTo>
                    <a:pt x="11126420" y="0"/>
                  </a:lnTo>
                  <a:lnTo>
                    <a:pt x="11126420" y="664655"/>
                  </a:lnTo>
                  <a:lnTo>
                    <a:pt x="0" y="664655"/>
                  </a:lnTo>
                  <a:close/>
                </a:path>
              </a:pathLst>
            </a:custGeom>
            <a:blipFill>
              <a:blip r:embed="rId5">
                <a:alphaModFix amt="0"/>
              </a:blip>
              <a:stretch>
                <a:fillRect l="0" t="-278856" r="0" b="-273507"/>
              </a:stretch>
            </a:blipFill>
          </p:spPr>
          <p:txBody>
            <a:bodyPr/>
            <a:p/>
          </p:txBody>
        </p:sp>
        <p:sp>
          <p:nvSpPr>
            <p:cNvPr name="TextBox 17" id="17"/>
            <p:cNvSpPr txBox="true"/>
            <p:nvPr/>
          </p:nvSpPr>
          <p:spPr>
            <a:xfrm>
              <a:off x="0" y="-9525"/>
              <a:ext cx="11126419"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De la tradition artisanale à l'ingénierie de la longévité.</a:t>
              </a:r>
            </a:p>
          </p:txBody>
        </p:sp>
      </p:grpSp>
      <p:grpSp>
        <p:nvGrpSpPr>
          <p:cNvPr name="Group 18" id="18"/>
          <p:cNvGrpSpPr/>
          <p:nvPr/>
        </p:nvGrpSpPr>
        <p:grpSpPr>
          <a:xfrm rot="0">
            <a:off x="1157630" y="4710074"/>
            <a:ext cx="200254" cy="400507"/>
            <a:chOff x="0" y="0"/>
            <a:chExt cx="267005" cy="534010"/>
          </a:xfrm>
        </p:grpSpPr>
        <p:sp>
          <p:nvSpPr>
            <p:cNvPr name="Freeform 19" id="19" descr="preencoded.png"/>
            <p:cNvSpPr/>
            <p:nvPr/>
          </p:nvSpPr>
          <p:spPr>
            <a:xfrm flipH="false" flipV="false" rot="0">
              <a:off x="0" y="0"/>
              <a:ext cx="266954" cy="534035"/>
            </a:xfrm>
            <a:custGeom>
              <a:avLst/>
              <a:gdLst/>
              <a:ahLst/>
              <a:cxnLst/>
              <a:rect r="r" b="b" t="t" l="l"/>
              <a:pathLst>
                <a:path h="534035" w="266954">
                  <a:moveTo>
                    <a:pt x="0" y="0"/>
                  </a:moveTo>
                  <a:lnTo>
                    <a:pt x="266954" y="0"/>
                  </a:lnTo>
                  <a:lnTo>
                    <a:pt x="266954" y="534035"/>
                  </a:lnTo>
                  <a:lnTo>
                    <a:pt x="0" y="534035"/>
                  </a:lnTo>
                  <a:lnTo>
                    <a:pt x="0" y="0"/>
                  </a:lnTo>
                  <a:close/>
                </a:path>
              </a:pathLst>
            </a:custGeom>
            <a:blipFill>
              <a:blip r:embed="rId6"/>
              <a:stretch>
                <a:fillRect l="0" t="16665" r="-19" b="16670"/>
              </a:stretch>
            </a:blipFill>
          </p:spPr>
          <p:txBody>
            <a:bodyPr/>
            <a:p/>
          </p:txBody>
        </p:sp>
      </p:grpSp>
      <p:grpSp>
        <p:nvGrpSpPr>
          <p:cNvPr name="Group 20" id="20"/>
          <p:cNvGrpSpPr/>
          <p:nvPr/>
        </p:nvGrpSpPr>
        <p:grpSpPr>
          <a:xfrm rot="0">
            <a:off x="1885950" y="4566056"/>
            <a:ext cx="6515100" cy="430120"/>
            <a:chOff x="0" y="0"/>
            <a:chExt cx="8686800" cy="573494"/>
          </a:xfrm>
        </p:grpSpPr>
        <p:sp>
          <p:nvSpPr>
            <p:cNvPr name="Freeform 21" id="21"/>
            <p:cNvSpPr/>
            <p:nvPr/>
          </p:nvSpPr>
          <p:spPr>
            <a:xfrm flipH="false" flipV="false" rot="0">
              <a:off x="0" y="0"/>
              <a:ext cx="8686800" cy="573494"/>
            </a:xfrm>
            <a:custGeom>
              <a:avLst/>
              <a:gdLst/>
              <a:ahLst/>
              <a:cxnLst/>
              <a:rect r="r" b="b" t="t" l="l"/>
              <a:pathLst>
                <a:path h="573494" w="8686800">
                  <a:moveTo>
                    <a:pt x="0" y="0"/>
                  </a:moveTo>
                  <a:lnTo>
                    <a:pt x="8686800" y="0"/>
                  </a:lnTo>
                  <a:lnTo>
                    <a:pt x="8686800" y="573494"/>
                  </a:lnTo>
                  <a:lnTo>
                    <a:pt x="0" y="573494"/>
                  </a:lnTo>
                  <a:close/>
                </a:path>
              </a:pathLst>
            </a:custGeom>
            <a:blipFill>
              <a:blip r:embed="rId5">
                <a:alphaModFix amt="0"/>
              </a:blip>
              <a:stretch>
                <a:fillRect l="0" t="-248585" r="0" b="-241700"/>
              </a:stretch>
            </a:blipFill>
          </p:spPr>
          <p:txBody>
            <a:bodyPr/>
            <a:p/>
          </p:txBody>
        </p:sp>
        <p:sp>
          <p:nvSpPr>
            <p:cNvPr name="TextBox 22" id="22"/>
            <p:cNvSpPr txBox="true"/>
            <p:nvPr/>
          </p:nvSpPr>
          <p:spPr>
            <a:xfrm>
              <a:off x="0" y="-9525"/>
              <a:ext cx="868680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L'Étincelle Ancestrale</a:t>
              </a:r>
            </a:p>
          </p:txBody>
        </p:sp>
      </p:grpSp>
      <p:grpSp>
        <p:nvGrpSpPr>
          <p:cNvPr name="Group 23" id="23"/>
          <p:cNvGrpSpPr/>
          <p:nvPr/>
        </p:nvGrpSpPr>
        <p:grpSpPr>
          <a:xfrm rot="0">
            <a:off x="1885950" y="4910328"/>
            <a:ext cx="6458864" cy="986181"/>
            <a:chOff x="0" y="0"/>
            <a:chExt cx="8611819" cy="1314908"/>
          </a:xfrm>
        </p:grpSpPr>
        <p:sp>
          <p:nvSpPr>
            <p:cNvPr name="Freeform 24" id="24"/>
            <p:cNvSpPr/>
            <p:nvPr/>
          </p:nvSpPr>
          <p:spPr>
            <a:xfrm flipH="false" flipV="false" rot="0">
              <a:off x="0" y="0"/>
              <a:ext cx="8611820" cy="1314909"/>
            </a:xfrm>
            <a:custGeom>
              <a:avLst/>
              <a:gdLst/>
              <a:ahLst/>
              <a:cxnLst/>
              <a:rect r="r" b="b" t="t" l="l"/>
              <a:pathLst>
                <a:path h="1314909" w="8611820">
                  <a:moveTo>
                    <a:pt x="0" y="0"/>
                  </a:moveTo>
                  <a:lnTo>
                    <a:pt x="8611820" y="0"/>
                  </a:lnTo>
                  <a:lnTo>
                    <a:pt x="8611820" y="1314909"/>
                  </a:lnTo>
                  <a:lnTo>
                    <a:pt x="0" y="1314909"/>
                  </a:lnTo>
                  <a:close/>
                </a:path>
              </a:pathLst>
            </a:custGeom>
            <a:blipFill>
              <a:blip r:embed="rId5">
                <a:alphaModFix amt="0"/>
              </a:blip>
              <a:stretch>
                <a:fillRect l="0" t="-77614" r="0" b="-77614"/>
              </a:stretch>
            </a:blipFill>
          </p:spPr>
          <p:txBody>
            <a:bodyPr/>
            <a:p/>
          </p:txBody>
        </p:sp>
        <p:sp>
          <p:nvSpPr>
            <p:cNvPr name="TextBox 25" id="25"/>
            <p:cNvSpPr txBox="true"/>
            <p:nvPr/>
          </p:nvSpPr>
          <p:spPr>
            <a:xfrm>
              <a:off x="0" y="-9525"/>
              <a:ext cx="8611819" cy="1324433"/>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La boîte d'allumettes de mon grand-père. Un héritage entrepreneurial et ingénieur qui m'a appris à déconstruire pour mieux reconstruire.</a:t>
              </a:r>
            </a:p>
          </p:txBody>
        </p:sp>
      </p:grpSp>
      <p:grpSp>
        <p:nvGrpSpPr>
          <p:cNvPr name="Group 26" id="26"/>
          <p:cNvGrpSpPr/>
          <p:nvPr/>
        </p:nvGrpSpPr>
        <p:grpSpPr>
          <a:xfrm rot="0">
            <a:off x="1128827" y="6598768"/>
            <a:ext cx="257861" cy="400507"/>
            <a:chOff x="0" y="0"/>
            <a:chExt cx="343814" cy="534010"/>
          </a:xfrm>
        </p:grpSpPr>
        <p:sp>
          <p:nvSpPr>
            <p:cNvPr name="Freeform 27" id="27" descr="preencoded.png"/>
            <p:cNvSpPr/>
            <p:nvPr/>
          </p:nvSpPr>
          <p:spPr>
            <a:xfrm flipH="false" flipV="false" rot="0">
              <a:off x="0" y="0"/>
              <a:ext cx="343789" cy="534035"/>
            </a:xfrm>
            <a:custGeom>
              <a:avLst/>
              <a:gdLst/>
              <a:ahLst/>
              <a:cxnLst/>
              <a:rect r="r" b="b" t="t" l="l"/>
              <a:pathLst>
                <a:path h="534035" w="343789">
                  <a:moveTo>
                    <a:pt x="0" y="0"/>
                  </a:moveTo>
                  <a:lnTo>
                    <a:pt x="343789" y="0"/>
                  </a:lnTo>
                  <a:lnTo>
                    <a:pt x="343789" y="534035"/>
                  </a:lnTo>
                  <a:lnTo>
                    <a:pt x="0" y="534035"/>
                  </a:lnTo>
                  <a:lnTo>
                    <a:pt x="0" y="0"/>
                  </a:lnTo>
                  <a:close/>
                </a:path>
              </a:pathLst>
            </a:custGeom>
            <a:blipFill>
              <a:blip r:embed="rId7"/>
              <a:stretch>
                <a:fillRect l="0" t="17807" r="-7" b="17812"/>
              </a:stretch>
            </a:blipFill>
          </p:spPr>
          <p:txBody>
            <a:bodyPr/>
            <a:p/>
          </p:txBody>
        </p:sp>
      </p:grpSp>
      <p:grpSp>
        <p:nvGrpSpPr>
          <p:cNvPr name="Group 28" id="28"/>
          <p:cNvGrpSpPr/>
          <p:nvPr/>
        </p:nvGrpSpPr>
        <p:grpSpPr>
          <a:xfrm rot="0">
            <a:off x="1885950" y="6456121"/>
            <a:ext cx="6515100" cy="430120"/>
            <a:chOff x="0" y="0"/>
            <a:chExt cx="8686800" cy="573494"/>
          </a:xfrm>
        </p:grpSpPr>
        <p:sp>
          <p:nvSpPr>
            <p:cNvPr name="Freeform 29" id="29"/>
            <p:cNvSpPr/>
            <p:nvPr/>
          </p:nvSpPr>
          <p:spPr>
            <a:xfrm flipH="false" flipV="false" rot="0">
              <a:off x="0" y="0"/>
              <a:ext cx="8686800" cy="573494"/>
            </a:xfrm>
            <a:custGeom>
              <a:avLst/>
              <a:gdLst/>
              <a:ahLst/>
              <a:cxnLst/>
              <a:rect r="r" b="b" t="t" l="l"/>
              <a:pathLst>
                <a:path h="573494" w="8686800">
                  <a:moveTo>
                    <a:pt x="0" y="0"/>
                  </a:moveTo>
                  <a:lnTo>
                    <a:pt x="8686800" y="0"/>
                  </a:lnTo>
                  <a:lnTo>
                    <a:pt x="8686800" y="573494"/>
                  </a:lnTo>
                  <a:lnTo>
                    <a:pt x="0" y="573494"/>
                  </a:lnTo>
                  <a:close/>
                </a:path>
              </a:pathLst>
            </a:custGeom>
            <a:blipFill>
              <a:blip r:embed="rId5">
                <a:alphaModFix amt="0"/>
              </a:blip>
              <a:stretch>
                <a:fillRect l="0" t="-248585" r="0" b="-241700"/>
              </a:stretch>
            </a:blipFill>
          </p:spPr>
          <p:txBody>
            <a:bodyPr/>
            <a:p/>
          </p:txBody>
        </p:sp>
        <p:sp>
          <p:nvSpPr>
            <p:cNvPr name="TextBox 30" id="30"/>
            <p:cNvSpPr txBox="true"/>
            <p:nvPr/>
          </p:nvSpPr>
          <p:spPr>
            <a:xfrm>
              <a:off x="0" y="-9525"/>
              <a:ext cx="868680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Le Design du "A"</a:t>
              </a:r>
            </a:p>
          </p:txBody>
        </p:sp>
      </p:grpSp>
      <p:grpSp>
        <p:nvGrpSpPr>
          <p:cNvPr name="Group 31" id="31"/>
          <p:cNvGrpSpPr/>
          <p:nvPr/>
        </p:nvGrpSpPr>
        <p:grpSpPr>
          <a:xfrm rot="0">
            <a:off x="1885950" y="6912864"/>
            <a:ext cx="6458864" cy="658368"/>
            <a:chOff x="0" y="0"/>
            <a:chExt cx="8611819" cy="877824"/>
          </a:xfrm>
        </p:grpSpPr>
        <p:sp>
          <p:nvSpPr>
            <p:cNvPr name="Freeform 32" id="32"/>
            <p:cNvSpPr/>
            <p:nvPr/>
          </p:nvSpPr>
          <p:spPr>
            <a:xfrm flipH="false" flipV="false" rot="0">
              <a:off x="0" y="0"/>
              <a:ext cx="8611820" cy="877824"/>
            </a:xfrm>
            <a:custGeom>
              <a:avLst/>
              <a:gdLst/>
              <a:ahLst/>
              <a:cxnLst/>
              <a:rect r="r" b="b" t="t" l="l"/>
              <a:pathLst>
                <a:path h="877824" w="8611820">
                  <a:moveTo>
                    <a:pt x="0" y="0"/>
                  </a:moveTo>
                  <a:lnTo>
                    <a:pt x="8611820" y="0"/>
                  </a:lnTo>
                  <a:lnTo>
                    <a:pt x="8611820" y="877824"/>
                  </a:lnTo>
                  <a:lnTo>
                    <a:pt x="0" y="877824"/>
                  </a:lnTo>
                  <a:close/>
                </a:path>
              </a:pathLst>
            </a:custGeom>
            <a:blipFill>
              <a:blip r:embed="rId5">
                <a:alphaModFix amt="0"/>
              </a:blip>
              <a:stretch>
                <a:fillRect l="0" t="-141156" r="0" b="-141156"/>
              </a:stretch>
            </a:blipFill>
          </p:spPr>
          <p:txBody>
            <a:bodyPr/>
            <a:p/>
          </p:txBody>
        </p:sp>
        <p:sp>
          <p:nvSpPr>
            <p:cNvPr name="TextBox 33" id="33"/>
            <p:cNvSpPr txBox="true"/>
            <p:nvPr/>
          </p:nvSpPr>
          <p:spPr>
            <a:xfrm>
              <a:off x="0" y="-9525"/>
              <a:ext cx="8611819" cy="887349"/>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Un croquis sur un Post-it. Le "hack" graphique du logo issu des traditions familiales, devenu le symbole de la méthode Addor.</a:t>
              </a:r>
            </a:p>
          </p:txBody>
        </p:sp>
      </p:grpSp>
      <p:grpSp>
        <p:nvGrpSpPr>
          <p:cNvPr name="Group 34" id="34"/>
          <p:cNvGrpSpPr/>
          <p:nvPr/>
        </p:nvGrpSpPr>
        <p:grpSpPr>
          <a:xfrm rot="0">
            <a:off x="1093165" y="8163763"/>
            <a:ext cx="329184" cy="400507"/>
            <a:chOff x="0" y="0"/>
            <a:chExt cx="438912" cy="534010"/>
          </a:xfrm>
        </p:grpSpPr>
        <p:sp>
          <p:nvSpPr>
            <p:cNvPr name="Freeform 35" id="35" descr="preencoded.png"/>
            <p:cNvSpPr/>
            <p:nvPr/>
          </p:nvSpPr>
          <p:spPr>
            <a:xfrm flipH="false" flipV="false" rot="0">
              <a:off x="0" y="0"/>
              <a:ext cx="438912" cy="534035"/>
            </a:xfrm>
            <a:custGeom>
              <a:avLst/>
              <a:gdLst/>
              <a:ahLst/>
              <a:cxnLst/>
              <a:rect r="r" b="b" t="t" l="l"/>
              <a:pathLst>
                <a:path h="534035" w="438912">
                  <a:moveTo>
                    <a:pt x="0" y="0"/>
                  </a:moveTo>
                  <a:lnTo>
                    <a:pt x="438912" y="0"/>
                  </a:lnTo>
                  <a:lnTo>
                    <a:pt x="438912" y="534035"/>
                  </a:lnTo>
                  <a:lnTo>
                    <a:pt x="0" y="534035"/>
                  </a:lnTo>
                  <a:lnTo>
                    <a:pt x="0" y="0"/>
                  </a:lnTo>
                  <a:close/>
                </a:path>
              </a:pathLst>
            </a:custGeom>
            <a:blipFill>
              <a:blip r:embed="rId8"/>
              <a:stretch>
                <a:fillRect l="0" t="17122" r="0" b="17127"/>
              </a:stretch>
            </a:blipFill>
          </p:spPr>
          <p:txBody>
            <a:bodyPr/>
            <a:p/>
          </p:txBody>
        </p:sp>
      </p:grpSp>
      <p:grpSp>
        <p:nvGrpSpPr>
          <p:cNvPr name="Group 36" id="36"/>
          <p:cNvGrpSpPr/>
          <p:nvPr/>
        </p:nvGrpSpPr>
        <p:grpSpPr>
          <a:xfrm rot="0">
            <a:off x="1885950" y="8021117"/>
            <a:ext cx="6515100" cy="430120"/>
            <a:chOff x="0" y="0"/>
            <a:chExt cx="8686800" cy="573494"/>
          </a:xfrm>
        </p:grpSpPr>
        <p:sp>
          <p:nvSpPr>
            <p:cNvPr name="Freeform 37" id="37"/>
            <p:cNvSpPr/>
            <p:nvPr/>
          </p:nvSpPr>
          <p:spPr>
            <a:xfrm flipH="false" flipV="false" rot="0">
              <a:off x="0" y="0"/>
              <a:ext cx="8686800" cy="573494"/>
            </a:xfrm>
            <a:custGeom>
              <a:avLst/>
              <a:gdLst/>
              <a:ahLst/>
              <a:cxnLst/>
              <a:rect r="r" b="b" t="t" l="l"/>
              <a:pathLst>
                <a:path h="573494" w="8686800">
                  <a:moveTo>
                    <a:pt x="0" y="0"/>
                  </a:moveTo>
                  <a:lnTo>
                    <a:pt x="8686800" y="0"/>
                  </a:lnTo>
                  <a:lnTo>
                    <a:pt x="8686800" y="573494"/>
                  </a:lnTo>
                  <a:lnTo>
                    <a:pt x="0" y="573494"/>
                  </a:lnTo>
                  <a:close/>
                </a:path>
              </a:pathLst>
            </a:custGeom>
            <a:blipFill>
              <a:blip r:embed="rId5">
                <a:alphaModFix amt="0"/>
              </a:blip>
              <a:stretch>
                <a:fillRect l="0" t="-248585" r="0" b="-241700"/>
              </a:stretch>
            </a:blipFill>
          </p:spPr>
          <p:txBody>
            <a:bodyPr/>
            <a:p/>
          </p:txBody>
        </p:sp>
        <p:sp>
          <p:nvSpPr>
            <p:cNvPr name="TextBox 38" id="38"/>
            <p:cNvSpPr txBox="true"/>
            <p:nvPr/>
          </p:nvSpPr>
          <p:spPr>
            <a:xfrm>
              <a:off x="0" y="-9525"/>
              <a:ext cx="868680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L'Alliance avec Major</a:t>
              </a:r>
            </a:p>
          </p:txBody>
        </p:sp>
      </p:grpSp>
      <p:grpSp>
        <p:nvGrpSpPr>
          <p:cNvPr name="Group 39" id="39"/>
          <p:cNvGrpSpPr/>
          <p:nvPr/>
        </p:nvGrpSpPr>
        <p:grpSpPr>
          <a:xfrm rot="0">
            <a:off x="1885950" y="8477860"/>
            <a:ext cx="6458864" cy="658368"/>
            <a:chOff x="0" y="0"/>
            <a:chExt cx="8611819" cy="877824"/>
          </a:xfrm>
        </p:grpSpPr>
        <p:sp>
          <p:nvSpPr>
            <p:cNvPr name="Freeform 40" id="40"/>
            <p:cNvSpPr/>
            <p:nvPr/>
          </p:nvSpPr>
          <p:spPr>
            <a:xfrm flipH="false" flipV="false" rot="0">
              <a:off x="0" y="0"/>
              <a:ext cx="8611820" cy="877824"/>
            </a:xfrm>
            <a:custGeom>
              <a:avLst/>
              <a:gdLst/>
              <a:ahLst/>
              <a:cxnLst/>
              <a:rect r="r" b="b" t="t" l="l"/>
              <a:pathLst>
                <a:path h="877824" w="8611820">
                  <a:moveTo>
                    <a:pt x="0" y="0"/>
                  </a:moveTo>
                  <a:lnTo>
                    <a:pt x="8611820" y="0"/>
                  </a:lnTo>
                  <a:lnTo>
                    <a:pt x="8611820" y="877824"/>
                  </a:lnTo>
                  <a:lnTo>
                    <a:pt x="0" y="877824"/>
                  </a:lnTo>
                  <a:close/>
                </a:path>
              </a:pathLst>
            </a:custGeom>
            <a:blipFill>
              <a:blip r:embed="rId5">
                <a:alphaModFix amt="0"/>
              </a:blip>
              <a:stretch>
                <a:fillRect l="0" t="-141156" r="0" b="-141156"/>
              </a:stretch>
            </a:blipFill>
          </p:spPr>
          <p:txBody>
            <a:bodyPr/>
            <a:p/>
          </p:txBody>
        </p:sp>
        <p:sp>
          <p:nvSpPr>
            <p:cNvPr name="TextBox 41" id="41"/>
            <p:cNvSpPr txBox="true"/>
            <p:nvPr/>
          </p:nvSpPr>
          <p:spPr>
            <a:xfrm>
              <a:off x="0" y="-9525"/>
              <a:ext cx="8611819" cy="887349"/>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Une amitié et un partenariat stratégique nés d'une simple discussion sur l'origine de ce logo.</a:t>
              </a:r>
            </a:p>
          </p:txBody>
        </p:sp>
      </p:grpSp>
      <p:grpSp>
        <p:nvGrpSpPr>
          <p:cNvPr name="Group 42" id="42"/>
          <p:cNvGrpSpPr/>
          <p:nvPr/>
        </p:nvGrpSpPr>
        <p:grpSpPr>
          <a:xfrm rot="6600000">
            <a:off x="11623015" y="853211"/>
            <a:ext cx="4191457" cy="4534357"/>
            <a:chOff x="0" y="0"/>
            <a:chExt cx="5588610" cy="6045810"/>
          </a:xfrm>
        </p:grpSpPr>
        <p:sp>
          <p:nvSpPr>
            <p:cNvPr name="Freeform 43" id="43"/>
            <p:cNvSpPr/>
            <p:nvPr/>
          </p:nvSpPr>
          <p:spPr>
            <a:xfrm flipH="false" flipV="false" rot="0">
              <a:off x="0" y="0"/>
              <a:ext cx="5588635" cy="6045835"/>
            </a:xfrm>
            <a:custGeom>
              <a:avLst/>
              <a:gdLst/>
              <a:ahLst/>
              <a:cxnLst/>
              <a:rect r="r" b="b" t="t" l="l"/>
              <a:pathLst>
                <a:path h="6045835" w="5588635">
                  <a:moveTo>
                    <a:pt x="0" y="1842135"/>
                  </a:moveTo>
                  <a:cubicBezTo>
                    <a:pt x="0" y="824738"/>
                    <a:pt x="824484" y="0"/>
                    <a:pt x="1841500" y="0"/>
                  </a:cubicBezTo>
                  <a:lnTo>
                    <a:pt x="3747135" y="0"/>
                  </a:lnTo>
                  <a:lnTo>
                    <a:pt x="3747135" y="12700"/>
                  </a:lnTo>
                  <a:lnTo>
                    <a:pt x="3747135" y="0"/>
                  </a:lnTo>
                  <a:lnTo>
                    <a:pt x="3747135" y="12700"/>
                  </a:lnTo>
                  <a:lnTo>
                    <a:pt x="3747135" y="0"/>
                  </a:lnTo>
                  <a:cubicBezTo>
                    <a:pt x="4764151" y="0"/>
                    <a:pt x="5588635" y="824738"/>
                    <a:pt x="5588635" y="1842135"/>
                  </a:cubicBezTo>
                  <a:lnTo>
                    <a:pt x="5588635" y="4203700"/>
                  </a:lnTo>
                  <a:lnTo>
                    <a:pt x="5575935" y="4203700"/>
                  </a:lnTo>
                  <a:lnTo>
                    <a:pt x="5588635" y="4203700"/>
                  </a:lnTo>
                  <a:cubicBezTo>
                    <a:pt x="5588635" y="5221097"/>
                    <a:pt x="4764151" y="6045835"/>
                    <a:pt x="3747135" y="6045835"/>
                  </a:cubicBezTo>
                  <a:lnTo>
                    <a:pt x="3747135" y="6033135"/>
                  </a:lnTo>
                  <a:lnTo>
                    <a:pt x="3747135" y="6045835"/>
                  </a:lnTo>
                  <a:lnTo>
                    <a:pt x="1841500" y="6045835"/>
                  </a:lnTo>
                  <a:lnTo>
                    <a:pt x="1841500" y="6033135"/>
                  </a:lnTo>
                  <a:lnTo>
                    <a:pt x="1841500" y="6045835"/>
                  </a:lnTo>
                  <a:cubicBezTo>
                    <a:pt x="824484" y="6045835"/>
                    <a:pt x="0" y="5221097"/>
                    <a:pt x="0" y="4203700"/>
                  </a:cubicBezTo>
                  <a:lnTo>
                    <a:pt x="0" y="1842135"/>
                  </a:lnTo>
                  <a:lnTo>
                    <a:pt x="12700" y="1842135"/>
                  </a:lnTo>
                  <a:lnTo>
                    <a:pt x="0" y="1842135"/>
                  </a:lnTo>
                  <a:moveTo>
                    <a:pt x="25400" y="1842135"/>
                  </a:moveTo>
                  <a:lnTo>
                    <a:pt x="25400" y="4203700"/>
                  </a:lnTo>
                  <a:lnTo>
                    <a:pt x="12700" y="4203700"/>
                  </a:lnTo>
                  <a:lnTo>
                    <a:pt x="25400" y="4203700"/>
                  </a:lnTo>
                  <a:cubicBezTo>
                    <a:pt x="25400" y="5207000"/>
                    <a:pt x="838454" y="6020435"/>
                    <a:pt x="1841500" y="6020435"/>
                  </a:cubicBezTo>
                  <a:lnTo>
                    <a:pt x="3747135" y="6020435"/>
                  </a:lnTo>
                  <a:cubicBezTo>
                    <a:pt x="4750181" y="6020435"/>
                    <a:pt x="5563235" y="5207000"/>
                    <a:pt x="5563235" y="4203700"/>
                  </a:cubicBezTo>
                  <a:lnTo>
                    <a:pt x="5563235" y="1842135"/>
                  </a:lnTo>
                  <a:lnTo>
                    <a:pt x="5575935" y="1842135"/>
                  </a:lnTo>
                  <a:lnTo>
                    <a:pt x="5563235" y="1842135"/>
                  </a:lnTo>
                  <a:cubicBezTo>
                    <a:pt x="5563235" y="838835"/>
                    <a:pt x="4750181" y="25400"/>
                    <a:pt x="3747135" y="25400"/>
                  </a:cubicBezTo>
                  <a:lnTo>
                    <a:pt x="1841500" y="25400"/>
                  </a:lnTo>
                  <a:lnTo>
                    <a:pt x="1841500" y="12700"/>
                  </a:lnTo>
                  <a:lnTo>
                    <a:pt x="1841500" y="25400"/>
                  </a:lnTo>
                  <a:cubicBezTo>
                    <a:pt x="838454" y="25400"/>
                    <a:pt x="25400" y="838835"/>
                    <a:pt x="25400" y="1842135"/>
                  </a:cubicBezTo>
                  <a:close/>
                </a:path>
              </a:pathLst>
            </a:custGeom>
            <a:solidFill>
              <a:srgbClr val="374151"/>
            </a:solidFill>
          </p:spPr>
          <p:txBody>
            <a:bodyPr/>
            <a:p/>
          </p:txBody>
        </p:sp>
      </p:grpSp>
      <p:grpSp>
        <p:nvGrpSpPr>
          <p:cNvPr name="Group 44" id="44"/>
          <p:cNvGrpSpPr/>
          <p:nvPr/>
        </p:nvGrpSpPr>
        <p:grpSpPr>
          <a:xfrm rot="0">
            <a:off x="12105818" y="1791386"/>
            <a:ext cx="3218993" cy="2648407"/>
            <a:chOff x="0" y="0"/>
            <a:chExt cx="4291990" cy="3531210"/>
          </a:xfrm>
        </p:grpSpPr>
        <p:sp>
          <p:nvSpPr>
            <p:cNvPr name="Freeform 45" id="45"/>
            <p:cNvSpPr/>
            <p:nvPr/>
          </p:nvSpPr>
          <p:spPr>
            <a:xfrm flipH="false" flipV="false" rot="0">
              <a:off x="0" y="0"/>
              <a:ext cx="4291965" cy="3531108"/>
            </a:xfrm>
            <a:custGeom>
              <a:avLst/>
              <a:gdLst/>
              <a:ahLst/>
              <a:cxnLst/>
              <a:rect r="r" b="b" t="t" l="l"/>
              <a:pathLst>
                <a:path h="3531108" w="4291965">
                  <a:moveTo>
                    <a:pt x="0" y="1765554"/>
                  </a:moveTo>
                  <a:cubicBezTo>
                    <a:pt x="0" y="790448"/>
                    <a:pt x="791464" y="0"/>
                    <a:pt x="1767840" y="0"/>
                  </a:cubicBezTo>
                  <a:lnTo>
                    <a:pt x="2524125" y="0"/>
                  </a:lnTo>
                  <a:lnTo>
                    <a:pt x="2524125" y="12700"/>
                  </a:lnTo>
                  <a:lnTo>
                    <a:pt x="2524125" y="0"/>
                  </a:lnTo>
                  <a:cubicBezTo>
                    <a:pt x="3500501" y="0"/>
                    <a:pt x="4291965" y="790448"/>
                    <a:pt x="4291965" y="1765554"/>
                  </a:cubicBezTo>
                  <a:lnTo>
                    <a:pt x="4279265" y="1765554"/>
                  </a:lnTo>
                  <a:lnTo>
                    <a:pt x="4291965" y="1765554"/>
                  </a:lnTo>
                  <a:lnTo>
                    <a:pt x="4279265" y="1765554"/>
                  </a:lnTo>
                  <a:lnTo>
                    <a:pt x="4291965" y="1765554"/>
                  </a:lnTo>
                  <a:cubicBezTo>
                    <a:pt x="4291965" y="2740660"/>
                    <a:pt x="3500501" y="3531108"/>
                    <a:pt x="2524125" y="3531108"/>
                  </a:cubicBezTo>
                  <a:lnTo>
                    <a:pt x="2524125" y="3518408"/>
                  </a:lnTo>
                  <a:lnTo>
                    <a:pt x="2524125" y="3531108"/>
                  </a:lnTo>
                  <a:lnTo>
                    <a:pt x="1767840" y="3531108"/>
                  </a:lnTo>
                  <a:lnTo>
                    <a:pt x="1767840" y="3518408"/>
                  </a:lnTo>
                  <a:lnTo>
                    <a:pt x="1767840" y="3531108"/>
                  </a:lnTo>
                  <a:cubicBezTo>
                    <a:pt x="791464" y="3531235"/>
                    <a:pt x="0" y="2740787"/>
                    <a:pt x="0" y="1765554"/>
                  </a:cubicBezTo>
                  <a:moveTo>
                    <a:pt x="25400" y="1765554"/>
                  </a:moveTo>
                  <a:lnTo>
                    <a:pt x="12700" y="1765554"/>
                  </a:lnTo>
                  <a:lnTo>
                    <a:pt x="25400" y="1765554"/>
                  </a:lnTo>
                  <a:cubicBezTo>
                    <a:pt x="25400" y="2726690"/>
                    <a:pt x="805561" y="3505835"/>
                    <a:pt x="1767840" y="3505835"/>
                  </a:cubicBezTo>
                  <a:lnTo>
                    <a:pt x="2524125" y="3505835"/>
                  </a:lnTo>
                  <a:cubicBezTo>
                    <a:pt x="3486531" y="3505835"/>
                    <a:pt x="4266565" y="2726690"/>
                    <a:pt x="4266565" y="1765681"/>
                  </a:cubicBezTo>
                  <a:cubicBezTo>
                    <a:pt x="4266565" y="804672"/>
                    <a:pt x="3486531" y="25400"/>
                    <a:pt x="2524125" y="25400"/>
                  </a:cubicBezTo>
                  <a:lnTo>
                    <a:pt x="1767840" y="25400"/>
                  </a:lnTo>
                  <a:lnTo>
                    <a:pt x="1767840" y="12700"/>
                  </a:lnTo>
                  <a:lnTo>
                    <a:pt x="1767840" y="25400"/>
                  </a:lnTo>
                  <a:cubicBezTo>
                    <a:pt x="805561" y="25400"/>
                    <a:pt x="25400" y="804545"/>
                    <a:pt x="25400" y="1765554"/>
                  </a:cubicBezTo>
                  <a:close/>
                </a:path>
              </a:pathLst>
            </a:custGeom>
            <a:solidFill>
              <a:srgbClr val="1F2937"/>
            </a:solidFill>
          </p:spPr>
          <p:txBody>
            <a:bodyPr/>
            <a:p/>
          </p:txBody>
        </p:sp>
      </p:grpSp>
      <p:grpSp>
        <p:nvGrpSpPr>
          <p:cNvPr name="Group 46" id="46"/>
          <p:cNvGrpSpPr/>
          <p:nvPr/>
        </p:nvGrpSpPr>
        <p:grpSpPr>
          <a:xfrm rot="180000">
            <a:off x="11624996" y="5624124"/>
            <a:ext cx="4183380" cy="3804818"/>
            <a:chOff x="0" y="0"/>
            <a:chExt cx="5577840" cy="5073091"/>
          </a:xfrm>
        </p:grpSpPr>
        <p:sp>
          <p:nvSpPr>
            <p:cNvPr name="Freeform 47" id="47" descr="preencoded.png"/>
            <p:cNvSpPr/>
            <p:nvPr/>
          </p:nvSpPr>
          <p:spPr>
            <a:xfrm flipH="false" flipV="false" rot="0">
              <a:off x="0" y="0"/>
              <a:ext cx="5577840" cy="5073142"/>
            </a:xfrm>
            <a:custGeom>
              <a:avLst/>
              <a:gdLst/>
              <a:ahLst/>
              <a:cxnLst/>
              <a:rect r="r" b="b" t="t" l="l"/>
              <a:pathLst>
                <a:path h="5073142" w="5577840">
                  <a:moveTo>
                    <a:pt x="0" y="0"/>
                  </a:moveTo>
                  <a:lnTo>
                    <a:pt x="5577840" y="0"/>
                  </a:lnTo>
                  <a:lnTo>
                    <a:pt x="5577840" y="5073142"/>
                  </a:lnTo>
                  <a:lnTo>
                    <a:pt x="0" y="5073142"/>
                  </a:lnTo>
                  <a:lnTo>
                    <a:pt x="0" y="0"/>
                  </a:lnTo>
                  <a:close/>
                </a:path>
              </a:pathLst>
            </a:custGeom>
            <a:solidFill>
              <a:srgbClr val="EDEFF7"/>
            </a:solidFill>
          </p:spPr>
          <p:txBody>
            <a:bodyPr/>
            <a:p/>
          </p:txBody>
        </p:sp>
      </p:grpSp>
      <p:grpSp>
        <p:nvGrpSpPr>
          <p:cNvPr name="Group 48" id="48"/>
          <p:cNvGrpSpPr/>
          <p:nvPr/>
        </p:nvGrpSpPr>
        <p:grpSpPr>
          <a:xfrm rot="0">
            <a:off x="11878742" y="8748141"/>
            <a:ext cx="3673145" cy="471831"/>
            <a:chOff x="0" y="0"/>
            <a:chExt cx="4897526" cy="629108"/>
          </a:xfrm>
        </p:grpSpPr>
        <p:sp>
          <p:nvSpPr>
            <p:cNvPr name="Freeform 49" id="49"/>
            <p:cNvSpPr/>
            <p:nvPr/>
          </p:nvSpPr>
          <p:spPr>
            <a:xfrm flipH="false" flipV="false" rot="0">
              <a:off x="0" y="0"/>
              <a:ext cx="4897526" cy="629109"/>
            </a:xfrm>
            <a:custGeom>
              <a:avLst/>
              <a:gdLst/>
              <a:ahLst/>
              <a:cxnLst/>
              <a:rect r="r" b="b" t="t" l="l"/>
              <a:pathLst>
                <a:path h="629109" w="4897526">
                  <a:moveTo>
                    <a:pt x="0" y="0"/>
                  </a:moveTo>
                  <a:lnTo>
                    <a:pt x="4897526" y="0"/>
                  </a:lnTo>
                  <a:lnTo>
                    <a:pt x="4897526" y="629109"/>
                  </a:lnTo>
                  <a:lnTo>
                    <a:pt x="0" y="629109"/>
                  </a:lnTo>
                  <a:close/>
                </a:path>
              </a:pathLst>
            </a:custGeom>
            <a:blipFill>
              <a:blip r:embed="rId5">
                <a:alphaModFix amt="0"/>
              </a:blip>
              <a:stretch>
                <a:fillRect l="0" t="-101688" r="0" b="-101688"/>
              </a:stretch>
            </a:blipFill>
          </p:spPr>
          <p:txBody>
            <a:bodyPr/>
            <a:p/>
          </p:txBody>
        </p:sp>
        <p:sp>
          <p:nvSpPr>
            <p:cNvPr name="TextBox 50" id="50"/>
            <p:cNvSpPr txBox="true"/>
            <p:nvPr/>
          </p:nvSpPr>
          <p:spPr>
            <a:xfrm>
              <a:off x="0" y="9525"/>
              <a:ext cx="4897526" cy="619583"/>
            </a:xfrm>
            <a:prstGeom prst="rect">
              <a:avLst/>
            </a:prstGeom>
          </p:spPr>
          <p:txBody>
            <a:bodyPr anchor="ctr" rtlCol="false" tIns="0" lIns="0" bIns="0" rIns="0"/>
            <a:lstStyle/>
            <a:p>
              <a:pPr algn="ctr">
                <a:lnSpc>
                  <a:spcPts val="2039"/>
                </a:lnSpc>
              </a:pPr>
              <a:r>
                <a:rPr lang="en-US" sz="1699" b="true">
                  <a:solidFill>
                    <a:srgbClr val="000000"/>
                  </a:solidFill>
                  <a:latin typeface="Manrope Bold"/>
                  <a:ea typeface="Manrope Bold"/>
                  <a:cs typeface="Manrope Bold"/>
                  <a:sym typeface="Manrope Bold"/>
                </a:rPr>
                <a:t>L'origine du “A”</a:t>
              </a:r>
            </a:p>
          </p:txBody>
        </p:sp>
      </p:grpSp>
      <p:sp>
        <p:nvSpPr>
          <p:cNvPr name="Freeform 51" id="51"/>
          <p:cNvSpPr/>
          <p:nvPr/>
        </p:nvSpPr>
        <p:spPr>
          <a:xfrm flipH="false" flipV="false" rot="0">
            <a:off x="12158193" y="1804716"/>
            <a:ext cx="3108870" cy="1975028"/>
          </a:xfrm>
          <a:custGeom>
            <a:avLst/>
            <a:gdLst/>
            <a:ahLst/>
            <a:cxnLst/>
            <a:rect r="r" b="b" t="t" l="l"/>
            <a:pathLst>
              <a:path h="1975028" w="3108870">
                <a:moveTo>
                  <a:pt x="0" y="0"/>
                </a:moveTo>
                <a:lnTo>
                  <a:pt x="3108870" y="0"/>
                </a:lnTo>
                <a:lnTo>
                  <a:pt x="3108870" y="1975028"/>
                </a:lnTo>
                <a:lnTo>
                  <a:pt x="0" y="197502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grpSp>
        <p:nvGrpSpPr>
          <p:cNvPr name="Group 52" id="52"/>
          <p:cNvGrpSpPr/>
          <p:nvPr/>
        </p:nvGrpSpPr>
        <p:grpSpPr>
          <a:xfrm rot="0">
            <a:off x="12271133" y="5865151"/>
            <a:ext cx="2882990" cy="2882990"/>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1"/>
              <a:stretch>
                <a:fillRect l="0" t="0" r="0" b="-22137"/>
              </a:stretch>
            </a:blipFill>
          </p:spPr>
          <p:txBody>
            <a:bodyPr/>
            <a:p/>
          </p:txBody>
        </p:sp>
      </p:grpSp>
      <p:grpSp>
        <p:nvGrpSpPr>
          <p:cNvPr name="Group 54" id="54"/>
          <p:cNvGrpSpPr/>
          <p:nvPr/>
        </p:nvGrpSpPr>
        <p:grpSpPr>
          <a:xfrm rot="0">
            <a:off x="7731154" y="9013212"/>
            <a:ext cx="1339792" cy="1172318"/>
            <a:chOff x="0" y="0"/>
            <a:chExt cx="812800" cy="711200"/>
          </a:xfrm>
        </p:grpSpPr>
        <p:sp>
          <p:nvSpPr>
            <p:cNvPr name="Freeform 55" id="55"/>
            <p:cNvSpPr/>
            <p:nvPr/>
          </p:nvSpPr>
          <p:spPr>
            <a:xfrm flipH="false" flipV="false" rot="0">
              <a:off x="0" y="0"/>
              <a:ext cx="812800" cy="711200"/>
            </a:xfrm>
            <a:custGeom>
              <a:avLst/>
              <a:gdLst/>
              <a:ahLst/>
              <a:cxnLst/>
              <a:rect r="r" b="b" t="t" l="l"/>
              <a:pathLst>
                <a:path h="711200" w="812800">
                  <a:moveTo>
                    <a:pt x="32223" y="113558"/>
                  </a:moveTo>
                  <a:cubicBezTo>
                    <a:pt x="-33680" y="222131"/>
                    <a:pt x="12749" y="327809"/>
                    <a:pt x="71096" y="383897"/>
                  </a:cubicBezTo>
                  <a:lnTo>
                    <a:pt x="412247" y="711200"/>
                  </a:lnTo>
                  <a:lnTo>
                    <a:pt x="746197" y="385067"/>
                  </a:lnTo>
                  <a:cubicBezTo>
                    <a:pt x="800465" y="324730"/>
                    <a:pt x="821266" y="260730"/>
                    <a:pt x="809713" y="189465"/>
                  </a:cubicBezTo>
                  <a:cubicBezTo>
                    <a:pt x="793755" y="90882"/>
                    <a:pt x="712517" y="14398"/>
                    <a:pt x="612162" y="3476"/>
                  </a:cubicBezTo>
                  <a:cubicBezTo>
                    <a:pt x="550612" y="-3151"/>
                    <a:pt x="491155" y="14267"/>
                    <a:pt x="444750" y="52829"/>
                  </a:cubicBezTo>
                  <a:cubicBezTo>
                    <a:pt x="432260" y="63204"/>
                    <a:pt x="421096" y="74804"/>
                    <a:pt x="411367" y="87411"/>
                  </a:cubicBezTo>
                  <a:cubicBezTo>
                    <a:pt x="399823" y="73056"/>
                    <a:pt x="386287" y="59925"/>
                    <a:pt x="370977" y="48288"/>
                  </a:cubicBezTo>
                  <a:cubicBezTo>
                    <a:pt x="317614" y="7733"/>
                    <a:pt x="249687" y="-8369"/>
                    <a:pt x="184440" y="4154"/>
                  </a:cubicBezTo>
                  <a:cubicBezTo>
                    <a:pt x="122643" y="16092"/>
                    <a:pt x="67173" y="55954"/>
                    <a:pt x="32223" y="113558"/>
                  </a:cubicBezTo>
                  <a:close/>
                </a:path>
              </a:pathLst>
            </a:custGeom>
            <a:blipFill>
              <a:blip r:embed="rId12"/>
              <a:stretch>
                <a:fillRect l="0" t="-20398" r="0" b="-51137"/>
              </a:stretch>
            </a:blipFill>
          </p:spPr>
          <p:txBody>
            <a:body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8220075" y="-9525"/>
            <a:ext cx="10076993" cy="10306050"/>
            <a:chOff x="0" y="0"/>
            <a:chExt cx="13435990" cy="13741400"/>
          </a:xfrm>
        </p:grpSpPr>
        <p:sp>
          <p:nvSpPr>
            <p:cNvPr name="Freeform 7" id="7"/>
            <p:cNvSpPr/>
            <p:nvPr/>
          </p:nvSpPr>
          <p:spPr>
            <a:xfrm flipH="false" flipV="false" rot="0">
              <a:off x="12700" y="12700"/>
              <a:ext cx="13410564" cy="13716000"/>
            </a:xfrm>
            <a:custGeom>
              <a:avLst/>
              <a:gdLst/>
              <a:ahLst/>
              <a:cxnLst/>
              <a:rect r="r" b="b" t="t" l="l"/>
              <a:pathLst>
                <a:path h="13716000" w="13410564">
                  <a:moveTo>
                    <a:pt x="0" y="0"/>
                  </a:moveTo>
                  <a:lnTo>
                    <a:pt x="13410564" y="0"/>
                  </a:lnTo>
                  <a:lnTo>
                    <a:pt x="13410564" y="13716000"/>
                  </a:lnTo>
                  <a:lnTo>
                    <a:pt x="0" y="13716000"/>
                  </a:lnTo>
                  <a:close/>
                </a:path>
              </a:pathLst>
            </a:custGeom>
            <a:solidFill>
              <a:srgbClr val="000000"/>
            </a:solidFill>
          </p:spPr>
          <p:txBody>
            <a:bodyPr/>
            <a:p/>
          </p:txBody>
        </p:sp>
      </p:grpSp>
      <p:grpSp>
        <p:nvGrpSpPr>
          <p:cNvPr name="Group 8" id="8"/>
          <p:cNvGrpSpPr/>
          <p:nvPr/>
        </p:nvGrpSpPr>
        <p:grpSpPr>
          <a:xfrm rot="0">
            <a:off x="8229600" y="0"/>
            <a:ext cx="10057943" cy="10287000"/>
            <a:chOff x="0" y="0"/>
            <a:chExt cx="13410590" cy="13716000"/>
          </a:xfrm>
        </p:grpSpPr>
        <p:sp>
          <p:nvSpPr>
            <p:cNvPr name="Freeform 9" id="9"/>
            <p:cNvSpPr/>
            <p:nvPr/>
          </p:nvSpPr>
          <p:spPr>
            <a:xfrm flipH="false" flipV="false" rot="0">
              <a:off x="0" y="0"/>
              <a:ext cx="13410564" cy="13716000"/>
            </a:xfrm>
            <a:custGeom>
              <a:avLst/>
              <a:gdLst/>
              <a:ahLst/>
              <a:cxnLst/>
              <a:rect r="r" b="b" t="t" l="l"/>
              <a:pathLst>
                <a:path h="13716000" w="13410564">
                  <a:moveTo>
                    <a:pt x="0" y="0"/>
                  </a:moveTo>
                  <a:lnTo>
                    <a:pt x="13410564" y="0"/>
                  </a:lnTo>
                  <a:lnTo>
                    <a:pt x="13410564" y="13716000"/>
                  </a:lnTo>
                  <a:lnTo>
                    <a:pt x="0" y="13716000"/>
                  </a:lnTo>
                  <a:lnTo>
                    <a:pt x="0" y="0"/>
                  </a:lnTo>
                  <a:close/>
                </a:path>
              </a:pathLst>
            </a:custGeom>
            <a:blipFill>
              <a:blip r:embed="rId3"/>
              <a:stretch>
                <a:fillRect l="0" t="-9601" r="0" b="-9601"/>
              </a:stretch>
            </a:blipFill>
          </p:spPr>
          <p:txBody>
            <a:bodyPr/>
            <a:p/>
          </p:txBody>
        </p:sp>
      </p:grpSp>
      <p:grpSp>
        <p:nvGrpSpPr>
          <p:cNvPr name="Group 10" id="10"/>
          <p:cNvGrpSpPr/>
          <p:nvPr/>
        </p:nvGrpSpPr>
        <p:grpSpPr>
          <a:xfrm rot="0">
            <a:off x="17590770" y="9543593"/>
            <a:ext cx="357988" cy="332327"/>
            <a:chOff x="0" y="0"/>
            <a:chExt cx="477317" cy="443103"/>
          </a:xfrm>
        </p:grpSpPr>
        <p:sp>
          <p:nvSpPr>
            <p:cNvPr name="Freeform 11" id="11"/>
            <p:cNvSpPr/>
            <p:nvPr/>
          </p:nvSpPr>
          <p:spPr>
            <a:xfrm flipH="false" flipV="false" rot="0">
              <a:off x="0" y="0"/>
              <a:ext cx="477316" cy="443104"/>
            </a:xfrm>
            <a:custGeom>
              <a:avLst/>
              <a:gdLst/>
              <a:ahLst/>
              <a:cxnLst/>
              <a:rect r="r" b="b" t="t" l="l"/>
              <a:pathLst>
                <a:path h="443104" w="477316">
                  <a:moveTo>
                    <a:pt x="0" y="0"/>
                  </a:moveTo>
                  <a:lnTo>
                    <a:pt x="477316" y="0"/>
                  </a:lnTo>
                  <a:lnTo>
                    <a:pt x="477316" y="443104"/>
                  </a:lnTo>
                  <a:lnTo>
                    <a:pt x="0" y="443104"/>
                  </a:lnTo>
                  <a:close/>
                </a:path>
              </a:pathLst>
            </a:custGeom>
            <a:blipFill>
              <a:blip r:embed="rId4">
                <a:alphaModFix amt="0"/>
              </a:blip>
              <a:stretch>
                <a:fillRect l="-52741" t="0" r="-52741" b="13740"/>
              </a:stretch>
            </a:blipFill>
          </p:spPr>
          <p:txBody>
            <a:bodyPr/>
            <a:p/>
          </p:txBody>
        </p:sp>
        <p:sp>
          <p:nvSpPr>
            <p:cNvPr name="TextBox 12" id="12"/>
            <p:cNvSpPr txBox="true"/>
            <p:nvPr/>
          </p:nvSpPr>
          <p:spPr>
            <a:xfrm>
              <a:off x="0" y="-9525"/>
              <a:ext cx="477317" cy="452628"/>
            </a:xfrm>
            <a:prstGeom prst="rect">
              <a:avLst/>
            </a:prstGeom>
          </p:spPr>
          <p:txBody>
            <a:bodyPr anchor="ctr" rtlCol="false" tIns="0" lIns="0" bIns="0" rIns="0"/>
            <a:lstStyle/>
            <a:p>
              <a:pPr algn="l">
                <a:lnSpc>
                  <a:spcPts val="1800"/>
                </a:lnSpc>
              </a:pPr>
              <a:r>
                <a:rPr lang="en-US" sz="1500">
                  <a:solidFill>
                    <a:srgbClr val="4B5563"/>
                  </a:solidFill>
                  <a:latin typeface="Manrope"/>
                  <a:ea typeface="Manrope"/>
                  <a:cs typeface="Manrope"/>
                  <a:sym typeface="Manrope"/>
                </a:rPr>
                <a:t>02</a:t>
              </a:r>
            </a:p>
          </p:txBody>
        </p:sp>
      </p:grpSp>
      <p:grpSp>
        <p:nvGrpSpPr>
          <p:cNvPr name="Group 13" id="13"/>
          <p:cNvGrpSpPr/>
          <p:nvPr/>
        </p:nvGrpSpPr>
        <p:grpSpPr>
          <a:xfrm rot="0">
            <a:off x="0" y="0"/>
            <a:ext cx="8229600" cy="10287000"/>
            <a:chOff x="0" y="0"/>
            <a:chExt cx="10972800" cy="13716000"/>
          </a:xfrm>
        </p:grpSpPr>
        <p:sp>
          <p:nvSpPr>
            <p:cNvPr name="Freeform 14" id="14"/>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close/>
                </a:path>
              </a:pathLst>
            </a:custGeom>
            <a:solidFill>
              <a:srgbClr val="1E1E24"/>
            </a:solidFill>
          </p:spPr>
          <p:txBody>
            <a:bodyPr/>
            <a:p/>
          </p:txBody>
        </p:sp>
      </p:grpSp>
      <p:grpSp>
        <p:nvGrpSpPr>
          <p:cNvPr name="Group 15" id="15"/>
          <p:cNvGrpSpPr/>
          <p:nvPr/>
        </p:nvGrpSpPr>
        <p:grpSpPr>
          <a:xfrm rot="0">
            <a:off x="8206359" y="-9525"/>
            <a:ext cx="32766" cy="10306050"/>
            <a:chOff x="0" y="0"/>
            <a:chExt cx="43688" cy="13741400"/>
          </a:xfrm>
        </p:grpSpPr>
        <p:sp>
          <p:nvSpPr>
            <p:cNvPr name="Freeform 16" id="16"/>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7" id="17"/>
          <p:cNvGrpSpPr/>
          <p:nvPr/>
        </p:nvGrpSpPr>
        <p:grpSpPr>
          <a:xfrm rot="0">
            <a:off x="847725" y="364922"/>
            <a:ext cx="1319327" cy="361950"/>
            <a:chOff x="0" y="0"/>
            <a:chExt cx="1759102" cy="482600"/>
          </a:xfrm>
        </p:grpSpPr>
        <p:sp>
          <p:nvSpPr>
            <p:cNvPr name="Freeform 18" id="18"/>
            <p:cNvSpPr/>
            <p:nvPr/>
          </p:nvSpPr>
          <p:spPr>
            <a:xfrm flipH="false" flipV="false" rot="0">
              <a:off x="12700" y="12700"/>
              <a:ext cx="1733804" cy="457200"/>
            </a:xfrm>
            <a:custGeom>
              <a:avLst/>
              <a:gdLst/>
              <a:ahLst/>
              <a:cxnLst/>
              <a:rect r="r" b="b" t="t" l="l"/>
              <a:pathLst>
                <a:path h="457200" w="1733804">
                  <a:moveTo>
                    <a:pt x="0" y="228600"/>
                  </a:moveTo>
                  <a:cubicBezTo>
                    <a:pt x="0" y="102362"/>
                    <a:pt x="106426" y="0"/>
                    <a:pt x="237871" y="0"/>
                  </a:cubicBezTo>
                  <a:lnTo>
                    <a:pt x="1495933" y="0"/>
                  </a:lnTo>
                  <a:cubicBezTo>
                    <a:pt x="1627251" y="0"/>
                    <a:pt x="1733804" y="102362"/>
                    <a:pt x="1733804" y="228600"/>
                  </a:cubicBezTo>
                  <a:cubicBezTo>
                    <a:pt x="1733804" y="354838"/>
                    <a:pt x="1627378" y="457200"/>
                    <a:pt x="1495933" y="457200"/>
                  </a:cubicBezTo>
                  <a:lnTo>
                    <a:pt x="237871" y="457200"/>
                  </a:lnTo>
                  <a:cubicBezTo>
                    <a:pt x="106426" y="457200"/>
                    <a:pt x="0" y="354838"/>
                    <a:pt x="0" y="228600"/>
                  </a:cubicBezTo>
                  <a:close/>
                </a:path>
              </a:pathLst>
            </a:custGeom>
            <a:solidFill>
              <a:srgbClr val="FFFFFF"/>
            </a:solidFill>
          </p:spPr>
          <p:txBody>
            <a:bodyPr/>
            <a:p/>
          </p:txBody>
        </p:sp>
      </p:grpSp>
      <p:grpSp>
        <p:nvGrpSpPr>
          <p:cNvPr name="Group 19" id="19"/>
          <p:cNvGrpSpPr/>
          <p:nvPr/>
        </p:nvGrpSpPr>
        <p:grpSpPr>
          <a:xfrm rot="0">
            <a:off x="1021842" y="374447"/>
            <a:ext cx="1386688" cy="342900"/>
            <a:chOff x="0" y="0"/>
            <a:chExt cx="1848917" cy="457200"/>
          </a:xfrm>
        </p:grpSpPr>
        <p:sp>
          <p:nvSpPr>
            <p:cNvPr name="Freeform 20" id="20"/>
            <p:cNvSpPr/>
            <p:nvPr/>
          </p:nvSpPr>
          <p:spPr>
            <a:xfrm flipH="false" flipV="false" rot="0">
              <a:off x="0" y="0"/>
              <a:ext cx="1848916" cy="457200"/>
            </a:xfrm>
            <a:custGeom>
              <a:avLst/>
              <a:gdLst/>
              <a:ahLst/>
              <a:cxnLst/>
              <a:rect r="r" b="b" t="t" l="l"/>
              <a:pathLst>
                <a:path h="457200" w="1848916">
                  <a:moveTo>
                    <a:pt x="0" y="0"/>
                  </a:moveTo>
                  <a:lnTo>
                    <a:pt x="1848916" y="0"/>
                  </a:lnTo>
                  <a:lnTo>
                    <a:pt x="1848916" y="457200"/>
                  </a:lnTo>
                  <a:lnTo>
                    <a:pt x="0" y="457200"/>
                  </a:lnTo>
                  <a:close/>
                </a:path>
              </a:pathLst>
            </a:custGeom>
            <a:blipFill>
              <a:blip r:embed="rId4">
                <a:alphaModFix amt="0"/>
              </a:blip>
              <a:stretch>
                <a:fillRect l="0" t="-28797" r="0" b="-28797"/>
              </a:stretch>
            </a:blipFill>
          </p:spPr>
          <p:txBody>
            <a:bodyPr/>
            <a:p/>
          </p:txBody>
        </p:sp>
        <p:sp>
          <p:nvSpPr>
            <p:cNvPr name="TextBox 21" id="21"/>
            <p:cNvSpPr txBox="true"/>
            <p:nvPr/>
          </p:nvSpPr>
          <p:spPr>
            <a:xfrm>
              <a:off x="0" y="0"/>
              <a:ext cx="1848917" cy="457200"/>
            </a:xfrm>
            <a:prstGeom prst="rect">
              <a:avLst/>
            </a:prstGeom>
          </p:spPr>
          <p:txBody>
            <a:bodyPr anchor="ctr" rtlCol="false" tIns="0" lIns="0" bIns="0" rIns="0"/>
            <a:lstStyle/>
            <a:p>
              <a:pPr algn="l">
                <a:lnSpc>
                  <a:spcPts val="1620"/>
                </a:lnSpc>
              </a:pPr>
              <a:r>
                <a:rPr lang="en-US" b="true" sz="1350" spc="67">
                  <a:solidFill>
                    <a:srgbClr val="000000"/>
                  </a:solidFill>
                  <a:latin typeface="Manrope Bold"/>
                  <a:ea typeface="Manrope Bold"/>
                  <a:cs typeface="Manrope Bold"/>
                  <a:sym typeface="Manrope Bold"/>
                </a:rPr>
                <a:t>Le déclic</a:t>
              </a:r>
            </a:p>
          </p:txBody>
        </p:sp>
      </p:grpSp>
      <p:grpSp>
        <p:nvGrpSpPr>
          <p:cNvPr name="Group 22" id="22"/>
          <p:cNvGrpSpPr/>
          <p:nvPr/>
        </p:nvGrpSpPr>
        <p:grpSpPr>
          <a:xfrm rot="0">
            <a:off x="2316632" y="539039"/>
            <a:ext cx="685800" cy="13716"/>
            <a:chOff x="0" y="0"/>
            <a:chExt cx="914400" cy="18288"/>
          </a:xfrm>
        </p:grpSpPr>
        <p:sp>
          <p:nvSpPr>
            <p:cNvPr name="Freeform 23" id="23" descr="preencoded.png"/>
            <p:cNvSpPr/>
            <p:nvPr/>
          </p:nvSpPr>
          <p:spPr>
            <a:xfrm flipH="false" flipV="false" rot="0">
              <a:off x="0" y="0"/>
              <a:ext cx="914400" cy="18288"/>
            </a:xfrm>
            <a:custGeom>
              <a:avLst/>
              <a:gdLst/>
              <a:ahLst/>
              <a:cxnLst/>
              <a:rect r="r" b="b" t="t" l="l"/>
              <a:pathLst>
                <a:path h="18288" w="914400">
                  <a:moveTo>
                    <a:pt x="0" y="0"/>
                  </a:moveTo>
                  <a:lnTo>
                    <a:pt x="914400" y="0"/>
                  </a:lnTo>
                  <a:lnTo>
                    <a:pt x="914400" y="18288"/>
                  </a:lnTo>
                  <a:lnTo>
                    <a:pt x="0" y="18288"/>
                  </a:lnTo>
                  <a:lnTo>
                    <a:pt x="0" y="0"/>
                  </a:lnTo>
                  <a:close/>
                </a:path>
              </a:pathLst>
            </a:custGeom>
            <a:blipFill>
              <a:blip r:embed="rId5"/>
              <a:stretch>
                <a:fillRect l="2000" t="0" r="1999" b="0"/>
              </a:stretch>
            </a:blipFill>
          </p:spPr>
          <p:txBody>
            <a:bodyPr/>
            <a:p/>
          </p:txBody>
        </p:sp>
      </p:grpSp>
      <p:grpSp>
        <p:nvGrpSpPr>
          <p:cNvPr name="Group 24" id="24"/>
          <p:cNvGrpSpPr/>
          <p:nvPr/>
        </p:nvGrpSpPr>
        <p:grpSpPr>
          <a:xfrm rot="0">
            <a:off x="857250" y="946404"/>
            <a:ext cx="6759245" cy="2011718"/>
            <a:chOff x="0" y="0"/>
            <a:chExt cx="9012326" cy="2682291"/>
          </a:xfrm>
        </p:grpSpPr>
        <p:sp>
          <p:nvSpPr>
            <p:cNvPr name="Freeform 25" id="25"/>
            <p:cNvSpPr/>
            <p:nvPr/>
          </p:nvSpPr>
          <p:spPr>
            <a:xfrm flipH="false" flipV="false" rot="0">
              <a:off x="0" y="0"/>
              <a:ext cx="9012326" cy="2682291"/>
            </a:xfrm>
            <a:custGeom>
              <a:avLst/>
              <a:gdLst/>
              <a:ahLst/>
              <a:cxnLst/>
              <a:rect r="r" b="b" t="t" l="l"/>
              <a:pathLst>
                <a:path h="2682291" w="9012326">
                  <a:moveTo>
                    <a:pt x="0" y="0"/>
                  </a:moveTo>
                  <a:lnTo>
                    <a:pt x="9012326" y="0"/>
                  </a:lnTo>
                  <a:lnTo>
                    <a:pt x="9012326" y="2682291"/>
                  </a:lnTo>
                  <a:lnTo>
                    <a:pt x="0" y="2682291"/>
                  </a:lnTo>
                  <a:close/>
                </a:path>
              </a:pathLst>
            </a:custGeom>
            <a:blipFill>
              <a:blip r:embed="rId4">
                <a:alphaModFix amt="0"/>
              </a:blip>
              <a:stretch>
                <a:fillRect l="0" t="-22855" r="0" b="-8081"/>
              </a:stretch>
            </a:blipFill>
          </p:spPr>
          <p:txBody>
            <a:bodyPr/>
            <a:p/>
          </p:txBody>
        </p:sp>
        <p:sp>
          <p:nvSpPr>
            <p:cNvPr name="TextBox 26" id="26"/>
            <p:cNvSpPr txBox="true"/>
            <p:nvPr/>
          </p:nvSpPr>
          <p:spPr>
            <a:xfrm>
              <a:off x="0" y="9525"/>
              <a:ext cx="9012326" cy="26727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2017... </a:t>
              </a:r>
            </a:p>
            <a:p>
              <a:pPr algn="l">
                <a:lnSpc>
                  <a:spcPts val="6480"/>
                </a:lnSpc>
              </a:pPr>
              <a:r>
                <a:rPr lang="en-US" sz="5400" b="true">
                  <a:solidFill>
                    <a:srgbClr val="9CA3AF"/>
                  </a:solidFill>
                  <a:latin typeface="Manrope Bold"/>
                  <a:ea typeface="Manrope Bold"/>
                  <a:cs typeface="Manrope Bold"/>
                  <a:sym typeface="Manrope Bold"/>
                </a:rPr>
                <a:t>le crash</a:t>
              </a:r>
            </a:p>
          </p:txBody>
        </p:sp>
      </p:grpSp>
      <p:grpSp>
        <p:nvGrpSpPr>
          <p:cNvPr name="Group 27" id="27"/>
          <p:cNvGrpSpPr/>
          <p:nvPr/>
        </p:nvGrpSpPr>
        <p:grpSpPr>
          <a:xfrm rot="0">
            <a:off x="847725" y="8573948"/>
            <a:ext cx="6520434" cy="32766"/>
            <a:chOff x="0" y="0"/>
            <a:chExt cx="8693912" cy="43688"/>
          </a:xfrm>
        </p:grpSpPr>
        <p:sp>
          <p:nvSpPr>
            <p:cNvPr name="Freeform 28" id="28"/>
            <p:cNvSpPr/>
            <p:nvPr/>
          </p:nvSpPr>
          <p:spPr>
            <a:xfrm flipH="false" flipV="false" rot="0">
              <a:off x="12700" y="12700"/>
              <a:ext cx="8668512" cy="18288"/>
            </a:xfrm>
            <a:custGeom>
              <a:avLst/>
              <a:gdLst/>
              <a:ahLst/>
              <a:cxnLst/>
              <a:rect r="r" b="b" t="t" l="l"/>
              <a:pathLst>
                <a:path h="18288" w="8668512">
                  <a:moveTo>
                    <a:pt x="0" y="0"/>
                  </a:moveTo>
                  <a:lnTo>
                    <a:pt x="8668512" y="0"/>
                  </a:lnTo>
                  <a:lnTo>
                    <a:pt x="8668512" y="18288"/>
                  </a:lnTo>
                  <a:lnTo>
                    <a:pt x="0" y="18288"/>
                  </a:lnTo>
                  <a:close/>
                </a:path>
              </a:pathLst>
            </a:custGeom>
            <a:solidFill>
              <a:srgbClr val="1F2937"/>
            </a:solidFill>
          </p:spPr>
          <p:txBody>
            <a:bodyPr/>
            <a:p/>
          </p:txBody>
        </p:sp>
      </p:grpSp>
      <p:grpSp>
        <p:nvGrpSpPr>
          <p:cNvPr name="Group 29" id="29"/>
          <p:cNvGrpSpPr/>
          <p:nvPr/>
        </p:nvGrpSpPr>
        <p:grpSpPr>
          <a:xfrm rot="0">
            <a:off x="0" y="0"/>
            <a:ext cx="8215884" cy="113843"/>
            <a:chOff x="0" y="0"/>
            <a:chExt cx="10954512" cy="151790"/>
          </a:xfrm>
        </p:grpSpPr>
        <p:sp>
          <p:nvSpPr>
            <p:cNvPr name="Freeform 30" id="30" descr="preencoded.png"/>
            <p:cNvSpPr/>
            <p:nvPr/>
          </p:nvSpPr>
          <p:spPr>
            <a:xfrm flipH="false" flipV="false" rot="0">
              <a:off x="0" y="0"/>
              <a:ext cx="10954512" cy="151765"/>
            </a:xfrm>
            <a:custGeom>
              <a:avLst/>
              <a:gdLst/>
              <a:ahLst/>
              <a:cxnLst/>
              <a:rect r="r" b="b" t="t" l="l"/>
              <a:pathLst>
                <a:path h="151765" w="10954512">
                  <a:moveTo>
                    <a:pt x="0" y="0"/>
                  </a:moveTo>
                  <a:lnTo>
                    <a:pt x="10954512" y="0"/>
                  </a:lnTo>
                  <a:lnTo>
                    <a:pt x="10954512" y="151765"/>
                  </a:lnTo>
                  <a:lnTo>
                    <a:pt x="0" y="151765"/>
                  </a:lnTo>
                  <a:lnTo>
                    <a:pt x="0" y="0"/>
                  </a:lnTo>
                  <a:close/>
                </a:path>
              </a:pathLst>
            </a:custGeom>
            <a:blipFill>
              <a:blip r:embed="rId6">
                <a:alphaModFix amt="9999"/>
              </a:blip>
              <a:stretch>
                <a:fillRect l="203" t="0" r="203" b="-16"/>
              </a:stretch>
            </a:blipFill>
          </p:spPr>
          <p:txBody>
            <a:bodyPr/>
            <a:p/>
          </p:txBody>
        </p:sp>
      </p:grpSp>
      <p:grpSp>
        <p:nvGrpSpPr>
          <p:cNvPr name="Group 31" id="31"/>
          <p:cNvGrpSpPr/>
          <p:nvPr/>
        </p:nvGrpSpPr>
        <p:grpSpPr>
          <a:xfrm rot="0">
            <a:off x="1014984" y="4524908"/>
            <a:ext cx="13716" cy="3943350"/>
            <a:chOff x="0" y="0"/>
            <a:chExt cx="18288" cy="5257800"/>
          </a:xfrm>
        </p:grpSpPr>
        <p:sp>
          <p:nvSpPr>
            <p:cNvPr name="Freeform 32" id="32" descr="preencoded.png"/>
            <p:cNvSpPr/>
            <p:nvPr/>
          </p:nvSpPr>
          <p:spPr>
            <a:xfrm flipH="false" flipV="false" rot="0">
              <a:off x="0" y="0"/>
              <a:ext cx="18288" cy="5257800"/>
            </a:xfrm>
            <a:custGeom>
              <a:avLst/>
              <a:gdLst/>
              <a:ahLst/>
              <a:cxnLst/>
              <a:rect r="r" b="b" t="t" l="l"/>
              <a:pathLst>
                <a:path h="5257800" w="18288">
                  <a:moveTo>
                    <a:pt x="0" y="0"/>
                  </a:moveTo>
                  <a:lnTo>
                    <a:pt x="18288" y="0"/>
                  </a:lnTo>
                  <a:lnTo>
                    <a:pt x="18288" y="5257800"/>
                  </a:lnTo>
                  <a:lnTo>
                    <a:pt x="0" y="5257800"/>
                  </a:lnTo>
                  <a:lnTo>
                    <a:pt x="0" y="0"/>
                  </a:lnTo>
                  <a:close/>
                </a:path>
              </a:pathLst>
            </a:custGeom>
            <a:blipFill>
              <a:blip r:embed="rId7"/>
              <a:stretch>
                <a:fillRect l="0" t="1999" r="0" b="1999"/>
              </a:stretch>
            </a:blipFill>
          </p:spPr>
          <p:txBody>
            <a:bodyPr/>
            <a:p/>
          </p:txBody>
        </p:sp>
      </p:grpSp>
      <p:grpSp>
        <p:nvGrpSpPr>
          <p:cNvPr name="Group 33" id="33"/>
          <p:cNvGrpSpPr/>
          <p:nvPr/>
        </p:nvGrpSpPr>
        <p:grpSpPr>
          <a:xfrm rot="0">
            <a:off x="1458011" y="4827889"/>
            <a:ext cx="6216091" cy="538410"/>
            <a:chOff x="0" y="0"/>
            <a:chExt cx="8288122" cy="717880"/>
          </a:xfrm>
        </p:grpSpPr>
        <p:sp>
          <p:nvSpPr>
            <p:cNvPr name="Freeform 34" id="34"/>
            <p:cNvSpPr/>
            <p:nvPr/>
          </p:nvSpPr>
          <p:spPr>
            <a:xfrm flipH="false" flipV="false" rot="0">
              <a:off x="0" y="0"/>
              <a:ext cx="8288122" cy="717881"/>
            </a:xfrm>
            <a:custGeom>
              <a:avLst/>
              <a:gdLst/>
              <a:ahLst/>
              <a:cxnLst/>
              <a:rect r="r" b="b" t="t" l="l"/>
              <a:pathLst>
                <a:path h="717881" w="8288122">
                  <a:moveTo>
                    <a:pt x="0" y="0"/>
                  </a:moveTo>
                  <a:lnTo>
                    <a:pt x="8288122" y="0"/>
                  </a:lnTo>
                  <a:lnTo>
                    <a:pt x="8288122" y="717881"/>
                  </a:lnTo>
                  <a:lnTo>
                    <a:pt x="0" y="717881"/>
                  </a:lnTo>
                  <a:close/>
                </a:path>
              </a:pathLst>
            </a:custGeom>
            <a:blipFill>
              <a:blip r:embed="rId4">
                <a:alphaModFix amt="0"/>
              </a:blip>
              <a:stretch>
                <a:fillRect l="0" t="-187766" r="0" b="-162153"/>
              </a:stretch>
            </a:blipFill>
          </p:spPr>
          <p:txBody>
            <a:bodyPr/>
            <a:p/>
          </p:txBody>
        </p:sp>
        <p:sp>
          <p:nvSpPr>
            <p:cNvPr name="TextBox 35" id="35"/>
            <p:cNvSpPr txBox="true"/>
            <p:nvPr/>
          </p:nvSpPr>
          <p:spPr>
            <a:xfrm>
              <a:off x="0" y="-9525"/>
              <a:ext cx="8288122" cy="727405"/>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Qui est-ce ?</a:t>
              </a:r>
            </a:p>
          </p:txBody>
        </p:sp>
      </p:grpSp>
      <p:grpSp>
        <p:nvGrpSpPr>
          <p:cNvPr name="Group 36" id="36"/>
          <p:cNvGrpSpPr/>
          <p:nvPr/>
        </p:nvGrpSpPr>
        <p:grpSpPr>
          <a:xfrm rot="0">
            <a:off x="1458011" y="6079517"/>
            <a:ext cx="6216091" cy="498491"/>
            <a:chOff x="0" y="0"/>
            <a:chExt cx="8288122" cy="664654"/>
          </a:xfrm>
        </p:grpSpPr>
        <p:sp>
          <p:nvSpPr>
            <p:cNvPr name="Freeform 37" id="37"/>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38" id="38"/>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Est-il vivant ? </a:t>
              </a:r>
            </a:p>
          </p:txBody>
        </p:sp>
      </p:grpSp>
      <p:grpSp>
        <p:nvGrpSpPr>
          <p:cNvPr name="Group 39" id="39"/>
          <p:cNvGrpSpPr/>
          <p:nvPr/>
        </p:nvGrpSpPr>
        <p:grpSpPr>
          <a:xfrm rot="0">
            <a:off x="1458011" y="7533213"/>
            <a:ext cx="6216091" cy="498491"/>
            <a:chOff x="0" y="0"/>
            <a:chExt cx="8288122" cy="664654"/>
          </a:xfrm>
        </p:grpSpPr>
        <p:sp>
          <p:nvSpPr>
            <p:cNvPr name="Freeform 40" id="40"/>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41" id="41"/>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Le temps de réfléchir... </a:t>
              </a:r>
            </a:p>
          </p:txBody>
        </p:sp>
      </p:grpSp>
      <p:grpSp>
        <p:nvGrpSpPr>
          <p:cNvPr name="Group 42" id="42"/>
          <p:cNvGrpSpPr/>
          <p:nvPr/>
        </p:nvGrpSpPr>
        <p:grpSpPr>
          <a:xfrm rot="0">
            <a:off x="924611" y="4906366"/>
            <a:ext cx="381000" cy="381000"/>
            <a:chOff x="0" y="0"/>
            <a:chExt cx="508000" cy="508000"/>
          </a:xfrm>
        </p:grpSpPr>
        <p:sp>
          <p:nvSpPr>
            <p:cNvPr name="Freeform 43" id="43"/>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44" id="44"/>
          <p:cNvGrpSpPr/>
          <p:nvPr/>
        </p:nvGrpSpPr>
        <p:grpSpPr>
          <a:xfrm rot="0">
            <a:off x="1021842" y="5025542"/>
            <a:ext cx="185166" cy="142646"/>
            <a:chOff x="0" y="0"/>
            <a:chExt cx="246888" cy="190195"/>
          </a:xfrm>
        </p:grpSpPr>
        <p:sp>
          <p:nvSpPr>
            <p:cNvPr name="Freeform 45" id="45" descr="preencoded.png"/>
            <p:cNvSpPr/>
            <p:nvPr/>
          </p:nvSpPr>
          <p:spPr>
            <a:xfrm flipH="false" flipV="false" rot="0">
              <a:off x="0" y="0"/>
              <a:ext cx="246888" cy="190246"/>
            </a:xfrm>
            <a:custGeom>
              <a:avLst/>
              <a:gdLst/>
              <a:ahLst/>
              <a:cxnLst/>
              <a:rect r="r" b="b" t="t" l="l"/>
              <a:pathLst>
                <a:path h="190246" w="246888">
                  <a:moveTo>
                    <a:pt x="0" y="0"/>
                  </a:moveTo>
                  <a:lnTo>
                    <a:pt x="246888" y="0"/>
                  </a:lnTo>
                  <a:lnTo>
                    <a:pt x="246888" y="190246"/>
                  </a:lnTo>
                  <a:lnTo>
                    <a:pt x="0" y="190246"/>
                  </a:lnTo>
                  <a:lnTo>
                    <a:pt x="0" y="0"/>
                  </a:lnTo>
                  <a:close/>
                </a:path>
              </a:pathLst>
            </a:custGeom>
            <a:blipFill>
              <a:blip r:embed="rId8"/>
              <a:stretch>
                <a:fillRect l="1898" t="0" r="-601" b="26"/>
              </a:stretch>
            </a:blipFill>
          </p:spPr>
          <p:txBody>
            <a:bodyPr/>
            <a:p/>
          </p:txBody>
        </p:sp>
      </p:grpSp>
      <p:grpSp>
        <p:nvGrpSpPr>
          <p:cNvPr name="Group 46" id="46"/>
          <p:cNvGrpSpPr/>
          <p:nvPr/>
        </p:nvGrpSpPr>
        <p:grpSpPr>
          <a:xfrm rot="0">
            <a:off x="924611" y="6106516"/>
            <a:ext cx="381000" cy="381000"/>
            <a:chOff x="0" y="0"/>
            <a:chExt cx="508000" cy="508000"/>
          </a:xfrm>
        </p:grpSpPr>
        <p:sp>
          <p:nvSpPr>
            <p:cNvPr name="Freeform 47" id="47"/>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48" id="48"/>
          <p:cNvGrpSpPr/>
          <p:nvPr/>
        </p:nvGrpSpPr>
        <p:grpSpPr>
          <a:xfrm rot="0">
            <a:off x="1042416" y="6225692"/>
            <a:ext cx="142646" cy="142646"/>
            <a:chOff x="0" y="0"/>
            <a:chExt cx="190195" cy="190195"/>
          </a:xfrm>
        </p:grpSpPr>
        <p:sp>
          <p:nvSpPr>
            <p:cNvPr name="Freeform 49" id="49" descr="preencoded.png"/>
            <p:cNvSpPr/>
            <p:nvPr/>
          </p:nvSpPr>
          <p:spPr>
            <a:xfrm flipH="false" flipV="false" rot="0">
              <a:off x="0" y="0"/>
              <a:ext cx="190246" cy="190246"/>
            </a:xfrm>
            <a:custGeom>
              <a:avLst/>
              <a:gdLst/>
              <a:ahLst/>
              <a:cxnLst/>
              <a:rect r="r" b="b" t="t" l="l"/>
              <a:pathLst>
                <a:path h="190246" w="190246">
                  <a:moveTo>
                    <a:pt x="0" y="0"/>
                  </a:moveTo>
                  <a:lnTo>
                    <a:pt x="190246" y="0"/>
                  </a:lnTo>
                  <a:lnTo>
                    <a:pt x="190246" y="190246"/>
                  </a:lnTo>
                  <a:lnTo>
                    <a:pt x="0" y="190246"/>
                  </a:lnTo>
                  <a:lnTo>
                    <a:pt x="0" y="0"/>
                  </a:lnTo>
                  <a:close/>
                </a:path>
              </a:pathLst>
            </a:custGeom>
            <a:blipFill>
              <a:blip r:embed="rId9"/>
              <a:stretch>
                <a:fillRect l="0" t="0" r="26" b="26"/>
              </a:stretch>
            </a:blipFill>
          </p:spPr>
          <p:txBody>
            <a:bodyPr/>
            <a:p/>
          </p:txBody>
        </p:sp>
      </p:grpSp>
      <p:grpSp>
        <p:nvGrpSpPr>
          <p:cNvPr name="Group 50" id="50"/>
          <p:cNvGrpSpPr/>
          <p:nvPr/>
        </p:nvGrpSpPr>
        <p:grpSpPr>
          <a:xfrm rot="0">
            <a:off x="924611" y="7591958"/>
            <a:ext cx="381000" cy="381000"/>
            <a:chOff x="0" y="0"/>
            <a:chExt cx="508000" cy="508000"/>
          </a:xfrm>
        </p:grpSpPr>
        <p:sp>
          <p:nvSpPr>
            <p:cNvPr name="Freeform 51" id="51"/>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52" id="52"/>
          <p:cNvGrpSpPr/>
          <p:nvPr/>
        </p:nvGrpSpPr>
        <p:grpSpPr>
          <a:xfrm rot="0">
            <a:off x="1057504" y="7711135"/>
            <a:ext cx="113843" cy="142646"/>
            <a:chOff x="0" y="0"/>
            <a:chExt cx="151790" cy="190195"/>
          </a:xfrm>
        </p:grpSpPr>
        <p:sp>
          <p:nvSpPr>
            <p:cNvPr name="Freeform 53" id="53" descr="preencoded.png"/>
            <p:cNvSpPr/>
            <p:nvPr/>
          </p:nvSpPr>
          <p:spPr>
            <a:xfrm flipH="false" flipV="false" rot="0">
              <a:off x="0" y="0"/>
              <a:ext cx="151765" cy="190246"/>
            </a:xfrm>
            <a:custGeom>
              <a:avLst/>
              <a:gdLst/>
              <a:ahLst/>
              <a:cxnLst/>
              <a:rect r="r" b="b" t="t" l="l"/>
              <a:pathLst>
                <a:path h="190246" w="151765">
                  <a:moveTo>
                    <a:pt x="0" y="0"/>
                  </a:moveTo>
                  <a:lnTo>
                    <a:pt x="151765" y="0"/>
                  </a:lnTo>
                  <a:lnTo>
                    <a:pt x="151765" y="190246"/>
                  </a:lnTo>
                  <a:lnTo>
                    <a:pt x="0" y="190246"/>
                  </a:lnTo>
                  <a:lnTo>
                    <a:pt x="0" y="0"/>
                  </a:lnTo>
                  <a:close/>
                </a:path>
              </a:pathLst>
            </a:custGeom>
            <a:blipFill>
              <a:blip r:embed="rId10"/>
              <a:stretch>
                <a:fillRect l="3046" t="0" r="2008" b="26"/>
              </a:stretch>
            </a:blipFill>
          </p:spPr>
          <p:txBody>
            <a:body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8220075" y="-9525"/>
            <a:ext cx="10076993" cy="10306050"/>
            <a:chOff x="0" y="0"/>
            <a:chExt cx="13435990" cy="13741400"/>
          </a:xfrm>
        </p:grpSpPr>
        <p:sp>
          <p:nvSpPr>
            <p:cNvPr name="Freeform 7" id="7"/>
            <p:cNvSpPr/>
            <p:nvPr/>
          </p:nvSpPr>
          <p:spPr>
            <a:xfrm flipH="false" flipV="false" rot="0">
              <a:off x="12700" y="12700"/>
              <a:ext cx="13410564" cy="13716000"/>
            </a:xfrm>
            <a:custGeom>
              <a:avLst/>
              <a:gdLst/>
              <a:ahLst/>
              <a:cxnLst/>
              <a:rect r="r" b="b" t="t" l="l"/>
              <a:pathLst>
                <a:path h="13716000" w="13410564">
                  <a:moveTo>
                    <a:pt x="0" y="0"/>
                  </a:moveTo>
                  <a:lnTo>
                    <a:pt x="13410564" y="0"/>
                  </a:lnTo>
                  <a:lnTo>
                    <a:pt x="13410564" y="13716000"/>
                  </a:lnTo>
                  <a:lnTo>
                    <a:pt x="0" y="13716000"/>
                  </a:lnTo>
                  <a:close/>
                </a:path>
              </a:pathLst>
            </a:custGeom>
            <a:solidFill>
              <a:srgbClr val="000000"/>
            </a:solidFill>
          </p:spPr>
          <p:txBody>
            <a:bodyPr/>
            <a:p/>
          </p:txBody>
        </p:sp>
      </p:grpSp>
      <p:grpSp>
        <p:nvGrpSpPr>
          <p:cNvPr name="Group 8" id="8"/>
          <p:cNvGrpSpPr/>
          <p:nvPr/>
        </p:nvGrpSpPr>
        <p:grpSpPr>
          <a:xfrm rot="0">
            <a:off x="8229600" y="0"/>
            <a:ext cx="10057943" cy="10287000"/>
            <a:chOff x="0" y="0"/>
            <a:chExt cx="13410590" cy="13716000"/>
          </a:xfrm>
        </p:grpSpPr>
        <p:sp>
          <p:nvSpPr>
            <p:cNvPr name="Freeform 9" id="9" descr="preencoded.png"/>
            <p:cNvSpPr/>
            <p:nvPr/>
          </p:nvSpPr>
          <p:spPr>
            <a:xfrm flipH="false" flipV="false" rot="0">
              <a:off x="0" y="0"/>
              <a:ext cx="13410564" cy="13716000"/>
            </a:xfrm>
            <a:custGeom>
              <a:avLst/>
              <a:gdLst/>
              <a:ahLst/>
              <a:cxnLst/>
              <a:rect r="r" b="b" t="t" l="l"/>
              <a:pathLst>
                <a:path h="13716000" w="13410564">
                  <a:moveTo>
                    <a:pt x="0" y="0"/>
                  </a:moveTo>
                  <a:lnTo>
                    <a:pt x="13410564" y="0"/>
                  </a:lnTo>
                  <a:lnTo>
                    <a:pt x="13410564" y="13716000"/>
                  </a:lnTo>
                  <a:lnTo>
                    <a:pt x="0" y="13716000"/>
                  </a:lnTo>
                  <a:lnTo>
                    <a:pt x="0" y="0"/>
                  </a:lnTo>
                  <a:close/>
                </a:path>
              </a:pathLst>
            </a:custGeom>
            <a:blipFill>
              <a:blip r:embed="rId3"/>
              <a:stretch>
                <a:fillRect l="0" t="2" r="0" b="1"/>
              </a:stretch>
            </a:blipFill>
          </p:spPr>
          <p:txBody>
            <a:bodyPr/>
            <a:p/>
          </p:txBody>
        </p:sp>
      </p:grpSp>
      <p:grpSp>
        <p:nvGrpSpPr>
          <p:cNvPr name="Group 10" id="10"/>
          <p:cNvGrpSpPr/>
          <p:nvPr/>
        </p:nvGrpSpPr>
        <p:grpSpPr>
          <a:xfrm rot="0">
            <a:off x="17590770" y="9543593"/>
            <a:ext cx="357988" cy="332327"/>
            <a:chOff x="0" y="0"/>
            <a:chExt cx="477317" cy="443103"/>
          </a:xfrm>
        </p:grpSpPr>
        <p:sp>
          <p:nvSpPr>
            <p:cNvPr name="Freeform 11" id="11"/>
            <p:cNvSpPr/>
            <p:nvPr/>
          </p:nvSpPr>
          <p:spPr>
            <a:xfrm flipH="false" flipV="false" rot="0">
              <a:off x="0" y="0"/>
              <a:ext cx="477316" cy="443104"/>
            </a:xfrm>
            <a:custGeom>
              <a:avLst/>
              <a:gdLst/>
              <a:ahLst/>
              <a:cxnLst/>
              <a:rect r="r" b="b" t="t" l="l"/>
              <a:pathLst>
                <a:path h="443104" w="477316">
                  <a:moveTo>
                    <a:pt x="0" y="0"/>
                  </a:moveTo>
                  <a:lnTo>
                    <a:pt x="477316" y="0"/>
                  </a:lnTo>
                  <a:lnTo>
                    <a:pt x="477316" y="443104"/>
                  </a:lnTo>
                  <a:lnTo>
                    <a:pt x="0" y="443104"/>
                  </a:lnTo>
                  <a:close/>
                </a:path>
              </a:pathLst>
            </a:custGeom>
            <a:blipFill>
              <a:blip r:embed="rId4">
                <a:alphaModFix amt="0"/>
              </a:blip>
              <a:stretch>
                <a:fillRect l="-52741" t="0" r="-52741" b="13740"/>
              </a:stretch>
            </a:blipFill>
          </p:spPr>
          <p:txBody>
            <a:bodyPr/>
            <a:p/>
          </p:txBody>
        </p:sp>
        <p:sp>
          <p:nvSpPr>
            <p:cNvPr name="TextBox 12" id="12"/>
            <p:cNvSpPr txBox="true"/>
            <p:nvPr/>
          </p:nvSpPr>
          <p:spPr>
            <a:xfrm>
              <a:off x="0" y="-9525"/>
              <a:ext cx="477317" cy="452628"/>
            </a:xfrm>
            <a:prstGeom prst="rect">
              <a:avLst/>
            </a:prstGeom>
          </p:spPr>
          <p:txBody>
            <a:bodyPr anchor="ctr" rtlCol="false" tIns="0" lIns="0" bIns="0" rIns="0"/>
            <a:lstStyle/>
            <a:p>
              <a:pPr algn="l">
                <a:lnSpc>
                  <a:spcPts val="1800"/>
                </a:lnSpc>
              </a:pPr>
              <a:r>
                <a:rPr lang="en-US" sz="1500">
                  <a:solidFill>
                    <a:srgbClr val="4B5563"/>
                  </a:solidFill>
                  <a:latin typeface="Manrope"/>
                  <a:ea typeface="Manrope"/>
                  <a:cs typeface="Manrope"/>
                  <a:sym typeface="Manrope"/>
                </a:rPr>
                <a:t>02</a:t>
              </a:r>
            </a:p>
          </p:txBody>
        </p:sp>
      </p:grpSp>
      <p:grpSp>
        <p:nvGrpSpPr>
          <p:cNvPr name="Group 13" id="13"/>
          <p:cNvGrpSpPr/>
          <p:nvPr/>
        </p:nvGrpSpPr>
        <p:grpSpPr>
          <a:xfrm rot="0">
            <a:off x="0" y="0"/>
            <a:ext cx="8229600" cy="10287000"/>
            <a:chOff x="0" y="0"/>
            <a:chExt cx="10972800" cy="13716000"/>
          </a:xfrm>
        </p:grpSpPr>
        <p:sp>
          <p:nvSpPr>
            <p:cNvPr name="Freeform 14" id="14"/>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close/>
                </a:path>
              </a:pathLst>
            </a:custGeom>
            <a:solidFill>
              <a:srgbClr val="1E1E24"/>
            </a:solidFill>
          </p:spPr>
          <p:txBody>
            <a:bodyPr/>
            <a:p/>
          </p:txBody>
        </p:sp>
      </p:grpSp>
      <p:grpSp>
        <p:nvGrpSpPr>
          <p:cNvPr name="Group 15" id="15"/>
          <p:cNvGrpSpPr/>
          <p:nvPr/>
        </p:nvGrpSpPr>
        <p:grpSpPr>
          <a:xfrm rot="0">
            <a:off x="8206359" y="-9525"/>
            <a:ext cx="32766" cy="10306050"/>
            <a:chOff x="0" y="0"/>
            <a:chExt cx="43688" cy="13741400"/>
          </a:xfrm>
        </p:grpSpPr>
        <p:sp>
          <p:nvSpPr>
            <p:cNvPr name="Freeform 16" id="16"/>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7" id="17"/>
          <p:cNvGrpSpPr/>
          <p:nvPr/>
        </p:nvGrpSpPr>
        <p:grpSpPr>
          <a:xfrm rot="0">
            <a:off x="847725" y="364922"/>
            <a:ext cx="1319327" cy="361950"/>
            <a:chOff x="0" y="0"/>
            <a:chExt cx="1759102" cy="482600"/>
          </a:xfrm>
        </p:grpSpPr>
        <p:sp>
          <p:nvSpPr>
            <p:cNvPr name="Freeform 18" id="18"/>
            <p:cNvSpPr/>
            <p:nvPr/>
          </p:nvSpPr>
          <p:spPr>
            <a:xfrm flipH="false" flipV="false" rot="0">
              <a:off x="12700" y="12700"/>
              <a:ext cx="1733804" cy="457200"/>
            </a:xfrm>
            <a:custGeom>
              <a:avLst/>
              <a:gdLst/>
              <a:ahLst/>
              <a:cxnLst/>
              <a:rect r="r" b="b" t="t" l="l"/>
              <a:pathLst>
                <a:path h="457200" w="1733804">
                  <a:moveTo>
                    <a:pt x="0" y="228600"/>
                  </a:moveTo>
                  <a:cubicBezTo>
                    <a:pt x="0" y="102362"/>
                    <a:pt x="106426" y="0"/>
                    <a:pt x="237871" y="0"/>
                  </a:cubicBezTo>
                  <a:lnTo>
                    <a:pt x="1495933" y="0"/>
                  </a:lnTo>
                  <a:cubicBezTo>
                    <a:pt x="1627251" y="0"/>
                    <a:pt x="1733804" y="102362"/>
                    <a:pt x="1733804" y="228600"/>
                  </a:cubicBezTo>
                  <a:cubicBezTo>
                    <a:pt x="1733804" y="354838"/>
                    <a:pt x="1627378" y="457200"/>
                    <a:pt x="1495933" y="457200"/>
                  </a:cubicBezTo>
                  <a:lnTo>
                    <a:pt x="237871" y="457200"/>
                  </a:lnTo>
                  <a:cubicBezTo>
                    <a:pt x="106426" y="457200"/>
                    <a:pt x="0" y="354838"/>
                    <a:pt x="0" y="228600"/>
                  </a:cubicBezTo>
                  <a:close/>
                </a:path>
              </a:pathLst>
            </a:custGeom>
            <a:solidFill>
              <a:srgbClr val="FFFFFF"/>
            </a:solidFill>
          </p:spPr>
          <p:txBody>
            <a:bodyPr/>
            <a:p/>
          </p:txBody>
        </p:sp>
      </p:grpSp>
      <p:grpSp>
        <p:nvGrpSpPr>
          <p:cNvPr name="Group 19" id="19"/>
          <p:cNvGrpSpPr/>
          <p:nvPr/>
        </p:nvGrpSpPr>
        <p:grpSpPr>
          <a:xfrm rot="0">
            <a:off x="1021842" y="374447"/>
            <a:ext cx="1386688" cy="342900"/>
            <a:chOff x="0" y="0"/>
            <a:chExt cx="1848917" cy="457200"/>
          </a:xfrm>
        </p:grpSpPr>
        <p:sp>
          <p:nvSpPr>
            <p:cNvPr name="Freeform 20" id="20"/>
            <p:cNvSpPr/>
            <p:nvPr/>
          </p:nvSpPr>
          <p:spPr>
            <a:xfrm flipH="false" flipV="false" rot="0">
              <a:off x="0" y="0"/>
              <a:ext cx="1848916" cy="457200"/>
            </a:xfrm>
            <a:custGeom>
              <a:avLst/>
              <a:gdLst/>
              <a:ahLst/>
              <a:cxnLst/>
              <a:rect r="r" b="b" t="t" l="l"/>
              <a:pathLst>
                <a:path h="457200" w="1848916">
                  <a:moveTo>
                    <a:pt x="0" y="0"/>
                  </a:moveTo>
                  <a:lnTo>
                    <a:pt x="1848916" y="0"/>
                  </a:lnTo>
                  <a:lnTo>
                    <a:pt x="1848916" y="457200"/>
                  </a:lnTo>
                  <a:lnTo>
                    <a:pt x="0" y="457200"/>
                  </a:lnTo>
                  <a:close/>
                </a:path>
              </a:pathLst>
            </a:custGeom>
            <a:blipFill>
              <a:blip r:embed="rId4">
                <a:alphaModFix amt="0"/>
              </a:blip>
              <a:stretch>
                <a:fillRect l="0" t="-28797" r="0" b="-28797"/>
              </a:stretch>
            </a:blipFill>
          </p:spPr>
          <p:txBody>
            <a:bodyPr/>
            <a:p/>
          </p:txBody>
        </p:sp>
        <p:sp>
          <p:nvSpPr>
            <p:cNvPr name="TextBox 21" id="21"/>
            <p:cNvSpPr txBox="true"/>
            <p:nvPr/>
          </p:nvSpPr>
          <p:spPr>
            <a:xfrm>
              <a:off x="0" y="0"/>
              <a:ext cx="1848917" cy="457200"/>
            </a:xfrm>
            <a:prstGeom prst="rect">
              <a:avLst/>
            </a:prstGeom>
          </p:spPr>
          <p:txBody>
            <a:bodyPr anchor="ctr" rtlCol="false" tIns="0" lIns="0" bIns="0" rIns="0"/>
            <a:lstStyle/>
            <a:p>
              <a:pPr algn="l">
                <a:lnSpc>
                  <a:spcPts val="1620"/>
                </a:lnSpc>
              </a:pPr>
              <a:r>
                <a:rPr lang="en-US" b="true" sz="1350" spc="67">
                  <a:solidFill>
                    <a:srgbClr val="000000"/>
                  </a:solidFill>
                  <a:latin typeface="Manrope Bold"/>
                  <a:ea typeface="Manrope Bold"/>
                  <a:cs typeface="Manrope Bold"/>
                  <a:sym typeface="Manrope Bold"/>
                </a:rPr>
                <a:t>Le déclic</a:t>
              </a:r>
            </a:p>
          </p:txBody>
        </p:sp>
      </p:grpSp>
      <p:grpSp>
        <p:nvGrpSpPr>
          <p:cNvPr name="Group 22" id="22"/>
          <p:cNvGrpSpPr/>
          <p:nvPr/>
        </p:nvGrpSpPr>
        <p:grpSpPr>
          <a:xfrm rot="0">
            <a:off x="2316632" y="539039"/>
            <a:ext cx="685800" cy="13716"/>
            <a:chOff x="0" y="0"/>
            <a:chExt cx="914400" cy="18288"/>
          </a:xfrm>
        </p:grpSpPr>
        <p:sp>
          <p:nvSpPr>
            <p:cNvPr name="Freeform 23" id="23" descr="preencoded.png"/>
            <p:cNvSpPr/>
            <p:nvPr/>
          </p:nvSpPr>
          <p:spPr>
            <a:xfrm flipH="false" flipV="false" rot="0">
              <a:off x="0" y="0"/>
              <a:ext cx="914400" cy="18288"/>
            </a:xfrm>
            <a:custGeom>
              <a:avLst/>
              <a:gdLst/>
              <a:ahLst/>
              <a:cxnLst/>
              <a:rect r="r" b="b" t="t" l="l"/>
              <a:pathLst>
                <a:path h="18288" w="914400">
                  <a:moveTo>
                    <a:pt x="0" y="0"/>
                  </a:moveTo>
                  <a:lnTo>
                    <a:pt x="914400" y="0"/>
                  </a:lnTo>
                  <a:lnTo>
                    <a:pt x="914400" y="18288"/>
                  </a:lnTo>
                  <a:lnTo>
                    <a:pt x="0" y="18288"/>
                  </a:lnTo>
                  <a:lnTo>
                    <a:pt x="0" y="0"/>
                  </a:lnTo>
                  <a:close/>
                </a:path>
              </a:pathLst>
            </a:custGeom>
            <a:blipFill>
              <a:blip r:embed="rId5"/>
              <a:stretch>
                <a:fillRect l="2000" t="0" r="1999" b="0"/>
              </a:stretch>
            </a:blipFill>
          </p:spPr>
          <p:txBody>
            <a:bodyPr/>
            <a:p/>
          </p:txBody>
        </p:sp>
      </p:grpSp>
      <p:grpSp>
        <p:nvGrpSpPr>
          <p:cNvPr name="Group 24" id="24"/>
          <p:cNvGrpSpPr/>
          <p:nvPr/>
        </p:nvGrpSpPr>
        <p:grpSpPr>
          <a:xfrm rot="0">
            <a:off x="857250" y="946404"/>
            <a:ext cx="6759245" cy="2011718"/>
            <a:chOff x="0" y="0"/>
            <a:chExt cx="9012326" cy="2682291"/>
          </a:xfrm>
        </p:grpSpPr>
        <p:sp>
          <p:nvSpPr>
            <p:cNvPr name="Freeform 25" id="25"/>
            <p:cNvSpPr/>
            <p:nvPr/>
          </p:nvSpPr>
          <p:spPr>
            <a:xfrm flipH="false" flipV="false" rot="0">
              <a:off x="0" y="0"/>
              <a:ext cx="9012326" cy="2682291"/>
            </a:xfrm>
            <a:custGeom>
              <a:avLst/>
              <a:gdLst/>
              <a:ahLst/>
              <a:cxnLst/>
              <a:rect r="r" b="b" t="t" l="l"/>
              <a:pathLst>
                <a:path h="2682291" w="9012326">
                  <a:moveTo>
                    <a:pt x="0" y="0"/>
                  </a:moveTo>
                  <a:lnTo>
                    <a:pt x="9012326" y="0"/>
                  </a:lnTo>
                  <a:lnTo>
                    <a:pt x="9012326" y="2682291"/>
                  </a:lnTo>
                  <a:lnTo>
                    <a:pt x="0" y="2682291"/>
                  </a:lnTo>
                  <a:close/>
                </a:path>
              </a:pathLst>
            </a:custGeom>
            <a:blipFill>
              <a:blip r:embed="rId4">
                <a:alphaModFix amt="0"/>
              </a:blip>
              <a:stretch>
                <a:fillRect l="0" t="-22855" r="0" b="-8081"/>
              </a:stretch>
            </a:blipFill>
          </p:spPr>
          <p:txBody>
            <a:bodyPr/>
            <a:p/>
          </p:txBody>
        </p:sp>
        <p:sp>
          <p:nvSpPr>
            <p:cNvPr name="TextBox 26" id="26"/>
            <p:cNvSpPr txBox="true"/>
            <p:nvPr/>
          </p:nvSpPr>
          <p:spPr>
            <a:xfrm>
              <a:off x="0" y="9525"/>
              <a:ext cx="9012326" cy="26727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L'accident qui a </a:t>
              </a:r>
            </a:p>
            <a:p>
              <a:pPr algn="l">
                <a:lnSpc>
                  <a:spcPts val="6480"/>
                </a:lnSpc>
              </a:pPr>
              <a:r>
                <a:rPr lang="en-US" sz="5400" b="true">
                  <a:solidFill>
                    <a:srgbClr val="9CA3AF"/>
                  </a:solidFill>
                  <a:latin typeface="Manrope Bold"/>
                  <a:ea typeface="Manrope Bold"/>
                  <a:cs typeface="Manrope Bold"/>
                  <a:sym typeface="Manrope Bold"/>
                </a:rPr>
                <a:t>tout changé</a:t>
              </a:r>
            </a:p>
          </p:txBody>
        </p:sp>
      </p:grpSp>
      <p:grpSp>
        <p:nvGrpSpPr>
          <p:cNvPr name="Group 27" id="27"/>
          <p:cNvGrpSpPr/>
          <p:nvPr/>
        </p:nvGrpSpPr>
        <p:grpSpPr>
          <a:xfrm rot="0">
            <a:off x="857250" y="2889961"/>
            <a:ext cx="6615227" cy="843534"/>
            <a:chOff x="0" y="0"/>
            <a:chExt cx="8820302" cy="1124712"/>
          </a:xfrm>
        </p:grpSpPr>
        <p:sp>
          <p:nvSpPr>
            <p:cNvPr name="Freeform 28" id="28"/>
            <p:cNvSpPr/>
            <p:nvPr/>
          </p:nvSpPr>
          <p:spPr>
            <a:xfrm flipH="false" flipV="false" rot="0">
              <a:off x="0" y="0"/>
              <a:ext cx="8820302" cy="1124712"/>
            </a:xfrm>
            <a:custGeom>
              <a:avLst/>
              <a:gdLst/>
              <a:ahLst/>
              <a:cxnLst/>
              <a:rect r="r" b="b" t="t" l="l"/>
              <a:pathLst>
                <a:path h="1124712" w="8820302">
                  <a:moveTo>
                    <a:pt x="0" y="0"/>
                  </a:moveTo>
                  <a:lnTo>
                    <a:pt x="8820302" y="0"/>
                  </a:lnTo>
                  <a:lnTo>
                    <a:pt x="8820302" y="1124712"/>
                  </a:lnTo>
                  <a:lnTo>
                    <a:pt x="0" y="1124712"/>
                  </a:lnTo>
                  <a:close/>
                </a:path>
              </a:pathLst>
            </a:custGeom>
            <a:blipFill>
              <a:blip r:embed="rId4">
                <a:alphaModFix amt="0"/>
              </a:blip>
              <a:stretch>
                <a:fillRect l="0" t="-102807" r="0" b="-102807"/>
              </a:stretch>
            </a:blipFill>
          </p:spPr>
          <p:txBody>
            <a:bodyPr/>
            <a:p/>
          </p:txBody>
        </p:sp>
        <p:sp>
          <p:nvSpPr>
            <p:cNvPr name="TextBox 29" id="29"/>
            <p:cNvSpPr txBox="true"/>
            <p:nvPr/>
          </p:nvSpPr>
          <p:spPr>
            <a:xfrm>
              <a:off x="0" y="-9525"/>
              <a:ext cx="8820302" cy="1134237"/>
            </a:xfrm>
            <a:prstGeom prst="rect">
              <a:avLst/>
            </a:prstGeom>
          </p:spPr>
          <p:txBody>
            <a:bodyPr anchor="ctr" rtlCol="false" tIns="0" lIns="0" bIns="0" rIns="0"/>
            <a:lstStyle/>
            <a:p>
              <a:pPr algn="l">
                <a:lnSpc>
                  <a:spcPts val="2340"/>
                </a:lnSpc>
              </a:pPr>
              <a:r>
                <a:rPr lang="en-US" sz="1950">
                  <a:solidFill>
                    <a:srgbClr val="9CA3AF"/>
                  </a:solidFill>
                  <a:latin typeface="Manrope"/>
                  <a:ea typeface="Manrope"/>
                  <a:cs typeface="Manrope"/>
                  <a:sym typeface="Manrope"/>
                </a:rPr>
                <a:t>De la salle de réanimation à la redéfinition complète de la médecine.</a:t>
              </a:r>
            </a:p>
          </p:txBody>
        </p:sp>
      </p:grpSp>
      <p:grpSp>
        <p:nvGrpSpPr>
          <p:cNvPr name="Group 30" id="30"/>
          <p:cNvGrpSpPr/>
          <p:nvPr/>
        </p:nvGrpSpPr>
        <p:grpSpPr>
          <a:xfrm rot="0">
            <a:off x="847725" y="8573948"/>
            <a:ext cx="6520434" cy="32766"/>
            <a:chOff x="0" y="0"/>
            <a:chExt cx="8693912" cy="43688"/>
          </a:xfrm>
        </p:grpSpPr>
        <p:sp>
          <p:nvSpPr>
            <p:cNvPr name="Freeform 31" id="31"/>
            <p:cNvSpPr/>
            <p:nvPr/>
          </p:nvSpPr>
          <p:spPr>
            <a:xfrm flipH="false" flipV="false" rot="0">
              <a:off x="12700" y="12700"/>
              <a:ext cx="8668512" cy="18288"/>
            </a:xfrm>
            <a:custGeom>
              <a:avLst/>
              <a:gdLst/>
              <a:ahLst/>
              <a:cxnLst/>
              <a:rect r="r" b="b" t="t" l="l"/>
              <a:pathLst>
                <a:path h="18288" w="8668512">
                  <a:moveTo>
                    <a:pt x="0" y="0"/>
                  </a:moveTo>
                  <a:lnTo>
                    <a:pt x="8668512" y="0"/>
                  </a:lnTo>
                  <a:lnTo>
                    <a:pt x="8668512" y="18288"/>
                  </a:lnTo>
                  <a:lnTo>
                    <a:pt x="0" y="18288"/>
                  </a:lnTo>
                  <a:close/>
                </a:path>
              </a:pathLst>
            </a:custGeom>
            <a:solidFill>
              <a:srgbClr val="1F2937"/>
            </a:solidFill>
          </p:spPr>
          <p:txBody>
            <a:bodyPr/>
            <a:p/>
          </p:txBody>
        </p:sp>
      </p:grpSp>
      <p:grpSp>
        <p:nvGrpSpPr>
          <p:cNvPr name="Group 32" id="32"/>
          <p:cNvGrpSpPr/>
          <p:nvPr/>
        </p:nvGrpSpPr>
        <p:grpSpPr>
          <a:xfrm rot="0">
            <a:off x="857250" y="9226753"/>
            <a:ext cx="371704" cy="514350"/>
            <a:chOff x="0" y="0"/>
            <a:chExt cx="495605" cy="685800"/>
          </a:xfrm>
        </p:grpSpPr>
        <p:sp>
          <p:nvSpPr>
            <p:cNvPr name="Freeform 33" id="33" descr="preencoded.png"/>
            <p:cNvSpPr/>
            <p:nvPr/>
          </p:nvSpPr>
          <p:spPr>
            <a:xfrm flipH="false" flipV="false" rot="0">
              <a:off x="0" y="0"/>
              <a:ext cx="495554" cy="685800"/>
            </a:xfrm>
            <a:custGeom>
              <a:avLst/>
              <a:gdLst/>
              <a:ahLst/>
              <a:cxnLst/>
              <a:rect r="r" b="b" t="t" l="l"/>
              <a:pathLst>
                <a:path h="685800" w="495554">
                  <a:moveTo>
                    <a:pt x="0" y="0"/>
                  </a:moveTo>
                  <a:lnTo>
                    <a:pt x="495554" y="0"/>
                  </a:lnTo>
                  <a:lnTo>
                    <a:pt x="495554" y="685800"/>
                  </a:lnTo>
                  <a:lnTo>
                    <a:pt x="0" y="685800"/>
                  </a:lnTo>
                  <a:lnTo>
                    <a:pt x="0" y="0"/>
                  </a:lnTo>
                  <a:close/>
                </a:path>
              </a:pathLst>
            </a:custGeom>
            <a:blipFill>
              <a:blip r:embed="rId6"/>
              <a:stretch>
                <a:fillRect l="0" t="8783" r="-10" b="7888"/>
              </a:stretch>
            </a:blipFill>
          </p:spPr>
          <p:txBody>
            <a:bodyPr/>
            <a:p/>
          </p:txBody>
        </p:sp>
      </p:grpSp>
      <p:grpSp>
        <p:nvGrpSpPr>
          <p:cNvPr name="Group 34" id="34"/>
          <p:cNvGrpSpPr/>
          <p:nvPr/>
        </p:nvGrpSpPr>
        <p:grpSpPr>
          <a:xfrm rot="0">
            <a:off x="1458011" y="9055303"/>
            <a:ext cx="6073445" cy="293380"/>
            <a:chOff x="0" y="0"/>
            <a:chExt cx="8097926" cy="391173"/>
          </a:xfrm>
        </p:grpSpPr>
        <p:sp>
          <p:nvSpPr>
            <p:cNvPr name="Freeform 35" id="35"/>
            <p:cNvSpPr/>
            <p:nvPr/>
          </p:nvSpPr>
          <p:spPr>
            <a:xfrm flipH="false" flipV="false" rot="0">
              <a:off x="0" y="0"/>
              <a:ext cx="8097926" cy="391173"/>
            </a:xfrm>
            <a:custGeom>
              <a:avLst/>
              <a:gdLst/>
              <a:ahLst/>
              <a:cxnLst/>
              <a:rect r="r" b="b" t="t" l="l"/>
              <a:pathLst>
                <a:path h="391173" w="8097926">
                  <a:moveTo>
                    <a:pt x="0" y="0"/>
                  </a:moveTo>
                  <a:lnTo>
                    <a:pt x="8097926" y="0"/>
                  </a:lnTo>
                  <a:lnTo>
                    <a:pt x="8097926" y="391173"/>
                  </a:lnTo>
                  <a:lnTo>
                    <a:pt x="0" y="391173"/>
                  </a:lnTo>
                  <a:close/>
                </a:path>
              </a:pathLst>
            </a:custGeom>
            <a:blipFill>
              <a:blip r:embed="rId4">
                <a:alphaModFix amt="0"/>
              </a:blip>
              <a:stretch>
                <a:fillRect l="0" t="-364334" r="0" b="-342409"/>
              </a:stretch>
            </a:blipFill>
          </p:spPr>
          <p:txBody>
            <a:bodyPr/>
            <a:p/>
          </p:txBody>
        </p:sp>
        <p:sp>
          <p:nvSpPr>
            <p:cNvPr name="TextBox 36" id="36"/>
            <p:cNvSpPr txBox="true"/>
            <p:nvPr/>
          </p:nvSpPr>
          <p:spPr>
            <a:xfrm>
              <a:off x="0" y="0"/>
              <a:ext cx="8097926" cy="391173"/>
            </a:xfrm>
            <a:prstGeom prst="rect">
              <a:avLst/>
            </a:prstGeom>
          </p:spPr>
          <p:txBody>
            <a:bodyPr anchor="ctr" rtlCol="false" tIns="0" lIns="0" bIns="0" rIns="0"/>
            <a:lstStyle/>
            <a:p>
              <a:pPr algn="l">
                <a:lnSpc>
                  <a:spcPts val="1620"/>
                </a:lnSpc>
              </a:pPr>
              <a:r>
                <a:rPr lang="en-US" b="true" sz="1350" spc="135">
                  <a:solidFill>
                    <a:srgbClr val="6B7280"/>
                  </a:solidFill>
                  <a:latin typeface="Manrope Bold"/>
                  <a:ea typeface="Manrope Bold"/>
                  <a:cs typeface="Manrope Bold"/>
                  <a:sym typeface="Manrope Bold"/>
                </a:rPr>
                <a:t>Expertise Anesthésiste</a:t>
              </a:r>
            </a:p>
          </p:txBody>
        </p:sp>
      </p:grpSp>
      <p:grpSp>
        <p:nvGrpSpPr>
          <p:cNvPr name="Group 37" id="37"/>
          <p:cNvGrpSpPr/>
          <p:nvPr/>
        </p:nvGrpSpPr>
        <p:grpSpPr>
          <a:xfrm rot="0">
            <a:off x="1458011" y="9340596"/>
            <a:ext cx="6015838" cy="571957"/>
            <a:chOff x="0" y="0"/>
            <a:chExt cx="8021117" cy="762610"/>
          </a:xfrm>
        </p:grpSpPr>
        <p:sp>
          <p:nvSpPr>
            <p:cNvPr name="Freeform 38" id="38"/>
            <p:cNvSpPr/>
            <p:nvPr/>
          </p:nvSpPr>
          <p:spPr>
            <a:xfrm flipH="false" flipV="false" rot="0">
              <a:off x="0" y="0"/>
              <a:ext cx="8021116" cy="762610"/>
            </a:xfrm>
            <a:custGeom>
              <a:avLst/>
              <a:gdLst/>
              <a:ahLst/>
              <a:cxnLst/>
              <a:rect r="r" b="b" t="t" l="l"/>
              <a:pathLst>
                <a:path h="762610" w="8021116">
                  <a:moveTo>
                    <a:pt x="0" y="0"/>
                  </a:moveTo>
                  <a:lnTo>
                    <a:pt x="8021116" y="0"/>
                  </a:lnTo>
                  <a:lnTo>
                    <a:pt x="8021116" y="762610"/>
                  </a:lnTo>
                  <a:lnTo>
                    <a:pt x="0" y="762610"/>
                  </a:lnTo>
                  <a:close/>
                </a:path>
              </a:pathLst>
            </a:custGeom>
            <a:blipFill>
              <a:blip r:embed="rId4">
                <a:alphaModFix amt="0"/>
              </a:blip>
              <a:stretch>
                <a:fillRect l="0" t="-154943" r="0" b="-154943"/>
              </a:stretch>
            </a:blipFill>
          </p:spPr>
          <p:txBody>
            <a:bodyPr/>
            <a:p/>
          </p:txBody>
        </p:sp>
        <p:sp>
          <p:nvSpPr>
            <p:cNvPr name="TextBox 39" id="39"/>
            <p:cNvSpPr txBox="true"/>
            <p:nvPr/>
          </p:nvSpPr>
          <p:spPr>
            <a:xfrm>
              <a:off x="0" y="-9525"/>
              <a:ext cx="8021117" cy="772135"/>
            </a:xfrm>
            <a:prstGeom prst="rect">
              <a:avLst/>
            </a:prstGeom>
          </p:spPr>
          <p:txBody>
            <a:bodyPr anchor="ctr" rtlCol="false" tIns="0" lIns="0" bIns="0" rIns="0"/>
            <a:lstStyle/>
            <a:p>
              <a:pPr algn="l">
                <a:lnSpc>
                  <a:spcPts val="1800"/>
                </a:lnSpc>
              </a:pPr>
              <a:r>
                <a:rPr lang="en-US" sz="1500" i="true">
                  <a:solidFill>
                    <a:srgbClr val="FFFFFF"/>
                  </a:solidFill>
                  <a:latin typeface="Manrope"/>
                  <a:ea typeface="Manrope"/>
                  <a:cs typeface="Manrope"/>
                  <a:sym typeface="Manrope"/>
                </a:rPr>
                <a:t>"J'ai dû appliquer mes connaissances pour me sevrer des opiacés et éviter le piège de l'addiction."</a:t>
              </a:r>
            </a:p>
          </p:txBody>
        </p:sp>
      </p:grpSp>
      <p:grpSp>
        <p:nvGrpSpPr>
          <p:cNvPr name="Group 40" id="40"/>
          <p:cNvGrpSpPr/>
          <p:nvPr/>
        </p:nvGrpSpPr>
        <p:grpSpPr>
          <a:xfrm rot="0">
            <a:off x="0" y="0"/>
            <a:ext cx="8215884" cy="113843"/>
            <a:chOff x="0" y="0"/>
            <a:chExt cx="10954512" cy="151790"/>
          </a:xfrm>
        </p:grpSpPr>
        <p:sp>
          <p:nvSpPr>
            <p:cNvPr name="Freeform 41" id="41" descr="preencoded.png"/>
            <p:cNvSpPr/>
            <p:nvPr/>
          </p:nvSpPr>
          <p:spPr>
            <a:xfrm flipH="false" flipV="false" rot="0">
              <a:off x="0" y="0"/>
              <a:ext cx="10954512" cy="151765"/>
            </a:xfrm>
            <a:custGeom>
              <a:avLst/>
              <a:gdLst/>
              <a:ahLst/>
              <a:cxnLst/>
              <a:rect r="r" b="b" t="t" l="l"/>
              <a:pathLst>
                <a:path h="151765" w="10954512">
                  <a:moveTo>
                    <a:pt x="0" y="0"/>
                  </a:moveTo>
                  <a:lnTo>
                    <a:pt x="10954512" y="0"/>
                  </a:lnTo>
                  <a:lnTo>
                    <a:pt x="10954512" y="151765"/>
                  </a:lnTo>
                  <a:lnTo>
                    <a:pt x="0" y="151765"/>
                  </a:lnTo>
                  <a:lnTo>
                    <a:pt x="0" y="0"/>
                  </a:lnTo>
                  <a:close/>
                </a:path>
              </a:pathLst>
            </a:custGeom>
            <a:blipFill>
              <a:blip r:embed="rId7">
                <a:alphaModFix amt="9999"/>
              </a:blip>
              <a:stretch>
                <a:fillRect l="203" t="0" r="203" b="-16"/>
              </a:stretch>
            </a:blipFill>
          </p:spPr>
          <p:txBody>
            <a:bodyPr/>
            <a:p/>
          </p:txBody>
        </p:sp>
      </p:grpSp>
      <p:grpSp>
        <p:nvGrpSpPr>
          <p:cNvPr name="Group 42" id="42"/>
          <p:cNvGrpSpPr/>
          <p:nvPr/>
        </p:nvGrpSpPr>
        <p:grpSpPr>
          <a:xfrm rot="0">
            <a:off x="1014984" y="4524908"/>
            <a:ext cx="13716" cy="3943350"/>
            <a:chOff x="0" y="0"/>
            <a:chExt cx="18288" cy="5257800"/>
          </a:xfrm>
        </p:grpSpPr>
        <p:sp>
          <p:nvSpPr>
            <p:cNvPr name="Freeform 43" id="43" descr="preencoded.png"/>
            <p:cNvSpPr/>
            <p:nvPr/>
          </p:nvSpPr>
          <p:spPr>
            <a:xfrm flipH="false" flipV="false" rot="0">
              <a:off x="0" y="0"/>
              <a:ext cx="18288" cy="5257800"/>
            </a:xfrm>
            <a:custGeom>
              <a:avLst/>
              <a:gdLst/>
              <a:ahLst/>
              <a:cxnLst/>
              <a:rect r="r" b="b" t="t" l="l"/>
              <a:pathLst>
                <a:path h="5257800" w="18288">
                  <a:moveTo>
                    <a:pt x="0" y="0"/>
                  </a:moveTo>
                  <a:lnTo>
                    <a:pt x="18288" y="0"/>
                  </a:lnTo>
                  <a:lnTo>
                    <a:pt x="18288" y="5257800"/>
                  </a:lnTo>
                  <a:lnTo>
                    <a:pt x="0" y="5257800"/>
                  </a:lnTo>
                  <a:lnTo>
                    <a:pt x="0" y="0"/>
                  </a:lnTo>
                  <a:close/>
                </a:path>
              </a:pathLst>
            </a:custGeom>
            <a:blipFill>
              <a:blip r:embed="rId8"/>
              <a:stretch>
                <a:fillRect l="0" t="1999" r="0" b="1999"/>
              </a:stretch>
            </a:blipFill>
          </p:spPr>
          <p:txBody>
            <a:bodyPr/>
            <a:p/>
          </p:txBody>
        </p:sp>
      </p:grpSp>
      <p:grpSp>
        <p:nvGrpSpPr>
          <p:cNvPr name="Group 44" id="44"/>
          <p:cNvGrpSpPr/>
          <p:nvPr/>
        </p:nvGrpSpPr>
        <p:grpSpPr>
          <a:xfrm rot="0">
            <a:off x="1458011" y="4788875"/>
            <a:ext cx="6216091" cy="498491"/>
            <a:chOff x="0" y="0"/>
            <a:chExt cx="8288122" cy="664654"/>
          </a:xfrm>
        </p:grpSpPr>
        <p:sp>
          <p:nvSpPr>
            <p:cNvPr name="Freeform 45" id="45"/>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46" id="46"/>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Le Choc</a:t>
              </a:r>
            </a:p>
          </p:txBody>
        </p:sp>
      </p:grpSp>
      <p:grpSp>
        <p:nvGrpSpPr>
          <p:cNvPr name="Group 47" id="47"/>
          <p:cNvGrpSpPr/>
          <p:nvPr/>
        </p:nvGrpSpPr>
        <p:grpSpPr>
          <a:xfrm rot="0">
            <a:off x="1458011" y="5287956"/>
            <a:ext cx="6216091" cy="332327"/>
            <a:chOff x="0" y="0"/>
            <a:chExt cx="8288122" cy="443103"/>
          </a:xfrm>
        </p:grpSpPr>
        <p:sp>
          <p:nvSpPr>
            <p:cNvPr name="Freeform 48" id="48"/>
            <p:cNvSpPr/>
            <p:nvPr/>
          </p:nvSpPr>
          <p:spPr>
            <a:xfrm flipH="false" flipV="false" rot="0">
              <a:off x="0" y="0"/>
              <a:ext cx="8288122" cy="443104"/>
            </a:xfrm>
            <a:custGeom>
              <a:avLst/>
              <a:gdLst/>
              <a:ahLst/>
              <a:cxnLst/>
              <a:rect r="r" b="b" t="t" l="l"/>
              <a:pathLst>
                <a:path h="443104" w="8288122">
                  <a:moveTo>
                    <a:pt x="0" y="0"/>
                  </a:moveTo>
                  <a:lnTo>
                    <a:pt x="8288122" y="0"/>
                  </a:lnTo>
                  <a:lnTo>
                    <a:pt x="8288122" y="443104"/>
                  </a:lnTo>
                  <a:lnTo>
                    <a:pt x="0" y="443104"/>
                  </a:lnTo>
                  <a:close/>
                </a:path>
              </a:pathLst>
            </a:custGeom>
            <a:blipFill>
              <a:blip r:embed="rId4">
                <a:alphaModFix amt="0"/>
              </a:blip>
              <a:stretch>
                <a:fillRect l="0" t="-321331" r="0" b="-307591"/>
              </a:stretch>
            </a:blipFill>
          </p:spPr>
          <p:txBody>
            <a:bodyPr/>
            <a:p/>
          </p:txBody>
        </p:sp>
        <p:sp>
          <p:nvSpPr>
            <p:cNvPr name="TextBox 49" id="49"/>
            <p:cNvSpPr txBox="true"/>
            <p:nvPr/>
          </p:nvSpPr>
          <p:spPr>
            <a:xfrm>
              <a:off x="0" y="-9525"/>
              <a:ext cx="8288122"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Accident de vélo majeur. Fractures multiples.</a:t>
              </a:r>
            </a:p>
          </p:txBody>
        </p:sp>
      </p:grpSp>
      <p:grpSp>
        <p:nvGrpSpPr>
          <p:cNvPr name="Group 50" id="50"/>
          <p:cNvGrpSpPr/>
          <p:nvPr/>
        </p:nvGrpSpPr>
        <p:grpSpPr>
          <a:xfrm rot="0">
            <a:off x="1458011" y="5996435"/>
            <a:ext cx="6216091" cy="498491"/>
            <a:chOff x="0" y="0"/>
            <a:chExt cx="8288122" cy="664654"/>
          </a:xfrm>
        </p:grpSpPr>
        <p:sp>
          <p:nvSpPr>
            <p:cNvPr name="Freeform 51" id="51"/>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52" id="52"/>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Soins Intensifs</a:t>
              </a:r>
            </a:p>
          </p:txBody>
        </p:sp>
      </p:grpSp>
      <p:grpSp>
        <p:nvGrpSpPr>
          <p:cNvPr name="Group 53" id="53"/>
          <p:cNvGrpSpPr/>
          <p:nvPr/>
        </p:nvGrpSpPr>
        <p:grpSpPr>
          <a:xfrm rot="0">
            <a:off x="1466850" y="6506565"/>
            <a:ext cx="6158484" cy="571958"/>
            <a:chOff x="0" y="0"/>
            <a:chExt cx="8211312" cy="762610"/>
          </a:xfrm>
        </p:grpSpPr>
        <p:sp>
          <p:nvSpPr>
            <p:cNvPr name="Freeform 54" id="54"/>
            <p:cNvSpPr/>
            <p:nvPr/>
          </p:nvSpPr>
          <p:spPr>
            <a:xfrm flipH="false" flipV="false" rot="0">
              <a:off x="0" y="0"/>
              <a:ext cx="8211312" cy="762610"/>
            </a:xfrm>
            <a:custGeom>
              <a:avLst/>
              <a:gdLst/>
              <a:ahLst/>
              <a:cxnLst/>
              <a:rect r="r" b="b" t="t" l="l"/>
              <a:pathLst>
                <a:path h="762610" w="8211312">
                  <a:moveTo>
                    <a:pt x="0" y="0"/>
                  </a:moveTo>
                  <a:lnTo>
                    <a:pt x="8211312" y="0"/>
                  </a:lnTo>
                  <a:lnTo>
                    <a:pt x="8211312" y="762610"/>
                  </a:lnTo>
                  <a:lnTo>
                    <a:pt x="0" y="762610"/>
                  </a:lnTo>
                  <a:close/>
                </a:path>
              </a:pathLst>
            </a:custGeom>
            <a:blipFill>
              <a:blip r:embed="rId4">
                <a:alphaModFix amt="0"/>
              </a:blip>
              <a:stretch>
                <a:fillRect l="0" t="-159802" r="0" b="-159802"/>
              </a:stretch>
            </a:blipFill>
          </p:spPr>
          <p:txBody>
            <a:bodyPr/>
            <a:p/>
          </p:txBody>
        </p:sp>
        <p:sp>
          <p:nvSpPr>
            <p:cNvPr name="TextBox 55" id="55"/>
            <p:cNvSpPr txBox="true"/>
            <p:nvPr/>
          </p:nvSpPr>
          <p:spPr>
            <a:xfrm>
              <a:off x="0" y="-9525"/>
              <a:ext cx="8211312" cy="772135"/>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ARDS (Détresse respiratoire aiguë). Intubation. </a:t>
              </a:r>
            </a:p>
            <a:p>
              <a:pPr algn="l">
                <a:lnSpc>
                  <a:spcPts val="1800"/>
                </a:lnSpc>
              </a:pPr>
              <a:r>
                <a:rPr lang="en-US" sz="1500">
                  <a:solidFill>
                    <a:srgbClr val="9CA3AF"/>
                  </a:solidFill>
                  <a:latin typeface="Manrope"/>
                  <a:ea typeface="Manrope"/>
                  <a:cs typeface="Manrope"/>
                  <a:sym typeface="Manrope"/>
                </a:rPr>
                <a:t>Pronostic vital engagé.</a:t>
              </a:r>
            </a:p>
          </p:txBody>
        </p:sp>
      </p:grpSp>
      <p:grpSp>
        <p:nvGrpSpPr>
          <p:cNvPr name="Group 56" id="56"/>
          <p:cNvGrpSpPr/>
          <p:nvPr/>
        </p:nvGrpSpPr>
        <p:grpSpPr>
          <a:xfrm rot="0">
            <a:off x="1458011" y="7506081"/>
            <a:ext cx="6216091" cy="498491"/>
            <a:chOff x="0" y="0"/>
            <a:chExt cx="8288122" cy="664654"/>
          </a:xfrm>
        </p:grpSpPr>
        <p:sp>
          <p:nvSpPr>
            <p:cNvPr name="Freeform 57" id="57"/>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58" id="58"/>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6 Mois d'Arrêt</a:t>
              </a:r>
            </a:p>
          </p:txBody>
        </p:sp>
      </p:grpSp>
      <p:grpSp>
        <p:nvGrpSpPr>
          <p:cNvPr name="Group 59" id="59"/>
          <p:cNvGrpSpPr/>
          <p:nvPr/>
        </p:nvGrpSpPr>
        <p:grpSpPr>
          <a:xfrm rot="0">
            <a:off x="1458011" y="7896301"/>
            <a:ext cx="6158484" cy="571958"/>
            <a:chOff x="0" y="0"/>
            <a:chExt cx="8211312" cy="762610"/>
          </a:xfrm>
        </p:grpSpPr>
        <p:sp>
          <p:nvSpPr>
            <p:cNvPr name="Freeform 60" id="60"/>
            <p:cNvSpPr/>
            <p:nvPr/>
          </p:nvSpPr>
          <p:spPr>
            <a:xfrm flipH="false" flipV="false" rot="0">
              <a:off x="0" y="0"/>
              <a:ext cx="8211312" cy="762610"/>
            </a:xfrm>
            <a:custGeom>
              <a:avLst/>
              <a:gdLst/>
              <a:ahLst/>
              <a:cxnLst/>
              <a:rect r="r" b="b" t="t" l="l"/>
              <a:pathLst>
                <a:path h="762610" w="8211312">
                  <a:moveTo>
                    <a:pt x="0" y="0"/>
                  </a:moveTo>
                  <a:lnTo>
                    <a:pt x="8211312" y="0"/>
                  </a:lnTo>
                  <a:lnTo>
                    <a:pt x="8211312" y="762610"/>
                  </a:lnTo>
                  <a:lnTo>
                    <a:pt x="0" y="762610"/>
                  </a:lnTo>
                  <a:close/>
                </a:path>
              </a:pathLst>
            </a:custGeom>
            <a:blipFill>
              <a:blip r:embed="rId4">
                <a:alphaModFix amt="0"/>
              </a:blip>
              <a:stretch>
                <a:fillRect l="0" t="-159802" r="0" b="-159802"/>
              </a:stretch>
            </a:blipFill>
          </p:spPr>
          <p:txBody>
            <a:bodyPr/>
            <a:p/>
          </p:txBody>
        </p:sp>
        <p:sp>
          <p:nvSpPr>
            <p:cNvPr name="TextBox 61" id="61"/>
            <p:cNvSpPr txBox="true"/>
            <p:nvPr/>
          </p:nvSpPr>
          <p:spPr>
            <a:xfrm>
              <a:off x="0" y="-9525"/>
              <a:ext cx="8211312" cy="772135"/>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Immobilité forcée. Le temps de la réflexion profonde face à la fragilité.</a:t>
              </a:r>
            </a:p>
          </p:txBody>
        </p:sp>
      </p:grpSp>
      <p:grpSp>
        <p:nvGrpSpPr>
          <p:cNvPr name="Group 62" id="62"/>
          <p:cNvGrpSpPr/>
          <p:nvPr/>
        </p:nvGrpSpPr>
        <p:grpSpPr>
          <a:xfrm rot="0">
            <a:off x="924611" y="4906366"/>
            <a:ext cx="381000" cy="381000"/>
            <a:chOff x="0" y="0"/>
            <a:chExt cx="508000" cy="508000"/>
          </a:xfrm>
        </p:grpSpPr>
        <p:sp>
          <p:nvSpPr>
            <p:cNvPr name="Freeform 63" id="63"/>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64" id="64"/>
          <p:cNvGrpSpPr/>
          <p:nvPr/>
        </p:nvGrpSpPr>
        <p:grpSpPr>
          <a:xfrm rot="0">
            <a:off x="1021842" y="5025542"/>
            <a:ext cx="185166" cy="142646"/>
            <a:chOff x="0" y="0"/>
            <a:chExt cx="246888" cy="190195"/>
          </a:xfrm>
        </p:grpSpPr>
        <p:sp>
          <p:nvSpPr>
            <p:cNvPr name="Freeform 65" id="65" descr="preencoded.png"/>
            <p:cNvSpPr/>
            <p:nvPr/>
          </p:nvSpPr>
          <p:spPr>
            <a:xfrm flipH="false" flipV="false" rot="0">
              <a:off x="0" y="0"/>
              <a:ext cx="246888" cy="190246"/>
            </a:xfrm>
            <a:custGeom>
              <a:avLst/>
              <a:gdLst/>
              <a:ahLst/>
              <a:cxnLst/>
              <a:rect r="r" b="b" t="t" l="l"/>
              <a:pathLst>
                <a:path h="190246" w="246888">
                  <a:moveTo>
                    <a:pt x="0" y="0"/>
                  </a:moveTo>
                  <a:lnTo>
                    <a:pt x="246888" y="0"/>
                  </a:lnTo>
                  <a:lnTo>
                    <a:pt x="246888" y="190246"/>
                  </a:lnTo>
                  <a:lnTo>
                    <a:pt x="0" y="190246"/>
                  </a:lnTo>
                  <a:lnTo>
                    <a:pt x="0" y="0"/>
                  </a:lnTo>
                  <a:close/>
                </a:path>
              </a:pathLst>
            </a:custGeom>
            <a:blipFill>
              <a:blip r:embed="rId9"/>
              <a:stretch>
                <a:fillRect l="1898" t="0" r="-601" b="26"/>
              </a:stretch>
            </a:blipFill>
          </p:spPr>
          <p:txBody>
            <a:bodyPr/>
            <a:p/>
          </p:txBody>
        </p:sp>
      </p:grpSp>
      <p:grpSp>
        <p:nvGrpSpPr>
          <p:cNvPr name="Group 66" id="66"/>
          <p:cNvGrpSpPr/>
          <p:nvPr/>
        </p:nvGrpSpPr>
        <p:grpSpPr>
          <a:xfrm rot="0">
            <a:off x="924611" y="6106516"/>
            <a:ext cx="381000" cy="381000"/>
            <a:chOff x="0" y="0"/>
            <a:chExt cx="508000" cy="508000"/>
          </a:xfrm>
        </p:grpSpPr>
        <p:sp>
          <p:nvSpPr>
            <p:cNvPr name="Freeform 67" id="67"/>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68" id="68"/>
          <p:cNvGrpSpPr/>
          <p:nvPr/>
        </p:nvGrpSpPr>
        <p:grpSpPr>
          <a:xfrm rot="0">
            <a:off x="1042416" y="6225692"/>
            <a:ext cx="142646" cy="142646"/>
            <a:chOff x="0" y="0"/>
            <a:chExt cx="190195" cy="190195"/>
          </a:xfrm>
        </p:grpSpPr>
        <p:sp>
          <p:nvSpPr>
            <p:cNvPr name="Freeform 69" id="69" descr="preencoded.png"/>
            <p:cNvSpPr/>
            <p:nvPr/>
          </p:nvSpPr>
          <p:spPr>
            <a:xfrm flipH="false" flipV="false" rot="0">
              <a:off x="0" y="0"/>
              <a:ext cx="190246" cy="190246"/>
            </a:xfrm>
            <a:custGeom>
              <a:avLst/>
              <a:gdLst/>
              <a:ahLst/>
              <a:cxnLst/>
              <a:rect r="r" b="b" t="t" l="l"/>
              <a:pathLst>
                <a:path h="190246" w="190246">
                  <a:moveTo>
                    <a:pt x="0" y="0"/>
                  </a:moveTo>
                  <a:lnTo>
                    <a:pt x="190246" y="0"/>
                  </a:lnTo>
                  <a:lnTo>
                    <a:pt x="190246" y="190246"/>
                  </a:lnTo>
                  <a:lnTo>
                    <a:pt x="0" y="190246"/>
                  </a:lnTo>
                  <a:lnTo>
                    <a:pt x="0" y="0"/>
                  </a:lnTo>
                  <a:close/>
                </a:path>
              </a:pathLst>
            </a:custGeom>
            <a:blipFill>
              <a:blip r:embed="rId10"/>
              <a:stretch>
                <a:fillRect l="0" t="0" r="26" b="26"/>
              </a:stretch>
            </a:blipFill>
          </p:spPr>
          <p:txBody>
            <a:bodyPr/>
            <a:p/>
          </p:txBody>
        </p:sp>
      </p:grpSp>
      <p:grpSp>
        <p:nvGrpSpPr>
          <p:cNvPr name="Group 70" id="70"/>
          <p:cNvGrpSpPr/>
          <p:nvPr/>
        </p:nvGrpSpPr>
        <p:grpSpPr>
          <a:xfrm rot="0">
            <a:off x="924611" y="7591958"/>
            <a:ext cx="381000" cy="381000"/>
            <a:chOff x="0" y="0"/>
            <a:chExt cx="508000" cy="508000"/>
          </a:xfrm>
        </p:grpSpPr>
        <p:sp>
          <p:nvSpPr>
            <p:cNvPr name="Freeform 71" id="71"/>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72" id="72"/>
          <p:cNvGrpSpPr/>
          <p:nvPr/>
        </p:nvGrpSpPr>
        <p:grpSpPr>
          <a:xfrm rot="0">
            <a:off x="1057504" y="7711135"/>
            <a:ext cx="113843" cy="142646"/>
            <a:chOff x="0" y="0"/>
            <a:chExt cx="151790" cy="190195"/>
          </a:xfrm>
        </p:grpSpPr>
        <p:sp>
          <p:nvSpPr>
            <p:cNvPr name="Freeform 73" id="73" descr="preencoded.png"/>
            <p:cNvSpPr/>
            <p:nvPr/>
          </p:nvSpPr>
          <p:spPr>
            <a:xfrm flipH="false" flipV="false" rot="0">
              <a:off x="0" y="0"/>
              <a:ext cx="151765" cy="190246"/>
            </a:xfrm>
            <a:custGeom>
              <a:avLst/>
              <a:gdLst/>
              <a:ahLst/>
              <a:cxnLst/>
              <a:rect r="r" b="b" t="t" l="l"/>
              <a:pathLst>
                <a:path h="190246" w="151765">
                  <a:moveTo>
                    <a:pt x="0" y="0"/>
                  </a:moveTo>
                  <a:lnTo>
                    <a:pt x="151765" y="0"/>
                  </a:lnTo>
                  <a:lnTo>
                    <a:pt x="151765" y="190246"/>
                  </a:lnTo>
                  <a:lnTo>
                    <a:pt x="0" y="190246"/>
                  </a:lnTo>
                  <a:lnTo>
                    <a:pt x="0" y="0"/>
                  </a:lnTo>
                  <a:close/>
                </a:path>
              </a:pathLst>
            </a:custGeom>
            <a:blipFill>
              <a:blip r:embed="rId11"/>
              <a:stretch>
                <a:fillRect l="3046" t="0" r="2008" b="26"/>
              </a:stretch>
            </a:blipFill>
          </p:spPr>
          <p:txBody>
            <a:bodyPr/>
            <a:p/>
          </p:txBody>
        </p:sp>
      </p:grpSp>
      <p:grpSp>
        <p:nvGrpSpPr>
          <p:cNvPr name="Group 74" id="74"/>
          <p:cNvGrpSpPr/>
          <p:nvPr/>
        </p:nvGrpSpPr>
        <p:grpSpPr>
          <a:xfrm rot="0">
            <a:off x="9077325" y="5796458"/>
            <a:ext cx="4020007" cy="3419246"/>
            <a:chOff x="0" y="0"/>
            <a:chExt cx="5360010" cy="4558995"/>
          </a:xfrm>
        </p:grpSpPr>
        <p:sp>
          <p:nvSpPr>
            <p:cNvPr name="Freeform 75" id="75"/>
            <p:cNvSpPr/>
            <p:nvPr/>
          </p:nvSpPr>
          <p:spPr>
            <a:xfrm flipH="false" flipV="false" rot="0">
              <a:off x="12700" y="12700"/>
              <a:ext cx="5334635" cy="4533519"/>
            </a:xfrm>
            <a:custGeom>
              <a:avLst/>
              <a:gdLst/>
              <a:ahLst/>
              <a:cxnLst/>
              <a:rect r="r" b="b" t="t" l="l"/>
              <a:pathLst>
                <a:path h="4533519" w="5334635">
                  <a:moveTo>
                    <a:pt x="0" y="122936"/>
                  </a:moveTo>
                  <a:cubicBezTo>
                    <a:pt x="0" y="54991"/>
                    <a:pt x="55118" y="0"/>
                    <a:pt x="123063" y="0"/>
                  </a:cubicBezTo>
                  <a:lnTo>
                    <a:pt x="5211572" y="0"/>
                  </a:lnTo>
                  <a:cubicBezTo>
                    <a:pt x="5279517" y="0"/>
                    <a:pt x="5334635" y="54991"/>
                    <a:pt x="5334635" y="122936"/>
                  </a:cubicBezTo>
                  <a:lnTo>
                    <a:pt x="5334635" y="4410583"/>
                  </a:lnTo>
                  <a:cubicBezTo>
                    <a:pt x="5334635" y="4478528"/>
                    <a:pt x="5279517" y="4533519"/>
                    <a:pt x="5211572" y="4533519"/>
                  </a:cubicBezTo>
                  <a:lnTo>
                    <a:pt x="123063" y="4533519"/>
                  </a:lnTo>
                  <a:cubicBezTo>
                    <a:pt x="55118" y="4533519"/>
                    <a:pt x="0" y="4478528"/>
                    <a:pt x="0" y="4410583"/>
                  </a:cubicBezTo>
                  <a:close/>
                </a:path>
              </a:pathLst>
            </a:custGeom>
            <a:solidFill>
              <a:srgbClr val="FFFFFF">
                <a:alpha val="0"/>
              </a:srgbClr>
            </a:solidFill>
          </p:spPr>
          <p:txBody>
            <a:bodyPr/>
            <a:p/>
          </p:txBody>
        </p:sp>
        <p:sp>
          <p:nvSpPr>
            <p:cNvPr name="Freeform 76" id="76"/>
            <p:cNvSpPr/>
            <p:nvPr/>
          </p:nvSpPr>
          <p:spPr>
            <a:xfrm flipH="false" flipV="false" rot="0">
              <a:off x="0" y="0"/>
              <a:ext cx="5360035" cy="4558919"/>
            </a:xfrm>
            <a:custGeom>
              <a:avLst/>
              <a:gdLst/>
              <a:ahLst/>
              <a:cxnLst/>
              <a:rect r="r" b="b" t="t" l="l"/>
              <a:pathLst>
                <a:path h="4558919" w="5360035">
                  <a:moveTo>
                    <a:pt x="0" y="135636"/>
                  </a:moveTo>
                  <a:cubicBezTo>
                    <a:pt x="0" y="60706"/>
                    <a:pt x="60833" y="0"/>
                    <a:pt x="135763" y="0"/>
                  </a:cubicBezTo>
                  <a:lnTo>
                    <a:pt x="5224272" y="0"/>
                  </a:lnTo>
                  <a:lnTo>
                    <a:pt x="5224272" y="12700"/>
                  </a:lnTo>
                  <a:lnTo>
                    <a:pt x="5224272" y="0"/>
                  </a:lnTo>
                  <a:cubicBezTo>
                    <a:pt x="5299202" y="0"/>
                    <a:pt x="5360035" y="60706"/>
                    <a:pt x="5360035" y="135636"/>
                  </a:cubicBezTo>
                  <a:lnTo>
                    <a:pt x="5347335" y="135636"/>
                  </a:lnTo>
                  <a:lnTo>
                    <a:pt x="5360035" y="135636"/>
                  </a:lnTo>
                  <a:lnTo>
                    <a:pt x="5360035" y="4423283"/>
                  </a:lnTo>
                  <a:lnTo>
                    <a:pt x="5347335" y="4423283"/>
                  </a:lnTo>
                  <a:lnTo>
                    <a:pt x="5360035" y="4423283"/>
                  </a:lnTo>
                  <a:cubicBezTo>
                    <a:pt x="5360035" y="4498213"/>
                    <a:pt x="5299202" y="4558919"/>
                    <a:pt x="5224272" y="4558919"/>
                  </a:cubicBezTo>
                  <a:lnTo>
                    <a:pt x="5224272" y="4546219"/>
                  </a:lnTo>
                  <a:lnTo>
                    <a:pt x="5224272" y="4558919"/>
                  </a:lnTo>
                  <a:lnTo>
                    <a:pt x="135763" y="4558919"/>
                  </a:lnTo>
                  <a:lnTo>
                    <a:pt x="135763" y="4546219"/>
                  </a:lnTo>
                  <a:lnTo>
                    <a:pt x="135763" y="4558919"/>
                  </a:lnTo>
                  <a:cubicBezTo>
                    <a:pt x="60833" y="4559046"/>
                    <a:pt x="0" y="4498213"/>
                    <a:pt x="0" y="4423283"/>
                  </a:cubicBezTo>
                  <a:lnTo>
                    <a:pt x="0" y="135636"/>
                  </a:lnTo>
                  <a:lnTo>
                    <a:pt x="12700" y="135636"/>
                  </a:lnTo>
                  <a:lnTo>
                    <a:pt x="0" y="135636"/>
                  </a:lnTo>
                  <a:moveTo>
                    <a:pt x="25400" y="135636"/>
                  </a:moveTo>
                  <a:lnTo>
                    <a:pt x="25400" y="4423283"/>
                  </a:lnTo>
                  <a:lnTo>
                    <a:pt x="12700" y="4423283"/>
                  </a:lnTo>
                  <a:lnTo>
                    <a:pt x="25400" y="4423283"/>
                  </a:lnTo>
                  <a:cubicBezTo>
                    <a:pt x="25400" y="4484116"/>
                    <a:pt x="74803" y="4533519"/>
                    <a:pt x="135763" y="4533519"/>
                  </a:cubicBezTo>
                  <a:lnTo>
                    <a:pt x="5224272" y="4533519"/>
                  </a:lnTo>
                  <a:cubicBezTo>
                    <a:pt x="5285232" y="4533519"/>
                    <a:pt x="5334635" y="4484116"/>
                    <a:pt x="5334635" y="4423283"/>
                  </a:cubicBezTo>
                  <a:lnTo>
                    <a:pt x="5334635" y="135636"/>
                  </a:lnTo>
                  <a:cubicBezTo>
                    <a:pt x="5334635" y="74803"/>
                    <a:pt x="5285232" y="25400"/>
                    <a:pt x="5224272" y="25400"/>
                  </a:cubicBezTo>
                  <a:lnTo>
                    <a:pt x="135763" y="25400"/>
                  </a:lnTo>
                  <a:lnTo>
                    <a:pt x="135763" y="12700"/>
                  </a:lnTo>
                  <a:lnTo>
                    <a:pt x="135763" y="25400"/>
                  </a:lnTo>
                  <a:cubicBezTo>
                    <a:pt x="74803" y="25400"/>
                    <a:pt x="25400" y="74803"/>
                    <a:pt x="25400" y="135636"/>
                  </a:cubicBezTo>
                  <a:close/>
                </a:path>
              </a:pathLst>
            </a:custGeom>
            <a:solidFill>
              <a:srgbClr val="FFFFFF">
                <a:alpha val="784"/>
              </a:srgbClr>
            </a:solidFill>
          </p:spPr>
          <p:txBody>
            <a:bodyPr/>
            <a:p/>
          </p:txBody>
        </p:sp>
      </p:grpSp>
      <p:grpSp>
        <p:nvGrpSpPr>
          <p:cNvPr name="Group 77" id="77"/>
          <p:cNvGrpSpPr/>
          <p:nvPr/>
        </p:nvGrpSpPr>
        <p:grpSpPr>
          <a:xfrm rot="0">
            <a:off x="10101834" y="6162599"/>
            <a:ext cx="2743200" cy="332327"/>
            <a:chOff x="0" y="0"/>
            <a:chExt cx="3657600" cy="443103"/>
          </a:xfrm>
        </p:grpSpPr>
        <p:sp>
          <p:nvSpPr>
            <p:cNvPr name="Freeform 78" id="78"/>
            <p:cNvSpPr/>
            <p:nvPr/>
          </p:nvSpPr>
          <p:spPr>
            <a:xfrm flipH="false" flipV="false" rot="0">
              <a:off x="0" y="0"/>
              <a:ext cx="3657600" cy="443104"/>
            </a:xfrm>
            <a:custGeom>
              <a:avLst/>
              <a:gdLst/>
              <a:ahLst/>
              <a:cxnLst/>
              <a:rect r="r" b="b" t="t" l="l"/>
              <a:pathLst>
                <a:path h="443104" w="3657600">
                  <a:moveTo>
                    <a:pt x="0" y="0"/>
                  </a:moveTo>
                  <a:lnTo>
                    <a:pt x="3657600" y="0"/>
                  </a:lnTo>
                  <a:lnTo>
                    <a:pt x="3657600" y="443104"/>
                  </a:lnTo>
                  <a:lnTo>
                    <a:pt x="0" y="443104"/>
                  </a:lnTo>
                  <a:close/>
                </a:path>
              </a:pathLst>
            </a:custGeom>
            <a:blipFill>
              <a:blip r:embed="rId4">
                <a:alphaModFix amt="0"/>
              </a:blip>
              <a:stretch>
                <a:fillRect l="0" t="-117709" r="0" b="-103968"/>
              </a:stretch>
            </a:blipFill>
          </p:spPr>
          <p:txBody>
            <a:bodyPr/>
            <a:p/>
          </p:txBody>
        </p:sp>
        <p:sp>
          <p:nvSpPr>
            <p:cNvPr name="TextBox 79" id="79"/>
            <p:cNvSpPr txBox="true"/>
            <p:nvPr/>
          </p:nvSpPr>
          <p:spPr>
            <a:xfrm>
              <a:off x="0" y="-9525"/>
              <a:ext cx="3657600" cy="452628"/>
            </a:xfrm>
            <a:prstGeom prst="rect">
              <a:avLst/>
            </a:prstGeom>
          </p:spPr>
          <p:txBody>
            <a:bodyPr anchor="ctr" rtlCol="false" tIns="0" lIns="0" bIns="0" rIns="0"/>
            <a:lstStyle/>
            <a:p>
              <a:pPr algn="l">
                <a:lnSpc>
                  <a:spcPts val="1800"/>
                </a:lnSpc>
              </a:pPr>
              <a:r>
                <a:rPr lang="en-US" b="true" sz="1500" spc="78">
                  <a:solidFill>
                    <a:srgbClr val="FFFFFF"/>
                  </a:solidFill>
                  <a:latin typeface="Manrope Bold"/>
                  <a:ea typeface="Manrope Bold"/>
                  <a:cs typeface="Manrope Bold"/>
                  <a:sym typeface="Manrope Bold"/>
                </a:rPr>
                <a:t>La Leçon</a:t>
              </a:r>
            </a:p>
          </p:txBody>
        </p:sp>
      </p:grpSp>
      <p:grpSp>
        <p:nvGrpSpPr>
          <p:cNvPr name="Group 80" id="80"/>
          <p:cNvGrpSpPr/>
          <p:nvPr/>
        </p:nvGrpSpPr>
        <p:grpSpPr>
          <a:xfrm rot="0">
            <a:off x="10101834" y="6563106"/>
            <a:ext cx="2734970" cy="2286458"/>
            <a:chOff x="0" y="0"/>
            <a:chExt cx="3646627" cy="3048610"/>
          </a:xfrm>
        </p:grpSpPr>
        <p:sp>
          <p:nvSpPr>
            <p:cNvPr name="Freeform 81" id="81"/>
            <p:cNvSpPr/>
            <p:nvPr/>
          </p:nvSpPr>
          <p:spPr>
            <a:xfrm flipH="false" flipV="false" rot="0">
              <a:off x="0" y="0"/>
              <a:ext cx="3646628" cy="3048610"/>
            </a:xfrm>
            <a:custGeom>
              <a:avLst/>
              <a:gdLst/>
              <a:ahLst/>
              <a:cxnLst/>
              <a:rect r="r" b="b" t="t" l="l"/>
              <a:pathLst>
                <a:path h="3048610" w="3646628">
                  <a:moveTo>
                    <a:pt x="0" y="0"/>
                  </a:moveTo>
                  <a:lnTo>
                    <a:pt x="3646628" y="0"/>
                  </a:lnTo>
                  <a:lnTo>
                    <a:pt x="3646628" y="3048610"/>
                  </a:lnTo>
                  <a:lnTo>
                    <a:pt x="0" y="3048610"/>
                  </a:lnTo>
                  <a:close/>
                </a:path>
              </a:pathLst>
            </a:custGeom>
            <a:blipFill>
              <a:blip r:embed="rId4">
                <a:alphaModFix amt="0"/>
              </a:blip>
              <a:stretch>
                <a:fillRect l="-57262" t="0" r="-57262" b="0"/>
              </a:stretch>
            </a:blipFill>
          </p:spPr>
          <p:txBody>
            <a:bodyPr/>
            <a:p/>
          </p:txBody>
        </p:sp>
        <p:sp>
          <p:nvSpPr>
            <p:cNvPr name="TextBox 82" id="82"/>
            <p:cNvSpPr txBox="true"/>
            <p:nvPr/>
          </p:nvSpPr>
          <p:spPr>
            <a:xfrm>
              <a:off x="0" y="-9525"/>
              <a:ext cx="3646627" cy="3058135"/>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Si je n'avais pas été médecin, je serais devenu un "Drug Addict" à l'oxycodone. Le système traite la douleur, pas la cause ni la récupération long terme.</a:t>
              </a:r>
            </a:p>
          </p:txBody>
        </p:sp>
      </p:grpSp>
      <p:grpSp>
        <p:nvGrpSpPr>
          <p:cNvPr name="Group 83" id="83"/>
          <p:cNvGrpSpPr/>
          <p:nvPr/>
        </p:nvGrpSpPr>
        <p:grpSpPr>
          <a:xfrm rot="0">
            <a:off x="13421182" y="5796458"/>
            <a:ext cx="4020007" cy="3419246"/>
            <a:chOff x="0" y="0"/>
            <a:chExt cx="5360010" cy="4558995"/>
          </a:xfrm>
        </p:grpSpPr>
        <p:sp>
          <p:nvSpPr>
            <p:cNvPr name="Freeform 84" id="84"/>
            <p:cNvSpPr/>
            <p:nvPr/>
          </p:nvSpPr>
          <p:spPr>
            <a:xfrm flipH="false" flipV="false" rot="0">
              <a:off x="12700" y="12700"/>
              <a:ext cx="5334635" cy="4533519"/>
            </a:xfrm>
            <a:custGeom>
              <a:avLst/>
              <a:gdLst/>
              <a:ahLst/>
              <a:cxnLst/>
              <a:rect r="r" b="b" t="t" l="l"/>
              <a:pathLst>
                <a:path h="4533519" w="5334635">
                  <a:moveTo>
                    <a:pt x="0" y="122936"/>
                  </a:moveTo>
                  <a:cubicBezTo>
                    <a:pt x="0" y="54991"/>
                    <a:pt x="55118" y="0"/>
                    <a:pt x="123063" y="0"/>
                  </a:cubicBezTo>
                  <a:lnTo>
                    <a:pt x="5211572" y="0"/>
                  </a:lnTo>
                  <a:cubicBezTo>
                    <a:pt x="5279517" y="0"/>
                    <a:pt x="5334635" y="54991"/>
                    <a:pt x="5334635" y="122936"/>
                  </a:cubicBezTo>
                  <a:lnTo>
                    <a:pt x="5334635" y="4410583"/>
                  </a:lnTo>
                  <a:cubicBezTo>
                    <a:pt x="5334635" y="4478528"/>
                    <a:pt x="5279517" y="4533519"/>
                    <a:pt x="5211572" y="4533519"/>
                  </a:cubicBezTo>
                  <a:lnTo>
                    <a:pt x="123063" y="4533519"/>
                  </a:lnTo>
                  <a:cubicBezTo>
                    <a:pt x="55118" y="4533519"/>
                    <a:pt x="0" y="4478528"/>
                    <a:pt x="0" y="4410583"/>
                  </a:cubicBezTo>
                  <a:close/>
                </a:path>
              </a:pathLst>
            </a:custGeom>
            <a:solidFill>
              <a:srgbClr val="FFFFFF">
                <a:alpha val="0"/>
              </a:srgbClr>
            </a:solidFill>
          </p:spPr>
          <p:txBody>
            <a:bodyPr/>
            <a:p/>
          </p:txBody>
        </p:sp>
        <p:sp>
          <p:nvSpPr>
            <p:cNvPr name="Freeform 85" id="85"/>
            <p:cNvSpPr/>
            <p:nvPr/>
          </p:nvSpPr>
          <p:spPr>
            <a:xfrm flipH="false" flipV="false" rot="0">
              <a:off x="0" y="0"/>
              <a:ext cx="5360035" cy="4558919"/>
            </a:xfrm>
            <a:custGeom>
              <a:avLst/>
              <a:gdLst/>
              <a:ahLst/>
              <a:cxnLst/>
              <a:rect r="r" b="b" t="t" l="l"/>
              <a:pathLst>
                <a:path h="4558919" w="5360035">
                  <a:moveTo>
                    <a:pt x="0" y="135636"/>
                  </a:moveTo>
                  <a:cubicBezTo>
                    <a:pt x="0" y="60706"/>
                    <a:pt x="60833" y="0"/>
                    <a:pt x="135763" y="0"/>
                  </a:cubicBezTo>
                  <a:lnTo>
                    <a:pt x="5224272" y="0"/>
                  </a:lnTo>
                  <a:lnTo>
                    <a:pt x="5224272" y="12700"/>
                  </a:lnTo>
                  <a:lnTo>
                    <a:pt x="5224272" y="0"/>
                  </a:lnTo>
                  <a:cubicBezTo>
                    <a:pt x="5299202" y="0"/>
                    <a:pt x="5360035" y="60706"/>
                    <a:pt x="5360035" y="135636"/>
                  </a:cubicBezTo>
                  <a:lnTo>
                    <a:pt x="5347335" y="135636"/>
                  </a:lnTo>
                  <a:lnTo>
                    <a:pt x="5360035" y="135636"/>
                  </a:lnTo>
                  <a:lnTo>
                    <a:pt x="5360035" y="4423283"/>
                  </a:lnTo>
                  <a:lnTo>
                    <a:pt x="5347335" y="4423283"/>
                  </a:lnTo>
                  <a:lnTo>
                    <a:pt x="5360035" y="4423283"/>
                  </a:lnTo>
                  <a:cubicBezTo>
                    <a:pt x="5360035" y="4498213"/>
                    <a:pt x="5299202" y="4558919"/>
                    <a:pt x="5224272" y="4558919"/>
                  </a:cubicBezTo>
                  <a:lnTo>
                    <a:pt x="5224272" y="4546219"/>
                  </a:lnTo>
                  <a:lnTo>
                    <a:pt x="5224272" y="4558919"/>
                  </a:lnTo>
                  <a:lnTo>
                    <a:pt x="135763" y="4558919"/>
                  </a:lnTo>
                  <a:lnTo>
                    <a:pt x="135763" y="4546219"/>
                  </a:lnTo>
                  <a:lnTo>
                    <a:pt x="135763" y="4558919"/>
                  </a:lnTo>
                  <a:cubicBezTo>
                    <a:pt x="60833" y="4559046"/>
                    <a:pt x="0" y="4498213"/>
                    <a:pt x="0" y="4423283"/>
                  </a:cubicBezTo>
                  <a:lnTo>
                    <a:pt x="0" y="135636"/>
                  </a:lnTo>
                  <a:lnTo>
                    <a:pt x="12700" y="135636"/>
                  </a:lnTo>
                  <a:lnTo>
                    <a:pt x="0" y="135636"/>
                  </a:lnTo>
                  <a:moveTo>
                    <a:pt x="25400" y="135636"/>
                  </a:moveTo>
                  <a:lnTo>
                    <a:pt x="25400" y="4423283"/>
                  </a:lnTo>
                  <a:lnTo>
                    <a:pt x="12700" y="4423283"/>
                  </a:lnTo>
                  <a:lnTo>
                    <a:pt x="25400" y="4423283"/>
                  </a:lnTo>
                  <a:cubicBezTo>
                    <a:pt x="25400" y="4484116"/>
                    <a:pt x="74803" y="4533519"/>
                    <a:pt x="135763" y="4533519"/>
                  </a:cubicBezTo>
                  <a:lnTo>
                    <a:pt x="5224272" y="4533519"/>
                  </a:lnTo>
                  <a:cubicBezTo>
                    <a:pt x="5285232" y="4533519"/>
                    <a:pt x="5334635" y="4484116"/>
                    <a:pt x="5334635" y="4423283"/>
                  </a:cubicBezTo>
                  <a:lnTo>
                    <a:pt x="5334635" y="135636"/>
                  </a:lnTo>
                  <a:cubicBezTo>
                    <a:pt x="5334635" y="74803"/>
                    <a:pt x="5285232" y="25400"/>
                    <a:pt x="5224272" y="25400"/>
                  </a:cubicBezTo>
                  <a:lnTo>
                    <a:pt x="135763" y="25400"/>
                  </a:lnTo>
                  <a:lnTo>
                    <a:pt x="135763" y="12700"/>
                  </a:lnTo>
                  <a:lnTo>
                    <a:pt x="135763" y="25400"/>
                  </a:lnTo>
                  <a:cubicBezTo>
                    <a:pt x="74803" y="25400"/>
                    <a:pt x="25400" y="74803"/>
                    <a:pt x="25400" y="135636"/>
                  </a:cubicBezTo>
                  <a:close/>
                </a:path>
              </a:pathLst>
            </a:custGeom>
            <a:solidFill>
              <a:srgbClr val="FFFFFF">
                <a:alpha val="8627"/>
              </a:srgbClr>
            </a:solidFill>
          </p:spPr>
          <p:txBody>
            <a:bodyPr/>
            <a:p/>
          </p:txBody>
        </p:sp>
      </p:grpSp>
      <p:grpSp>
        <p:nvGrpSpPr>
          <p:cNvPr name="Group 86" id="86"/>
          <p:cNvGrpSpPr/>
          <p:nvPr/>
        </p:nvGrpSpPr>
        <p:grpSpPr>
          <a:xfrm rot="0">
            <a:off x="14344193" y="6162599"/>
            <a:ext cx="2843327" cy="332327"/>
            <a:chOff x="0" y="0"/>
            <a:chExt cx="3791102" cy="443103"/>
          </a:xfrm>
        </p:grpSpPr>
        <p:sp>
          <p:nvSpPr>
            <p:cNvPr name="Freeform 87" id="87"/>
            <p:cNvSpPr/>
            <p:nvPr/>
          </p:nvSpPr>
          <p:spPr>
            <a:xfrm flipH="false" flipV="false" rot="0">
              <a:off x="0" y="0"/>
              <a:ext cx="3791102" cy="443104"/>
            </a:xfrm>
            <a:custGeom>
              <a:avLst/>
              <a:gdLst/>
              <a:ahLst/>
              <a:cxnLst/>
              <a:rect r="r" b="b" t="t" l="l"/>
              <a:pathLst>
                <a:path h="443104" w="3791102">
                  <a:moveTo>
                    <a:pt x="0" y="0"/>
                  </a:moveTo>
                  <a:lnTo>
                    <a:pt x="3791102" y="0"/>
                  </a:lnTo>
                  <a:lnTo>
                    <a:pt x="3791102" y="443104"/>
                  </a:lnTo>
                  <a:lnTo>
                    <a:pt x="0" y="443104"/>
                  </a:lnTo>
                  <a:close/>
                </a:path>
              </a:pathLst>
            </a:custGeom>
            <a:blipFill>
              <a:blip r:embed="rId4">
                <a:alphaModFix amt="0"/>
              </a:blip>
              <a:stretch>
                <a:fillRect l="0" t="-123580" r="0" b="-109839"/>
              </a:stretch>
            </a:blipFill>
          </p:spPr>
          <p:txBody>
            <a:bodyPr/>
            <a:p/>
          </p:txBody>
        </p:sp>
        <p:sp>
          <p:nvSpPr>
            <p:cNvPr name="TextBox 88" id="88"/>
            <p:cNvSpPr txBox="true"/>
            <p:nvPr/>
          </p:nvSpPr>
          <p:spPr>
            <a:xfrm>
              <a:off x="0" y="-9525"/>
              <a:ext cx="3791102" cy="452628"/>
            </a:xfrm>
            <a:prstGeom prst="rect">
              <a:avLst/>
            </a:prstGeom>
          </p:spPr>
          <p:txBody>
            <a:bodyPr anchor="ctr" rtlCol="false" tIns="0" lIns="0" bIns="0" rIns="0"/>
            <a:lstStyle/>
            <a:p>
              <a:pPr algn="l">
                <a:lnSpc>
                  <a:spcPts val="1800"/>
                </a:lnSpc>
              </a:pPr>
              <a:r>
                <a:rPr lang="en-US" b="true" sz="1500" spc="78">
                  <a:solidFill>
                    <a:srgbClr val="FFFFFF"/>
                  </a:solidFill>
                  <a:latin typeface="Manrope Bold"/>
                  <a:ea typeface="Manrope Bold"/>
                  <a:cs typeface="Manrope Bold"/>
                  <a:sym typeface="Manrope Bold"/>
                </a:rPr>
                <a:t>La Vision</a:t>
              </a:r>
            </a:p>
          </p:txBody>
        </p:sp>
      </p:grpSp>
      <p:grpSp>
        <p:nvGrpSpPr>
          <p:cNvPr name="Group 89" id="89"/>
          <p:cNvGrpSpPr/>
          <p:nvPr/>
        </p:nvGrpSpPr>
        <p:grpSpPr>
          <a:xfrm rot="0">
            <a:off x="14344193" y="6563106"/>
            <a:ext cx="2839212" cy="1300276"/>
            <a:chOff x="0" y="0"/>
            <a:chExt cx="3785616" cy="1733702"/>
          </a:xfrm>
        </p:grpSpPr>
        <p:sp>
          <p:nvSpPr>
            <p:cNvPr name="Freeform 90" id="90"/>
            <p:cNvSpPr/>
            <p:nvPr/>
          </p:nvSpPr>
          <p:spPr>
            <a:xfrm flipH="false" flipV="false" rot="0">
              <a:off x="0" y="0"/>
              <a:ext cx="3785616" cy="1733702"/>
            </a:xfrm>
            <a:custGeom>
              <a:avLst/>
              <a:gdLst/>
              <a:ahLst/>
              <a:cxnLst/>
              <a:rect r="r" b="b" t="t" l="l"/>
              <a:pathLst>
                <a:path h="1733702" w="3785616">
                  <a:moveTo>
                    <a:pt x="0" y="0"/>
                  </a:moveTo>
                  <a:lnTo>
                    <a:pt x="3785616" y="0"/>
                  </a:lnTo>
                  <a:lnTo>
                    <a:pt x="3785616" y="1733702"/>
                  </a:lnTo>
                  <a:lnTo>
                    <a:pt x="0" y="1733702"/>
                  </a:lnTo>
                  <a:close/>
                </a:path>
              </a:pathLst>
            </a:custGeom>
            <a:blipFill>
              <a:blip r:embed="rId4">
                <a:alphaModFix amt="0"/>
              </a:blip>
              <a:stretch>
                <a:fillRect l="-8759" t="0" r="-8759" b="0"/>
              </a:stretch>
            </a:blipFill>
          </p:spPr>
          <p:txBody>
            <a:bodyPr/>
            <a:p/>
          </p:txBody>
        </p:sp>
        <p:sp>
          <p:nvSpPr>
            <p:cNvPr name="TextBox 91" id="91"/>
            <p:cNvSpPr txBox="true"/>
            <p:nvPr/>
          </p:nvSpPr>
          <p:spPr>
            <a:xfrm>
              <a:off x="0" y="-9525"/>
              <a:ext cx="3785616" cy="1743227"/>
            </a:xfrm>
            <a:prstGeom prst="rect">
              <a:avLst/>
            </a:prstGeom>
          </p:spPr>
          <p:txBody>
            <a:bodyPr anchor="ctr" rtlCol="false" tIns="0" lIns="0" bIns="0" rIns="0"/>
            <a:lstStyle/>
            <a:p>
              <a:pPr algn="l">
                <a:lnSpc>
                  <a:spcPts val="1800"/>
                </a:lnSpc>
              </a:pPr>
              <a:r>
                <a:rPr lang="en-US" sz="1500">
                  <a:solidFill>
                    <a:srgbClr val="D1D5DB"/>
                  </a:solidFill>
                  <a:latin typeface="Manrope"/>
                  <a:ea typeface="Manrope"/>
                  <a:cs typeface="Manrope"/>
                  <a:sym typeface="Manrope"/>
                </a:rPr>
                <a:t>Il faut changer de système. Passer de la réparation des dégâts à l'ingénierie de la résilience.</a:t>
              </a:r>
            </a:p>
          </p:txBody>
        </p:sp>
      </p:grpSp>
      <p:grpSp>
        <p:nvGrpSpPr>
          <p:cNvPr name="Group 92" id="92"/>
          <p:cNvGrpSpPr/>
          <p:nvPr/>
        </p:nvGrpSpPr>
        <p:grpSpPr>
          <a:xfrm rot="0">
            <a:off x="9443466" y="6202375"/>
            <a:ext cx="429311" cy="429311"/>
            <a:chOff x="0" y="0"/>
            <a:chExt cx="572414" cy="572414"/>
          </a:xfrm>
        </p:grpSpPr>
        <p:sp>
          <p:nvSpPr>
            <p:cNvPr name="Freeform 93" id="93" descr="preencoded.png"/>
            <p:cNvSpPr/>
            <p:nvPr/>
          </p:nvSpPr>
          <p:spPr>
            <a:xfrm flipH="false" flipV="false" rot="0">
              <a:off x="0" y="0"/>
              <a:ext cx="572389" cy="572389"/>
            </a:xfrm>
            <a:custGeom>
              <a:avLst/>
              <a:gdLst/>
              <a:ahLst/>
              <a:cxnLst/>
              <a:rect r="r" b="b" t="t" l="l"/>
              <a:pathLst>
                <a:path h="572389" w="572389">
                  <a:moveTo>
                    <a:pt x="0" y="0"/>
                  </a:moveTo>
                  <a:lnTo>
                    <a:pt x="572389" y="0"/>
                  </a:lnTo>
                  <a:lnTo>
                    <a:pt x="572389" y="572389"/>
                  </a:lnTo>
                  <a:lnTo>
                    <a:pt x="0" y="572389"/>
                  </a:lnTo>
                  <a:lnTo>
                    <a:pt x="0" y="0"/>
                  </a:lnTo>
                  <a:close/>
                </a:path>
              </a:pathLst>
            </a:custGeom>
            <a:blipFill>
              <a:blip r:embed="rId12"/>
              <a:stretch>
                <a:fillRect l="0" t="0" r="-4" b="-4"/>
              </a:stretch>
            </a:blipFill>
          </p:spPr>
          <p:txBody>
            <a:bodyPr/>
            <a:p/>
          </p:txBody>
        </p:sp>
      </p:grpSp>
      <p:grpSp>
        <p:nvGrpSpPr>
          <p:cNvPr name="Group 94" id="94"/>
          <p:cNvGrpSpPr/>
          <p:nvPr/>
        </p:nvGrpSpPr>
        <p:grpSpPr>
          <a:xfrm rot="0">
            <a:off x="13787323" y="6202375"/>
            <a:ext cx="329184" cy="429311"/>
            <a:chOff x="0" y="0"/>
            <a:chExt cx="438912" cy="572414"/>
          </a:xfrm>
        </p:grpSpPr>
        <p:sp>
          <p:nvSpPr>
            <p:cNvPr name="Freeform 95" id="95" descr="preencoded.png"/>
            <p:cNvSpPr/>
            <p:nvPr/>
          </p:nvSpPr>
          <p:spPr>
            <a:xfrm flipH="false" flipV="false" rot="0">
              <a:off x="0" y="0"/>
              <a:ext cx="438912" cy="572389"/>
            </a:xfrm>
            <a:custGeom>
              <a:avLst/>
              <a:gdLst/>
              <a:ahLst/>
              <a:cxnLst/>
              <a:rect r="r" b="b" t="t" l="l"/>
              <a:pathLst>
                <a:path h="572389" w="438912">
                  <a:moveTo>
                    <a:pt x="0" y="0"/>
                  </a:moveTo>
                  <a:lnTo>
                    <a:pt x="438912" y="0"/>
                  </a:lnTo>
                  <a:lnTo>
                    <a:pt x="438912" y="572389"/>
                  </a:lnTo>
                  <a:lnTo>
                    <a:pt x="0" y="572389"/>
                  </a:lnTo>
                  <a:lnTo>
                    <a:pt x="0" y="0"/>
                  </a:lnTo>
                  <a:close/>
                </a:path>
              </a:pathLst>
            </a:custGeom>
            <a:blipFill>
              <a:blip r:embed="rId13"/>
              <a:stretch>
                <a:fillRect l="1093" t="0" r="1093" b="-4"/>
              </a:stretch>
            </a:blipFill>
          </p:spPr>
          <p:txBody>
            <a:bodyPr/>
            <a:p/>
          </p:txBody>
        </p:sp>
      </p:grpSp>
      <p:grpSp>
        <p:nvGrpSpPr>
          <p:cNvPr name="Group 96" id="96"/>
          <p:cNvGrpSpPr/>
          <p:nvPr/>
        </p:nvGrpSpPr>
        <p:grpSpPr>
          <a:xfrm rot="0">
            <a:off x="9077325" y="1082269"/>
            <a:ext cx="8362493" cy="4276496"/>
            <a:chOff x="0" y="0"/>
            <a:chExt cx="11149990" cy="5701995"/>
          </a:xfrm>
        </p:grpSpPr>
        <p:sp>
          <p:nvSpPr>
            <p:cNvPr name="Freeform 97" id="97"/>
            <p:cNvSpPr/>
            <p:nvPr/>
          </p:nvSpPr>
          <p:spPr>
            <a:xfrm flipH="false" flipV="false" rot="0">
              <a:off x="12700" y="12700"/>
              <a:ext cx="11124565" cy="5676519"/>
            </a:xfrm>
            <a:custGeom>
              <a:avLst/>
              <a:gdLst/>
              <a:ahLst/>
              <a:cxnLst/>
              <a:rect r="r" b="b" t="t" l="l"/>
              <a:pathLst>
                <a:path h="5676519" w="11124565">
                  <a:moveTo>
                    <a:pt x="0" y="98171"/>
                  </a:moveTo>
                  <a:cubicBezTo>
                    <a:pt x="0" y="43942"/>
                    <a:pt x="44069" y="0"/>
                    <a:pt x="98425" y="0"/>
                  </a:cubicBezTo>
                  <a:lnTo>
                    <a:pt x="11026140" y="0"/>
                  </a:lnTo>
                  <a:cubicBezTo>
                    <a:pt x="11080497" y="0"/>
                    <a:pt x="11124565" y="43942"/>
                    <a:pt x="11124565" y="98171"/>
                  </a:cubicBezTo>
                  <a:lnTo>
                    <a:pt x="11124565" y="5578348"/>
                  </a:lnTo>
                  <a:cubicBezTo>
                    <a:pt x="11124565" y="5632577"/>
                    <a:pt x="11080497" y="5676519"/>
                    <a:pt x="11026140" y="5676519"/>
                  </a:cubicBezTo>
                  <a:lnTo>
                    <a:pt x="98425" y="5676519"/>
                  </a:lnTo>
                  <a:cubicBezTo>
                    <a:pt x="44069" y="5676519"/>
                    <a:pt x="0" y="5632577"/>
                    <a:pt x="0" y="5578348"/>
                  </a:cubicBezTo>
                  <a:close/>
                </a:path>
              </a:pathLst>
            </a:custGeom>
            <a:solidFill>
              <a:srgbClr val="FFFFFF">
                <a:alpha val="0"/>
              </a:srgbClr>
            </a:solidFill>
          </p:spPr>
          <p:txBody>
            <a:bodyPr/>
            <a:p/>
          </p:txBody>
        </p:sp>
        <p:sp>
          <p:nvSpPr>
            <p:cNvPr name="Freeform 98" id="98"/>
            <p:cNvSpPr/>
            <p:nvPr/>
          </p:nvSpPr>
          <p:spPr>
            <a:xfrm flipH="false" flipV="false" rot="0">
              <a:off x="0" y="0"/>
              <a:ext cx="11149965" cy="5701919"/>
            </a:xfrm>
            <a:custGeom>
              <a:avLst/>
              <a:gdLst/>
              <a:ahLst/>
              <a:cxnLst/>
              <a:rect r="r" b="b" t="t" l="l"/>
              <a:pathLst>
                <a:path h="5701919" w="11149965">
                  <a:moveTo>
                    <a:pt x="0" y="110871"/>
                  </a:moveTo>
                  <a:cubicBezTo>
                    <a:pt x="0" y="49657"/>
                    <a:pt x="49784" y="0"/>
                    <a:pt x="111125" y="0"/>
                  </a:cubicBezTo>
                  <a:lnTo>
                    <a:pt x="11038840" y="0"/>
                  </a:lnTo>
                  <a:lnTo>
                    <a:pt x="11038840" y="12700"/>
                  </a:lnTo>
                  <a:lnTo>
                    <a:pt x="11038840" y="0"/>
                  </a:lnTo>
                  <a:cubicBezTo>
                    <a:pt x="11100181" y="0"/>
                    <a:pt x="11149965" y="49657"/>
                    <a:pt x="11149965" y="110871"/>
                  </a:cubicBezTo>
                  <a:lnTo>
                    <a:pt x="11137265" y="110871"/>
                  </a:lnTo>
                  <a:lnTo>
                    <a:pt x="11149965" y="110871"/>
                  </a:lnTo>
                  <a:lnTo>
                    <a:pt x="11149965" y="5591048"/>
                  </a:lnTo>
                  <a:lnTo>
                    <a:pt x="11137265" y="5591048"/>
                  </a:lnTo>
                  <a:lnTo>
                    <a:pt x="11149965" y="5591048"/>
                  </a:lnTo>
                  <a:cubicBezTo>
                    <a:pt x="11149965" y="5652262"/>
                    <a:pt x="11100181" y="5701919"/>
                    <a:pt x="11038840" y="5701919"/>
                  </a:cubicBezTo>
                  <a:lnTo>
                    <a:pt x="11038840" y="5689219"/>
                  </a:lnTo>
                  <a:lnTo>
                    <a:pt x="11038840" y="5701919"/>
                  </a:lnTo>
                  <a:lnTo>
                    <a:pt x="111125" y="5701919"/>
                  </a:lnTo>
                  <a:lnTo>
                    <a:pt x="111125" y="5689219"/>
                  </a:lnTo>
                  <a:lnTo>
                    <a:pt x="111125" y="5701919"/>
                  </a:lnTo>
                  <a:cubicBezTo>
                    <a:pt x="49784" y="5701919"/>
                    <a:pt x="0" y="5652262"/>
                    <a:pt x="0" y="5591048"/>
                  </a:cubicBezTo>
                  <a:lnTo>
                    <a:pt x="0" y="110871"/>
                  </a:lnTo>
                  <a:lnTo>
                    <a:pt x="12700" y="110871"/>
                  </a:lnTo>
                  <a:lnTo>
                    <a:pt x="0" y="110871"/>
                  </a:lnTo>
                  <a:moveTo>
                    <a:pt x="25400" y="110871"/>
                  </a:moveTo>
                  <a:lnTo>
                    <a:pt x="25400" y="5591048"/>
                  </a:lnTo>
                  <a:lnTo>
                    <a:pt x="12700" y="5591048"/>
                  </a:lnTo>
                  <a:lnTo>
                    <a:pt x="25400" y="5591048"/>
                  </a:lnTo>
                  <a:cubicBezTo>
                    <a:pt x="25400" y="5638292"/>
                    <a:pt x="63754" y="5676519"/>
                    <a:pt x="111125" y="5676519"/>
                  </a:cubicBezTo>
                  <a:lnTo>
                    <a:pt x="11038840" y="5676519"/>
                  </a:lnTo>
                  <a:cubicBezTo>
                    <a:pt x="11086211" y="5676519"/>
                    <a:pt x="11124565" y="5638165"/>
                    <a:pt x="11124565" y="5591048"/>
                  </a:cubicBezTo>
                  <a:lnTo>
                    <a:pt x="11124565" y="110871"/>
                  </a:lnTo>
                  <a:cubicBezTo>
                    <a:pt x="11124565" y="63627"/>
                    <a:pt x="11086211" y="25400"/>
                    <a:pt x="11038840" y="25400"/>
                  </a:cubicBezTo>
                  <a:lnTo>
                    <a:pt x="111125" y="25400"/>
                  </a:lnTo>
                  <a:lnTo>
                    <a:pt x="111125" y="12700"/>
                  </a:lnTo>
                  <a:lnTo>
                    <a:pt x="111125" y="25400"/>
                  </a:lnTo>
                  <a:cubicBezTo>
                    <a:pt x="63754" y="25400"/>
                    <a:pt x="25400" y="63754"/>
                    <a:pt x="25400" y="110871"/>
                  </a:cubicBezTo>
                  <a:close/>
                </a:path>
              </a:pathLst>
            </a:custGeom>
            <a:solidFill>
              <a:srgbClr val="FFFFFF">
                <a:alpha val="784"/>
              </a:srgbClr>
            </a:solidFill>
          </p:spPr>
          <p:txBody>
            <a:bodyPr/>
            <a:p/>
          </p:txBody>
        </p:sp>
      </p:grpSp>
      <p:grpSp>
        <p:nvGrpSpPr>
          <p:cNvPr name="Group 99" id="99"/>
          <p:cNvGrpSpPr/>
          <p:nvPr/>
        </p:nvGrpSpPr>
        <p:grpSpPr>
          <a:xfrm rot="0">
            <a:off x="15359177" y="1334567"/>
            <a:ext cx="1828343" cy="1828343"/>
            <a:chOff x="0" y="0"/>
            <a:chExt cx="2437790" cy="2437790"/>
          </a:xfrm>
        </p:grpSpPr>
        <p:sp>
          <p:nvSpPr>
            <p:cNvPr name="Freeform 100" id="100" descr="preencoded.png"/>
            <p:cNvSpPr/>
            <p:nvPr/>
          </p:nvSpPr>
          <p:spPr>
            <a:xfrm flipH="false" flipV="false" rot="0">
              <a:off x="0" y="0"/>
              <a:ext cx="2437765" cy="2437765"/>
            </a:xfrm>
            <a:custGeom>
              <a:avLst/>
              <a:gdLst/>
              <a:ahLst/>
              <a:cxnLst/>
              <a:rect r="r" b="b" t="t" l="l"/>
              <a:pathLst>
                <a:path h="2437765" w="2437765">
                  <a:moveTo>
                    <a:pt x="0" y="0"/>
                  </a:moveTo>
                  <a:lnTo>
                    <a:pt x="2437765" y="0"/>
                  </a:lnTo>
                  <a:lnTo>
                    <a:pt x="2437765" y="2437765"/>
                  </a:lnTo>
                  <a:lnTo>
                    <a:pt x="0" y="2437765"/>
                  </a:lnTo>
                  <a:lnTo>
                    <a:pt x="0" y="0"/>
                  </a:lnTo>
                  <a:close/>
                </a:path>
              </a:pathLst>
            </a:custGeom>
            <a:blipFill>
              <a:blip r:embed="rId14">
                <a:alphaModFix amt="9999"/>
              </a:blip>
              <a:stretch>
                <a:fillRect l="0" t="0" r="-1" b="-1"/>
              </a:stretch>
            </a:blipFill>
          </p:spPr>
          <p:txBody>
            <a:bodyPr/>
            <a:p/>
          </p:txBody>
        </p:sp>
      </p:grpSp>
      <p:grpSp>
        <p:nvGrpSpPr>
          <p:cNvPr name="Group 101" id="101"/>
          <p:cNvGrpSpPr/>
          <p:nvPr/>
        </p:nvGrpSpPr>
        <p:grpSpPr>
          <a:xfrm rot="0">
            <a:off x="14766646" y="1677467"/>
            <a:ext cx="914857" cy="914857"/>
            <a:chOff x="0" y="0"/>
            <a:chExt cx="1219810" cy="1219810"/>
          </a:xfrm>
        </p:grpSpPr>
        <p:sp>
          <p:nvSpPr>
            <p:cNvPr name="Freeform 102" id="102" descr="preencoded.png"/>
            <p:cNvSpPr/>
            <p:nvPr/>
          </p:nvSpPr>
          <p:spPr>
            <a:xfrm flipH="false" flipV="false" rot="0">
              <a:off x="0" y="0"/>
              <a:ext cx="1219835" cy="1219835"/>
            </a:xfrm>
            <a:custGeom>
              <a:avLst/>
              <a:gdLst/>
              <a:ahLst/>
              <a:cxnLst/>
              <a:rect r="r" b="b" t="t" l="l"/>
              <a:pathLst>
                <a:path h="1219835" w="1219835">
                  <a:moveTo>
                    <a:pt x="0" y="0"/>
                  </a:moveTo>
                  <a:lnTo>
                    <a:pt x="1219835" y="0"/>
                  </a:lnTo>
                  <a:lnTo>
                    <a:pt x="1219835" y="1219835"/>
                  </a:lnTo>
                  <a:lnTo>
                    <a:pt x="0" y="1219835"/>
                  </a:lnTo>
                  <a:lnTo>
                    <a:pt x="0" y="0"/>
                  </a:lnTo>
                  <a:close/>
                </a:path>
              </a:pathLst>
            </a:custGeom>
            <a:blipFill>
              <a:blip r:embed="rId15"/>
              <a:stretch>
                <a:fillRect l="0" t="0" r="2" b="2"/>
              </a:stretch>
            </a:blipFill>
          </p:spPr>
          <p:txBody>
            <a:bodyPr/>
            <a:p/>
          </p:txBody>
        </p:sp>
      </p:grpSp>
      <p:grpSp>
        <p:nvGrpSpPr>
          <p:cNvPr name="Group 103" id="103"/>
          <p:cNvGrpSpPr/>
          <p:nvPr/>
        </p:nvGrpSpPr>
        <p:grpSpPr>
          <a:xfrm rot="0">
            <a:off x="15051938" y="1905152"/>
            <a:ext cx="342900" cy="456743"/>
            <a:chOff x="0" y="0"/>
            <a:chExt cx="457200" cy="608990"/>
          </a:xfrm>
        </p:grpSpPr>
        <p:sp>
          <p:nvSpPr>
            <p:cNvPr name="Freeform 104" id="104" descr="preencoded.png"/>
            <p:cNvSpPr/>
            <p:nvPr/>
          </p:nvSpPr>
          <p:spPr>
            <a:xfrm flipH="false" flipV="false" rot="0">
              <a:off x="0" y="0"/>
              <a:ext cx="457200" cy="608965"/>
            </a:xfrm>
            <a:custGeom>
              <a:avLst/>
              <a:gdLst/>
              <a:ahLst/>
              <a:cxnLst/>
              <a:rect r="r" b="b" t="t" l="l"/>
              <a:pathLst>
                <a:path h="608965" w="457200">
                  <a:moveTo>
                    <a:pt x="0" y="0"/>
                  </a:moveTo>
                  <a:lnTo>
                    <a:pt x="457200" y="0"/>
                  </a:lnTo>
                  <a:lnTo>
                    <a:pt x="457200" y="608965"/>
                  </a:lnTo>
                  <a:lnTo>
                    <a:pt x="0" y="608965"/>
                  </a:lnTo>
                  <a:lnTo>
                    <a:pt x="0" y="0"/>
                  </a:lnTo>
                  <a:close/>
                </a:path>
              </a:pathLst>
            </a:custGeom>
            <a:blipFill>
              <a:blip r:embed="rId16"/>
              <a:stretch>
                <a:fillRect l="0" t="12462" r="0" b="12458"/>
              </a:stretch>
            </a:blipFill>
          </p:spPr>
          <p:txBody>
            <a:bodyPr/>
            <a:p/>
          </p:txBody>
        </p:sp>
      </p:grpSp>
      <p:grpSp>
        <p:nvGrpSpPr>
          <p:cNvPr name="Group 105" id="105"/>
          <p:cNvGrpSpPr/>
          <p:nvPr/>
        </p:nvGrpSpPr>
        <p:grpSpPr>
          <a:xfrm rot="0">
            <a:off x="13536320" y="2820010"/>
            <a:ext cx="3374136" cy="498491"/>
            <a:chOff x="0" y="0"/>
            <a:chExt cx="4498848" cy="664654"/>
          </a:xfrm>
        </p:grpSpPr>
        <p:sp>
          <p:nvSpPr>
            <p:cNvPr name="Freeform 106" id="106"/>
            <p:cNvSpPr/>
            <p:nvPr/>
          </p:nvSpPr>
          <p:spPr>
            <a:xfrm flipH="false" flipV="false" rot="0">
              <a:off x="0" y="0"/>
              <a:ext cx="4498848" cy="664655"/>
            </a:xfrm>
            <a:custGeom>
              <a:avLst/>
              <a:gdLst/>
              <a:ahLst/>
              <a:cxnLst/>
              <a:rect r="r" b="b" t="t" l="l"/>
              <a:pathLst>
                <a:path h="664655" w="4498848">
                  <a:moveTo>
                    <a:pt x="0" y="0"/>
                  </a:moveTo>
                  <a:lnTo>
                    <a:pt x="4498848" y="0"/>
                  </a:lnTo>
                  <a:lnTo>
                    <a:pt x="4498848" y="664655"/>
                  </a:lnTo>
                  <a:lnTo>
                    <a:pt x="0" y="664655"/>
                  </a:lnTo>
                  <a:close/>
                </a:path>
              </a:pathLst>
            </a:custGeom>
            <a:blipFill>
              <a:blip r:embed="rId4">
                <a:alphaModFix amt="0"/>
              </a:blip>
              <a:stretch>
                <a:fillRect l="0" t="-91716" r="0" b="-72060"/>
              </a:stretch>
            </a:blipFill>
          </p:spPr>
          <p:txBody>
            <a:bodyPr/>
            <a:p/>
          </p:txBody>
        </p:sp>
        <p:sp>
          <p:nvSpPr>
            <p:cNvPr name="TextBox 107" id="107"/>
            <p:cNvSpPr txBox="true"/>
            <p:nvPr/>
          </p:nvSpPr>
          <p:spPr>
            <a:xfrm>
              <a:off x="0" y="-9525"/>
              <a:ext cx="4498848" cy="674179"/>
            </a:xfrm>
            <a:prstGeom prst="rect">
              <a:avLst/>
            </a:prstGeom>
          </p:spPr>
          <p:txBody>
            <a:bodyPr anchor="ctr" rtlCol="false" tIns="0" lIns="0" bIns="0" rIns="0"/>
            <a:lstStyle/>
            <a:p>
              <a:pPr algn="ctr">
                <a:lnSpc>
                  <a:spcPts val="2700"/>
                </a:lnSpc>
              </a:pPr>
              <a:r>
                <a:rPr lang="en-US" sz="2250" b="true">
                  <a:solidFill>
                    <a:srgbClr val="FFFFFF"/>
                  </a:solidFill>
                  <a:latin typeface="Manrope Bold"/>
                  <a:ea typeface="Manrope Bold"/>
                  <a:cs typeface="Manrope Bold"/>
                  <a:sym typeface="Manrope Bold"/>
                </a:rPr>
                <a:t>PRÉVENTION</a:t>
              </a:r>
            </a:p>
          </p:txBody>
        </p:sp>
      </p:grpSp>
      <p:grpSp>
        <p:nvGrpSpPr>
          <p:cNvPr name="Group 108" id="108"/>
          <p:cNvGrpSpPr/>
          <p:nvPr/>
        </p:nvGrpSpPr>
        <p:grpSpPr>
          <a:xfrm rot="0">
            <a:off x="13536320" y="3334360"/>
            <a:ext cx="3374136" cy="332327"/>
            <a:chOff x="0" y="0"/>
            <a:chExt cx="4498848" cy="443103"/>
          </a:xfrm>
        </p:grpSpPr>
        <p:sp>
          <p:nvSpPr>
            <p:cNvPr name="Freeform 109" id="109"/>
            <p:cNvSpPr/>
            <p:nvPr/>
          </p:nvSpPr>
          <p:spPr>
            <a:xfrm flipH="false" flipV="false" rot="0">
              <a:off x="0" y="0"/>
              <a:ext cx="4498848" cy="443104"/>
            </a:xfrm>
            <a:custGeom>
              <a:avLst/>
              <a:gdLst/>
              <a:ahLst/>
              <a:cxnLst/>
              <a:rect r="r" b="b" t="t" l="l"/>
              <a:pathLst>
                <a:path h="443104" w="4498848">
                  <a:moveTo>
                    <a:pt x="0" y="0"/>
                  </a:moveTo>
                  <a:lnTo>
                    <a:pt x="4498848" y="0"/>
                  </a:lnTo>
                  <a:lnTo>
                    <a:pt x="4498848" y="443104"/>
                  </a:lnTo>
                  <a:lnTo>
                    <a:pt x="0" y="443104"/>
                  </a:lnTo>
                  <a:close/>
                </a:path>
              </a:pathLst>
            </a:custGeom>
            <a:blipFill>
              <a:blip r:embed="rId4">
                <a:alphaModFix amt="0"/>
              </a:blip>
              <a:stretch>
                <a:fillRect l="0" t="-154702" r="0" b="-140962"/>
              </a:stretch>
            </a:blipFill>
          </p:spPr>
          <p:txBody>
            <a:bodyPr/>
            <a:p/>
          </p:txBody>
        </p:sp>
        <p:sp>
          <p:nvSpPr>
            <p:cNvPr name="TextBox 110" id="110"/>
            <p:cNvSpPr txBox="true"/>
            <p:nvPr/>
          </p:nvSpPr>
          <p:spPr>
            <a:xfrm>
              <a:off x="0" y="-9525"/>
              <a:ext cx="4498848" cy="452628"/>
            </a:xfrm>
            <a:prstGeom prst="rect">
              <a:avLst/>
            </a:prstGeom>
          </p:spPr>
          <p:txBody>
            <a:bodyPr anchor="ctr" rtlCol="false" tIns="0" lIns="0" bIns="0" rIns="0"/>
            <a:lstStyle/>
            <a:p>
              <a:pPr algn="ctr">
                <a:lnSpc>
                  <a:spcPts val="1800"/>
                </a:lnSpc>
              </a:pPr>
              <a:r>
                <a:rPr lang="en-US" sz="1500">
                  <a:solidFill>
                    <a:srgbClr val="D1D5DB"/>
                  </a:solidFill>
                  <a:latin typeface="Manrope"/>
                  <a:ea typeface="Manrope"/>
                  <a:cs typeface="Manrope"/>
                  <a:sym typeface="Manrope"/>
                </a:rPr>
                <a:t>Modèle Proactif</a:t>
              </a:r>
            </a:p>
          </p:txBody>
        </p:sp>
      </p:grpSp>
      <p:grpSp>
        <p:nvGrpSpPr>
          <p:cNvPr name="Group 111" id="111"/>
          <p:cNvGrpSpPr/>
          <p:nvPr/>
        </p:nvGrpSpPr>
        <p:grpSpPr>
          <a:xfrm rot="0">
            <a:off x="13592632" y="3839185"/>
            <a:ext cx="32766" cy="933907"/>
            <a:chOff x="0" y="0"/>
            <a:chExt cx="43688" cy="1245210"/>
          </a:xfrm>
        </p:grpSpPr>
        <p:sp>
          <p:nvSpPr>
            <p:cNvPr name="Freeform 112" id="112"/>
            <p:cNvSpPr/>
            <p:nvPr/>
          </p:nvSpPr>
          <p:spPr>
            <a:xfrm flipH="false" flipV="false" rot="0">
              <a:off x="12700" y="12700"/>
              <a:ext cx="18288" cy="1219835"/>
            </a:xfrm>
            <a:custGeom>
              <a:avLst/>
              <a:gdLst/>
              <a:ahLst/>
              <a:cxnLst/>
              <a:rect r="r" b="b" t="t" l="l"/>
              <a:pathLst>
                <a:path h="1219835" w="18288">
                  <a:moveTo>
                    <a:pt x="0" y="0"/>
                  </a:moveTo>
                  <a:lnTo>
                    <a:pt x="18288" y="0"/>
                  </a:lnTo>
                  <a:lnTo>
                    <a:pt x="18288" y="1219835"/>
                  </a:lnTo>
                  <a:lnTo>
                    <a:pt x="0" y="1219835"/>
                  </a:lnTo>
                  <a:close/>
                </a:path>
              </a:pathLst>
            </a:custGeom>
            <a:solidFill>
              <a:srgbClr val="FFFFFF"/>
            </a:solidFill>
          </p:spPr>
          <p:txBody>
            <a:bodyPr/>
            <a:p/>
          </p:txBody>
        </p:sp>
      </p:grpSp>
      <p:grpSp>
        <p:nvGrpSpPr>
          <p:cNvPr name="Group 113" id="113"/>
          <p:cNvGrpSpPr/>
          <p:nvPr/>
        </p:nvGrpSpPr>
        <p:grpSpPr>
          <a:xfrm rot="0">
            <a:off x="13844930" y="3848710"/>
            <a:ext cx="3120390" cy="293380"/>
            <a:chOff x="0" y="0"/>
            <a:chExt cx="4160520" cy="391173"/>
          </a:xfrm>
        </p:grpSpPr>
        <p:sp>
          <p:nvSpPr>
            <p:cNvPr name="Freeform 114" id="114"/>
            <p:cNvSpPr/>
            <p:nvPr/>
          </p:nvSpPr>
          <p:spPr>
            <a:xfrm flipH="false" flipV="false" rot="0">
              <a:off x="0" y="0"/>
              <a:ext cx="4160520" cy="391173"/>
            </a:xfrm>
            <a:custGeom>
              <a:avLst/>
              <a:gdLst/>
              <a:ahLst/>
              <a:cxnLst/>
              <a:rect r="r" b="b" t="t" l="l"/>
              <a:pathLst>
                <a:path h="391173" w="4160520">
                  <a:moveTo>
                    <a:pt x="0" y="0"/>
                  </a:moveTo>
                  <a:lnTo>
                    <a:pt x="4160520" y="0"/>
                  </a:lnTo>
                  <a:lnTo>
                    <a:pt x="4160520" y="391173"/>
                  </a:lnTo>
                  <a:lnTo>
                    <a:pt x="0" y="391173"/>
                  </a:lnTo>
                  <a:close/>
                </a:path>
              </a:pathLst>
            </a:custGeom>
            <a:blipFill>
              <a:blip r:embed="rId4">
                <a:alphaModFix amt="0"/>
              </a:blip>
              <a:stretch>
                <a:fillRect l="0" t="-168205" r="0" b="-146280"/>
              </a:stretch>
            </a:blipFill>
          </p:spPr>
          <p:txBody>
            <a:bodyPr/>
            <a:p/>
          </p:txBody>
        </p:sp>
        <p:sp>
          <p:nvSpPr>
            <p:cNvPr name="TextBox 115" id="115"/>
            <p:cNvSpPr txBox="true"/>
            <p:nvPr/>
          </p:nvSpPr>
          <p:spPr>
            <a:xfrm>
              <a:off x="0" y="0"/>
              <a:ext cx="4160520" cy="391173"/>
            </a:xfrm>
            <a:prstGeom prst="rect">
              <a:avLst/>
            </a:prstGeom>
          </p:spPr>
          <p:txBody>
            <a:bodyPr anchor="ctr" rtlCol="false" tIns="0" lIns="0" bIns="0" rIns="0"/>
            <a:lstStyle/>
            <a:p>
              <a:pPr algn="l">
                <a:lnSpc>
                  <a:spcPts val="1620"/>
                </a:lnSpc>
              </a:pPr>
              <a:r>
                <a:rPr lang="en-US" sz="1350">
                  <a:solidFill>
                    <a:srgbClr val="D1D5DB"/>
                  </a:solidFill>
                  <a:latin typeface="Manrope"/>
                  <a:ea typeface="Manrope"/>
                  <a:cs typeface="Manrope"/>
                  <a:sym typeface="Manrope"/>
                </a:rPr>
                <a:t>• Anticiper le déclin</a:t>
              </a:r>
            </a:p>
          </p:txBody>
        </p:sp>
      </p:grpSp>
      <p:grpSp>
        <p:nvGrpSpPr>
          <p:cNvPr name="Group 116" id="116"/>
          <p:cNvGrpSpPr/>
          <p:nvPr/>
        </p:nvGrpSpPr>
        <p:grpSpPr>
          <a:xfrm rot="0">
            <a:off x="13844930" y="4191610"/>
            <a:ext cx="3120390" cy="293380"/>
            <a:chOff x="0" y="0"/>
            <a:chExt cx="4160520" cy="391173"/>
          </a:xfrm>
        </p:grpSpPr>
        <p:sp>
          <p:nvSpPr>
            <p:cNvPr name="Freeform 117" id="117"/>
            <p:cNvSpPr/>
            <p:nvPr/>
          </p:nvSpPr>
          <p:spPr>
            <a:xfrm flipH="false" flipV="false" rot="0">
              <a:off x="0" y="0"/>
              <a:ext cx="4160520" cy="391173"/>
            </a:xfrm>
            <a:custGeom>
              <a:avLst/>
              <a:gdLst/>
              <a:ahLst/>
              <a:cxnLst/>
              <a:rect r="r" b="b" t="t" l="l"/>
              <a:pathLst>
                <a:path h="391173" w="4160520">
                  <a:moveTo>
                    <a:pt x="0" y="0"/>
                  </a:moveTo>
                  <a:lnTo>
                    <a:pt x="4160520" y="0"/>
                  </a:lnTo>
                  <a:lnTo>
                    <a:pt x="4160520" y="391173"/>
                  </a:lnTo>
                  <a:lnTo>
                    <a:pt x="0" y="391173"/>
                  </a:lnTo>
                  <a:close/>
                </a:path>
              </a:pathLst>
            </a:custGeom>
            <a:blipFill>
              <a:blip r:embed="rId4">
                <a:alphaModFix amt="0"/>
              </a:blip>
              <a:stretch>
                <a:fillRect l="0" t="-168205" r="0" b="-146280"/>
              </a:stretch>
            </a:blipFill>
          </p:spPr>
          <p:txBody>
            <a:bodyPr/>
            <a:p/>
          </p:txBody>
        </p:sp>
        <p:sp>
          <p:nvSpPr>
            <p:cNvPr name="TextBox 118" id="118"/>
            <p:cNvSpPr txBox="true"/>
            <p:nvPr/>
          </p:nvSpPr>
          <p:spPr>
            <a:xfrm>
              <a:off x="0" y="0"/>
              <a:ext cx="4160520" cy="391173"/>
            </a:xfrm>
            <a:prstGeom prst="rect">
              <a:avLst/>
            </a:prstGeom>
          </p:spPr>
          <p:txBody>
            <a:bodyPr anchor="ctr" rtlCol="false" tIns="0" lIns="0" bIns="0" rIns="0"/>
            <a:lstStyle/>
            <a:p>
              <a:pPr algn="l">
                <a:lnSpc>
                  <a:spcPts val="1620"/>
                </a:lnSpc>
              </a:pPr>
              <a:r>
                <a:rPr lang="en-US" sz="1350">
                  <a:solidFill>
                    <a:srgbClr val="D1D5DB"/>
                  </a:solidFill>
                  <a:latin typeface="Manrope"/>
                  <a:ea typeface="Manrope"/>
                  <a:cs typeface="Manrope"/>
                  <a:sym typeface="Manrope"/>
                </a:rPr>
                <a:t>• Optimiser la fonction</a:t>
              </a:r>
            </a:p>
          </p:txBody>
        </p:sp>
      </p:grpSp>
      <p:grpSp>
        <p:nvGrpSpPr>
          <p:cNvPr name="Group 119" id="119"/>
          <p:cNvGrpSpPr/>
          <p:nvPr/>
        </p:nvGrpSpPr>
        <p:grpSpPr>
          <a:xfrm rot="0">
            <a:off x="13844930" y="4534510"/>
            <a:ext cx="3120390" cy="293380"/>
            <a:chOff x="0" y="0"/>
            <a:chExt cx="4160520" cy="391173"/>
          </a:xfrm>
        </p:grpSpPr>
        <p:sp>
          <p:nvSpPr>
            <p:cNvPr name="Freeform 120" id="120"/>
            <p:cNvSpPr/>
            <p:nvPr/>
          </p:nvSpPr>
          <p:spPr>
            <a:xfrm flipH="false" flipV="false" rot="0">
              <a:off x="0" y="0"/>
              <a:ext cx="4160520" cy="391173"/>
            </a:xfrm>
            <a:custGeom>
              <a:avLst/>
              <a:gdLst/>
              <a:ahLst/>
              <a:cxnLst/>
              <a:rect r="r" b="b" t="t" l="l"/>
              <a:pathLst>
                <a:path h="391173" w="4160520">
                  <a:moveTo>
                    <a:pt x="0" y="0"/>
                  </a:moveTo>
                  <a:lnTo>
                    <a:pt x="4160520" y="0"/>
                  </a:lnTo>
                  <a:lnTo>
                    <a:pt x="4160520" y="391173"/>
                  </a:lnTo>
                  <a:lnTo>
                    <a:pt x="0" y="391173"/>
                  </a:lnTo>
                  <a:close/>
                </a:path>
              </a:pathLst>
            </a:custGeom>
            <a:blipFill>
              <a:blip r:embed="rId4">
                <a:alphaModFix amt="0"/>
              </a:blip>
              <a:stretch>
                <a:fillRect l="0" t="-168205" r="0" b="-146280"/>
              </a:stretch>
            </a:blipFill>
          </p:spPr>
          <p:txBody>
            <a:bodyPr/>
            <a:p/>
          </p:txBody>
        </p:sp>
        <p:sp>
          <p:nvSpPr>
            <p:cNvPr name="TextBox 121" id="121"/>
            <p:cNvSpPr txBox="true"/>
            <p:nvPr/>
          </p:nvSpPr>
          <p:spPr>
            <a:xfrm>
              <a:off x="0" y="0"/>
              <a:ext cx="4160520" cy="391173"/>
            </a:xfrm>
            <a:prstGeom prst="rect">
              <a:avLst/>
            </a:prstGeom>
          </p:spPr>
          <p:txBody>
            <a:bodyPr anchor="ctr" rtlCol="false" tIns="0" lIns="0" bIns="0" rIns="0"/>
            <a:lstStyle/>
            <a:p>
              <a:pPr algn="l">
                <a:lnSpc>
                  <a:spcPts val="1620"/>
                </a:lnSpc>
              </a:pPr>
              <a:r>
                <a:rPr lang="en-US" sz="1350">
                  <a:solidFill>
                    <a:srgbClr val="D1D5DB"/>
                  </a:solidFill>
                  <a:latin typeface="Manrope"/>
                  <a:ea typeface="Manrope"/>
                  <a:cs typeface="Manrope"/>
                  <a:sym typeface="Manrope"/>
                </a:rPr>
                <a:t>• Comprendre la santé</a:t>
              </a:r>
            </a:p>
          </p:txBody>
        </p:sp>
      </p:grpSp>
      <p:grpSp>
        <p:nvGrpSpPr>
          <p:cNvPr name="Group 122" id="122"/>
          <p:cNvGrpSpPr/>
          <p:nvPr/>
        </p:nvGrpSpPr>
        <p:grpSpPr>
          <a:xfrm rot="0">
            <a:off x="10827487" y="1667942"/>
            <a:ext cx="933907" cy="933907"/>
            <a:chOff x="0" y="0"/>
            <a:chExt cx="1245210" cy="1245210"/>
          </a:xfrm>
        </p:grpSpPr>
        <p:sp>
          <p:nvSpPr>
            <p:cNvPr name="Freeform 123" id="123"/>
            <p:cNvSpPr/>
            <p:nvPr/>
          </p:nvSpPr>
          <p:spPr>
            <a:xfrm flipH="false" flipV="false" rot="0">
              <a:off x="12700" y="12700"/>
              <a:ext cx="1219835" cy="1219835"/>
            </a:xfrm>
            <a:custGeom>
              <a:avLst/>
              <a:gdLst/>
              <a:ahLst/>
              <a:cxnLst/>
              <a:rect r="r" b="b" t="t" l="l"/>
              <a:pathLst>
                <a:path h="1219835" w="1219835">
                  <a:moveTo>
                    <a:pt x="0" y="609854"/>
                  </a:moveTo>
                  <a:cubicBezTo>
                    <a:pt x="0" y="273050"/>
                    <a:pt x="273050" y="0"/>
                    <a:pt x="609854" y="0"/>
                  </a:cubicBezTo>
                  <a:cubicBezTo>
                    <a:pt x="946658" y="0"/>
                    <a:pt x="1219835" y="273050"/>
                    <a:pt x="1219835" y="609854"/>
                  </a:cubicBezTo>
                  <a:cubicBezTo>
                    <a:pt x="1219835" y="946658"/>
                    <a:pt x="946785" y="1219835"/>
                    <a:pt x="609854" y="1219835"/>
                  </a:cubicBezTo>
                  <a:cubicBezTo>
                    <a:pt x="272923" y="1219835"/>
                    <a:pt x="0" y="946785"/>
                    <a:pt x="0" y="609854"/>
                  </a:cubicBezTo>
                  <a:close/>
                </a:path>
              </a:pathLst>
            </a:custGeom>
            <a:solidFill>
              <a:srgbClr val="1F2937">
                <a:alpha val="35686"/>
              </a:srgbClr>
            </a:solidFill>
          </p:spPr>
          <p:txBody>
            <a:bodyPr/>
            <a:p/>
          </p:txBody>
        </p:sp>
      </p:grpSp>
      <p:grpSp>
        <p:nvGrpSpPr>
          <p:cNvPr name="Group 124" id="124"/>
          <p:cNvGrpSpPr/>
          <p:nvPr/>
        </p:nvGrpSpPr>
        <p:grpSpPr>
          <a:xfrm rot="0">
            <a:off x="11101730" y="1905152"/>
            <a:ext cx="385420" cy="456743"/>
            <a:chOff x="0" y="0"/>
            <a:chExt cx="513893" cy="608990"/>
          </a:xfrm>
        </p:grpSpPr>
        <p:sp>
          <p:nvSpPr>
            <p:cNvPr name="Freeform 125" id="125" descr="preencoded.png"/>
            <p:cNvSpPr/>
            <p:nvPr/>
          </p:nvSpPr>
          <p:spPr>
            <a:xfrm flipH="false" flipV="false" rot="0">
              <a:off x="0" y="0"/>
              <a:ext cx="513842" cy="608965"/>
            </a:xfrm>
            <a:custGeom>
              <a:avLst/>
              <a:gdLst/>
              <a:ahLst/>
              <a:cxnLst/>
              <a:rect r="r" b="b" t="t" l="l"/>
              <a:pathLst>
                <a:path h="608965" w="513842">
                  <a:moveTo>
                    <a:pt x="0" y="0"/>
                  </a:moveTo>
                  <a:lnTo>
                    <a:pt x="513842" y="0"/>
                  </a:lnTo>
                  <a:lnTo>
                    <a:pt x="513842" y="608965"/>
                  </a:lnTo>
                  <a:lnTo>
                    <a:pt x="0" y="608965"/>
                  </a:lnTo>
                  <a:lnTo>
                    <a:pt x="0" y="0"/>
                  </a:lnTo>
                  <a:close/>
                </a:path>
              </a:pathLst>
            </a:custGeom>
            <a:blipFill>
              <a:blip r:embed="rId17">
                <a:alphaModFix amt="60000"/>
              </a:blip>
              <a:stretch>
                <a:fillRect l="0" t="12552" r="-9" b="12100"/>
              </a:stretch>
            </a:blipFill>
          </p:spPr>
          <p:txBody>
            <a:bodyPr/>
            <a:p/>
          </p:txBody>
        </p:sp>
      </p:grpSp>
      <p:grpSp>
        <p:nvGrpSpPr>
          <p:cNvPr name="Group 126" id="126"/>
          <p:cNvGrpSpPr/>
          <p:nvPr/>
        </p:nvGrpSpPr>
        <p:grpSpPr>
          <a:xfrm rot="0">
            <a:off x="9608058" y="2820010"/>
            <a:ext cx="3374136" cy="498491"/>
            <a:chOff x="0" y="0"/>
            <a:chExt cx="4498848" cy="664654"/>
          </a:xfrm>
        </p:grpSpPr>
        <p:sp>
          <p:nvSpPr>
            <p:cNvPr name="Freeform 127" id="127"/>
            <p:cNvSpPr/>
            <p:nvPr/>
          </p:nvSpPr>
          <p:spPr>
            <a:xfrm flipH="false" flipV="false" rot="0">
              <a:off x="0" y="0"/>
              <a:ext cx="4498848" cy="664655"/>
            </a:xfrm>
            <a:custGeom>
              <a:avLst/>
              <a:gdLst/>
              <a:ahLst/>
              <a:cxnLst/>
              <a:rect r="r" b="b" t="t" l="l"/>
              <a:pathLst>
                <a:path h="664655" w="4498848">
                  <a:moveTo>
                    <a:pt x="0" y="0"/>
                  </a:moveTo>
                  <a:lnTo>
                    <a:pt x="4498848" y="0"/>
                  </a:lnTo>
                  <a:lnTo>
                    <a:pt x="4498848" y="664655"/>
                  </a:lnTo>
                  <a:lnTo>
                    <a:pt x="0" y="664655"/>
                  </a:lnTo>
                  <a:close/>
                </a:path>
              </a:pathLst>
            </a:custGeom>
            <a:blipFill>
              <a:blip r:embed="rId4">
                <a:alphaModFix amt="0"/>
              </a:blip>
              <a:stretch>
                <a:fillRect l="0" t="-91716" r="0" b="-72060"/>
              </a:stretch>
            </a:blipFill>
          </p:spPr>
          <p:txBody>
            <a:bodyPr/>
            <a:p/>
          </p:txBody>
        </p:sp>
        <p:sp>
          <p:nvSpPr>
            <p:cNvPr name="TextBox 128" id="128"/>
            <p:cNvSpPr txBox="true"/>
            <p:nvPr/>
          </p:nvSpPr>
          <p:spPr>
            <a:xfrm>
              <a:off x="0" y="-9525"/>
              <a:ext cx="4498848" cy="674179"/>
            </a:xfrm>
            <a:prstGeom prst="rect">
              <a:avLst/>
            </a:prstGeom>
          </p:spPr>
          <p:txBody>
            <a:bodyPr anchor="ctr" rtlCol="false" tIns="0" lIns="0" bIns="0" rIns="0"/>
            <a:lstStyle/>
            <a:p>
              <a:pPr algn="ctr">
                <a:lnSpc>
                  <a:spcPts val="2700"/>
                </a:lnSpc>
              </a:pPr>
              <a:r>
                <a:rPr lang="en-US" sz="2250" b="true">
                  <a:solidFill>
                    <a:srgbClr val="D1D5DB"/>
                  </a:solidFill>
                  <a:latin typeface="Manrope Bold"/>
                  <a:ea typeface="Manrope Bold"/>
                  <a:cs typeface="Manrope Bold"/>
                  <a:sym typeface="Manrope Bold"/>
                </a:rPr>
                <a:t>SICK CARE</a:t>
              </a:r>
            </a:p>
          </p:txBody>
        </p:sp>
      </p:grpSp>
      <p:grpSp>
        <p:nvGrpSpPr>
          <p:cNvPr name="Group 129" id="129"/>
          <p:cNvGrpSpPr/>
          <p:nvPr/>
        </p:nvGrpSpPr>
        <p:grpSpPr>
          <a:xfrm rot="0">
            <a:off x="9608058" y="3334360"/>
            <a:ext cx="3374136" cy="332327"/>
            <a:chOff x="0" y="0"/>
            <a:chExt cx="4498848" cy="443103"/>
          </a:xfrm>
        </p:grpSpPr>
        <p:sp>
          <p:nvSpPr>
            <p:cNvPr name="Freeform 130" id="130"/>
            <p:cNvSpPr/>
            <p:nvPr/>
          </p:nvSpPr>
          <p:spPr>
            <a:xfrm flipH="false" flipV="false" rot="0">
              <a:off x="0" y="0"/>
              <a:ext cx="4498848" cy="443104"/>
            </a:xfrm>
            <a:custGeom>
              <a:avLst/>
              <a:gdLst/>
              <a:ahLst/>
              <a:cxnLst/>
              <a:rect r="r" b="b" t="t" l="l"/>
              <a:pathLst>
                <a:path h="443104" w="4498848">
                  <a:moveTo>
                    <a:pt x="0" y="0"/>
                  </a:moveTo>
                  <a:lnTo>
                    <a:pt x="4498848" y="0"/>
                  </a:lnTo>
                  <a:lnTo>
                    <a:pt x="4498848" y="443104"/>
                  </a:lnTo>
                  <a:lnTo>
                    <a:pt x="0" y="443104"/>
                  </a:lnTo>
                  <a:close/>
                </a:path>
              </a:pathLst>
            </a:custGeom>
            <a:blipFill>
              <a:blip r:embed="rId4">
                <a:alphaModFix amt="0"/>
              </a:blip>
              <a:stretch>
                <a:fillRect l="0" t="-154702" r="0" b="-140962"/>
              </a:stretch>
            </a:blipFill>
          </p:spPr>
          <p:txBody>
            <a:bodyPr/>
            <a:p/>
          </p:txBody>
        </p:sp>
        <p:sp>
          <p:nvSpPr>
            <p:cNvPr name="TextBox 131" id="131"/>
            <p:cNvSpPr txBox="true"/>
            <p:nvPr/>
          </p:nvSpPr>
          <p:spPr>
            <a:xfrm>
              <a:off x="0" y="-9525"/>
              <a:ext cx="4498848" cy="452628"/>
            </a:xfrm>
            <a:prstGeom prst="rect">
              <a:avLst/>
            </a:prstGeom>
          </p:spPr>
          <p:txBody>
            <a:bodyPr anchor="ctr" rtlCol="false" tIns="0" lIns="0" bIns="0" rIns="0"/>
            <a:lstStyle/>
            <a:p>
              <a:pPr algn="ctr">
                <a:lnSpc>
                  <a:spcPts val="1800"/>
                </a:lnSpc>
              </a:pPr>
              <a:r>
                <a:rPr lang="en-US" sz="1500">
                  <a:solidFill>
                    <a:srgbClr val="6B7280"/>
                  </a:solidFill>
                  <a:latin typeface="Manrope"/>
                  <a:ea typeface="Manrope"/>
                  <a:cs typeface="Manrope"/>
                  <a:sym typeface="Manrope"/>
                </a:rPr>
                <a:t>Modèle Réactif</a:t>
              </a:r>
            </a:p>
          </p:txBody>
        </p:sp>
      </p:grpSp>
      <p:grpSp>
        <p:nvGrpSpPr>
          <p:cNvPr name="Group 132" id="132"/>
          <p:cNvGrpSpPr/>
          <p:nvPr/>
        </p:nvGrpSpPr>
        <p:grpSpPr>
          <a:xfrm rot="0">
            <a:off x="9662998" y="3839185"/>
            <a:ext cx="32766" cy="933907"/>
            <a:chOff x="0" y="0"/>
            <a:chExt cx="43688" cy="1245210"/>
          </a:xfrm>
        </p:grpSpPr>
        <p:sp>
          <p:nvSpPr>
            <p:cNvPr name="Freeform 133" id="133"/>
            <p:cNvSpPr/>
            <p:nvPr/>
          </p:nvSpPr>
          <p:spPr>
            <a:xfrm flipH="false" flipV="false" rot="0">
              <a:off x="12700" y="12700"/>
              <a:ext cx="18288" cy="1219835"/>
            </a:xfrm>
            <a:custGeom>
              <a:avLst/>
              <a:gdLst/>
              <a:ahLst/>
              <a:cxnLst/>
              <a:rect r="r" b="b" t="t" l="l"/>
              <a:pathLst>
                <a:path h="1219835" w="18288">
                  <a:moveTo>
                    <a:pt x="0" y="0"/>
                  </a:moveTo>
                  <a:lnTo>
                    <a:pt x="18288" y="0"/>
                  </a:lnTo>
                  <a:lnTo>
                    <a:pt x="18288" y="1219835"/>
                  </a:lnTo>
                  <a:lnTo>
                    <a:pt x="0" y="1219835"/>
                  </a:lnTo>
                  <a:close/>
                </a:path>
              </a:pathLst>
            </a:custGeom>
            <a:solidFill>
              <a:srgbClr val="374151"/>
            </a:solidFill>
          </p:spPr>
          <p:txBody>
            <a:bodyPr/>
            <a:p/>
          </p:txBody>
        </p:sp>
      </p:grpSp>
      <p:grpSp>
        <p:nvGrpSpPr>
          <p:cNvPr name="Group 134" id="134"/>
          <p:cNvGrpSpPr/>
          <p:nvPr/>
        </p:nvGrpSpPr>
        <p:grpSpPr>
          <a:xfrm rot="0">
            <a:off x="9915296" y="3848710"/>
            <a:ext cx="3120390" cy="293380"/>
            <a:chOff x="0" y="0"/>
            <a:chExt cx="4160520" cy="391173"/>
          </a:xfrm>
        </p:grpSpPr>
        <p:sp>
          <p:nvSpPr>
            <p:cNvPr name="Freeform 135" id="135"/>
            <p:cNvSpPr/>
            <p:nvPr/>
          </p:nvSpPr>
          <p:spPr>
            <a:xfrm flipH="false" flipV="false" rot="0">
              <a:off x="0" y="0"/>
              <a:ext cx="4160520" cy="391173"/>
            </a:xfrm>
            <a:custGeom>
              <a:avLst/>
              <a:gdLst/>
              <a:ahLst/>
              <a:cxnLst/>
              <a:rect r="r" b="b" t="t" l="l"/>
              <a:pathLst>
                <a:path h="391173" w="4160520">
                  <a:moveTo>
                    <a:pt x="0" y="0"/>
                  </a:moveTo>
                  <a:lnTo>
                    <a:pt x="4160520" y="0"/>
                  </a:lnTo>
                  <a:lnTo>
                    <a:pt x="4160520" y="391173"/>
                  </a:lnTo>
                  <a:lnTo>
                    <a:pt x="0" y="391173"/>
                  </a:lnTo>
                  <a:close/>
                </a:path>
              </a:pathLst>
            </a:custGeom>
            <a:blipFill>
              <a:blip r:embed="rId4">
                <a:alphaModFix amt="0"/>
              </a:blip>
              <a:stretch>
                <a:fillRect l="0" t="-168205" r="0" b="-146280"/>
              </a:stretch>
            </a:blipFill>
          </p:spPr>
          <p:txBody>
            <a:bodyPr/>
            <a:p/>
          </p:txBody>
        </p:sp>
        <p:sp>
          <p:nvSpPr>
            <p:cNvPr name="TextBox 136" id="136"/>
            <p:cNvSpPr txBox="true"/>
            <p:nvPr/>
          </p:nvSpPr>
          <p:spPr>
            <a:xfrm>
              <a:off x="0" y="0"/>
              <a:ext cx="4160520" cy="391173"/>
            </a:xfrm>
            <a:prstGeom prst="rect">
              <a:avLst/>
            </a:prstGeom>
          </p:spPr>
          <p:txBody>
            <a:bodyPr anchor="ctr" rtlCol="false" tIns="0" lIns="0" bIns="0" rIns="0"/>
            <a:lstStyle/>
            <a:p>
              <a:pPr algn="l">
                <a:lnSpc>
                  <a:spcPts val="1620"/>
                </a:lnSpc>
              </a:pPr>
              <a:r>
                <a:rPr lang="en-US" sz="1350">
                  <a:solidFill>
                    <a:srgbClr val="6B7280"/>
                  </a:solidFill>
                  <a:latin typeface="Manrope"/>
                  <a:ea typeface="Manrope"/>
                  <a:cs typeface="Manrope"/>
                  <a:sym typeface="Manrope"/>
                </a:rPr>
                <a:t>• Attendre la maladie</a:t>
              </a:r>
            </a:p>
          </p:txBody>
        </p:sp>
      </p:grpSp>
      <p:grpSp>
        <p:nvGrpSpPr>
          <p:cNvPr name="Group 137" id="137"/>
          <p:cNvGrpSpPr/>
          <p:nvPr/>
        </p:nvGrpSpPr>
        <p:grpSpPr>
          <a:xfrm rot="0">
            <a:off x="9915296" y="4191610"/>
            <a:ext cx="3120390" cy="293380"/>
            <a:chOff x="0" y="0"/>
            <a:chExt cx="4160520" cy="391173"/>
          </a:xfrm>
        </p:grpSpPr>
        <p:sp>
          <p:nvSpPr>
            <p:cNvPr name="Freeform 138" id="138"/>
            <p:cNvSpPr/>
            <p:nvPr/>
          </p:nvSpPr>
          <p:spPr>
            <a:xfrm flipH="false" flipV="false" rot="0">
              <a:off x="0" y="0"/>
              <a:ext cx="4160520" cy="391173"/>
            </a:xfrm>
            <a:custGeom>
              <a:avLst/>
              <a:gdLst/>
              <a:ahLst/>
              <a:cxnLst/>
              <a:rect r="r" b="b" t="t" l="l"/>
              <a:pathLst>
                <a:path h="391173" w="4160520">
                  <a:moveTo>
                    <a:pt x="0" y="0"/>
                  </a:moveTo>
                  <a:lnTo>
                    <a:pt x="4160520" y="0"/>
                  </a:lnTo>
                  <a:lnTo>
                    <a:pt x="4160520" y="391173"/>
                  </a:lnTo>
                  <a:lnTo>
                    <a:pt x="0" y="391173"/>
                  </a:lnTo>
                  <a:close/>
                </a:path>
              </a:pathLst>
            </a:custGeom>
            <a:blipFill>
              <a:blip r:embed="rId4">
                <a:alphaModFix amt="0"/>
              </a:blip>
              <a:stretch>
                <a:fillRect l="0" t="-168205" r="0" b="-146280"/>
              </a:stretch>
            </a:blipFill>
          </p:spPr>
          <p:txBody>
            <a:bodyPr/>
            <a:p/>
          </p:txBody>
        </p:sp>
        <p:sp>
          <p:nvSpPr>
            <p:cNvPr name="TextBox 139" id="139"/>
            <p:cNvSpPr txBox="true"/>
            <p:nvPr/>
          </p:nvSpPr>
          <p:spPr>
            <a:xfrm>
              <a:off x="0" y="0"/>
              <a:ext cx="4160520" cy="391173"/>
            </a:xfrm>
            <a:prstGeom prst="rect">
              <a:avLst/>
            </a:prstGeom>
          </p:spPr>
          <p:txBody>
            <a:bodyPr anchor="ctr" rtlCol="false" tIns="0" lIns="0" bIns="0" rIns="0"/>
            <a:lstStyle/>
            <a:p>
              <a:pPr algn="l">
                <a:lnSpc>
                  <a:spcPts val="1620"/>
                </a:lnSpc>
              </a:pPr>
              <a:r>
                <a:rPr lang="en-US" sz="1350">
                  <a:solidFill>
                    <a:srgbClr val="6B7280"/>
                  </a:solidFill>
                  <a:latin typeface="Manrope"/>
                  <a:ea typeface="Manrope"/>
                  <a:cs typeface="Manrope"/>
                  <a:sym typeface="Manrope"/>
                </a:rPr>
                <a:t>• Traiter les symptômes</a:t>
              </a:r>
            </a:p>
          </p:txBody>
        </p:sp>
      </p:grpSp>
      <p:grpSp>
        <p:nvGrpSpPr>
          <p:cNvPr name="Group 140" id="140"/>
          <p:cNvGrpSpPr/>
          <p:nvPr/>
        </p:nvGrpSpPr>
        <p:grpSpPr>
          <a:xfrm rot="0">
            <a:off x="9915296" y="4534510"/>
            <a:ext cx="3120390" cy="293380"/>
            <a:chOff x="0" y="0"/>
            <a:chExt cx="4160520" cy="391173"/>
          </a:xfrm>
        </p:grpSpPr>
        <p:sp>
          <p:nvSpPr>
            <p:cNvPr name="Freeform 141" id="141"/>
            <p:cNvSpPr/>
            <p:nvPr/>
          </p:nvSpPr>
          <p:spPr>
            <a:xfrm flipH="false" flipV="false" rot="0">
              <a:off x="0" y="0"/>
              <a:ext cx="4160520" cy="391173"/>
            </a:xfrm>
            <a:custGeom>
              <a:avLst/>
              <a:gdLst/>
              <a:ahLst/>
              <a:cxnLst/>
              <a:rect r="r" b="b" t="t" l="l"/>
              <a:pathLst>
                <a:path h="391173" w="4160520">
                  <a:moveTo>
                    <a:pt x="0" y="0"/>
                  </a:moveTo>
                  <a:lnTo>
                    <a:pt x="4160520" y="0"/>
                  </a:lnTo>
                  <a:lnTo>
                    <a:pt x="4160520" y="391173"/>
                  </a:lnTo>
                  <a:lnTo>
                    <a:pt x="0" y="391173"/>
                  </a:lnTo>
                  <a:close/>
                </a:path>
              </a:pathLst>
            </a:custGeom>
            <a:blipFill>
              <a:blip r:embed="rId4">
                <a:alphaModFix amt="0"/>
              </a:blip>
              <a:stretch>
                <a:fillRect l="0" t="-168205" r="0" b="-146280"/>
              </a:stretch>
            </a:blipFill>
          </p:spPr>
          <p:txBody>
            <a:bodyPr/>
            <a:p/>
          </p:txBody>
        </p:sp>
        <p:sp>
          <p:nvSpPr>
            <p:cNvPr name="TextBox 142" id="142"/>
            <p:cNvSpPr txBox="true"/>
            <p:nvPr/>
          </p:nvSpPr>
          <p:spPr>
            <a:xfrm>
              <a:off x="0" y="0"/>
              <a:ext cx="4160520" cy="391173"/>
            </a:xfrm>
            <a:prstGeom prst="rect">
              <a:avLst/>
            </a:prstGeom>
          </p:spPr>
          <p:txBody>
            <a:bodyPr anchor="ctr" rtlCol="false" tIns="0" lIns="0" bIns="0" rIns="0"/>
            <a:lstStyle/>
            <a:p>
              <a:pPr algn="l">
                <a:lnSpc>
                  <a:spcPts val="1620"/>
                </a:lnSpc>
              </a:pPr>
              <a:r>
                <a:rPr lang="en-US" sz="1350">
                  <a:solidFill>
                    <a:srgbClr val="6B7280"/>
                  </a:solidFill>
                  <a:latin typeface="Manrope"/>
                  <a:ea typeface="Manrope"/>
                  <a:cs typeface="Manrope"/>
                  <a:sym typeface="Manrope"/>
                </a:rPr>
                <a:t>• Gestion de la douleur</a:t>
              </a:r>
            </a:p>
          </p:txBody>
        </p:sp>
      </p:grpSp>
      <p:grpSp>
        <p:nvGrpSpPr>
          <p:cNvPr name="Group 143" id="143"/>
          <p:cNvGrpSpPr/>
          <p:nvPr/>
        </p:nvGrpSpPr>
        <p:grpSpPr>
          <a:xfrm rot="0">
            <a:off x="13251028" y="2191817"/>
            <a:ext cx="13716" cy="685800"/>
            <a:chOff x="0" y="0"/>
            <a:chExt cx="18288" cy="914400"/>
          </a:xfrm>
        </p:grpSpPr>
        <p:sp>
          <p:nvSpPr>
            <p:cNvPr name="Freeform 144" id="144" descr="preencoded.png"/>
            <p:cNvSpPr/>
            <p:nvPr/>
          </p:nvSpPr>
          <p:spPr>
            <a:xfrm flipH="false" flipV="false" rot="0">
              <a:off x="0" y="0"/>
              <a:ext cx="18288" cy="914400"/>
            </a:xfrm>
            <a:custGeom>
              <a:avLst/>
              <a:gdLst/>
              <a:ahLst/>
              <a:cxnLst/>
              <a:rect r="r" b="b" t="t" l="l"/>
              <a:pathLst>
                <a:path h="914400" w="18288">
                  <a:moveTo>
                    <a:pt x="0" y="0"/>
                  </a:moveTo>
                  <a:lnTo>
                    <a:pt x="18288" y="0"/>
                  </a:lnTo>
                  <a:lnTo>
                    <a:pt x="18288" y="914400"/>
                  </a:lnTo>
                  <a:lnTo>
                    <a:pt x="0" y="914400"/>
                  </a:lnTo>
                  <a:lnTo>
                    <a:pt x="0" y="0"/>
                  </a:lnTo>
                  <a:close/>
                </a:path>
              </a:pathLst>
            </a:custGeom>
            <a:blipFill>
              <a:blip r:embed="rId18"/>
              <a:stretch>
                <a:fillRect l="0" t="2000" r="0" b="1999"/>
              </a:stretch>
            </a:blipFill>
          </p:spPr>
          <p:txBody>
            <a:bodyPr/>
            <a:p/>
          </p:txBody>
        </p:sp>
      </p:grpSp>
      <p:grpSp>
        <p:nvGrpSpPr>
          <p:cNvPr name="Group 145" id="145"/>
          <p:cNvGrpSpPr/>
          <p:nvPr/>
        </p:nvGrpSpPr>
        <p:grpSpPr>
          <a:xfrm rot="0">
            <a:off x="13020675" y="2981935"/>
            <a:ext cx="475793" cy="475793"/>
            <a:chOff x="0" y="0"/>
            <a:chExt cx="634390" cy="634390"/>
          </a:xfrm>
        </p:grpSpPr>
        <p:sp>
          <p:nvSpPr>
            <p:cNvPr name="Freeform 146" id="146"/>
            <p:cNvSpPr/>
            <p:nvPr/>
          </p:nvSpPr>
          <p:spPr>
            <a:xfrm flipH="false" flipV="false" rot="0">
              <a:off x="12700" y="12700"/>
              <a:ext cx="608965" cy="608965"/>
            </a:xfrm>
            <a:custGeom>
              <a:avLst/>
              <a:gdLst/>
              <a:ahLst/>
              <a:cxnLst/>
              <a:rect r="r" b="b" t="t" l="l"/>
              <a:pathLst>
                <a:path h="608965" w="608965">
                  <a:moveTo>
                    <a:pt x="0" y="304546"/>
                  </a:moveTo>
                  <a:cubicBezTo>
                    <a:pt x="0" y="136271"/>
                    <a:pt x="136271" y="0"/>
                    <a:pt x="304546" y="0"/>
                  </a:cubicBezTo>
                  <a:cubicBezTo>
                    <a:pt x="472821" y="0"/>
                    <a:pt x="608965" y="136271"/>
                    <a:pt x="608965" y="304546"/>
                  </a:cubicBezTo>
                  <a:cubicBezTo>
                    <a:pt x="608965" y="472821"/>
                    <a:pt x="472694" y="608965"/>
                    <a:pt x="304546" y="608965"/>
                  </a:cubicBezTo>
                  <a:cubicBezTo>
                    <a:pt x="136398" y="608965"/>
                    <a:pt x="0" y="472694"/>
                    <a:pt x="0" y="304546"/>
                  </a:cubicBezTo>
                  <a:close/>
                </a:path>
              </a:pathLst>
            </a:custGeom>
            <a:solidFill>
              <a:srgbClr val="000000"/>
            </a:solidFill>
          </p:spPr>
          <p:txBody>
            <a:bodyPr/>
            <a:p/>
          </p:txBody>
        </p:sp>
        <p:sp>
          <p:nvSpPr>
            <p:cNvPr name="Freeform 147" id="147"/>
            <p:cNvSpPr/>
            <p:nvPr/>
          </p:nvSpPr>
          <p:spPr>
            <a:xfrm flipH="false" flipV="false" rot="0">
              <a:off x="0" y="0"/>
              <a:ext cx="634365" cy="634492"/>
            </a:xfrm>
            <a:custGeom>
              <a:avLst/>
              <a:gdLst/>
              <a:ahLst/>
              <a:cxnLst/>
              <a:rect r="r" b="b" t="t" l="l"/>
              <a:pathLst>
                <a:path h="634492" w="634365">
                  <a:moveTo>
                    <a:pt x="0" y="317246"/>
                  </a:moveTo>
                  <a:cubicBezTo>
                    <a:pt x="0" y="141986"/>
                    <a:pt x="141986" y="0"/>
                    <a:pt x="317246" y="0"/>
                  </a:cubicBezTo>
                  <a:lnTo>
                    <a:pt x="317246" y="12700"/>
                  </a:lnTo>
                  <a:lnTo>
                    <a:pt x="317246" y="0"/>
                  </a:lnTo>
                  <a:cubicBezTo>
                    <a:pt x="492379" y="0"/>
                    <a:pt x="634365" y="141986"/>
                    <a:pt x="634365" y="317246"/>
                  </a:cubicBezTo>
                  <a:lnTo>
                    <a:pt x="621665" y="317246"/>
                  </a:lnTo>
                  <a:lnTo>
                    <a:pt x="634365" y="317246"/>
                  </a:lnTo>
                  <a:cubicBezTo>
                    <a:pt x="634365" y="492379"/>
                    <a:pt x="492379" y="634492"/>
                    <a:pt x="317119" y="634492"/>
                  </a:cubicBezTo>
                  <a:lnTo>
                    <a:pt x="317119" y="621792"/>
                  </a:lnTo>
                  <a:lnTo>
                    <a:pt x="317119" y="634492"/>
                  </a:lnTo>
                  <a:cubicBezTo>
                    <a:pt x="141986" y="634365"/>
                    <a:pt x="0" y="492379"/>
                    <a:pt x="0" y="317246"/>
                  </a:cubicBezTo>
                  <a:lnTo>
                    <a:pt x="12700" y="317246"/>
                  </a:lnTo>
                  <a:lnTo>
                    <a:pt x="25400" y="317246"/>
                  </a:lnTo>
                  <a:lnTo>
                    <a:pt x="12700" y="317246"/>
                  </a:lnTo>
                  <a:lnTo>
                    <a:pt x="0" y="317246"/>
                  </a:lnTo>
                  <a:moveTo>
                    <a:pt x="25400" y="317246"/>
                  </a:moveTo>
                  <a:cubicBezTo>
                    <a:pt x="25400" y="324231"/>
                    <a:pt x="19685" y="329946"/>
                    <a:pt x="12700" y="329946"/>
                  </a:cubicBezTo>
                  <a:cubicBezTo>
                    <a:pt x="5715" y="329946"/>
                    <a:pt x="0" y="324231"/>
                    <a:pt x="0" y="317246"/>
                  </a:cubicBezTo>
                  <a:cubicBezTo>
                    <a:pt x="0" y="310261"/>
                    <a:pt x="5715" y="304546"/>
                    <a:pt x="12700" y="304546"/>
                  </a:cubicBezTo>
                  <a:cubicBezTo>
                    <a:pt x="19685" y="304546"/>
                    <a:pt x="25400" y="310261"/>
                    <a:pt x="25400" y="317246"/>
                  </a:cubicBezTo>
                  <a:cubicBezTo>
                    <a:pt x="25400" y="478409"/>
                    <a:pt x="156083" y="608965"/>
                    <a:pt x="317246" y="608965"/>
                  </a:cubicBezTo>
                  <a:cubicBezTo>
                    <a:pt x="478409" y="608965"/>
                    <a:pt x="608965" y="478409"/>
                    <a:pt x="608965" y="317246"/>
                  </a:cubicBezTo>
                  <a:cubicBezTo>
                    <a:pt x="608965" y="156083"/>
                    <a:pt x="478409" y="25400"/>
                    <a:pt x="317246" y="25400"/>
                  </a:cubicBezTo>
                  <a:lnTo>
                    <a:pt x="317246" y="12700"/>
                  </a:lnTo>
                  <a:lnTo>
                    <a:pt x="317246" y="25400"/>
                  </a:lnTo>
                  <a:cubicBezTo>
                    <a:pt x="156083" y="25400"/>
                    <a:pt x="25400" y="156083"/>
                    <a:pt x="25400" y="317246"/>
                  </a:cubicBezTo>
                  <a:close/>
                </a:path>
              </a:pathLst>
            </a:custGeom>
            <a:solidFill>
              <a:srgbClr val="FFFFFF"/>
            </a:solidFill>
          </p:spPr>
          <p:txBody>
            <a:bodyPr/>
            <a:p/>
          </p:txBody>
        </p:sp>
      </p:grpSp>
      <p:grpSp>
        <p:nvGrpSpPr>
          <p:cNvPr name="Group 148" id="148"/>
          <p:cNvGrpSpPr/>
          <p:nvPr/>
        </p:nvGrpSpPr>
        <p:grpSpPr>
          <a:xfrm rot="0">
            <a:off x="13201650" y="3105302"/>
            <a:ext cx="113843" cy="229057"/>
            <a:chOff x="0" y="0"/>
            <a:chExt cx="151790" cy="305410"/>
          </a:xfrm>
        </p:grpSpPr>
        <p:sp>
          <p:nvSpPr>
            <p:cNvPr name="Freeform 149" id="149" descr="preencoded.png"/>
            <p:cNvSpPr/>
            <p:nvPr/>
          </p:nvSpPr>
          <p:spPr>
            <a:xfrm flipH="false" flipV="false" rot="0">
              <a:off x="0" y="0"/>
              <a:ext cx="151765" cy="305435"/>
            </a:xfrm>
            <a:custGeom>
              <a:avLst/>
              <a:gdLst/>
              <a:ahLst/>
              <a:cxnLst/>
              <a:rect r="r" b="b" t="t" l="l"/>
              <a:pathLst>
                <a:path h="305435" w="151765">
                  <a:moveTo>
                    <a:pt x="0" y="0"/>
                  </a:moveTo>
                  <a:lnTo>
                    <a:pt x="151765" y="0"/>
                  </a:lnTo>
                  <a:lnTo>
                    <a:pt x="151765" y="305435"/>
                  </a:lnTo>
                  <a:lnTo>
                    <a:pt x="0" y="305435"/>
                  </a:lnTo>
                  <a:lnTo>
                    <a:pt x="0" y="0"/>
                  </a:lnTo>
                  <a:close/>
                </a:path>
              </a:pathLst>
            </a:custGeom>
            <a:blipFill>
              <a:blip r:embed="rId19"/>
              <a:stretch>
                <a:fillRect l="0" t="10320" r="-16" b="9525"/>
              </a:stretch>
            </a:blipFill>
          </p:spPr>
          <p:txBody>
            <a:bodyPr/>
            <a:p/>
          </p:txBody>
        </p:sp>
      </p:grpSp>
      <p:grpSp>
        <p:nvGrpSpPr>
          <p:cNvPr name="Group 150" id="150"/>
          <p:cNvGrpSpPr/>
          <p:nvPr/>
        </p:nvGrpSpPr>
        <p:grpSpPr>
          <a:xfrm rot="0">
            <a:off x="13251028" y="3563417"/>
            <a:ext cx="13716" cy="685800"/>
            <a:chOff x="0" y="0"/>
            <a:chExt cx="18288" cy="914400"/>
          </a:xfrm>
        </p:grpSpPr>
        <p:sp>
          <p:nvSpPr>
            <p:cNvPr name="Freeform 151" id="151" descr="preencoded.png"/>
            <p:cNvSpPr/>
            <p:nvPr/>
          </p:nvSpPr>
          <p:spPr>
            <a:xfrm flipH="false" flipV="false" rot="0">
              <a:off x="0" y="0"/>
              <a:ext cx="18288" cy="914400"/>
            </a:xfrm>
            <a:custGeom>
              <a:avLst/>
              <a:gdLst/>
              <a:ahLst/>
              <a:cxnLst/>
              <a:rect r="r" b="b" t="t" l="l"/>
              <a:pathLst>
                <a:path h="914400" w="18288">
                  <a:moveTo>
                    <a:pt x="0" y="0"/>
                  </a:moveTo>
                  <a:lnTo>
                    <a:pt x="18288" y="0"/>
                  </a:lnTo>
                  <a:lnTo>
                    <a:pt x="18288" y="914400"/>
                  </a:lnTo>
                  <a:lnTo>
                    <a:pt x="0" y="914400"/>
                  </a:lnTo>
                  <a:lnTo>
                    <a:pt x="0" y="0"/>
                  </a:lnTo>
                  <a:close/>
                </a:path>
              </a:pathLst>
            </a:custGeom>
            <a:blipFill>
              <a:blip r:embed="rId18"/>
              <a:stretch>
                <a:fillRect l="0" t="2000" r="0" b="1999"/>
              </a:stretch>
            </a:blipFill>
          </p:spPr>
          <p:txBody>
            <a:body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571957" y="9715043"/>
            <a:ext cx="2486711" cy="293380"/>
            <a:chOff x="0" y="0"/>
            <a:chExt cx="3315614" cy="391173"/>
          </a:xfrm>
        </p:grpSpPr>
        <p:sp>
          <p:nvSpPr>
            <p:cNvPr name="Freeform 9" id="9"/>
            <p:cNvSpPr/>
            <p:nvPr/>
          </p:nvSpPr>
          <p:spPr>
            <a:xfrm flipH="false" flipV="false" rot="0">
              <a:off x="0" y="0"/>
              <a:ext cx="3315614" cy="391173"/>
            </a:xfrm>
            <a:custGeom>
              <a:avLst/>
              <a:gdLst/>
              <a:ahLst/>
              <a:cxnLst/>
              <a:rect r="r" b="b" t="t" l="l"/>
              <a:pathLst>
                <a:path h="391173" w="3315614">
                  <a:moveTo>
                    <a:pt x="0" y="0"/>
                  </a:moveTo>
                  <a:lnTo>
                    <a:pt x="3315614" y="0"/>
                  </a:lnTo>
                  <a:lnTo>
                    <a:pt x="3315614" y="391173"/>
                  </a:lnTo>
                  <a:lnTo>
                    <a:pt x="0" y="391173"/>
                  </a:lnTo>
                  <a:close/>
                </a:path>
              </a:pathLst>
            </a:custGeom>
            <a:blipFill>
              <a:blip r:embed="rId4">
                <a:alphaModFix amt="0"/>
              </a:blip>
              <a:stretch>
                <a:fillRect l="0" t="-126119" r="0" b="-104194"/>
              </a:stretch>
            </a:blipFill>
          </p:spPr>
          <p:txBody>
            <a:bodyPr/>
            <a:p/>
          </p:txBody>
        </p:sp>
        <p:sp>
          <p:nvSpPr>
            <p:cNvPr name="TextBox 10" id="10"/>
            <p:cNvSpPr txBox="true"/>
            <p:nvPr/>
          </p:nvSpPr>
          <p:spPr>
            <a:xfrm>
              <a:off x="0" y="0"/>
              <a:ext cx="331561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DR. ADDOR — PHILOSOPHIE</a:t>
              </a:r>
            </a:p>
          </p:txBody>
        </p:sp>
      </p:grpSp>
      <p:grpSp>
        <p:nvGrpSpPr>
          <p:cNvPr name="Group 11" id="11"/>
          <p:cNvGrpSpPr/>
          <p:nvPr/>
        </p:nvGrpSpPr>
        <p:grpSpPr>
          <a:xfrm rot="0">
            <a:off x="17511217" y="9715043"/>
            <a:ext cx="329184" cy="293380"/>
            <a:chOff x="0" y="0"/>
            <a:chExt cx="438912" cy="391173"/>
          </a:xfrm>
        </p:grpSpPr>
        <p:sp>
          <p:nvSpPr>
            <p:cNvPr name="Freeform 12" id="12"/>
            <p:cNvSpPr/>
            <p:nvPr/>
          </p:nvSpPr>
          <p:spPr>
            <a:xfrm flipH="false" flipV="false" rot="0">
              <a:off x="0" y="0"/>
              <a:ext cx="438912" cy="391173"/>
            </a:xfrm>
            <a:custGeom>
              <a:avLst/>
              <a:gdLst/>
              <a:ahLst/>
              <a:cxnLst/>
              <a:rect r="r" b="b" t="t" l="l"/>
              <a:pathLst>
                <a:path h="391173" w="438912">
                  <a:moveTo>
                    <a:pt x="0" y="0"/>
                  </a:moveTo>
                  <a:lnTo>
                    <a:pt x="438912" y="0"/>
                  </a:lnTo>
                  <a:lnTo>
                    <a:pt x="438912" y="391173"/>
                  </a:lnTo>
                  <a:lnTo>
                    <a:pt x="0" y="391173"/>
                  </a:lnTo>
                  <a:close/>
                </a:path>
              </a:pathLst>
            </a:custGeom>
            <a:blipFill>
              <a:blip r:embed="rId4">
                <a:alphaModFix amt="0"/>
              </a:blip>
              <a:stretch>
                <a:fillRect l="-39277" t="0" r="-39277" b="21924"/>
              </a:stretch>
            </a:blipFill>
          </p:spPr>
          <p:txBody>
            <a:bodyPr/>
            <a:p/>
          </p:txBody>
        </p:sp>
        <p:sp>
          <p:nvSpPr>
            <p:cNvPr name="TextBox 13" id="13"/>
            <p:cNvSpPr txBox="true"/>
            <p:nvPr/>
          </p:nvSpPr>
          <p:spPr>
            <a:xfrm>
              <a:off x="0" y="0"/>
              <a:ext cx="43891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03</a:t>
              </a:r>
            </a:p>
          </p:txBody>
        </p:sp>
      </p:grpSp>
      <p:grpSp>
        <p:nvGrpSpPr>
          <p:cNvPr name="Group 14" id="14"/>
          <p:cNvGrpSpPr/>
          <p:nvPr/>
        </p:nvGrpSpPr>
        <p:grpSpPr>
          <a:xfrm rot="0">
            <a:off x="857250" y="678942"/>
            <a:ext cx="456743" cy="13716"/>
            <a:chOff x="0" y="0"/>
            <a:chExt cx="608990" cy="18288"/>
          </a:xfrm>
        </p:grpSpPr>
        <p:sp>
          <p:nvSpPr>
            <p:cNvPr name="Freeform 15" id="15"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16" id="16"/>
          <p:cNvGrpSpPr/>
          <p:nvPr/>
        </p:nvGrpSpPr>
        <p:grpSpPr>
          <a:xfrm rot="0">
            <a:off x="1485443" y="571957"/>
            <a:ext cx="1615745" cy="293380"/>
            <a:chOff x="0" y="0"/>
            <a:chExt cx="2154326" cy="391173"/>
          </a:xfrm>
        </p:grpSpPr>
        <p:sp>
          <p:nvSpPr>
            <p:cNvPr name="Freeform 17" id="17"/>
            <p:cNvSpPr/>
            <p:nvPr/>
          </p:nvSpPr>
          <p:spPr>
            <a:xfrm flipH="false" flipV="false" rot="0">
              <a:off x="0" y="0"/>
              <a:ext cx="2154326" cy="391173"/>
            </a:xfrm>
            <a:custGeom>
              <a:avLst/>
              <a:gdLst/>
              <a:ahLst/>
              <a:cxnLst/>
              <a:rect r="r" b="b" t="t" l="l"/>
              <a:pathLst>
                <a:path h="391173" w="2154326">
                  <a:moveTo>
                    <a:pt x="0" y="0"/>
                  </a:moveTo>
                  <a:lnTo>
                    <a:pt x="2154326" y="0"/>
                  </a:lnTo>
                  <a:lnTo>
                    <a:pt x="2154326" y="391173"/>
                  </a:lnTo>
                  <a:lnTo>
                    <a:pt x="0" y="391173"/>
                  </a:lnTo>
                  <a:close/>
                </a:path>
              </a:pathLst>
            </a:custGeom>
            <a:blipFill>
              <a:blip r:embed="rId4">
                <a:alphaModFix amt="0"/>
              </a:blip>
              <a:stretch>
                <a:fillRect l="0" t="-68273" r="0" b="-46348"/>
              </a:stretch>
            </a:blipFill>
          </p:spPr>
          <p:txBody>
            <a:bodyPr/>
            <a:p/>
          </p:txBody>
        </p:sp>
        <p:sp>
          <p:nvSpPr>
            <p:cNvPr name="TextBox 18" id="18"/>
            <p:cNvSpPr txBox="true"/>
            <p:nvPr/>
          </p:nvSpPr>
          <p:spPr>
            <a:xfrm>
              <a:off x="0" y="0"/>
              <a:ext cx="2154326"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Philosophie</a:t>
              </a:r>
            </a:p>
          </p:txBody>
        </p:sp>
      </p:grpSp>
      <p:grpSp>
        <p:nvGrpSpPr>
          <p:cNvPr name="Group 19" id="19"/>
          <p:cNvGrpSpPr/>
          <p:nvPr/>
        </p:nvGrpSpPr>
        <p:grpSpPr>
          <a:xfrm rot="0">
            <a:off x="857250" y="914857"/>
            <a:ext cx="16859707" cy="889664"/>
            <a:chOff x="0" y="0"/>
            <a:chExt cx="22479610" cy="1186218"/>
          </a:xfrm>
        </p:grpSpPr>
        <p:sp>
          <p:nvSpPr>
            <p:cNvPr name="Freeform 20" id="20"/>
            <p:cNvSpPr/>
            <p:nvPr/>
          </p:nvSpPr>
          <p:spPr>
            <a:xfrm flipH="false" flipV="false" rot="0">
              <a:off x="0" y="0"/>
              <a:ext cx="22479611" cy="1186218"/>
            </a:xfrm>
            <a:custGeom>
              <a:avLst/>
              <a:gdLst/>
              <a:ahLst/>
              <a:cxnLst/>
              <a:rect r="r" b="b" t="t" l="l"/>
              <a:pathLst>
                <a:path h="1186218" w="22479611">
                  <a:moveTo>
                    <a:pt x="0" y="0"/>
                  </a:moveTo>
                  <a:lnTo>
                    <a:pt x="22479611" y="0"/>
                  </a:lnTo>
                  <a:lnTo>
                    <a:pt x="22479611" y="1186218"/>
                  </a:lnTo>
                  <a:lnTo>
                    <a:pt x="0" y="1186218"/>
                  </a:lnTo>
                  <a:close/>
                </a:path>
              </a:pathLst>
            </a:custGeom>
            <a:blipFill>
              <a:blip r:embed="rId4">
                <a:alphaModFix amt="0"/>
              </a:blip>
              <a:stretch>
                <a:fillRect l="0" t="-337109" r="0" b="-301398"/>
              </a:stretch>
            </a:blipFill>
          </p:spPr>
          <p:txBody>
            <a:bodyPr/>
            <a:p/>
          </p:txBody>
        </p:sp>
        <p:sp>
          <p:nvSpPr>
            <p:cNvPr name="TextBox 21" id="21"/>
            <p:cNvSpPr txBox="true"/>
            <p:nvPr/>
          </p:nvSpPr>
          <p:spPr>
            <a:xfrm>
              <a:off x="0" y="9525"/>
              <a:ext cx="22479610" cy="1176693"/>
            </a:xfrm>
            <a:prstGeom prst="rect">
              <a:avLst/>
            </a:prstGeom>
          </p:spPr>
          <p:txBody>
            <a:bodyPr anchor="ctr" rtlCol="false" tIns="0" lIns="0" bIns="0" rIns="0"/>
            <a:lstStyle/>
            <a:p>
              <a:pPr algn="l">
                <a:lnSpc>
                  <a:spcPts val="4860"/>
                </a:lnSpc>
              </a:pPr>
              <a:r>
                <a:rPr lang="en-US" sz="4050" b="true">
                  <a:solidFill>
                    <a:srgbClr val="FFFFFF"/>
                  </a:solidFill>
                  <a:latin typeface="Manrope Bold"/>
                  <a:ea typeface="Manrope Bold"/>
                  <a:cs typeface="Manrope Bold"/>
                  <a:sym typeface="Manrope Bold"/>
                </a:rPr>
                <a:t>L'Intégration Intelligente</a:t>
              </a:r>
            </a:p>
          </p:txBody>
        </p:sp>
      </p:grpSp>
      <p:grpSp>
        <p:nvGrpSpPr>
          <p:cNvPr name="Group 22" id="22"/>
          <p:cNvGrpSpPr/>
          <p:nvPr/>
        </p:nvGrpSpPr>
        <p:grpSpPr>
          <a:xfrm rot="0">
            <a:off x="857250" y="1627737"/>
            <a:ext cx="12001500" cy="430120"/>
            <a:chOff x="0" y="0"/>
            <a:chExt cx="16002000" cy="573494"/>
          </a:xfrm>
        </p:grpSpPr>
        <p:sp>
          <p:nvSpPr>
            <p:cNvPr name="Freeform 23" id="23"/>
            <p:cNvSpPr/>
            <p:nvPr/>
          </p:nvSpPr>
          <p:spPr>
            <a:xfrm flipH="false" flipV="false" rot="0">
              <a:off x="0" y="0"/>
              <a:ext cx="16002000" cy="573494"/>
            </a:xfrm>
            <a:custGeom>
              <a:avLst/>
              <a:gdLst/>
              <a:ahLst/>
              <a:cxnLst/>
              <a:rect r="r" b="b" t="t" l="l"/>
              <a:pathLst>
                <a:path h="573494" w="16002000">
                  <a:moveTo>
                    <a:pt x="0" y="0"/>
                  </a:moveTo>
                  <a:lnTo>
                    <a:pt x="16002000" y="0"/>
                  </a:lnTo>
                  <a:lnTo>
                    <a:pt x="16002000" y="573494"/>
                  </a:lnTo>
                  <a:lnTo>
                    <a:pt x="0" y="573494"/>
                  </a:lnTo>
                  <a:close/>
                </a:path>
              </a:pathLst>
            </a:custGeom>
            <a:blipFill>
              <a:blip r:embed="rId4">
                <a:alphaModFix amt="0"/>
              </a:blip>
              <a:stretch>
                <a:fillRect l="0" t="-497126" r="0" b="-490241"/>
              </a:stretch>
            </a:blipFill>
          </p:spPr>
          <p:txBody>
            <a:bodyPr/>
            <a:p/>
          </p:txBody>
        </p:sp>
        <p:sp>
          <p:nvSpPr>
            <p:cNvPr name="TextBox 24" id="24"/>
            <p:cNvSpPr txBox="true"/>
            <p:nvPr/>
          </p:nvSpPr>
          <p:spPr>
            <a:xfrm>
              <a:off x="0" y="-9525"/>
              <a:ext cx="16002000" cy="583019"/>
            </a:xfrm>
            <a:prstGeom prst="rect">
              <a:avLst/>
            </a:prstGeom>
          </p:spPr>
          <p:txBody>
            <a:bodyPr anchor="ctr" rtlCol="false" tIns="0" lIns="0" bIns="0" rIns="0"/>
            <a:lstStyle/>
            <a:p>
              <a:pPr algn="l">
                <a:lnSpc>
                  <a:spcPts val="2340"/>
                </a:lnSpc>
              </a:pPr>
              <a:r>
                <a:rPr lang="en-US" sz="1950">
                  <a:solidFill>
                    <a:srgbClr val="FFFFFF"/>
                  </a:solidFill>
                  <a:latin typeface="Manrope"/>
                  <a:ea typeface="Manrope"/>
                  <a:cs typeface="Manrope"/>
                  <a:sym typeface="Manrope"/>
                </a:rPr>
                <a:t>La longévité durable naît de la fusion entre la sagesse ancienne et la science moderne.</a:t>
              </a:r>
            </a:p>
          </p:txBody>
        </p:sp>
      </p:grpSp>
      <p:grpSp>
        <p:nvGrpSpPr>
          <p:cNvPr name="Group 25" id="25"/>
          <p:cNvGrpSpPr/>
          <p:nvPr/>
        </p:nvGrpSpPr>
        <p:grpSpPr>
          <a:xfrm rot="0">
            <a:off x="847725" y="2276932"/>
            <a:ext cx="5320284" cy="3561893"/>
            <a:chOff x="0" y="0"/>
            <a:chExt cx="7093712" cy="4749190"/>
          </a:xfrm>
        </p:grpSpPr>
        <p:sp>
          <p:nvSpPr>
            <p:cNvPr name="Freeform 26" id="26"/>
            <p:cNvSpPr/>
            <p:nvPr/>
          </p:nvSpPr>
          <p:spPr>
            <a:xfrm flipH="false" flipV="false" rot="0">
              <a:off x="12700" y="12700"/>
              <a:ext cx="7068312" cy="4723892"/>
            </a:xfrm>
            <a:custGeom>
              <a:avLst/>
              <a:gdLst/>
              <a:ahLst/>
              <a:cxnLst/>
              <a:rect r="r" b="b" t="t" l="l"/>
              <a:pathLst>
                <a:path h="4723892" w="7068312">
                  <a:moveTo>
                    <a:pt x="0" y="59055"/>
                  </a:moveTo>
                  <a:cubicBezTo>
                    <a:pt x="0" y="26416"/>
                    <a:pt x="26416" y="0"/>
                    <a:pt x="59055" y="0"/>
                  </a:cubicBezTo>
                  <a:lnTo>
                    <a:pt x="7009257" y="0"/>
                  </a:lnTo>
                  <a:cubicBezTo>
                    <a:pt x="7041896" y="0"/>
                    <a:pt x="7068312" y="26416"/>
                    <a:pt x="7068312" y="59055"/>
                  </a:cubicBezTo>
                  <a:lnTo>
                    <a:pt x="7068312" y="4664837"/>
                  </a:lnTo>
                  <a:cubicBezTo>
                    <a:pt x="7068312" y="4697476"/>
                    <a:pt x="7041896" y="4723892"/>
                    <a:pt x="7009257" y="4723892"/>
                  </a:cubicBezTo>
                  <a:lnTo>
                    <a:pt x="59055" y="4723892"/>
                  </a:lnTo>
                  <a:cubicBezTo>
                    <a:pt x="26416" y="4723892"/>
                    <a:pt x="0" y="4697476"/>
                    <a:pt x="0" y="4664837"/>
                  </a:cubicBezTo>
                  <a:close/>
                </a:path>
              </a:pathLst>
            </a:custGeom>
            <a:solidFill>
              <a:srgbClr val="1E1E24">
                <a:alpha val="15686"/>
              </a:srgbClr>
            </a:solidFill>
          </p:spPr>
          <p:txBody>
            <a:bodyPr/>
            <a:p/>
          </p:txBody>
        </p:sp>
        <p:sp>
          <p:nvSpPr>
            <p:cNvPr name="Freeform 27" id="27"/>
            <p:cNvSpPr/>
            <p:nvPr/>
          </p:nvSpPr>
          <p:spPr>
            <a:xfrm flipH="false" flipV="false" rot="0">
              <a:off x="0" y="0"/>
              <a:ext cx="7093712" cy="4749292"/>
            </a:xfrm>
            <a:custGeom>
              <a:avLst/>
              <a:gdLst/>
              <a:ahLst/>
              <a:cxnLst/>
              <a:rect r="r" b="b" t="t" l="l"/>
              <a:pathLst>
                <a:path h="4749292" w="7093712">
                  <a:moveTo>
                    <a:pt x="0" y="71755"/>
                  </a:moveTo>
                  <a:cubicBezTo>
                    <a:pt x="0" y="32131"/>
                    <a:pt x="32131" y="0"/>
                    <a:pt x="71755" y="0"/>
                  </a:cubicBezTo>
                  <a:lnTo>
                    <a:pt x="7021957" y="0"/>
                  </a:lnTo>
                  <a:lnTo>
                    <a:pt x="7021957" y="12700"/>
                  </a:lnTo>
                  <a:lnTo>
                    <a:pt x="7021957" y="0"/>
                  </a:lnTo>
                  <a:cubicBezTo>
                    <a:pt x="7061581" y="0"/>
                    <a:pt x="7093712" y="32131"/>
                    <a:pt x="7093712" y="71755"/>
                  </a:cubicBezTo>
                  <a:lnTo>
                    <a:pt x="7081012" y="71755"/>
                  </a:lnTo>
                  <a:lnTo>
                    <a:pt x="7093712" y="71755"/>
                  </a:lnTo>
                  <a:lnTo>
                    <a:pt x="7093712" y="4677537"/>
                  </a:lnTo>
                  <a:lnTo>
                    <a:pt x="7081012" y="4677537"/>
                  </a:lnTo>
                  <a:lnTo>
                    <a:pt x="7093712" y="4677537"/>
                  </a:lnTo>
                  <a:cubicBezTo>
                    <a:pt x="7093712" y="4717161"/>
                    <a:pt x="7061581" y="4749292"/>
                    <a:pt x="7021957" y="4749292"/>
                  </a:cubicBezTo>
                  <a:lnTo>
                    <a:pt x="7021957" y="4736592"/>
                  </a:lnTo>
                  <a:lnTo>
                    <a:pt x="7021957" y="4749292"/>
                  </a:lnTo>
                  <a:lnTo>
                    <a:pt x="71755" y="4749292"/>
                  </a:lnTo>
                  <a:lnTo>
                    <a:pt x="71755" y="4736592"/>
                  </a:lnTo>
                  <a:lnTo>
                    <a:pt x="71755" y="4749292"/>
                  </a:lnTo>
                  <a:cubicBezTo>
                    <a:pt x="32131" y="4749292"/>
                    <a:pt x="0" y="4717161"/>
                    <a:pt x="0" y="4677537"/>
                  </a:cubicBezTo>
                  <a:lnTo>
                    <a:pt x="0" y="71755"/>
                  </a:lnTo>
                  <a:lnTo>
                    <a:pt x="12700" y="71755"/>
                  </a:lnTo>
                  <a:lnTo>
                    <a:pt x="0" y="71755"/>
                  </a:lnTo>
                  <a:moveTo>
                    <a:pt x="25400" y="71755"/>
                  </a:moveTo>
                  <a:lnTo>
                    <a:pt x="25400" y="4677537"/>
                  </a:lnTo>
                  <a:lnTo>
                    <a:pt x="12700" y="4677537"/>
                  </a:lnTo>
                  <a:lnTo>
                    <a:pt x="25400" y="4677537"/>
                  </a:lnTo>
                  <a:cubicBezTo>
                    <a:pt x="25400" y="4703064"/>
                    <a:pt x="46101" y="4723892"/>
                    <a:pt x="71755" y="4723892"/>
                  </a:cubicBezTo>
                  <a:lnTo>
                    <a:pt x="7021957" y="4723892"/>
                  </a:lnTo>
                  <a:cubicBezTo>
                    <a:pt x="7047611" y="4723892"/>
                    <a:pt x="7068312" y="4703191"/>
                    <a:pt x="7068312" y="4677537"/>
                  </a:cubicBezTo>
                  <a:lnTo>
                    <a:pt x="7068312" y="71755"/>
                  </a:lnTo>
                  <a:cubicBezTo>
                    <a:pt x="7068312" y="46228"/>
                    <a:pt x="7047611" y="25400"/>
                    <a:pt x="7021957" y="25400"/>
                  </a:cubicBezTo>
                  <a:lnTo>
                    <a:pt x="71755" y="25400"/>
                  </a:lnTo>
                  <a:lnTo>
                    <a:pt x="71755" y="12700"/>
                  </a:lnTo>
                  <a:lnTo>
                    <a:pt x="71755" y="25400"/>
                  </a:lnTo>
                  <a:cubicBezTo>
                    <a:pt x="46101" y="25400"/>
                    <a:pt x="25400" y="46101"/>
                    <a:pt x="25400" y="71755"/>
                  </a:cubicBezTo>
                  <a:close/>
                </a:path>
              </a:pathLst>
            </a:custGeom>
            <a:solidFill>
              <a:srgbClr val="40424D"/>
            </a:solidFill>
          </p:spPr>
          <p:txBody>
            <a:bodyPr/>
            <a:p/>
          </p:txBody>
        </p:sp>
      </p:grpSp>
      <p:grpSp>
        <p:nvGrpSpPr>
          <p:cNvPr name="Group 28" id="28"/>
          <p:cNvGrpSpPr/>
          <p:nvPr/>
        </p:nvGrpSpPr>
        <p:grpSpPr>
          <a:xfrm rot="0">
            <a:off x="847725" y="2276932"/>
            <a:ext cx="76657" cy="3534461"/>
            <a:chOff x="0" y="0"/>
            <a:chExt cx="102210" cy="4712614"/>
          </a:xfrm>
        </p:grpSpPr>
        <p:sp>
          <p:nvSpPr>
            <p:cNvPr name="Freeform 29" id="29"/>
            <p:cNvSpPr/>
            <p:nvPr/>
          </p:nvSpPr>
          <p:spPr>
            <a:xfrm flipH="false" flipV="false" rot="0">
              <a:off x="12700" y="12700"/>
              <a:ext cx="76835" cy="4687189"/>
            </a:xfrm>
            <a:custGeom>
              <a:avLst/>
              <a:gdLst/>
              <a:ahLst/>
              <a:cxnLst/>
              <a:rect r="r" b="b" t="t" l="l"/>
              <a:pathLst>
                <a:path h="4687189" w="76835">
                  <a:moveTo>
                    <a:pt x="0" y="0"/>
                  </a:moveTo>
                  <a:lnTo>
                    <a:pt x="76835" y="0"/>
                  </a:lnTo>
                  <a:lnTo>
                    <a:pt x="76835" y="4687189"/>
                  </a:lnTo>
                  <a:lnTo>
                    <a:pt x="0" y="4687189"/>
                  </a:lnTo>
                  <a:close/>
                </a:path>
              </a:pathLst>
            </a:custGeom>
            <a:solidFill>
              <a:srgbClr val="40424D"/>
            </a:solidFill>
          </p:spPr>
          <p:txBody>
            <a:bodyPr/>
            <a:p/>
          </p:txBody>
        </p:sp>
      </p:grpSp>
      <p:grpSp>
        <p:nvGrpSpPr>
          <p:cNvPr name="Group 30" id="30"/>
          <p:cNvGrpSpPr/>
          <p:nvPr/>
        </p:nvGrpSpPr>
        <p:grpSpPr>
          <a:xfrm rot="0">
            <a:off x="5021428" y="2643073"/>
            <a:ext cx="913486" cy="1192568"/>
            <a:chOff x="0" y="0"/>
            <a:chExt cx="1217981" cy="1590091"/>
          </a:xfrm>
        </p:grpSpPr>
        <p:sp>
          <p:nvSpPr>
            <p:cNvPr name="Freeform 31" id="31"/>
            <p:cNvSpPr/>
            <p:nvPr/>
          </p:nvSpPr>
          <p:spPr>
            <a:xfrm flipH="false" flipV="false" rot="0">
              <a:off x="0" y="0"/>
              <a:ext cx="1217980" cy="1590091"/>
            </a:xfrm>
            <a:custGeom>
              <a:avLst/>
              <a:gdLst/>
              <a:ahLst/>
              <a:cxnLst/>
              <a:rect r="r" b="b" t="t" l="l"/>
              <a:pathLst>
                <a:path h="1590091" w="1217980">
                  <a:moveTo>
                    <a:pt x="0" y="0"/>
                  </a:moveTo>
                  <a:lnTo>
                    <a:pt x="1217980" y="0"/>
                  </a:lnTo>
                  <a:lnTo>
                    <a:pt x="1217980" y="1590091"/>
                  </a:lnTo>
                  <a:lnTo>
                    <a:pt x="0" y="1590091"/>
                  </a:lnTo>
                  <a:close/>
                </a:path>
              </a:pathLst>
            </a:custGeom>
            <a:blipFill>
              <a:blip r:embed="rId4">
                <a:alphaModFix amt="0"/>
              </a:blip>
              <a:stretch>
                <a:fillRect l="-46324" t="0" r="-46324" b="42493"/>
              </a:stretch>
            </a:blipFill>
          </p:spPr>
          <p:txBody>
            <a:bodyPr/>
            <a:p/>
          </p:txBody>
        </p:sp>
        <p:sp>
          <p:nvSpPr>
            <p:cNvPr name="TextBox 32" id="32"/>
            <p:cNvSpPr txBox="true"/>
            <p:nvPr/>
          </p:nvSpPr>
          <p:spPr>
            <a:xfrm>
              <a:off x="0" y="9525"/>
              <a:ext cx="1217981" cy="15805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01</a:t>
              </a:r>
            </a:p>
          </p:txBody>
        </p:sp>
      </p:grpSp>
      <p:grpSp>
        <p:nvGrpSpPr>
          <p:cNvPr name="Group 33" id="33"/>
          <p:cNvGrpSpPr/>
          <p:nvPr/>
        </p:nvGrpSpPr>
        <p:grpSpPr>
          <a:xfrm rot="0">
            <a:off x="1204341" y="2633548"/>
            <a:ext cx="704850" cy="704850"/>
            <a:chOff x="0" y="0"/>
            <a:chExt cx="939800" cy="939800"/>
          </a:xfrm>
        </p:grpSpPr>
        <p:sp>
          <p:nvSpPr>
            <p:cNvPr name="Freeform 34" id="34"/>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1E1E24"/>
            </a:solidFill>
          </p:spPr>
          <p:txBody>
            <a:bodyPr/>
            <a:p/>
          </p:txBody>
        </p:sp>
        <p:sp>
          <p:nvSpPr>
            <p:cNvPr name="Freeform 35" id="35"/>
            <p:cNvSpPr/>
            <p:nvPr/>
          </p:nvSpPr>
          <p:spPr>
            <a:xfrm flipH="false" flipV="false" rot="0">
              <a:off x="0" y="0"/>
              <a:ext cx="939800" cy="939800"/>
            </a:xfrm>
            <a:custGeom>
              <a:avLst/>
              <a:gdLst/>
              <a:ahLst/>
              <a:cxnLst/>
              <a:rect r="r" b="b" t="t" l="l"/>
              <a:pathLst>
                <a:path h="939800" w="939800">
                  <a:moveTo>
                    <a:pt x="0" y="317500"/>
                  </a:moveTo>
                  <a:cubicBezTo>
                    <a:pt x="0" y="142113"/>
                    <a:pt x="142113" y="0"/>
                    <a:pt x="317500" y="0"/>
                  </a:cubicBezTo>
                  <a:lnTo>
                    <a:pt x="622300" y="0"/>
                  </a:lnTo>
                  <a:lnTo>
                    <a:pt x="622300" y="12700"/>
                  </a:lnTo>
                  <a:lnTo>
                    <a:pt x="622300" y="0"/>
                  </a:lnTo>
                  <a:lnTo>
                    <a:pt x="622300" y="12700"/>
                  </a:lnTo>
                  <a:lnTo>
                    <a:pt x="622300" y="0"/>
                  </a:lnTo>
                  <a:cubicBezTo>
                    <a:pt x="797687" y="0"/>
                    <a:pt x="939800" y="142113"/>
                    <a:pt x="939800" y="317500"/>
                  </a:cubicBezTo>
                  <a:lnTo>
                    <a:pt x="927100" y="317500"/>
                  </a:lnTo>
                  <a:lnTo>
                    <a:pt x="939800" y="317500"/>
                  </a:lnTo>
                  <a:lnTo>
                    <a:pt x="939800" y="622300"/>
                  </a:lnTo>
                  <a:lnTo>
                    <a:pt x="927100" y="622300"/>
                  </a:lnTo>
                  <a:lnTo>
                    <a:pt x="939800" y="622300"/>
                  </a:lnTo>
                  <a:cubicBezTo>
                    <a:pt x="939800" y="797687"/>
                    <a:pt x="797687" y="939800"/>
                    <a:pt x="622300" y="939800"/>
                  </a:cubicBezTo>
                  <a:lnTo>
                    <a:pt x="622300" y="927100"/>
                  </a:lnTo>
                  <a:lnTo>
                    <a:pt x="622300" y="939800"/>
                  </a:lnTo>
                  <a:lnTo>
                    <a:pt x="317500" y="939800"/>
                  </a:lnTo>
                  <a:lnTo>
                    <a:pt x="317500" y="927100"/>
                  </a:lnTo>
                  <a:lnTo>
                    <a:pt x="317500" y="939800"/>
                  </a:lnTo>
                  <a:cubicBezTo>
                    <a:pt x="142113" y="939800"/>
                    <a:pt x="0" y="797687"/>
                    <a:pt x="0" y="622300"/>
                  </a:cubicBezTo>
                  <a:lnTo>
                    <a:pt x="0" y="317500"/>
                  </a:lnTo>
                  <a:lnTo>
                    <a:pt x="12700" y="317500"/>
                  </a:lnTo>
                  <a:lnTo>
                    <a:pt x="0" y="317500"/>
                  </a:lnTo>
                  <a:moveTo>
                    <a:pt x="25400" y="317500"/>
                  </a:moveTo>
                  <a:lnTo>
                    <a:pt x="25400" y="622300"/>
                  </a:lnTo>
                  <a:lnTo>
                    <a:pt x="12700" y="622300"/>
                  </a:lnTo>
                  <a:lnTo>
                    <a:pt x="25400" y="622300"/>
                  </a:lnTo>
                  <a:cubicBezTo>
                    <a:pt x="25400" y="783590"/>
                    <a:pt x="156210" y="914400"/>
                    <a:pt x="317500" y="914400"/>
                  </a:cubicBezTo>
                  <a:lnTo>
                    <a:pt x="622300" y="914400"/>
                  </a:lnTo>
                  <a:cubicBezTo>
                    <a:pt x="783590" y="914400"/>
                    <a:pt x="914400" y="783590"/>
                    <a:pt x="914400" y="622300"/>
                  </a:cubicBezTo>
                  <a:lnTo>
                    <a:pt x="914400" y="317500"/>
                  </a:lnTo>
                  <a:cubicBezTo>
                    <a:pt x="914400" y="156210"/>
                    <a:pt x="783590" y="25400"/>
                    <a:pt x="622300" y="25400"/>
                  </a:cubicBezTo>
                  <a:lnTo>
                    <a:pt x="317500" y="25400"/>
                  </a:lnTo>
                  <a:lnTo>
                    <a:pt x="317500" y="12700"/>
                  </a:lnTo>
                  <a:lnTo>
                    <a:pt x="317500" y="25400"/>
                  </a:lnTo>
                  <a:cubicBezTo>
                    <a:pt x="156210" y="25400"/>
                    <a:pt x="25400" y="156210"/>
                    <a:pt x="25400" y="317500"/>
                  </a:cubicBezTo>
                  <a:close/>
                </a:path>
              </a:pathLst>
            </a:custGeom>
            <a:solidFill>
              <a:srgbClr val="40424D"/>
            </a:solidFill>
          </p:spPr>
          <p:txBody>
            <a:bodyPr/>
            <a:p/>
          </p:txBody>
        </p:sp>
      </p:grpSp>
      <p:grpSp>
        <p:nvGrpSpPr>
          <p:cNvPr name="Group 36" id="36"/>
          <p:cNvGrpSpPr/>
          <p:nvPr/>
        </p:nvGrpSpPr>
        <p:grpSpPr>
          <a:xfrm rot="0">
            <a:off x="1429207" y="2785720"/>
            <a:ext cx="257861" cy="400507"/>
            <a:chOff x="0" y="0"/>
            <a:chExt cx="343814" cy="534010"/>
          </a:xfrm>
        </p:grpSpPr>
        <p:sp>
          <p:nvSpPr>
            <p:cNvPr name="Freeform 37" id="37" descr="preencoded.png"/>
            <p:cNvSpPr/>
            <p:nvPr/>
          </p:nvSpPr>
          <p:spPr>
            <a:xfrm flipH="false" flipV="false" rot="0">
              <a:off x="0" y="0"/>
              <a:ext cx="343789" cy="534035"/>
            </a:xfrm>
            <a:custGeom>
              <a:avLst/>
              <a:gdLst/>
              <a:ahLst/>
              <a:cxnLst/>
              <a:rect r="r" b="b" t="t" l="l"/>
              <a:pathLst>
                <a:path h="534035" w="343789">
                  <a:moveTo>
                    <a:pt x="0" y="0"/>
                  </a:moveTo>
                  <a:lnTo>
                    <a:pt x="343789" y="0"/>
                  </a:lnTo>
                  <a:lnTo>
                    <a:pt x="343789" y="534035"/>
                  </a:lnTo>
                  <a:lnTo>
                    <a:pt x="0" y="534035"/>
                  </a:lnTo>
                  <a:lnTo>
                    <a:pt x="0" y="0"/>
                  </a:lnTo>
                  <a:close/>
                </a:path>
              </a:pathLst>
            </a:custGeom>
            <a:blipFill>
              <a:blip r:embed="rId6"/>
              <a:stretch>
                <a:fillRect l="0" t="13208" r="-7" b="13212"/>
              </a:stretch>
            </a:blipFill>
          </p:spPr>
          <p:txBody>
            <a:bodyPr/>
            <a:p/>
          </p:txBody>
        </p:sp>
      </p:grpSp>
      <p:grpSp>
        <p:nvGrpSpPr>
          <p:cNvPr name="Group 38" id="38"/>
          <p:cNvGrpSpPr/>
          <p:nvPr/>
        </p:nvGrpSpPr>
        <p:grpSpPr>
          <a:xfrm rot="0">
            <a:off x="1213866" y="3557930"/>
            <a:ext cx="4758080" cy="498491"/>
            <a:chOff x="0" y="0"/>
            <a:chExt cx="6344107" cy="664654"/>
          </a:xfrm>
        </p:grpSpPr>
        <p:sp>
          <p:nvSpPr>
            <p:cNvPr name="Freeform 39" id="39"/>
            <p:cNvSpPr/>
            <p:nvPr/>
          </p:nvSpPr>
          <p:spPr>
            <a:xfrm flipH="false" flipV="false" rot="0">
              <a:off x="0" y="0"/>
              <a:ext cx="6344108" cy="664655"/>
            </a:xfrm>
            <a:custGeom>
              <a:avLst/>
              <a:gdLst/>
              <a:ahLst/>
              <a:cxnLst/>
              <a:rect r="r" b="b" t="t" l="l"/>
              <a:pathLst>
                <a:path h="664655" w="6344108">
                  <a:moveTo>
                    <a:pt x="0" y="0"/>
                  </a:moveTo>
                  <a:lnTo>
                    <a:pt x="6344108" y="0"/>
                  </a:lnTo>
                  <a:lnTo>
                    <a:pt x="6344108" y="664655"/>
                  </a:lnTo>
                  <a:lnTo>
                    <a:pt x="0" y="664655"/>
                  </a:lnTo>
                  <a:close/>
                </a:path>
              </a:pathLst>
            </a:custGeom>
            <a:blipFill>
              <a:blip r:embed="rId4">
                <a:alphaModFix amt="0"/>
              </a:blip>
              <a:stretch>
                <a:fillRect l="0" t="-145812" r="0" b="-126155"/>
              </a:stretch>
            </a:blipFill>
          </p:spPr>
          <p:txBody>
            <a:bodyPr/>
            <a:p/>
          </p:txBody>
        </p:sp>
        <p:sp>
          <p:nvSpPr>
            <p:cNvPr name="TextBox 40" id="40"/>
            <p:cNvSpPr txBox="true"/>
            <p:nvPr/>
          </p:nvSpPr>
          <p:spPr>
            <a:xfrm>
              <a:off x="0" y="-9525"/>
              <a:ext cx="6344107"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Longévité</a:t>
              </a:r>
            </a:p>
          </p:txBody>
        </p:sp>
      </p:grpSp>
      <p:grpSp>
        <p:nvGrpSpPr>
          <p:cNvPr name="Group 41" id="41"/>
          <p:cNvGrpSpPr/>
          <p:nvPr/>
        </p:nvGrpSpPr>
        <p:grpSpPr>
          <a:xfrm rot="0">
            <a:off x="1213866" y="4128516"/>
            <a:ext cx="4701845" cy="986181"/>
            <a:chOff x="0" y="0"/>
            <a:chExt cx="6269126" cy="1314908"/>
          </a:xfrm>
        </p:grpSpPr>
        <p:sp>
          <p:nvSpPr>
            <p:cNvPr name="Freeform 42" id="42"/>
            <p:cNvSpPr/>
            <p:nvPr/>
          </p:nvSpPr>
          <p:spPr>
            <a:xfrm flipH="false" flipV="false" rot="0">
              <a:off x="0" y="0"/>
              <a:ext cx="6269126" cy="1314909"/>
            </a:xfrm>
            <a:custGeom>
              <a:avLst/>
              <a:gdLst/>
              <a:ahLst/>
              <a:cxnLst/>
              <a:rect r="r" b="b" t="t" l="l"/>
              <a:pathLst>
                <a:path h="1314909" w="6269126">
                  <a:moveTo>
                    <a:pt x="0" y="0"/>
                  </a:moveTo>
                  <a:lnTo>
                    <a:pt x="6269126" y="0"/>
                  </a:lnTo>
                  <a:lnTo>
                    <a:pt x="6269126" y="1314909"/>
                  </a:lnTo>
                  <a:lnTo>
                    <a:pt x="0" y="1314909"/>
                  </a:lnTo>
                  <a:close/>
                </a:path>
              </a:pathLst>
            </a:custGeom>
            <a:blipFill>
              <a:blip r:embed="rId4">
                <a:alphaModFix amt="0"/>
              </a:blip>
              <a:stretch>
                <a:fillRect l="0" t="-42899" r="0" b="-42899"/>
              </a:stretch>
            </a:blipFill>
          </p:spPr>
          <p:txBody>
            <a:bodyPr/>
            <a:p/>
          </p:txBody>
        </p:sp>
        <p:sp>
          <p:nvSpPr>
            <p:cNvPr name="TextBox 43" id="43"/>
            <p:cNvSpPr txBox="true"/>
            <p:nvPr/>
          </p:nvSpPr>
          <p:spPr>
            <a:xfrm>
              <a:off x="0" y="-9525"/>
              <a:ext cx="6269126" cy="1324433"/>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S'inspirer des populations centenaires tout en intégrant les technologies médicales avancées : cellules souches, exosomes, peptides.</a:t>
              </a:r>
            </a:p>
          </p:txBody>
        </p:sp>
      </p:grpSp>
      <p:grpSp>
        <p:nvGrpSpPr>
          <p:cNvPr name="Group 44" id="44"/>
          <p:cNvGrpSpPr/>
          <p:nvPr/>
        </p:nvGrpSpPr>
        <p:grpSpPr>
          <a:xfrm rot="0">
            <a:off x="6486373" y="2276932"/>
            <a:ext cx="5320284" cy="3561893"/>
            <a:chOff x="0" y="0"/>
            <a:chExt cx="7093712" cy="4749190"/>
          </a:xfrm>
        </p:grpSpPr>
        <p:sp>
          <p:nvSpPr>
            <p:cNvPr name="Freeform 45" id="45"/>
            <p:cNvSpPr/>
            <p:nvPr/>
          </p:nvSpPr>
          <p:spPr>
            <a:xfrm flipH="false" flipV="false" rot="0">
              <a:off x="12700" y="12700"/>
              <a:ext cx="7068312" cy="4723892"/>
            </a:xfrm>
            <a:custGeom>
              <a:avLst/>
              <a:gdLst/>
              <a:ahLst/>
              <a:cxnLst/>
              <a:rect r="r" b="b" t="t" l="l"/>
              <a:pathLst>
                <a:path h="4723892" w="7068312">
                  <a:moveTo>
                    <a:pt x="0" y="59055"/>
                  </a:moveTo>
                  <a:cubicBezTo>
                    <a:pt x="0" y="26416"/>
                    <a:pt x="26416" y="0"/>
                    <a:pt x="59055" y="0"/>
                  </a:cubicBezTo>
                  <a:lnTo>
                    <a:pt x="7009257" y="0"/>
                  </a:lnTo>
                  <a:cubicBezTo>
                    <a:pt x="7041896" y="0"/>
                    <a:pt x="7068312" y="26416"/>
                    <a:pt x="7068312" y="59055"/>
                  </a:cubicBezTo>
                  <a:lnTo>
                    <a:pt x="7068312" y="4664837"/>
                  </a:lnTo>
                  <a:cubicBezTo>
                    <a:pt x="7068312" y="4697476"/>
                    <a:pt x="7041896" y="4723892"/>
                    <a:pt x="7009257" y="4723892"/>
                  </a:cubicBezTo>
                  <a:lnTo>
                    <a:pt x="59055" y="4723892"/>
                  </a:lnTo>
                  <a:cubicBezTo>
                    <a:pt x="26416" y="4723892"/>
                    <a:pt x="0" y="4697476"/>
                    <a:pt x="0" y="4664837"/>
                  </a:cubicBezTo>
                  <a:close/>
                </a:path>
              </a:pathLst>
            </a:custGeom>
            <a:solidFill>
              <a:srgbClr val="1E1E24">
                <a:alpha val="15686"/>
              </a:srgbClr>
            </a:solidFill>
          </p:spPr>
          <p:txBody>
            <a:bodyPr/>
            <a:p/>
          </p:txBody>
        </p:sp>
        <p:sp>
          <p:nvSpPr>
            <p:cNvPr name="Freeform 46" id="46"/>
            <p:cNvSpPr/>
            <p:nvPr/>
          </p:nvSpPr>
          <p:spPr>
            <a:xfrm flipH="false" flipV="false" rot="0">
              <a:off x="0" y="0"/>
              <a:ext cx="7093712" cy="4749292"/>
            </a:xfrm>
            <a:custGeom>
              <a:avLst/>
              <a:gdLst/>
              <a:ahLst/>
              <a:cxnLst/>
              <a:rect r="r" b="b" t="t" l="l"/>
              <a:pathLst>
                <a:path h="4749292" w="7093712">
                  <a:moveTo>
                    <a:pt x="0" y="71755"/>
                  </a:moveTo>
                  <a:cubicBezTo>
                    <a:pt x="0" y="32131"/>
                    <a:pt x="32131" y="0"/>
                    <a:pt x="71755" y="0"/>
                  </a:cubicBezTo>
                  <a:lnTo>
                    <a:pt x="7021957" y="0"/>
                  </a:lnTo>
                  <a:lnTo>
                    <a:pt x="7021957" y="12700"/>
                  </a:lnTo>
                  <a:lnTo>
                    <a:pt x="7021957" y="0"/>
                  </a:lnTo>
                  <a:cubicBezTo>
                    <a:pt x="7061581" y="0"/>
                    <a:pt x="7093712" y="32131"/>
                    <a:pt x="7093712" y="71755"/>
                  </a:cubicBezTo>
                  <a:lnTo>
                    <a:pt x="7081012" y="71755"/>
                  </a:lnTo>
                  <a:lnTo>
                    <a:pt x="7093712" y="71755"/>
                  </a:lnTo>
                  <a:lnTo>
                    <a:pt x="7093712" y="4677537"/>
                  </a:lnTo>
                  <a:lnTo>
                    <a:pt x="7081012" y="4677537"/>
                  </a:lnTo>
                  <a:lnTo>
                    <a:pt x="7093712" y="4677537"/>
                  </a:lnTo>
                  <a:cubicBezTo>
                    <a:pt x="7093712" y="4717161"/>
                    <a:pt x="7061581" y="4749292"/>
                    <a:pt x="7021957" y="4749292"/>
                  </a:cubicBezTo>
                  <a:lnTo>
                    <a:pt x="7021957" y="4736592"/>
                  </a:lnTo>
                  <a:lnTo>
                    <a:pt x="7021957" y="4749292"/>
                  </a:lnTo>
                  <a:lnTo>
                    <a:pt x="71755" y="4749292"/>
                  </a:lnTo>
                  <a:lnTo>
                    <a:pt x="71755" y="4736592"/>
                  </a:lnTo>
                  <a:lnTo>
                    <a:pt x="71755" y="4749292"/>
                  </a:lnTo>
                  <a:cubicBezTo>
                    <a:pt x="32131" y="4749292"/>
                    <a:pt x="0" y="4717161"/>
                    <a:pt x="0" y="4677537"/>
                  </a:cubicBezTo>
                  <a:lnTo>
                    <a:pt x="0" y="71755"/>
                  </a:lnTo>
                  <a:lnTo>
                    <a:pt x="12700" y="71755"/>
                  </a:lnTo>
                  <a:lnTo>
                    <a:pt x="0" y="71755"/>
                  </a:lnTo>
                  <a:moveTo>
                    <a:pt x="25400" y="71755"/>
                  </a:moveTo>
                  <a:lnTo>
                    <a:pt x="25400" y="4677537"/>
                  </a:lnTo>
                  <a:lnTo>
                    <a:pt x="12700" y="4677537"/>
                  </a:lnTo>
                  <a:lnTo>
                    <a:pt x="25400" y="4677537"/>
                  </a:lnTo>
                  <a:cubicBezTo>
                    <a:pt x="25400" y="4703064"/>
                    <a:pt x="46101" y="4723892"/>
                    <a:pt x="71755" y="4723892"/>
                  </a:cubicBezTo>
                  <a:lnTo>
                    <a:pt x="7021957" y="4723892"/>
                  </a:lnTo>
                  <a:cubicBezTo>
                    <a:pt x="7047611" y="4723892"/>
                    <a:pt x="7068312" y="4703191"/>
                    <a:pt x="7068312" y="4677537"/>
                  </a:cubicBezTo>
                  <a:lnTo>
                    <a:pt x="7068312" y="71755"/>
                  </a:lnTo>
                  <a:cubicBezTo>
                    <a:pt x="7068312" y="46228"/>
                    <a:pt x="7047611" y="25400"/>
                    <a:pt x="7021957" y="25400"/>
                  </a:cubicBezTo>
                  <a:lnTo>
                    <a:pt x="71755" y="25400"/>
                  </a:lnTo>
                  <a:lnTo>
                    <a:pt x="71755" y="12700"/>
                  </a:lnTo>
                  <a:lnTo>
                    <a:pt x="71755" y="25400"/>
                  </a:lnTo>
                  <a:cubicBezTo>
                    <a:pt x="46101" y="25400"/>
                    <a:pt x="25400" y="46101"/>
                    <a:pt x="25400" y="71755"/>
                  </a:cubicBezTo>
                  <a:close/>
                </a:path>
              </a:pathLst>
            </a:custGeom>
            <a:solidFill>
              <a:srgbClr val="40424D"/>
            </a:solidFill>
          </p:spPr>
          <p:txBody>
            <a:bodyPr/>
            <a:p/>
          </p:txBody>
        </p:sp>
      </p:grpSp>
      <p:grpSp>
        <p:nvGrpSpPr>
          <p:cNvPr name="Group 47" id="47"/>
          <p:cNvGrpSpPr/>
          <p:nvPr/>
        </p:nvGrpSpPr>
        <p:grpSpPr>
          <a:xfrm rot="0">
            <a:off x="6486373" y="2276932"/>
            <a:ext cx="76657" cy="3534461"/>
            <a:chOff x="0" y="0"/>
            <a:chExt cx="102210" cy="4712614"/>
          </a:xfrm>
        </p:grpSpPr>
        <p:sp>
          <p:nvSpPr>
            <p:cNvPr name="Freeform 48" id="48"/>
            <p:cNvSpPr/>
            <p:nvPr/>
          </p:nvSpPr>
          <p:spPr>
            <a:xfrm flipH="false" flipV="false" rot="0">
              <a:off x="12700" y="12700"/>
              <a:ext cx="76835" cy="4687189"/>
            </a:xfrm>
            <a:custGeom>
              <a:avLst/>
              <a:gdLst/>
              <a:ahLst/>
              <a:cxnLst/>
              <a:rect r="r" b="b" t="t" l="l"/>
              <a:pathLst>
                <a:path h="4687189" w="76835">
                  <a:moveTo>
                    <a:pt x="0" y="0"/>
                  </a:moveTo>
                  <a:lnTo>
                    <a:pt x="76835" y="0"/>
                  </a:lnTo>
                  <a:lnTo>
                    <a:pt x="76835" y="4687189"/>
                  </a:lnTo>
                  <a:lnTo>
                    <a:pt x="0" y="4687189"/>
                  </a:lnTo>
                  <a:close/>
                </a:path>
              </a:pathLst>
            </a:custGeom>
            <a:solidFill>
              <a:srgbClr val="40424D"/>
            </a:solidFill>
          </p:spPr>
          <p:txBody>
            <a:bodyPr/>
            <a:p/>
          </p:txBody>
        </p:sp>
      </p:grpSp>
      <p:grpSp>
        <p:nvGrpSpPr>
          <p:cNvPr name="Group 49" id="49"/>
          <p:cNvGrpSpPr/>
          <p:nvPr/>
        </p:nvGrpSpPr>
        <p:grpSpPr>
          <a:xfrm rot="0">
            <a:off x="10558577" y="2643073"/>
            <a:ext cx="1001268" cy="1192568"/>
            <a:chOff x="0" y="0"/>
            <a:chExt cx="1335024" cy="1590091"/>
          </a:xfrm>
        </p:grpSpPr>
        <p:sp>
          <p:nvSpPr>
            <p:cNvPr name="Freeform 50" id="50"/>
            <p:cNvSpPr/>
            <p:nvPr/>
          </p:nvSpPr>
          <p:spPr>
            <a:xfrm flipH="false" flipV="false" rot="0">
              <a:off x="0" y="0"/>
              <a:ext cx="1335024" cy="1590091"/>
            </a:xfrm>
            <a:custGeom>
              <a:avLst/>
              <a:gdLst/>
              <a:ahLst/>
              <a:cxnLst/>
              <a:rect r="r" b="b" t="t" l="l"/>
              <a:pathLst>
                <a:path h="1590091" w="1335024">
                  <a:moveTo>
                    <a:pt x="0" y="0"/>
                  </a:moveTo>
                  <a:lnTo>
                    <a:pt x="1335024" y="0"/>
                  </a:lnTo>
                  <a:lnTo>
                    <a:pt x="1335024" y="1590091"/>
                  </a:lnTo>
                  <a:lnTo>
                    <a:pt x="0" y="1590091"/>
                  </a:lnTo>
                  <a:close/>
                </a:path>
              </a:pathLst>
            </a:custGeom>
            <a:blipFill>
              <a:blip r:embed="rId4">
                <a:alphaModFix amt="0"/>
              </a:blip>
              <a:stretch>
                <a:fillRect l="-37879" t="0" r="-37879" b="42493"/>
              </a:stretch>
            </a:blipFill>
          </p:spPr>
          <p:txBody>
            <a:bodyPr/>
            <a:p/>
          </p:txBody>
        </p:sp>
        <p:sp>
          <p:nvSpPr>
            <p:cNvPr name="TextBox 51" id="51"/>
            <p:cNvSpPr txBox="true"/>
            <p:nvPr/>
          </p:nvSpPr>
          <p:spPr>
            <a:xfrm>
              <a:off x="0" y="9525"/>
              <a:ext cx="1335024" cy="15805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02</a:t>
              </a:r>
            </a:p>
          </p:txBody>
        </p:sp>
      </p:grpSp>
      <p:grpSp>
        <p:nvGrpSpPr>
          <p:cNvPr name="Group 52" id="52"/>
          <p:cNvGrpSpPr/>
          <p:nvPr/>
        </p:nvGrpSpPr>
        <p:grpSpPr>
          <a:xfrm rot="0">
            <a:off x="6842989" y="2633548"/>
            <a:ext cx="704850" cy="704850"/>
            <a:chOff x="0" y="0"/>
            <a:chExt cx="939800" cy="939800"/>
          </a:xfrm>
        </p:grpSpPr>
        <p:sp>
          <p:nvSpPr>
            <p:cNvPr name="Freeform 53" id="53"/>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1E1E24"/>
            </a:solidFill>
          </p:spPr>
          <p:txBody>
            <a:bodyPr/>
            <a:p/>
          </p:txBody>
        </p:sp>
        <p:sp>
          <p:nvSpPr>
            <p:cNvPr name="Freeform 54" id="54"/>
            <p:cNvSpPr/>
            <p:nvPr/>
          </p:nvSpPr>
          <p:spPr>
            <a:xfrm flipH="false" flipV="false" rot="0">
              <a:off x="0" y="0"/>
              <a:ext cx="939800" cy="939800"/>
            </a:xfrm>
            <a:custGeom>
              <a:avLst/>
              <a:gdLst/>
              <a:ahLst/>
              <a:cxnLst/>
              <a:rect r="r" b="b" t="t" l="l"/>
              <a:pathLst>
                <a:path h="939800" w="939800">
                  <a:moveTo>
                    <a:pt x="0" y="317500"/>
                  </a:moveTo>
                  <a:cubicBezTo>
                    <a:pt x="0" y="142113"/>
                    <a:pt x="142113" y="0"/>
                    <a:pt x="317500" y="0"/>
                  </a:cubicBezTo>
                  <a:lnTo>
                    <a:pt x="622300" y="0"/>
                  </a:lnTo>
                  <a:lnTo>
                    <a:pt x="622300" y="12700"/>
                  </a:lnTo>
                  <a:lnTo>
                    <a:pt x="622300" y="0"/>
                  </a:lnTo>
                  <a:lnTo>
                    <a:pt x="622300" y="12700"/>
                  </a:lnTo>
                  <a:lnTo>
                    <a:pt x="622300" y="0"/>
                  </a:lnTo>
                  <a:cubicBezTo>
                    <a:pt x="797687" y="0"/>
                    <a:pt x="939800" y="142113"/>
                    <a:pt x="939800" y="317500"/>
                  </a:cubicBezTo>
                  <a:lnTo>
                    <a:pt x="927100" y="317500"/>
                  </a:lnTo>
                  <a:lnTo>
                    <a:pt x="939800" y="317500"/>
                  </a:lnTo>
                  <a:lnTo>
                    <a:pt x="939800" y="622300"/>
                  </a:lnTo>
                  <a:lnTo>
                    <a:pt x="927100" y="622300"/>
                  </a:lnTo>
                  <a:lnTo>
                    <a:pt x="939800" y="622300"/>
                  </a:lnTo>
                  <a:cubicBezTo>
                    <a:pt x="939800" y="797687"/>
                    <a:pt x="797687" y="939800"/>
                    <a:pt x="622300" y="939800"/>
                  </a:cubicBezTo>
                  <a:lnTo>
                    <a:pt x="622300" y="927100"/>
                  </a:lnTo>
                  <a:lnTo>
                    <a:pt x="622300" y="939800"/>
                  </a:lnTo>
                  <a:lnTo>
                    <a:pt x="317500" y="939800"/>
                  </a:lnTo>
                  <a:lnTo>
                    <a:pt x="317500" y="927100"/>
                  </a:lnTo>
                  <a:lnTo>
                    <a:pt x="317500" y="939800"/>
                  </a:lnTo>
                  <a:cubicBezTo>
                    <a:pt x="142113" y="939800"/>
                    <a:pt x="0" y="797687"/>
                    <a:pt x="0" y="622300"/>
                  </a:cubicBezTo>
                  <a:lnTo>
                    <a:pt x="0" y="317500"/>
                  </a:lnTo>
                  <a:lnTo>
                    <a:pt x="12700" y="317500"/>
                  </a:lnTo>
                  <a:lnTo>
                    <a:pt x="0" y="317500"/>
                  </a:lnTo>
                  <a:moveTo>
                    <a:pt x="25400" y="317500"/>
                  </a:moveTo>
                  <a:lnTo>
                    <a:pt x="25400" y="622300"/>
                  </a:lnTo>
                  <a:lnTo>
                    <a:pt x="12700" y="622300"/>
                  </a:lnTo>
                  <a:lnTo>
                    <a:pt x="25400" y="622300"/>
                  </a:lnTo>
                  <a:cubicBezTo>
                    <a:pt x="25400" y="783590"/>
                    <a:pt x="156210" y="914400"/>
                    <a:pt x="317500" y="914400"/>
                  </a:cubicBezTo>
                  <a:lnTo>
                    <a:pt x="622300" y="914400"/>
                  </a:lnTo>
                  <a:cubicBezTo>
                    <a:pt x="783590" y="914400"/>
                    <a:pt x="914400" y="783590"/>
                    <a:pt x="914400" y="622300"/>
                  </a:cubicBezTo>
                  <a:lnTo>
                    <a:pt x="914400" y="317500"/>
                  </a:lnTo>
                  <a:cubicBezTo>
                    <a:pt x="914400" y="156210"/>
                    <a:pt x="783590" y="25400"/>
                    <a:pt x="622300" y="25400"/>
                  </a:cubicBezTo>
                  <a:lnTo>
                    <a:pt x="317500" y="25400"/>
                  </a:lnTo>
                  <a:lnTo>
                    <a:pt x="317500" y="12700"/>
                  </a:lnTo>
                  <a:lnTo>
                    <a:pt x="317500" y="25400"/>
                  </a:lnTo>
                  <a:cubicBezTo>
                    <a:pt x="156210" y="25400"/>
                    <a:pt x="25400" y="156210"/>
                    <a:pt x="25400" y="317500"/>
                  </a:cubicBezTo>
                  <a:close/>
                </a:path>
              </a:pathLst>
            </a:custGeom>
            <a:solidFill>
              <a:srgbClr val="40424D"/>
            </a:solidFill>
          </p:spPr>
          <p:txBody>
            <a:bodyPr/>
            <a:p/>
          </p:txBody>
        </p:sp>
      </p:grpSp>
      <p:grpSp>
        <p:nvGrpSpPr>
          <p:cNvPr name="Group 55" id="55"/>
          <p:cNvGrpSpPr/>
          <p:nvPr/>
        </p:nvGrpSpPr>
        <p:grpSpPr>
          <a:xfrm rot="0">
            <a:off x="7032193" y="2785720"/>
            <a:ext cx="329184" cy="400507"/>
            <a:chOff x="0" y="0"/>
            <a:chExt cx="438912" cy="534010"/>
          </a:xfrm>
        </p:grpSpPr>
        <p:sp>
          <p:nvSpPr>
            <p:cNvPr name="Freeform 56" id="56" descr="preencoded.png"/>
            <p:cNvSpPr/>
            <p:nvPr/>
          </p:nvSpPr>
          <p:spPr>
            <a:xfrm flipH="false" flipV="false" rot="0">
              <a:off x="0" y="0"/>
              <a:ext cx="438912" cy="534035"/>
            </a:xfrm>
            <a:custGeom>
              <a:avLst/>
              <a:gdLst/>
              <a:ahLst/>
              <a:cxnLst/>
              <a:rect r="r" b="b" t="t" l="l"/>
              <a:pathLst>
                <a:path h="534035" w="438912">
                  <a:moveTo>
                    <a:pt x="0" y="0"/>
                  </a:moveTo>
                  <a:lnTo>
                    <a:pt x="438912" y="0"/>
                  </a:lnTo>
                  <a:lnTo>
                    <a:pt x="438912" y="534035"/>
                  </a:lnTo>
                  <a:lnTo>
                    <a:pt x="0" y="534035"/>
                  </a:lnTo>
                  <a:lnTo>
                    <a:pt x="0" y="0"/>
                  </a:lnTo>
                  <a:close/>
                </a:path>
              </a:pathLst>
            </a:custGeom>
            <a:blipFill>
              <a:blip r:embed="rId7"/>
              <a:stretch>
                <a:fillRect l="0" t="13469" r="0" b="13474"/>
              </a:stretch>
            </a:blipFill>
          </p:spPr>
          <p:txBody>
            <a:bodyPr/>
            <a:p/>
          </p:txBody>
        </p:sp>
      </p:grpSp>
      <p:grpSp>
        <p:nvGrpSpPr>
          <p:cNvPr name="Group 57" id="57"/>
          <p:cNvGrpSpPr/>
          <p:nvPr/>
        </p:nvGrpSpPr>
        <p:grpSpPr>
          <a:xfrm rot="0">
            <a:off x="6852514" y="3557930"/>
            <a:ext cx="4758080" cy="498491"/>
            <a:chOff x="0" y="0"/>
            <a:chExt cx="6344107" cy="664654"/>
          </a:xfrm>
        </p:grpSpPr>
        <p:sp>
          <p:nvSpPr>
            <p:cNvPr name="Freeform 58" id="58"/>
            <p:cNvSpPr/>
            <p:nvPr/>
          </p:nvSpPr>
          <p:spPr>
            <a:xfrm flipH="false" flipV="false" rot="0">
              <a:off x="0" y="0"/>
              <a:ext cx="6344108" cy="664655"/>
            </a:xfrm>
            <a:custGeom>
              <a:avLst/>
              <a:gdLst/>
              <a:ahLst/>
              <a:cxnLst/>
              <a:rect r="r" b="b" t="t" l="l"/>
              <a:pathLst>
                <a:path h="664655" w="6344108">
                  <a:moveTo>
                    <a:pt x="0" y="0"/>
                  </a:moveTo>
                  <a:lnTo>
                    <a:pt x="6344108" y="0"/>
                  </a:lnTo>
                  <a:lnTo>
                    <a:pt x="6344108" y="664655"/>
                  </a:lnTo>
                  <a:lnTo>
                    <a:pt x="0" y="664655"/>
                  </a:lnTo>
                  <a:close/>
                </a:path>
              </a:pathLst>
            </a:custGeom>
            <a:blipFill>
              <a:blip r:embed="rId4">
                <a:alphaModFix amt="0"/>
              </a:blip>
              <a:stretch>
                <a:fillRect l="0" t="-145812" r="0" b="-126155"/>
              </a:stretch>
            </a:blipFill>
          </p:spPr>
          <p:txBody>
            <a:bodyPr/>
            <a:p/>
          </p:txBody>
        </p:sp>
        <p:sp>
          <p:nvSpPr>
            <p:cNvPr name="TextBox 59" id="59"/>
            <p:cNvSpPr txBox="true"/>
            <p:nvPr/>
          </p:nvSpPr>
          <p:spPr>
            <a:xfrm>
              <a:off x="0" y="-9525"/>
              <a:ext cx="6344107"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Sagesse Ancestrale</a:t>
              </a:r>
            </a:p>
          </p:txBody>
        </p:sp>
      </p:grpSp>
      <p:grpSp>
        <p:nvGrpSpPr>
          <p:cNvPr name="Group 60" id="60"/>
          <p:cNvGrpSpPr/>
          <p:nvPr/>
        </p:nvGrpSpPr>
        <p:grpSpPr>
          <a:xfrm rot="0">
            <a:off x="6852514" y="4128516"/>
            <a:ext cx="4701845" cy="986181"/>
            <a:chOff x="0" y="0"/>
            <a:chExt cx="6269126" cy="1314908"/>
          </a:xfrm>
        </p:grpSpPr>
        <p:sp>
          <p:nvSpPr>
            <p:cNvPr name="Freeform 61" id="61"/>
            <p:cNvSpPr/>
            <p:nvPr/>
          </p:nvSpPr>
          <p:spPr>
            <a:xfrm flipH="false" flipV="false" rot="0">
              <a:off x="0" y="0"/>
              <a:ext cx="6269126" cy="1314909"/>
            </a:xfrm>
            <a:custGeom>
              <a:avLst/>
              <a:gdLst/>
              <a:ahLst/>
              <a:cxnLst/>
              <a:rect r="r" b="b" t="t" l="l"/>
              <a:pathLst>
                <a:path h="1314909" w="6269126">
                  <a:moveTo>
                    <a:pt x="0" y="0"/>
                  </a:moveTo>
                  <a:lnTo>
                    <a:pt x="6269126" y="0"/>
                  </a:lnTo>
                  <a:lnTo>
                    <a:pt x="6269126" y="1314909"/>
                  </a:lnTo>
                  <a:lnTo>
                    <a:pt x="0" y="1314909"/>
                  </a:lnTo>
                  <a:close/>
                </a:path>
              </a:pathLst>
            </a:custGeom>
            <a:blipFill>
              <a:blip r:embed="rId4">
                <a:alphaModFix amt="0"/>
              </a:blip>
              <a:stretch>
                <a:fillRect l="0" t="-42899" r="0" b="-42899"/>
              </a:stretch>
            </a:blipFill>
          </p:spPr>
          <p:txBody>
            <a:bodyPr/>
            <a:p/>
          </p:txBody>
        </p:sp>
        <p:sp>
          <p:nvSpPr>
            <p:cNvPr name="TextBox 62" id="62"/>
            <p:cNvSpPr txBox="true"/>
            <p:nvPr/>
          </p:nvSpPr>
          <p:spPr>
            <a:xfrm>
              <a:off x="0" y="-9525"/>
              <a:ext cx="6269126" cy="1324433"/>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Réhabiliter les pratiques traditionnelles éprouvées - mouvement, respiration, rythmes, sobriété - et les adapter au monde moderne.</a:t>
              </a:r>
            </a:p>
          </p:txBody>
        </p:sp>
      </p:grpSp>
      <p:grpSp>
        <p:nvGrpSpPr>
          <p:cNvPr name="Group 63" id="63"/>
          <p:cNvGrpSpPr/>
          <p:nvPr/>
        </p:nvGrpSpPr>
        <p:grpSpPr>
          <a:xfrm rot="0">
            <a:off x="12125020" y="2276932"/>
            <a:ext cx="5320284" cy="3561893"/>
            <a:chOff x="0" y="0"/>
            <a:chExt cx="7093712" cy="4749190"/>
          </a:xfrm>
        </p:grpSpPr>
        <p:sp>
          <p:nvSpPr>
            <p:cNvPr name="Freeform 64" id="64"/>
            <p:cNvSpPr/>
            <p:nvPr/>
          </p:nvSpPr>
          <p:spPr>
            <a:xfrm flipH="false" flipV="false" rot="0">
              <a:off x="12700" y="12700"/>
              <a:ext cx="7068312" cy="4723892"/>
            </a:xfrm>
            <a:custGeom>
              <a:avLst/>
              <a:gdLst/>
              <a:ahLst/>
              <a:cxnLst/>
              <a:rect r="r" b="b" t="t" l="l"/>
              <a:pathLst>
                <a:path h="4723892" w="7068312">
                  <a:moveTo>
                    <a:pt x="0" y="59055"/>
                  </a:moveTo>
                  <a:cubicBezTo>
                    <a:pt x="0" y="26416"/>
                    <a:pt x="26416" y="0"/>
                    <a:pt x="59055" y="0"/>
                  </a:cubicBezTo>
                  <a:lnTo>
                    <a:pt x="7009257" y="0"/>
                  </a:lnTo>
                  <a:cubicBezTo>
                    <a:pt x="7041896" y="0"/>
                    <a:pt x="7068312" y="26416"/>
                    <a:pt x="7068312" y="59055"/>
                  </a:cubicBezTo>
                  <a:lnTo>
                    <a:pt x="7068312" y="4664837"/>
                  </a:lnTo>
                  <a:cubicBezTo>
                    <a:pt x="7068312" y="4697476"/>
                    <a:pt x="7041896" y="4723892"/>
                    <a:pt x="7009257" y="4723892"/>
                  </a:cubicBezTo>
                  <a:lnTo>
                    <a:pt x="59055" y="4723892"/>
                  </a:lnTo>
                  <a:cubicBezTo>
                    <a:pt x="26416" y="4723892"/>
                    <a:pt x="0" y="4697476"/>
                    <a:pt x="0" y="4664837"/>
                  </a:cubicBezTo>
                  <a:close/>
                </a:path>
              </a:pathLst>
            </a:custGeom>
            <a:solidFill>
              <a:srgbClr val="1E1E24">
                <a:alpha val="15686"/>
              </a:srgbClr>
            </a:solidFill>
          </p:spPr>
          <p:txBody>
            <a:bodyPr/>
            <a:p/>
          </p:txBody>
        </p:sp>
        <p:sp>
          <p:nvSpPr>
            <p:cNvPr name="Freeform 65" id="65"/>
            <p:cNvSpPr/>
            <p:nvPr/>
          </p:nvSpPr>
          <p:spPr>
            <a:xfrm flipH="false" flipV="false" rot="0">
              <a:off x="0" y="0"/>
              <a:ext cx="7093712" cy="4749292"/>
            </a:xfrm>
            <a:custGeom>
              <a:avLst/>
              <a:gdLst/>
              <a:ahLst/>
              <a:cxnLst/>
              <a:rect r="r" b="b" t="t" l="l"/>
              <a:pathLst>
                <a:path h="4749292" w="7093712">
                  <a:moveTo>
                    <a:pt x="0" y="71755"/>
                  </a:moveTo>
                  <a:cubicBezTo>
                    <a:pt x="0" y="32131"/>
                    <a:pt x="32131" y="0"/>
                    <a:pt x="71755" y="0"/>
                  </a:cubicBezTo>
                  <a:lnTo>
                    <a:pt x="7021957" y="0"/>
                  </a:lnTo>
                  <a:lnTo>
                    <a:pt x="7021957" y="12700"/>
                  </a:lnTo>
                  <a:lnTo>
                    <a:pt x="7021957" y="0"/>
                  </a:lnTo>
                  <a:cubicBezTo>
                    <a:pt x="7061581" y="0"/>
                    <a:pt x="7093712" y="32131"/>
                    <a:pt x="7093712" y="71755"/>
                  </a:cubicBezTo>
                  <a:lnTo>
                    <a:pt x="7081012" y="71755"/>
                  </a:lnTo>
                  <a:lnTo>
                    <a:pt x="7093712" y="71755"/>
                  </a:lnTo>
                  <a:lnTo>
                    <a:pt x="7093712" y="4677537"/>
                  </a:lnTo>
                  <a:lnTo>
                    <a:pt x="7081012" y="4677537"/>
                  </a:lnTo>
                  <a:lnTo>
                    <a:pt x="7093712" y="4677537"/>
                  </a:lnTo>
                  <a:cubicBezTo>
                    <a:pt x="7093712" y="4717161"/>
                    <a:pt x="7061581" y="4749292"/>
                    <a:pt x="7021957" y="4749292"/>
                  </a:cubicBezTo>
                  <a:lnTo>
                    <a:pt x="7021957" y="4736592"/>
                  </a:lnTo>
                  <a:lnTo>
                    <a:pt x="7021957" y="4749292"/>
                  </a:lnTo>
                  <a:lnTo>
                    <a:pt x="71755" y="4749292"/>
                  </a:lnTo>
                  <a:lnTo>
                    <a:pt x="71755" y="4736592"/>
                  </a:lnTo>
                  <a:lnTo>
                    <a:pt x="71755" y="4749292"/>
                  </a:lnTo>
                  <a:cubicBezTo>
                    <a:pt x="32131" y="4749292"/>
                    <a:pt x="0" y="4717161"/>
                    <a:pt x="0" y="4677537"/>
                  </a:cubicBezTo>
                  <a:lnTo>
                    <a:pt x="0" y="71755"/>
                  </a:lnTo>
                  <a:lnTo>
                    <a:pt x="12700" y="71755"/>
                  </a:lnTo>
                  <a:lnTo>
                    <a:pt x="0" y="71755"/>
                  </a:lnTo>
                  <a:moveTo>
                    <a:pt x="25400" y="71755"/>
                  </a:moveTo>
                  <a:lnTo>
                    <a:pt x="25400" y="4677537"/>
                  </a:lnTo>
                  <a:lnTo>
                    <a:pt x="12700" y="4677537"/>
                  </a:lnTo>
                  <a:lnTo>
                    <a:pt x="25400" y="4677537"/>
                  </a:lnTo>
                  <a:cubicBezTo>
                    <a:pt x="25400" y="4703064"/>
                    <a:pt x="46101" y="4723892"/>
                    <a:pt x="71755" y="4723892"/>
                  </a:cubicBezTo>
                  <a:lnTo>
                    <a:pt x="7021957" y="4723892"/>
                  </a:lnTo>
                  <a:cubicBezTo>
                    <a:pt x="7047611" y="4723892"/>
                    <a:pt x="7068312" y="4703191"/>
                    <a:pt x="7068312" y="4677537"/>
                  </a:cubicBezTo>
                  <a:lnTo>
                    <a:pt x="7068312" y="71755"/>
                  </a:lnTo>
                  <a:cubicBezTo>
                    <a:pt x="7068312" y="46228"/>
                    <a:pt x="7047611" y="25400"/>
                    <a:pt x="7021957" y="25400"/>
                  </a:cubicBezTo>
                  <a:lnTo>
                    <a:pt x="71755" y="25400"/>
                  </a:lnTo>
                  <a:lnTo>
                    <a:pt x="71755" y="12700"/>
                  </a:lnTo>
                  <a:lnTo>
                    <a:pt x="71755" y="25400"/>
                  </a:lnTo>
                  <a:cubicBezTo>
                    <a:pt x="46101" y="25400"/>
                    <a:pt x="25400" y="46101"/>
                    <a:pt x="25400" y="71755"/>
                  </a:cubicBezTo>
                  <a:close/>
                </a:path>
              </a:pathLst>
            </a:custGeom>
            <a:solidFill>
              <a:srgbClr val="40424D"/>
            </a:solidFill>
          </p:spPr>
          <p:txBody>
            <a:bodyPr/>
            <a:p/>
          </p:txBody>
        </p:sp>
      </p:grpSp>
      <p:grpSp>
        <p:nvGrpSpPr>
          <p:cNvPr name="Group 66" id="66"/>
          <p:cNvGrpSpPr/>
          <p:nvPr/>
        </p:nvGrpSpPr>
        <p:grpSpPr>
          <a:xfrm rot="0">
            <a:off x="12125020" y="2276932"/>
            <a:ext cx="76657" cy="3534461"/>
            <a:chOff x="0" y="0"/>
            <a:chExt cx="102210" cy="4712614"/>
          </a:xfrm>
        </p:grpSpPr>
        <p:sp>
          <p:nvSpPr>
            <p:cNvPr name="Freeform 67" id="67"/>
            <p:cNvSpPr/>
            <p:nvPr/>
          </p:nvSpPr>
          <p:spPr>
            <a:xfrm flipH="false" flipV="false" rot="0">
              <a:off x="12700" y="12700"/>
              <a:ext cx="76835" cy="4687189"/>
            </a:xfrm>
            <a:custGeom>
              <a:avLst/>
              <a:gdLst/>
              <a:ahLst/>
              <a:cxnLst/>
              <a:rect r="r" b="b" t="t" l="l"/>
              <a:pathLst>
                <a:path h="4687189" w="76835">
                  <a:moveTo>
                    <a:pt x="0" y="0"/>
                  </a:moveTo>
                  <a:lnTo>
                    <a:pt x="76835" y="0"/>
                  </a:lnTo>
                  <a:lnTo>
                    <a:pt x="76835" y="4687189"/>
                  </a:lnTo>
                  <a:lnTo>
                    <a:pt x="0" y="4687189"/>
                  </a:lnTo>
                  <a:close/>
                </a:path>
              </a:pathLst>
            </a:custGeom>
            <a:solidFill>
              <a:srgbClr val="40424D"/>
            </a:solidFill>
          </p:spPr>
          <p:txBody>
            <a:bodyPr/>
            <a:p/>
          </p:txBody>
        </p:sp>
      </p:grpSp>
      <p:grpSp>
        <p:nvGrpSpPr>
          <p:cNvPr name="Group 68" id="68"/>
          <p:cNvGrpSpPr/>
          <p:nvPr/>
        </p:nvGrpSpPr>
        <p:grpSpPr>
          <a:xfrm rot="0">
            <a:off x="16205454" y="2643073"/>
            <a:ext cx="986180" cy="1192568"/>
            <a:chOff x="0" y="0"/>
            <a:chExt cx="1314907" cy="1590091"/>
          </a:xfrm>
        </p:grpSpPr>
        <p:sp>
          <p:nvSpPr>
            <p:cNvPr name="Freeform 69" id="69"/>
            <p:cNvSpPr/>
            <p:nvPr/>
          </p:nvSpPr>
          <p:spPr>
            <a:xfrm flipH="false" flipV="false" rot="0">
              <a:off x="0" y="0"/>
              <a:ext cx="1314908" cy="1590091"/>
            </a:xfrm>
            <a:custGeom>
              <a:avLst/>
              <a:gdLst/>
              <a:ahLst/>
              <a:cxnLst/>
              <a:rect r="r" b="b" t="t" l="l"/>
              <a:pathLst>
                <a:path h="1590091" w="1314908">
                  <a:moveTo>
                    <a:pt x="0" y="0"/>
                  </a:moveTo>
                  <a:lnTo>
                    <a:pt x="1314908" y="0"/>
                  </a:lnTo>
                  <a:lnTo>
                    <a:pt x="1314908" y="1590091"/>
                  </a:lnTo>
                  <a:lnTo>
                    <a:pt x="0" y="1590091"/>
                  </a:lnTo>
                  <a:close/>
                </a:path>
              </a:pathLst>
            </a:custGeom>
            <a:blipFill>
              <a:blip r:embed="rId4">
                <a:alphaModFix amt="0"/>
              </a:blip>
              <a:stretch>
                <a:fillRect l="-39223" t="0" r="-39223" b="42493"/>
              </a:stretch>
            </a:blipFill>
          </p:spPr>
          <p:txBody>
            <a:bodyPr/>
            <a:p/>
          </p:txBody>
        </p:sp>
        <p:sp>
          <p:nvSpPr>
            <p:cNvPr name="TextBox 70" id="70"/>
            <p:cNvSpPr txBox="true"/>
            <p:nvPr/>
          </p:nvSpPr>
          <p:spPr>
            <a:xfrm>
              <a:off x="0" y="9525"/>
              <a:ext cx="1314907" cy="15805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03</a:t>
              </a:r>
            </a:p>
          </p:txBody>
        </p:sp>
      </p:grpSp>
      <p:grpSp>
        <p:nvGrpSpPr>
          <p:cNvPr name="Group 71" id="71"/>
          <p:cNvGrpSpPr/>
          <p:nvPr/>
        </p:nvGrpSpPr>
        <p:grpSpPr>
          <a:xfrm rot="0">
            <a:off x="12483008" y="2633548"/>
            <a:ext cx="704850" cy="704850"/>
            <a:chOff x="0" y="0"/>
            <a:chExt cx="939800" cy="939800"/>
          </a:xfrm>
        </p:grpSpPr>
        <p:sp>
          <p:nvSpPr>
            <p:cNvPr name="Freeform 72" id="72"/>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1E1E24"/>
            </a:solidFill>
          </p:spPr>
          <p:txBody>
            <a:bodyPr/>
            <a:p/>
          </p:txBody>
        </p:sp>
        <p:sp>
          <p:nvSpPr>
            <p:cNvPr name="Freeform 73" id="73"/>
            <p:cNvSpPr/>
            <p:nvPr/>
          </p:nvSpPr>
          <p:spPr>
            <a:xfrm flipH="false" flipV="false" rot="0">
              <a:off x="0" y="0"/>
              <a:ext cx="939800" cy="939800"/>
            </a:xfrm>
            <a:custGeom>
              <a:avLst/>
              <a:gdLst/>
              <a:ahLst/>
              <a:cxnLst/>
              <a:rect r="r" b="b" t="t" l="l"/>
              <a:pathLst>
                <a:path h="939800" w="939800">
                  <a:moveTo>
                    <a:pt x="0" y="317500"/>
                  </a:moveTo>
                  <a:cubicBezTo>
                    <a:pt x="0" y="142113"/>
                    <a:pt x="142113" y="0"/>
                    <a:pt x="317500" y="0"/>
                  </a:cubicBezTo>
                  <a:lnTo>
                    <a:pt x="622300" y="0"/>
                  </a:lnTo>
                  <a:lnTo>
                    <a:pt x="622300" y="12700"/>
                  </a:lnTo>
                  <a:lnTo>
                    <a:pt x="622300" y="0"/>
                  </a:lnTo>
                  <a:lnTo>
                    <a:pt x="622300" y="12700"/>
                  </a:lnTo>
                  <a:lnTo>
                    <a:pt x="622300" y="0"/>
                  </a:lnTo>
                  <a:cubicBezTo>
                    <a:pt x="797687" y="0"/>
                    <a:pt x="939800" y="142113"/>
                    <a:pt x="939800" y="317500"/>
                  </a:cubicBezTo>
                  <a:lnTo>
                    <a:pt x="927100" y="317500"/>
                  </a:lnTo>
                  <a:lnTo>
                    <a:pt x="939800" y="317500"/>
                  </a:lnTo>
                  <a:lnTo>
                    <a:pt x="939800" y="622300"/>
                  </a:lnTo>
                  <a:lnTo>
                    <a:pt x="927100" y="622300"/>
                  </a:lnTo>
                  <a:lnTo>
                    <a:pt x="939800" y="622300"/>
                  </a:lnTo>
                  <a:cubicBezTo>
                    <a:pt x="939800" y="797687"/>
                    <a:pt x="797687" y="939800"/>
                    <a:pt x="622300" y="939800"/>
                  </a:cubicBezTo>
                  <a:lnTo>
                    <a:pt x="622300" y="927100"/>
                  </a:lnTo>
                  <a:lnTo>
                    <a:pt x="622300" y="939800"/>
                  </a:lnTo>
                  <a:lnTo>
                    <a:pt x="317500" y="939800"/>
                  </a:lnTo>
                  <a:lnTo>
                    <a:pt x="317500" y="927100"/>
                  </a:lnTo>
                  <a:lnTo>
                    <a:pt x="317500" y="939800"/>
                  </a:lnTo>
                  <a:cubicBezTo>
                    <a:pt x="142113" y="939800"/>
                    <a:pt x="0" y="797687"/>
                    <a:pt x="0" y="622300"/>
                  </a:cubicBezTo>
                  <a:lnTo>
                    <a:pt x="0" y="317500"/>
                  </a:lnTo>
                  <a:lnTo>
                    <a:pt x="12700" y="317500"/>
                  </a:lnTo>
                  <a:lnTo>
                    <a:pt x="0" y="317500"/>
                  </a:lnTo>
                  <a:moveTo>
                    <a:pt x="25400" y="317500"/>
                  </a:moveTo>
                  <a:lnTo>
                    <a:pt x="25400" y="622300"/>
                  </a:lnTo>
                  <a:lnTo>
                    <a:pt x="12700" y="622300"/>
                  </a:lnTo>
                  <a:lnTo>
                    <a:pt x="25400" y="622300"/>
                  </a:lnTo>
                  <a:cubicBezTo>
                    <a:pt x="25400" y="783590"/>
                    <a:pt x="156210" y="914400"/>
                    <a:pt x="317500" y="914400"/>
                  </a:cubicBezTo>
                  <a:lnTo>
                    <a:pt x="622300" y="914400"/>
                  </a:lnTo>
                  <a:cubicBezTo>
                    <a:pt x="783590" y="914400"/>
                    <a:pt x="914400" y="783590"/>
                    <a:pt x="914400" y="622300"/>
                  </a:cubicBezTo>
                  <a:lnTo>
                    <a:pt x="914400" y="317500"/>
                  </a:lnTo>
                  <a:cubicBezTo>
                    <a:pt x="914400" y="156210"/>
                    <a:pt x="783590" y="25400"/>
                    <a:pt x="622300" y="25400"/>
                  </a:cubicBezTo>
                  <a:lnTo>
                    <a:pt x="317500" y="25400"/>
                  </a:lnTo>
                  <a:lnTo>
                    <a:pt x="317500" y="12700"/>
                  </a:lnTo>
                  <a:lnTo>
                    <a:pt x="317500" y="25400"/>
                  </a:lnTo>
                  <a:cubicBezTo>
                    <a:pt x="156210" y="25400"/>
                    <a:pt x="25400" y="156210"/>
                    <a:pt x="25400" y="317500"/>
                  </a:cubicBezTo>
                  <a:close/>
                </a:path>
              </a:pathLst>
            </a:custGeom>
            <a:solidFill>
              <a:srgbClr val="40424D"/>
            </a:solidFill>
          </p:spPr>
          <p:txBody>
            <a:bodyPr/>
            <a:p/>
          </p:txBody>
        </p:sp>
      </p:grpSp>
      <p:grpSp>
        <p:nvGrpSpPr>
          <p:cNvPr name="Group 74" id="74"/>
          <p:cNvGrpSpPr/>
          <p:nvPr/>
        </p:nvGrpSpPr>
        <p:grpSpPr>
          <a:xfrm rot="0">
            <a:off x="12691415" y="2785720"/>
            <a:ext cx="285293" cy="400507"/>
            <a:chOff x="0" y="0"/>
            <a:chExt cx="380390" cy="534010"/>
          </a:xfrm>
        </p:grpSpPr>
        <p:sp>
          <p:nvSpPr>
            <p:cNvPr name="Freeform 75" id="75" descr="preencoded.png"/>
            <p:cNvSpPr/>
            <p:nvPr/>
          </p:nvSpPr>
          <p:spPr>
            <a:xfrm flipH="false" flipV="false" rot="0">
              <a:off x="0" y="0"/>
              <a:ext cx="380365" cy="534035"/>
            </a:xfrm>
            <a:custGeom>
              <a:avLst/>
              <a:gdLst/>
              <a:ahLst/>
              <a:cxnLst/>
              <a:rect r="r" b="b" t="t" l="l"/>
              <a:pathLst>
                <a:path h="534035" w="380365">
                  <a:moveTo>
                    <a:pt x="0" y="0"/>
                  </a:moveTo>
                  <a:lnTo>
                    <a:pt x="380365" y="0"/>
                  </a:lnTo>
                  <a:lnTo>
                    <a:pt x="380365" y="534035"/>
                  </a:lnTo>
                  <a:lnTo>
                    <a:pt x="0" y="534035"/>
                  </a:lnTo>
                  <a:lnTo>
                    <a:pt x="0" y="0"/>
                  </a:lnTo>
                  <a:close/>
                </a:path>
              </a:pathLst>
            </a:custGeom>
            <a:blipFill>
              <a:blip r:embed="rId8"/>
              <a:stretch>
                <a:fillRect l="0" t="14382" r="-6" b="14387"/>
              </a:stretch>
            </a:blipFill>
          </p:spPr>
          <p:txBody>
            <a:bodyPr/>
            <a:p/>
          </p:txBody>
        </p:sp>
      </p:grpSp>
      <p:grpSp>
        <p:nvGrpSpPr>
          <p:cNvPr name="Group 76" id="76"/>
          <p:cNvGrpSpPr/>
          <p:nvPr/>
        </p:nvGrpSpPr>
        <p:grpSpPr>
          <a:xfrm rot="0">
            <a:off x="12492533" y="3557930"/>
            <a:ext cx="4758080" cy="498491"/>
            <a:chOff x="0" y="0"/>
            <a:chExt cx="6344107" cy="664654"/>
          </a:xfrm>
        </p:grpSpPr>
        <p:sp>
          <p:nvSpPr>
            <p:cNvPr name="Freeform 77" id="77"/>
            <p:cNvSpPr/>
            <p:nvPr/>
          </p:nvSpPr>
          <p:spPr>
            <a:xfrm flipH="false" flipV="false" rot="0">
              <a:off x="0" y="0"/>
              <a:ext cx="6344108" cy="664655"/>
            </a:xfrm>
            <a:custGeom>
              <a:avLst/>
              <a:gdLst/>
              <a:ahLst/>
              <a:cxnLst/>
              <a:rect r="r" b="b" t="t" l="l"/>
              <a:pathLst>
                <a:path h="664655" w="6344108">
                  <a:moveTo>
                    <a:pt x="0" y="0"/>
                  </a:moveTo>
                  <a:lnTo>
                    <a:pt x="6344108" y="0"/>
                  </a:lnTo>
                  <a:lnTo>
                    <a:pt x="6344108" y="664655"/>
                  </a:lnTo>
                  <a:lnTo>
                    <a:pt x="0" y="664655"/>
                  </a:lnTo>
                  <a:close/>
                </a:path>
              </a:pathLst>
            </a:custGeom>
            <a:blipFill>
              <a:blip r:embed="rId4">
                <a:alphaModFix amt="0"/>
              </a:blip>
              <a:stretch>
                <a:fillRect l="0" t="-145812" r="0" b="-126155"/>
              </a:stretch>
            </a:blipFill>
          </p:spPr>
          <p:txBody>
            <a:bodyPr/>
            <a:p/>
          </p:txBody>
        </p:sp>
        <p:sp>
          <p:nvSpPr>
            <p:cNvPr name="TextBox 78" id="78"/>
            <p:cNvSpPr txBox="true"/>
            <p:nvPr/>
          </p:nvSpPr>
          <p:spPr>
            <a:xfrm>
              <a:off x="0" y="-9525"/>
              <a:ext cx="6344107"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Imiter la Nature</a:t>
              </a:r>
            </a:p>
          </p:txBody>
        </p:sp>
      </p:grpSp>
      <p:grpSp>
        <p:nvGrpSpPr>
          <p:cNvPr name="Group 79" id="79"/>
          <p:cNvGrpSpPr/>
          <p:nvPr/>
        </p:nvGrpSpPr>
        <p:grpSpPr>
          <a:xfrm rot="0">
            <a:off x="12492533" y="4128516"/>
            <a:ext cx="4701845" cy="986181"/>
            <a:chOff x="0" y="0"/>
            <a:chExt cx="6269126" cy="1314908"/>
          </a:xfrm>
        </p:grpSpPr>
        <p:sp>
          <p:nvSpPr>
            <p:cNvPr name="Freeform 80" id="80"/>
            <p:cNvSpPr/>
            <p:nvPr/>
          </p:nvSpPr>
          <p:spPr>
            <a:xfrm flipH="false" flipV="false" rot="0">
              <a:off x="0" y="0"/>
              <a:ext cx="6269126" cy="1314909"/>
            </a:xfrm>
            <a:custGeom>
              <a:avLst/>
              <a:gdLst/>
              <a:ahLst/>
              <a:cxnLst/>
              <a:rect r="r" b="b" t="t" l="l"/>
              <a:pathLst>
                <a:path h="1314909" w="6269126">
                  <a:moveTo>
                    <a:pt x="0" y="0"/>
                  </a:moveTo>
                  <a:lnTo>
                    <a:pt x="6269126" y="0"/>
                  </a:lnTo>
                  <a:lnTo>
                    <a:pt x="6269126" y="1314909"/>
                  </a:lnTo>
                  <a:lnTo>
                    <a:pt x="0" y="1314909"/>
                  </a:lnTo>
                  <a:close/>
                </a:path>
              </a:pathLst>
            </a:custGeom>
            <a:blipFill>
              <a:blip r:embed="rId4">
                <a:alphaModFix amt="0"/>
              </a:blip>
              <a:stretch>
                <a:fillRect l="0" t="-42899" r="0" b="-42899"/>
              </a:stretch>
            </a:blipFill>
          </p:spPr>
          <p:txBody>
            <a:bodyPr/>
            <a:p/>
          </p:txBody>
        </p:sp>
        <p:sp>
          <p:nvSpPr>
            <p:cNvPr name="TextBox 81" id="81"/>
            <p:cNvSpPr txBox="true"/>
            <p:nvPr/>
          </p:nvSpPr>
          <p:spPr>
            <a:xfrm>
              <a:off x="0" y="-9525"/>
              <a:ext cx="6269126" cy="1324433"/>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Respecter les rythmes biologiques, la saisonnalité, l'alternance stress-récupération, et s'aligner avec les lois du vivant.</a:t>
              </a:r>
            </a:p>
          </p:txBody>
        </p:sp>
      </p:grpSp>
      <p:grpSp>
        <p:nvGrpSpPr>
          <p:cNvPr name="Group 82" id="82"/>
          <p:cNvGrpSpPr/>
          <p:nvPr/>
        </p:nvGrpSpPr>
        <p:grpSpPr>
          <a:xfrm rot="0">
            <a:off x="847725" y="6162675"/>
            <a:ext cx="5320284" cy="3561893"/>
            <a:chOff x="0" y="0"/>
            <a:chExt cx="7093712" cy="4749190"/>
          </a:xfrm>
        </p:grpSpPr>
        <p:sp>
          <p:nvSpPr>
            <p:cNvPr name="Freeform 83" id="83"/>
            <p:cNvSpPr/>
            <p:nvPr/>
          </p:nvSpPr>
          <p:spPr>
            <a:xfrm flipH="false" flipV="false" rot="0">
              <a:off x="12700" y="12700"/>
              <a:ext cx="7068312" cy="4723892"/>
            </a:xfrm>
            <a:custGeom>
              <a:avLst/>
              <a:gdLst/>
              <a:ahLst/>
              <a:cxnLst/>
              <a:rect r="r" b="b" t="t" l="l"/>
              <a:pathLst>
                <a:path h="4723892" w="7068312">
                  <a:moveTo>
                    <a:pt x="0" y="59055"/>
                  </a:moveTo>
                  <a:cubicBezTo>
                    <a:pt x="0" y="26416"/>
                    <a:pt x="26416" y="0"/>
                    <a:pt x="59055" y="0"/>
                  </a:cubicBezTo>
                  <a:lnTo>
                    <a:pt x="7009257" y="0"/>
                  </a:lnTo>
                  <a:cubicBezTo>
                    <a:pt x="7041896" y="0"/>
                    <a:pt x="7068312" y="26416"/>
                    <a:pt x="7068312" y="59055"/>
                  </a:cubicBezTo>
                  <a:lnTo>
                    <a:pt x="7068312" y="4664837"/>
                  </a:lnTo>
                  <a:cubicBezTo>
                    <a:pt x="7068312" y="4697476"/>
                    <a:pt x="7041896" y="4723892"/>
                    <a:pt x="7009257" y="4723892"/>
                  </a:cubicBezTo>
                  <a:lnTo>
                    <a:pt x="59055" y="4723892"/>
                  </a:lnTo>
                  <a:cubicBezTo>
                    <a:pt x="26416" y="4723892"/>
                    <a:pt x="0" y="4697476"/>
                    <a:pt x="0" y="4664837"/>
                  </a:cubicBezTo>
                  <a:close/>
                </a:path>
              </a:pathLst>
            </a:custGeom>
            <a:solidFill>
              <a:srgbClr val="1E1E24">
                <a:alpha val="15686"/>
              </a:srgbClr>
            </a:solidFill>
          </p:spPr>
          <p:txBody>
            <a:bodyPr/>
            <a:p/>
          </p:txBody>
        </p:sp>
        <p:sp>
          <p:nvSpPr>
            <p:cNvPr name="Freeform 84" id="84"/>
            <p:cNvSpPr/>
            <p:nvPr/>
          </p:nvSpPr>
          <p:spPr>
            <a:xfrm flipH="false" flipV="false" rot="0">
              <a:off x="0" y="0"/>
              <a:ext cx="7093712" cy="4749292"/>
            </a:xfrm>
            <a:custGeom>
              <a:avLst/>
              <a:gdLst/>
              <a:ahLst/>
              <a:cxnLst/>
              <a:rect r="r" b="b" t="t" l="l"/>
              <a:pathLst>
                <a:path h="4749292" w="7093712">
                  <a:moveTo>
                    <a:pt x="0" y="71755"/>
                  </a:moveTo>
                  <a:cubicBezTo>
                    <a:pt x="0" y="32131"/>
                    <a:pt x="32131" y="0"/>
                    <a:pt x="71755" y="0"/>
                  </a:cubicBezTo>
                  <a:lnTo>
                    <a:pt x="7021957" y="0"/>
                  </a:lnTo>
                  <a:lnTo>
                    <a:pt x="7021957" y="12700"/>
                  </a:lnTo>
                  <a:lnTo>
                    <a:pt x="7021957" y="0"/>
                  </a:lnTo>
                  <a:cubicBezTo>
                    <a:pt x="7061581" y="0"/>
                    <a:pt x="7093712" y="32131"/>
                    <a:pt x="7093712" y="71755"/>
                  </a:cubicBezTo>
                  <a:lnTo>
                    <a:pt x="7081012" y="71755"/>
                  </a:lnTo>
                  <a:lnTo>
                    <a:pt x="7093712" y="71755"/>
                  </a:lnTo>
                  <a:lnTo>
                    <a:pt x="7093712" y="4677537"/>
                  </a:lnTo>
                  <a:lnTo>
                    <a:pt x="7081012" y="4677537"/>
                  </a:lnTo>
                  <a:lnTo>
                    <a:pt x="7093712" y="4677537"/>
                  </a:lnTo>
                  <a:cubicBezTo>
                    <a:pt x="7093712" y="4717161"/>
                    <a:pt x="7061581" y="4749292"/>
                    <a:pt x="7021957" y="4749292"/>
                  </a:cubicBezTo>
                  <a:lnTo>
                    <a:pt x="7021957" y="4736592"/>
                  </a:lnTo>
                  <a:lnTo>
                    <a:pt x="7021957" y="4749292"/>
                  </a:lnTo>
                  <a:lnTo>
                    <a:pt x="71755" y="4749292"/>
                  </a:lnTo>
                  <a:lnTo>
                    <a:pt x="71755" y="4736592"/>
                  </a:lnTo>
                  <a:lnTo>
                    <a:pt x="71755" y="4749292"/>
                  </a:lnTo>
                  <a:cubicBezTo>
                    <a:pt x="32131" y="4749292"/>
                    <a:pt x="0" y="4717161"/>
                    <a:pt x="0" y="4677537"/>
                  </a:cubicBezTo>
                  <a:lnTo>
                    <a:pt x="0" y="71755"/>
                  </a:lnTo>
                  <a:lnTo>
                    <a:pt x="12700" y="71755"/>
                  </a:lnTo>
                  <a:lnTo>
                    <a:pt x="0" y="71755"/>
                  </a:lnTo>
                  <a:moveTo>
                    <a:pt x="25400" y="71755"/>
                  </a:moveTo>
                  <a:lnTo>
                    <a:pt x="25400" y="4677537"/>
                  </a:lnTo>
                  <a:lnTo>
                    <a:pt x="12700" y="4677537"/>
                  </a:lnTo>
                  <a:lnTo>
                    <a:pt x="25400" y="4677537"/>
                  </a:lnTo>
                  <a:cubicBezTo>
                    <a:pt x="25400" y="4703064"/>
                    <a:pt x="46101" y="4723892"/>
                    <a:pt x="71755" y="4723892"/>
                  </a:cubicBezTo>
                  <a:lnTo>
                    <a:pt x="7021957" y="4723892"/>
                  </a:lnTo>
                  <a:cubicBezTo>
                    <a:pt x="7047611" y="4723892"/>
                    <a:pt x="7068312" y="4703191"/>
                    <a:pt x="7068312" y="4677537"/>
                  </a:cubicBezTo>
                  <a:lnTo>
                    <a:pt x="7068312" y="71755"/>
                  </a:lnTo>
                  <a:cubicBezTo>
                    <a:pt x="7068312" y="46228"/>
                    <a:pt x="7047611" y="25400"/>
                    <a:pt x="7021957" y="25400"/>
                  </a:cubicBezTo>
                  <a:lnTo>
                    <a:pt x="71755" y="25400"/>
                  </a:lnTo>
                  <a:lnTo>
                    <a:pt x="71755" y="12700"/>
                  </a:lnTo>
                  <a:lnTo>
                    <a:pt x="71755" y="25400"/>
                  </a:lnTo>
                  <a:cubicBezTo>
                    <a:pt x="46101" y="25400"/>
                    <a:pt x="25400" y="46101"/>
                    <a:pt x="25400" y="71755"/>
                  </a:cubicBezTo>
                  <a:close/>
                </a:path>
              </a:pathLst>
            </a:custGeom>
            <a:solidFill>
              <a:srgbClr val="40424D"/>
            </a:solidFill>
          </p:spPr>
          <p:txBody>
            <a:bodyPr/>
            <a:p/>
          </p:txBody>
        </p:sp>
      </p:grpSp>
      <p:grpSp>
        <p:nvGrpSpPr>
          <p:cNvPr name="Group 85" id="85"/>
          <p:cNvGrpSpPr/>
          <p:nvPr/>
        </p:nvGrpSpPr>
        <p:grpSpPr>
          <a:xfrm rot="0">
            <a:off x="847725" y="6162675"/>
            <a:ext cx="76657" cy="3534461"/>
            <a:chOff x="0" y="0"/>
            <a:chExt cx="102210" cy="4712614"/>
          </a:xfrm>
        </p:grpSpPr>
        <p:sp>
          <p:nvSpPr>
            <p:cNvPr name="Freeform 86" id="86"/>
            <p:cNvSpPr/>
            <p:nvPr/>
          </p:nvSpPr>
          <p:spPr>
            <a:xfrm flipH="false" flipV="false" rot="0">
              <a:off x="12700" y="12700"/>
              <a:ext cx="76835" cy="4687189"/>
            </a:xfrm>
            <a:custGeom>
              <a:avLst/>
              <a:gdLst/>
              <a:ahLst/>
              <a:cxnLst/>
              <a:rect r="r" b="b" t="t" l="l"/>
              <a:pathLst>
                <a:path h="4687189" w="76835">
                  <a:moveTo>
                    <a:pt x="0" y="0"/>
                  </a:moveTo>
                  <a:lnTo>
                    <a:pt x="76835" y="0"/>
                  </a:lnTo>
                  <a:lnTo>
                    <a:pt x="76835" y="4687189"/>
                  </a:lnTo>
                  <a:lnTo>
                    <a:pt x="0" y="4687189"/>
                  </a:lnTo>
                  <a:close/>
                </a:path>
              </a:pathLst>
            </a:custGeom>
            <a:solidFill>
              <a:srgbClr val="40424D"/>
            </a:solidFill>
          </p:spPr>
          <p:txBody>
            <a:bodyPr/>
            <a:p/>
          </p:txBody>
        </p:sp>
      </p:grpSp>
      <p:grpSp>
        <p:nvGrpSpPr>
          <p:cNvPr name="Group 87" id="87"/>
          <p:cNvGrpSpPr/>
          <p:nvPr/>
        </p:nvGrpSpPr>
        <p:grpSpPr>
          <a:xfrm rot="0">
            <a:off x="4911700" y="6528816"/>
            <a:ext cx="1001268" cy="1192568"/>
            <a:chOff x="0" y="0"/>
            <a:chExt cx="1335024" cy="1590091"/>
          </a:xfrm>
        </p:grpSpPr>
        <p:sp>
          <p:nvSpPr>
            <p:cNvPr name="Freeform 88" id="88"/>
            <p:cNvSpPr/>
            <p:nvPr/>
          </p:nvSpPr>
          <p:spPr>
            <a:xfrm flipH="false" flipV="false" rot="0">
              <a:off x="0" y="0"/>
              <a:ext cx="1335024" cy="1590091"/>
            </a:xfrm>
            <a:custGeom>
              <a:avLst/>
              <a:gdLst/>
              <a:ahLst/>
              <a:cxnLst/>
              <a:rect r="r" b="b" t="t" l="l"/>
              <a:pathLst>
                <a:path h="1590091" w="1335024">
                  <a:moveTo>
                    <a:pt x="0" y="0"/>
                  </a:moveTo>
                  <a:lnTo>
                    <a:pt x="1335024" y="0"/>
                  </a:lnTo>
                  <a:lnTo>
                    <a:pt x="1335024" y="1590091"/>
                  </a:lnTo>
                  <a:lnTo>
                    <a:pt x="0" y="1590091"/>
                  </a:lnTo>
                  <a:close/>
                </a:path>
              </a:pathLst>
            </a:custGeom>
            <a:blipFill>
              <a:blip r:embed="rId4">
                <a:alphaModFix amt="0"/>
              </a:blip>
              <a:stretch>
                <a:fillRect l="-37879" t="0" r="-37879" b="42493"/>
              </a:stretch>
            </a:blipFill>
          </p:spPr>
          <p:txBody>
            <a:bodyPr/>
            <a:p/>
          </p:txBody>
        </p:sp>
        <p:sp>
          <p:nvSpPr>
            <p:cNvPr name="TextBox 89" id="89"/>
            <p:cNvSpPr txBox="true"/>
            <p:nvPr/>
          </p:nvSpPr>
          <p:spPr>
            <a:xfrm>
              <a:off x="0" y="9525"/>
              <a:ext cx="1335024" cy="15805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04</a:t>
              </a:r>
            </a:p>
          </p:txBody>
        </p:sp>
      </p:grpSp>
      <p:grpSp>
        <p:nvGrpSpPr>
          <p:cNvPr name="Group 90" id="90"/>
          <p:cNvGrpSpPr/>
          <p:nvPr/>
        </p:nvGrpSpPr>
        <p:grpSpPr>
          <a:xfrm rot="0">
            <a:off x="1204341" y="6519291"/>
            <a:ext cx="704850" cy="704850"/>
            <a:chOff x="0" y="0"/>
            <a:chExt cx="939800" cy="939800"/>
          </a:xfrm>
        </p:grpSpPr>
        <p:sp>
          <p:nvSpPr>
            <p:cNvPr name="Freeform 91" id="91"/>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1E1E24"/>
            </a:solidFill>
          </p:spPr>
          <p:txBody>
            <a:bodyPr/>
            <a:p/>
          </p:txBody>
        </p:sp>
        <p:sp>
          <p:nvSpPr>
            <p:cNvPr name="Freeform 92" id="92"/>
            <p:cNvSpPr/>
            <p:nvPr/>
          </p:nvSpPr>
          <p:spPr>
            <a:xfrm flipH="false" flipV="false" rot="0">
              <a:off x="0" y="0"/>
              <a:ext cx="939800" cy="939800"/>
            </a:xfrm>
            <a:custGeom>
              <a:avLst/>
              <a:gdLst/>
              <a:ahLst/>
              <a:cxnLst/>
              <a:rect r="r" b="b" t="t" l="l"/>
              <a:pathLst>
                <a:path h="939800" w="939800">
                  <a:moveTo>
                    <a:pt x="0" y="317500"/>
                  </a:moveTo>
                  <a:cubicBezTo>
                    <a:pt x="0" y="142113"/>
                    <a:pt x="142113" y="0"/>
                    <a:pt x="317500" y="0"/>
                  </a:cubicBezTo>
                  <a:lnTo>
                    <a:pt x="622300" y="0"/>
                  </a:lnTo>
                  <a:lnTo>
                    <a:pt x="622300" y="12700"/>
                  </a:lnTo>
                  <a:lnTo>
                    <a:pt x="622300" y="0"/>
                  </a:lnTo>
                  <a:lnTo>
                    <a:pt x="622300" y="12700"/>
                  </a:lnTo>
                  <a:lnTo>
                    <a:pt x="622300" y="0"/>
                  </a:lnTo>
                  <a:cubicBezTo>
                    <a:pt x="797687" y="0"/>
                    <a:pt x="939800" y="142113"/>
                    <a:pt x="939800" y="317500"/>
                  </a:cubicBezTo>
                  <a:lnTo>
                    <a:pt x="927100" y="317500"/>
                  </a:lnTo>
                  <a:lnTo>
                    <a:pt x="939800" y="317500"/>
                  </a:lnTo>
                  <a:lnTo>
                    <a:pt x="939800" y="622300"/>
                  </a:lnTo>
                  <a:lnTo>
                    <a:pt x="927100" y="622300"/>
                  </a:lnTo>
                  <a:lnTo>
                    <a:pt x="939800" y="622300"/>
                  </a:lnTo>
                  <a:cubicBezTo>
                    <a:pt x="939800" y="797687"/>
                    <a:pt x="797687" y="939800"/>
                    <a:pt x="622300" y="939800"/>
                  </a:cubicBezTo>
                  <a:lnTo>
                    <a:pt x="622300" y="927100"/>
                  </a:lnTo>
                  <a:lnTo>
                    <a:pt x="622300" y="939800"/>
                  </a:lnTo>
                  <a:lnTo>
                    <a:pt x="317500" y="939800"/>
                  </a:lnTo>
                  <a:lnTo>
                    <a:pt x="317500" y="927100"/>
                  </a:lnTo>
                  <a:lnTo>
                    <a:pt x="317500" y="939800"/>
                  </a:lnTo>
                  <a:cubicBezTo>
                    <a:pt x="142113" y="939800"/>
                    <a:pt x="0" y="797687"/>
                    <a:pt x="0" y="622300"/>
                  </a:cubicBezTo>
                  <a:lnTo>
                    <a:pt x="0" y="317500"/>
                  </a:lnTo>
                  <a:lnTo>
                    <a:pt x="12700" y="317500"/>
                  </a:lnTo>
                  <a:lnTo>
                    <a:pt x="0" y="317500"/>
                  </a:lnTo>
                  <a:moveTo>
                    <a:pt x="25400" y="317500"/>
                  </a:moveTo>
                  <a:lnTo>
                    <a:pt x="25400" y="622300"/>
                  </a:lnTo>
                  <a:lnTo>
                    <a:pt x="12700" y="622300"/>
                  </a:lnTo>
                  <a:lnTo>
                    <a:pt x="25400" y="622300"/>
                  </a:lnTo>
                  <a:cubicBezTo>
                    <a:pt x="25400" y="783590"/>
                    <a:pt x="156210" y="914400"/>
                    <a:pt x="317500" y="914400"/>
                  </a:cubicBezTo>
                  <a:lnTo>
                    <a:pt x="622300" y="914400"/>
                  </a:lnTo>
                  <a:cubicBezTo>
                    <a:pt x="783590" y="914400"/>
                    <a:pt x="914400" y="783590"/>
                    <a:pt x="914400" y="622300"/>
                  </a:cubicBezTo>
                  <a:lnTo>
                    <a:pt x="914400" y="317500"/>
                  </a:lnTo>
                  <a:cubicBezTo>
                    <a:pt x="914400" y="156210"/>
                    <a:pt x="783590" y="25400"/>
                    <a:pt x="622300" y="25400"/>
                  </a:cubicBezTo>
                  <a:lnTo>
                    <a:pt x="317500" y="25400"/>
                  </a:lnTo>
                  <a:lnTo>
                    <a:pt x="317500" y="12700"/>
                  </a:lnTo>
                  <a:lnTo>
                    <a:pt x="317500" y="25400"/>
                  </a:lnTo>
                  <a:cubicBezTo>
                    <a:pt x="156210" y="25400"/>
                    <a:pt x="25400" y="156210"/>
                    <a:pt x="25400" y="317500"/>
                  </a:cubicBezTo>
                  <a:close/>
                </a:path>
              </a:pathLst>
            </a:custGeom>
            <a:solidFill>
              <a:srgbClr val="40424D"/>
            </a:solidFill>
          </p:spPr>
          <p:txBody>
            <a:bodyPr/>
            <a:p/>
          </p:txBody>
        </p:sp>
      </p:grpSp>
      <p:grpSp>
        <p:nvGrpSpPr>
          <p:cNvPr name="Group 93" id="93"/>
          <p:cNvGrpSpPr/>
          <p:nvPr/>
        </p:nvGrpSpPr>
        <p:grpSpPr>
          <a:xfrm rot="0">
            <a:off x="1378458" y="6672834"/>
            <a:ext cx="356616" cy="400507"/>
            <a:chOff x="0" y="0"/>
            <a:chExt cx="475488" cy="534010"/>
          </a:xfrm>
        </p:grpSpPr>
        <p:sp>
          <p:nvSpPr>
            <p:cNvPr name="Freeform 94" id="94" descr="preencoded.png"/>
            <p:cNvSpPr/>
            <p:nvPr/>
          </p:nvSpPr>
          <p:spPr>
            <a:xfrm flipH="false" flipV="false" rot="0">
              <a:off x="0" y="0"/>
              <a:ext cx="475488" cy="534035"/>
            </a:xfrm>
            <a:custGeom>
              <a:avLst/>
              <a:gdLst/>
              <a:ahLst/>
              <a:cxnLst/>
              <a:rect r="r" b="b" t="t" l="l"/>
              <a:pathLst>
                <a:path h="534035" w="475488">
                  <a:moveTo>
                    <a:pt x="0" y="0"/>
                  </a:moveTo>
                  <a:lnTo>
                    <a:pt x="475488" y="0"/>
                  </a:lnTo>
                  <a:lnTo>
                    <a:pt x="475488" y="534035"/>
                  </a:lnTo>
                  <a:lnTo>
                    <a:pt x="0" y="534035"/>
                  </a:lnTo>
                  <a:lnTo>
                    <a:pt x="0" y="0"/>
                  </a:lnTo>
                  <a:close/>
                </a:path>
              </a:pathLst>
            </a:custGeom>
            <a:blipFill>
              <a:blip r:embed="rId9"/>
              <a:stretch>
                <a:fillRect l="0" t="14382" r="0" b="14387"/>
              </a:stretch>
            </a:blipFill>
          </p:spPr>
          <p:txBody>
            <a:bodyPr/>
            <a:p/>
          </p:txBody>
        </p:sp>
      </p:grpSp>
      <p:grpSp>
        <p:nvGrpSpPr>
          <p:cNvPr name="Group 95" id="95"/>
          <p:cNvGrpSpPr/>
          <p:nvPr/>
        </p:nvGrpSpPr>
        <p:grpSpPr>
          <a:xfrm rot="0">
            <a:off x="1213866" y="7443673"/>
            <a:ext cx="4758080" cy="498491"/>
            <a:chOff x="0" y="0"/>
            <a:chExt cx="6344107" cy="664654"/>
          </a:xfrm>
        </p:grpSpPr>
        <p:sp>
          <p:nvSpPr>
            <p:cNvPr name="Freeform 96" id="96"/>
            <p:cNvSpPr/>
            <p:nvPr/>
          </p:nvSpPr>
          <p:spPr>
            <a:xfrm flipH="false" flipV="false" rot="0">
              <a:off x="0" y="0"/>
              <a:ext cx="6344108" cy="664655"/>
            </a:xfrm>
            <a:custGeom>
              <a:avLst/>
              <a:gdLst/>
              <a:ahLst/>
              <a:cxnLst/>
              <a:rect r="r" b="b" t="t" l="l"/>
              <a:pathLst>
                <a:path h="664655" w="6344108">
                  <a:moveTo>
                    <a:pt x="0" y="0"/>
                  </a:moveTo>
                  <a:lnTo>
                    <a:pt x="6344108" y="0"/>
                  </a:lnTo>
                  <a:lnTo>
                    <a:pt x="6344108" y="664655"/>
                  </a:lnTo>
                  <a:lnTo>
                    <a:pt x="0" y="664655"/>
                  </a:lnTo>
                  <a:close/>
                </a:path>
              </a:pathLst>
            </a:custGeom>
            <a:blipFill>
              <a:blip r:embed="rId4">
                <a:alphaModFix amt="0"/>
              </a:blip>
              <a:stretch>
                <a:fillRect l="0" t="-145812" r="0" b="-126155"/>
              </a:stretch>
            </a:blipFill>
          </p:spPr>
          <p:txBody>
            <a:bodyPr/>
            <a:p/>
          </p:txBody>
        </p:sp>
        <p:sp>
          <p:nvSpPr>
            <p:cNvPr name="TextBox 97" id="97"/>
            <p:cNvSpPr txBox="true"/>
            <p:nvPr/>
          </p:nvSpPr>
          <p:spPr>
            <a:xfrm>
              <a:off x="0" y="-9525"/>
              <a:ext cx="6344107"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Forme Physique</a:t>
              </a:r>
            </a:p>
          </p:txBody>
        </p:sp>
      </p:grpSp>
      <p:grpSp>
        <p:nvGrpSpPr>
          <p:cNvPr name="Group 98" id="98"/>
          <p:cNvGrpSpPr/>
          <p:nvPr/>
        </p:nvGrpSpPr>
        <p:grpSpPr>
          <a:xfrm rot="0">
            <a:off x="1213866" y="8015630"/>
            <a:ext cx="4701845" cy="986181"/>
            <a:chOff x="0" y="0"/>
            <a:chExt cx="6269126" cy="1314908"/>
          </a:xfrm>
        </p:grpSpPr>
        <p:sp>
          <p:nvSpPr>
            <p:cNvPr name="Freeform 99" id="99"/>
            <p:cNvSpPr/>
            <p:nvPr/>
          </p:nvSpPr>
          <p:spPr>
            <a:xfrm flipH="false" flipV="false" rot="0">
              <a:off x="0" y="0"/>
              <a:ext cx="6269126" cy="1314909"/>
            </a:xfrm>
            <a:custGeom>
              <a:avLst/>
              <a:gdLst/>
              <a:ahLst/>
              <a:cxnLst/>
              <a:rect r="r" b="b" t="t" l="l"/>
              <a:pathLst>
                <a:path h="1314909" w="6269126">
                  <a:moveTo>
                    <a:pt x="0" y="0"/>
                  </a:moveTo>
                  <a:lnTo>
                    <a:pt x="6269126" y="0"/>
                  </a:lnTo>
                  <a:lnTo>
                    <a:pt x="6269126" y="1314909"/>
                  </a:lnTo>
                  <a:lnTo>
                    <a:pt x="0" y="1314909"/>
                  </a:lnTo>
                  <a:close/>
                </a:path>
              </a:pathLst>
            </a:custGeom>
            <a:blipFill>
              <a:blip r:embed="rId4">
                <a:alphaModFix amt="0"/>
              </a:blip>
              <a:stretch>
                <a:fillRect l="0" t="-42899" r="0" b="-42899"/>
              </a:stretch>
            </a:blipFill>
          </p:spPr>
          <p:txBody>
            <a:bodyPr/>
            <a:p/>
          </p:txBody>
        </p:sp>
        <p:sp>
          <p:nvSpPr>
            <p:cNvPr name="TextBox 100" id="100"/>
            <p:cNvSpPr txBox="true"/>
            <p:nvPr/>
          </p:nvSpPr>
          <p:spPr>
            <a:xfrm>
              <a:off x="0" y="-9525"/>
              <a:ext cx="6269126" cy="1324433"/>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Construire un corps fort, mobile et résilient, capable de faire face aux défis du quotidien comme aux aventures exceptionnelles.</a:t>
              </a:r>
            </a:p>
          </p:txBody>
        </p:sp>
      </p:grpSp>
      <p:grpSp>
        <p:nvGrpSpPr>
          <p:cNvPr name="Group 101" id="101"/>
          <p:cNvGrpSpPr/>
          <p:nvPr/>
        </p:nvGrpSpPr>
        <p:grpSpPr>
          <a:xfrm rot="0">
            <a:off x="6486373" y="6162675"/>
            <a:ext cx="5320284" cy="3561893"/>
            <a:chOff x="0" y="0"/>
            <a:chExt cx="7093712" cy="4749190"/>
          </a:xfrm>
        </p:grpSpPr>
        <p:sp>
          <p:nvSpPr>
            <p:cNvPr name="Freeform 102" id="102"/>
            <p:cNvSpPr/>
            <p:nvPr/>
          </p:nvSpPr>
          <p:spPr>
            <a:xfrm flipH="false" flipV="false" rot="0">
              <a:off x="12700" y="12700"/>
              <a:ext cx="7068312" cy="4723892"/>
            </a:xfrm>
            <a:custGeom>
              <a:avLst/>
              <a:gdLst/>
              <a:ahLst/>
              <a:cxnLst/>
              <a:rect r="r" b="b" t="t" l="l"/>
              <a:pathLst>
                <a:path h="4723892" w="7068312">
                  <a:moveTo>
                    <a:pt x="0" y="59055"/>
                  </a:moveTo>
                  <a:cubicBezTo>
                    <a:pt x="0" y="26416"/>
                    <a:pt x="26416" y="0"/>
                    <a:pt x="59055" y="0"/>
                  </a:cubicBezTo>
                  <a:lnTo>
                    <a:pt x="7009257" y="0"/>
                  </a:lnTo>
                  <a:cubicBezTo>
                    <a:pt x="7041896" y="0"/>
                    <a:pt x="7068312" y="26416"/>
                    <a:pt x="7068312" y="59055"/>
                  </a:cubicBezTo>
                  <a:lnTo>
                    <a:pt x="7068312" y="4664837"/>
                  </a:lnTo>
                  <a:cubicBezTo>
                    <a:pt x="7068312" y="4697476"/>
                    <a:pt x="7041896" y="4723892"/>
                    <a:pt x="7009257" y="4723892"/>
                  </a:cubicBezTo>
                  <a:lnTo>
                    <a:pt x="59055" y="4723892"/>
                  </a:lnTo>
                  <a:cubicBezTo>
                    <a:pt x="26416" y="4723892"/>
                    <a:pt x="0" y="4697476"/>
                    <a:pt x="0" y="4664837"/>
                  </a:cubicBezTo>
                  <a:close/>
                </a:path>
              </a:pathLst>
            </a:custGeom>
            <a:solidFill>
              <a:srgbClr val="1E1E24">
                <a:alpha val="15686"/>
              </a:srgbClr>
            </a:solidFill>
          </p:spPr>
          <p:txBody>
            <a:bodyPr/>
            <a:p/>
          </p:txBody>
        </p:sp>
        <p:sp>
          <p:nvSpPr>
            <p:cNvPr name="Freeform 103" id="103"/>
            <p:cNvSpPr/>
            <p:nvPr/>
          </p:nvSpPr>
          <p:spPr>
            <a:xfrm flipH="false" flipV="false" rot="0">
              <a:off x="0" y="0"/>
              <a:ext cx="7093712" cy="4749292"/>
            </a:xfrm>
            <a:custGeom>
              <a:avLst/>
              <a:gdLst/>
              <a:ahLst/>
              <a:cxnLst/>
              <a:rect r="r" b="b" t="t" l="l"/>
              <a:pathLst>
                <a:path h="4749292" w="7093712">
                  <a:moveTo>
                    <a:pt x="0" y="71755"/>
                  </a:moveTo>
                  <a:cubicBezTo>
                    <a:pt x="0" y="32131"/>
                    <a:pt x="32131" y="0"/>
                    <a:pt x="71755" y="0"/>
                  </a:cubicBezTo>
                  <a:lnTo>
                    <a:pt x="7021957" y="0"/>
                  </a:lnTo>
                  <a:lnTo>
                    <a:pt x="7021957" y="12700"/>
                  </a:lnTo>
                  <a:lnTo>
                    <a:pt x="7021957" y="0"/>
                  </a:lnTo>
                  <a:cubicBezTo>
                    <a:pt x="7061581" y="0"/>
                    <a:pt x="7093712" y="32131"/>
                    <a:pt x="7093712" y="71755"/>
                  </a:cubicBezTo>
                  <a:lnTo>
                    <a:pt x="7081012" y="71755"/>
                  </a:lnTo>
                  <a:lnTo>
                    <a:pt x="7093712" y="71755"/>
                  </a:lnTo>
                  <a:lnTo>
                    <a:pt x="7093712" y="4677537"/>
                  </a:lnTo>
                  <a:lnTo>
                    <a:pt x="7081012" y="4677537"/>
                  </a:lnTo>
                  <a:lnTo>
                    <a:pt x="7093712" y="4677537"/>
                  </a:lnTo>
                  <a:cubicBezTo>
                    <a:pt x="7093712" y="4717161"/>
                    <a:pt x="7061581" y="4749292"/>
                    <a:pt x="7021957" y="4749292"/>
                  </a:cubicBezTo>
                  <a:lnTo>
                    <a:pt x="7021957" y="4736592"/>
                  </a:lnTo>
                  <a:lnTo>
                    <a:pt x="7021957" y="4749292"/>
                  </a:lnTo>
                  <a:lnTo>
                    <a:pt x="71755" y="4749292"/>
                  </a:lnTo>
                  <a:lnTo>
                    <a:pt x="71755" y="4736592"/>
                  </a:lnTo>
                  <a:lnTo>
                    <a:pt x="71755" y="4749292"/>
                  </a:lnTo>
                  <a:cubicBezTo>
                    <a:pt x="32131" y="4749292"/>
                    <a:pt x="0" y="4717161"/>
                    <a:pt x="0" y="4677537"/>
                  </a:cubicBezTo>
                  <a:lnTo>
                    <a:pt x="0" y="71755"/>
                  </a:lnTo>
                  <a:lnTo>
                    <a:pt x="12700" y="71755"/>
                  </a:lnTo>
                  <a:lnTo>
                    <a:pt x="0" y="71755"/>
                  </a:lnTo>
                  <a:moveTo>
                    <a:pt x="25400" y="71755"/>
                  </a:moveTo>
                  <a:lnTo>
                    <a:pt x="25400" y="4677537"/>
                  </a:lnTo>
                  <a:lnTo>
                    <a:pt x="12700" y="4677537"/>
                  </a:lnTo>
                  <a:lnTo>
                    <a:pt x="25400" y="4677537"/>
                  </a:lnTo>
                  <a:cubicBezTo>
                    <a:pt x="25400" y="4703064"/>
                    <a:pt x="46101" y="4723892"/>
                    <a:pt x="71755" y="4723892"/>
                  </a:cubicBezTo>
                  <a:lnTo>
                    <a:pt x="7021957" y="4723892"/>
                  </a:lnTo>
                  <a:cubicBezTo>
                    <a:pt x="7047611" y="4723892"/>
                    <a:pt x="7068312" y="4703191"/>
                    <a:pt x="7068312" y="4677537"/>
                  </a:cubicBezTo>
                  <a:lnTo>
                    <a:pt x="7068312" y="71755"/>
                  </a:lnTo>
                  <a:cubicBezTo>
                    <a:pt x="7068312" y="46228"/>
                    <a:pt x="7047611" y="25400"/>
                    <a:pt x="7021957" y="25400"/>
                  </a:cubicBezTo>
                  <a:lnTo>
                    <a:pt x="71755" y="25400"/>
                  </a:lnTo>
                  <a:lnTo>
                    <a:pt x="71755" y="12700"/>
                  </a:lnTo>
                  <a:lnTo>
                    <a:pt x="71755" y="25400"/>
                  </a:lnTo>
                  <a:cubicBezTo>
                    <a:pt x="46101" y="25400"/>
                    <a:pt x="25400" y="46101"/>
                    <a:pt x="25400" y="71755"/>
                  </a:cubicBezTo>
                  <a:close/>
                </a:path>
              </a:pathLst>
            </a:custGeom>
            <a:solidFill>
              <a:srgbClr val="40424D"/>
            </a:solidFill>
          </p:spPr>
          <p:txBody>
            <a:bodyPr/>
            <a:p/>
          </p:txBody>
        </p:sp>
      </p:grpSp>
      <p:grpSp>
        <p:nvGrpSpPr>
          <p:cNvPr name="Group 104" id="104"/>
          <p:cNvGrpSpPr/>
          <p:nvPr/>
        </p:nvGrpSpPr>
        <p:grpSpPr>
          <a:xfrm rot="0">
            <a:off x="6486373" y="6162675"/>
            <a:ext cx="76657" cy="3534461"/>
            <a:chOff x="0" y="0"/>
            <a:chExt cx="102210" cy="4712614"/>
          </a:xfrm>
        </p:grpSpPr>
        <p:sp>
          <p:nvSpPr>
            <p:cNvPr name="Freeform 105" id="105"/>
            <p:cNvSpPr/>
            <p:nvPr/>
          </p:nvSpPr>
          <p:spPr>
            <a:xfrm flipH="false" flipV="false" rot="0">
              <a:off x="12700" y="12700"/>
              <a:ext cx="76835" cy="4687189"/>
            </a:xfrm>
            <a:custGeom>
              <a:avLst/>
              <a:gdLst/>
              <a:ahLst/>
              <a:cxnLst/>
              <a:rect r="r" b="b" t="t" l="l"/>
              <a:pathLst>
                <a:path h="4687189" w="76835">
                  <a:moveTo>
                    <a:pt x="0" y="0"/>
                  </a:moveTo>
                  <a:lnTo>
                    <a:pt x="76835" y="0"/>
                  </a:lnTo>
                  <a:lnTo>
                    <a:pt x="76835" y="4687189"/>
                  </a:lnTo>
                  <a:lnTo>
                    <a:pt x="0" y="4687189"/>
                  </a:lnTo>
                  <a:close/>
                </a:path>
              </a:pathLst>
            </a:custGeom>
            <a:solidFill>
              <a:srgbClr val="40424D"/>
            </a:solidFill>
          </p:spPr>
          <p:txBody>
            <a:bodyPr/>
            <a:p/>
          </p:txBody>
        </p:sp>
      </p:grpSp>
      <p:grpSp>
        <p:nvGrpSpPr>
          <p:cNvPr name="Group 106" id="106"/>
          <p:cNvGrpSpPr/>
          <p:nvPr/>
        </p:nvGrpSpPr>
        <p:grpSpPr>
          <a:xfrm rot="0">
            <a:off x="10568178" y="6528816"/>
            <a:ext cx="986180" cy="1192568"/>
            <a:chOff x="0" y="0"/>
            <a:chExt cx="1314907" cy="1590091"/>
          </a:xfrm>
        </p:grpSpPr>
        <p:sp>
          <p:nvSpPr>
            <p:cNvPr name="Freeform 107" id="107"/>
            <p:cNvSpPr/>
            <p:nvPr/>
          </p:nvSpPr>
          <p:spPr>
            <a:xfrm flipH="false" flipV="false" rot="0">
              <a:off x="0" y="0"/>
              <a:ext cx="1314908" cy="1590091"/>
            </a:xfrm>
            <a:custGeom>
              <a:avLst/>
              <a:gdLst/>
              <a:ahLst/>
              <a:cxnLst/>
              <a:rect r="r" b="b" t="t" l="l"/>
              <a:pathLst>
                <a:path h="1590091" w="1314908">
                  <a:moveTo>
                    <a:pt x="0" y="0"/>
                  </a:moveTo>
                  <a:lnTo>
                    <a:pt x="1314908" y="0"/>
                  </a:lnTo>
                  <a:lnTo>
                    <a:pt x="1314908" y="1590091"/>
                  </a:lnTo>
                  <a:lnTo>
                    <a:pt x="0" y="1590091"/>
                  </a:lnTo>
                  <a:close/>
                </a:path>
              </a:pathLst>
            </a:custGeom>
            <a:blipFill>
              <a:blip r:embed="rId4">
                <a:alphaModFix amt="0"/>
              </a:blip>
              <a:stretch>
                <a:fillRect l="-39223" t="0" r="-39223" b="42493"/>
              </a:stretch>
            </a:blipFill>
          </p:spPr>
          <p:txBody>
            <a:bodyPr/>
            <a:p/>
          </p:txBody>
        </p:sp>
        <p:sp>
          <p:nvSpPr>
            <p:cNvPr name="TextBox 108" id="108"/>
            <p:cNvSpPr txBox="true"/>
            <p:nvPr/>
          </p:nvSpPr>
          <p:spPr>
            <a:xfrm>
              <a:off x="0" y="9525"/>
              <a:ext cx="1314907" cy="15805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05</a:t>
              </a:r>
            </a:p>
          </p:txBody>
        </p:sp>
      </p:grpSp>
      <p:grpSp>
        <p:nvGrpSpPr>
          <p:cNvPr name="Group 109" id="109"/>
          <p:cNvGrpSpPr/>
          <p:nvPr/>
        </p:nvGrpSpPr>
        <p:grpSpPr>
          <a:xfrm rot="0">
            <a:off x="6842989" y="6519291"/>
            <a:ext cx="704850" cy="704850"/>
            <a:chOff x="0" y="0"/>
            <a:chExt cx="939800" cy="939800"/>
          </a:xfrm>
        </p:grpSpPr>
        <p:sp>
          <p:nvSpPr>
            <p:cNvPr name="Freeform 110" id="110"/>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1E1E24"/>
            </a:solidFill>
          </p:spPr>
          <p:txBody>
            <a:bodyPr/>
            <a:p/>
          </p:txBody>
        </p:sp>
        <p:sp>
          <p:nvSpPr>
            <p:cNvPr name="Freeform 111" id="111"/>
            <p:cNvSpPr/>
            <p:nvPr/>
          </p:nvSpPr>
          <p:spPr>
            <a:xfrm flipH="false" flipV="false" rot="0">
              <a:off x="0" y="0"/>
              <a:ext cx="939800" cy="939800"/>
            </a:xfrm>
            <a:custGeom>
              <a:avLst/>
              <a:gdLst/>
              <a:ahLst/>
              <a:cxnLst/>
              <a:rect r="r" b="b" t="t" l="l"/>
              <a:pathLst>
                <a:path h="939800" w="939800">
                  <a:moveTo>
                    <a:pt x="0" y="317500"/>
                  </a:moveTo>
                  <a:cubicBezTo>
                    <a:pt x="0" y="142113"/>
                    <a:pt x="142113" y="0"/>
                    <a:pt x="317500" y="0"/>
                  </a:cubicBezTo>
                  <a:lnTo>
                    <a:pt x="622300" y="0"/>
                  </a:lnTo>
                  <a:lnTo>
                    <a:pt x="622300" y="12700"/>
                  </a:lnTo>
                  <a:lnTo>
                    <a:pt x="622300" y="0"/>
                  </a:lnTo>
                  <a:lnTo>
                    <a:pt x="622300" y="12700"/>
                  </a:lnTo>
                  <a:lnTo>
                    <a:pt x="622300" y="0"/>
                  </a:lnTo>
                  <a:cubicBezTo>
                    <a:pt x="797687" y="0"/>
                    <a:pt x="939800" y="142113"/>
                    <a:pt x="939800" y="317500"/>
                  </a:cubicBezTo>
                  <a:lnTo>
                    <a:pt x="927100" y="317500"/>
                  </a:lnTo>
                  <a:lnTo>
                    <a:pt x="939800" y="317500"/>
                  </a:lnTo>
                  <a:lnTo>
                    <a:pt x="939800" y="622300"/>
                  </a:lnTo>
                  <a:lnTo>
                    <a:pt x="927100" y="622300"/>
                  </a:lnTo>
                  <a:lnTo>
                    <a:pt x="939800" y="622300"/>
                  </a:lnTo>
                  <a:cubicBezTo>
                    <a:pt x="939800" y="797687"/>
                    <a:pt x="797687" y="939800"/>
                    <a:pt x="622300" y="939800"/>
                  </a:cubicBezTo>
                  <a:lnTo>
                    <a:pt x="622300" y="927100"/>
                  </a:lnTo>
                  <a:lnTo>
                    <a:pt x="622300" y="939800"/>
                  </a:lnTo>
                  <a:lnTo>
                    <a:pt x="317500" y="939800"/>
                  </a:lnTo>
                  <a:lnTo>
                    <a:pt x="317500" y="927100"/>
                  </a:lnTo>
                  <a:lnTo>
                    <a:pt x="317500" y="939800"/>
                  </a:lnTo>
                  <a:cubicBezTo>
                    <a:pt x="142113" y="939800"/>
                    <a:pt x="0" y="797687"/>
                    <a:pt x="0" y="622300"/>
                  </a:cubicBezTo>
                  <a:lnTo>
                    <a:pt x="0" y="317500"/>
                  </a:lnTo>
                  <a:lnTo>
                    <a:pt x="12700" y="317500"/>
                  </a:lnTo>
                  <a:lnTo>
                    <a:pt x="0" y="317500"/>
                  </a:lnTo>
                  <a:moveTo>
                    <a:pt x="25400" y="317500"/>
                  </a:moveTo>
                  <a:lnTo>
                    <a:pt x="25400" y="622300"/>
                  </a:lnTo>
                  <a:lnTo>
                    <a:pt x="12700" y="622300"/>
                  </a:lnTo>
                  <a:lnTo>
                    <a:pt x="25400" y="622300"/>
                  </a:lnTo>
                  <a:cubicBezTo>
                    <a:pt x="25400" y="783590"/>
                    <a:pt x="156210" y="914400"/>
                    <a:pt x="317500" y="914400"/>
                  </a:cubicBezTo>
                  <a:lnTo>
                    <a:pt x="622300" y="914400"/>
                  </a:lnTo>
                  <a:cubicBezTo>
                    <a:pt x="783590" y="914400"/>
                    <a:pt x="914400" y="783590"/>
                    <a:pt x="914400" y="622300"/>
                  </a:cubicBezTo>
                  <a:lnTo>
                    <a:pt x="914400" y="317500"/>
                  </a:lnTo>
                  <a:cubicBezTo>
                    <a:pt x="914400" y="156210"/>
                    <a:pt x="783590" y="25400"/>
                    <a:pt x="622300" y="25400"/>
                  </a:cubicBezTo>
                  <a:lnTo>
                    <a:pt x="317500" y="25400"/>
                  </a:lnTo>
                  <a:lnTo>
                    <a:pt x="317500" y="12700"/>
                  </a:lnTo>
                  <a:lnTo>
                    <a:pt x="317500" y="25400"/>
                  </a:lnTo>
                  <a:cubicBezTo>
                    <a:pt x="156210" y="25400"/>
                    <a:pt x="25400" y="156210"/>
                    <a:pt x="25400" y="317500"/>
                  </a:cubicBezTo>
                  <a:close/>
                </a:path>
              </a:pathLst>
            </a:custGeom>
            <a:solidFill>
              <a:srgbClr val="40424D"/>
            </a:solidFill>
          </p:spPr>
          <p:txBody>
            <a:bodyPr/>
            <a:p/>
          </p:txBody>
        </p:sp>
      </p:grpSp>
      <p:grpSp>
        <p:nvGrpSpPr>
          <p:cNvPr name="Group 112" id="112"/>
          <p:cNvGrpSpPr/>
          <p:nvPr/>
        </p:nvGrpSpPr>
        <p:grpSpPr>
          <a:xfrm rot="0">
            <a:off x="7017106" y="6672834"/>
            <a:ext cx="356616" cy="400507"/>
            <a:chOff x="0" y="0"/>
            <a:chExt cx="475488" cy="534010"/>
          </a:xfrm>
        </p:grpSpPr>
        <p:sp>
          <p:nvSpPr>
            <p:cNvPr name="Freeform 113" id="113" descr="preencoded.png"/>
            <p:cNvSpPr/>
            <p:nvPr/>
          </p:nvSpPr>
          <p:spPr>
            <a:xfrm flipH="false" flipV="false" rot="0">
              <a:off x="0" y="0"/>
              <a:ext cx="475488" cy="534035"/>
            </a:xfrm>
            <a:custGeom>
              <a:avLst/>
              <a:gdLst/>
              <a:ahLst/>
              <a:cxnLst/>
              <a:rect r="r" b="b" t="t" l="l"/>
              <a:pathLst>
                <a:path h="534035" w="475488">
                  <a:moveTo>
                    <a:pt x="0" y="0"/>
                  </a:moveTo>
                  <a:lnTo>
                    <a:pt x="475488" y="0"/>
                  </a:lnTo>
                  <a:lnTo>
                    <a:pt x="475488" y="534035"/>
                  </a:lnTo>
                  <a:lnTo>
                    <a:pt x="0" y="534035"/>
                  </a:lnTo>
                  <a:lnTo>
                    <a:pt x="0" y="0"/>
                  </a:lnTo>
                  <a:close/>
                </a:path>
              </a:pathLst>
            </a:custGeom>
            <a:blipFill>
              <a:blip r:embed="rId10"/>
              <a:stretch>
                <a:fillRect l="0" t="14382" r="0" b="14387"/>
              </a:stretch>
            </a:blipFill>
          </p:spPr>
          <p:txBody>
            <a:bodyPr/>
            <a:p/>
          </p:txBody>
        </p:sp>
      </p:grpSp>
      <p:grpSp>
        <p:nvGrpSpPr>
          <p:cNvPr name="Group 114" id="114"/>
          <p:cNvGrpSpPr/>
          <p:nvPr/>
        </p:nvGrpSpPr>
        <p:grpSpPr>
          <a:xfrm rot="0">
            <a:off x="6852514" y="7443673"/>
            <a:ext cx="4758080" cy="498491"/>
            <a:chOff x="0" y="0"/>
            <a:chExt cx="6344107" cy="664654"/>
          </a:xfrm>
        </p:grpSpPr>
        <p:sp>
          <p:nvSpPr>
            <p:cNvPr name="Freeform 115" id="115"/>
            <p:cNvSpPr/>
            <p:nvPr/>
          </p:nvSpPr>
          <p:spPr>
            <a:xfrm flipH="false" flipV="false" rot="0">
              <a:off x="0" y="0"/>
              <a:ext cx="6344108" cy="664655"/>
            </a:xfrm>
            <a:custGeom>
              <a:avLst/>
              <a:gdLst/>
              <a:ahLst/>
              <a:cxnLst/>
              <a:rect r="r" b="b" t="t" l="l"/>
              <a:pathLst>
                <a:path h="664655" w="6344108">
                  <a:moveTo>
                    <a:pt x="0" y="0"/>
                  </a:moveTo>
                  <a:lnTo>
                    <a:pt x="6344108" y="0"/>
                  </a:lnTo>
                  <a:lnTo>
                    <a:pt x="6344108" y="664655"/>
                  </a:lnTo>
                  <a:lnTo>
                    <a:pt x="0" y="664655"/>
                  </a:lnTo>
                  <a:close/>
                </a:path>
              </a:pathLst>
            </a:custGeom>
            <a:blipFill>
              <a:blip r:embed="rId4">
                <a:alphaModFix amt="0"/>
              </a:blip>
              <a:stretch>
                <a:fillRect l="0" t="-145812" r="0" b="-126155"/>
              </a:stretch>
            </a:blipFill>
          </p:spPr>
          <p:txBody>
            <a:bodyPr/>
            <a:p/>
          </p:txBody>
        </p:sp>
        <p:sp>
          <p:nvSpPr>
            <p:cNvPr name="TextBox 116" id="116"/>
            <p:cNvSpPr txBox="true"/>
            <p:nvPr/>
          </p:nvSpPr>
          <p:spPr>
            <a:xfrm>
              <a:off x="0" y="-9525"/>
              <a:ext cx="6344107"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Médecine Préventive</a:t>
              </a:r>
            </a:p>
          </p:txBody>
        </p:sp>
      </p:grpSp>
      <p:grpSp>
        <p:nvGrpSpPr>
          <p:cNvPr name="Group 117" id="117"/>
          <p:cNvGrpSpPr/>
          <p:nvPr/>
        </p:nvGrpSpPr>
        <p:grpSpPr>
          <a:xfrm rot="0">
            <a:off x="6852514" y="8015630"/>
            <a:ext cx="4701845" cy="986181"/>
            <a:chOff x="0" y="0"/>
            <a:chExt cx="6269126" cy="1314908"/>
          </a:xfrm>
        </p:grpSpPr>
        <p:sp>
          <p:nvSpPr>
            <p:cNvPr name="Freeform 118" id="118"/>
            <p:cNvSpPr/>
            <p:nvPr/>
          </p:nvSpPr>
          <p:spPr>
            <a:xfrm flipH="false" flipV="false" rot="0">
              <a:off x="0" y="0"/>
              <a:ext cx="6269126" cy="1314909"/>
            </a:xfrm>
            <a:custGeom>
              <a:avLst/>
              <a:gdLst/>
              <a:ahLst/>
              <a:cxnLst/>
              <a:rect r="r" b="b" t="t" l="l"/>
              <a:pathLst>
                <a:path h="1314909" w="6269126">
                  <a:moveTo>
                    <a:pt x="0" y="0"/>
                  </a:moveTo>
                  <a:lnTo>
                    <a:pt x="6269126" y="0"/>
                  </a:lnTo>
                  <a:lnTo>
                    <a:pt x="6269126" y="1314909"/>
                  </a:lnTo>
                  <a:lnTo>
                    <a:pt x="0" y="1314909"/>
                  </a:lnTo>
                  <a:close/>
                </a:path>
              </a:pathLst>
            </a:custGeom>
            <a:blipFill>
              <a:blip r:embed="rId4">
                <a:alphaModFix amt="0"/>
              </a:blip>
              <a:stretch>
                <a:fillRect l="0" t="-42899" r="0" b="-42899"/>
              </a:stretch>
            </a:blipFill>
          </p:spPr>
          <p:txBody>
            <a:bodyPr/>
            <a:p/>
          </p:txBody>
        </p:sp>
        <p:sp>
          <p:nvSpPr>
            <p:cNvPr name="TextBox 119" id="119"/>
            <p:cNvSpPr txBox="true"/>
            <p:nvPr/>
          </p:nvSpPr>
          <p:spPr>
            <a:xfrm>
              <a:off x="0" y="-9525"/>
              <a:ext cx="6269126" cy="1324433"/>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Anticiper plutôt que réparer. Identifier tôt, agir juste, préserver longtemps. Une approche proactive de la santé.</a:t>
              </a:r>
            </a:p>
          </p:txBody>
        </p:sp>
      </p:grpSp>
      <p:grpSp>
        <p:nvGrpSpPr>
          <p:cNvPr name="Group 120" id="120"/>
          <p:cNvGrpSpPr/>
          <p:nvPr/>
        </p:nvGrpSpPr>
        <p:grpSpPr>
          <a:xfrm rot="0">
            <a:off x="12125020" y="6162675"/>
            <a:ext cx="5320284" cy="3561893"/>
            <a:chOff x="0" y="0"/>
            <a:chExt cx="7093712" cy="4749190"/>
          </a:xfrm>
        </p:grpSpPr>
        <p:sp>
          <p:nvSpPr>
            <p:cNvPr name="Freeform 121" id="121"/>
            <p:cNvSpPr/>
            <p:nvPr/>
          </p:nvSpPr>
          <p:spPr>
            <a:xfrm flipH="false" flipV="false" rot="0">
              <a:off x="12700" y="12700"/>
              <a:ext cx="7068312" cy="4723892"/>
            </a:xfrm>
            <a:custGeom>
              <a:avLst/>
              <a:gdLst/>
              <a:ahLst/>
              <a:cxnLst/>
              <a:rect r="r" b="b" t="t" l="l"/>
              <a:pathLst>
                <a:path h="4723892" w="7068312">
                  <a:moveTo>
                    <a:pt x="0" y="59055"/>
                  </a:moveTo>
                  <a:cubicBezTo>
                    <a:pt x="0" y="26416"/>
                    <a:pt x="26416" y="0"/>
                    <a:pt x="59055" y="0"/>
                  </a:cubicBezTo>
                  <a:lnTo>
                    <a:pt x="7009257" y="0"/>
                  </a:lnTo>
                  <a:cubicBezTo>
                    <a:pt x="7041896" y="0"/>
                    <a:pt x="7068312" y="26416"/>
                    <a:pt x="7068312" y="59055"/>
                  </a:cubicBezTo>
                  <a:lnTo>
                    <a:pt x="7068312" y="4664837"/>
                  </a:lnTo>
                  <a:cubicBezTo>
                    <a:pt x="7068312" y="4697476"/>
                    <a:pt x="7041896" y="4723892"/>
                    <a:pt x="7009257" y="4723892"/>
                  </a:cubicBezTo>
                  <a:lnTo>
                    <a:pt x="59055" y="4723892"/>
                  </a:lnTo>
                  <a:cubicBezTo>
                    <a:pt x="26416" y="4723892"/>
                    <a:pt x="0" y="4697476"/>
                    <a:pt x="0" y="4664837"/>
                  </a:cubicBezTo>
                  <a:close/>
                </a:path>
              </a:pathLst>
            </a:custGeom>
            <a:solidFill>
              <a:srgbClr val="1E1E24">
                <a:alpha val="15686"/>
              </a:srgbClr>
            </a:solidFill>
          </p:spPr>
          <p:txBody>
            <a:bodyPr/>
            <a:p/>
          </p:txBody>
        </p:sp>
        <p:sp>
          <p:nvSpPr>
            <p:cNvPr name="Freeform 122" id="122"/>
            <p:cNvSpPr/>
            <p:nvPr/>
          </p:nvSpPr>
          <p:spPr>
            <a:xfrm flipH="false" flipV="false" rot="0">
              <a:off x="0" y="0"/>
              <a:ext cx="7093712" cy="4749292"/>
            </a:xfrm>
            <a:custGeom>
              <a:avLst/>
              <a:gdLst/>
              <a:ahLst/>
              <a:cxnLst/>
              <a:rect r="r" b="b" t="t" l="l"/>
              <a:pathLst>
                <a:path h="4749292" w="7093712">
                  <a:moveTo>
                    <a:pt x="0" y="71755"/>
                  </a:moveTo>
                  <a:cubicBezTo>
                    <a:pt x="0" y="32131"/>
                    <a:pt x="32131" y="0"/>
                    <a:pt x="71755" y="0"/>
                  </a:cubicBezTo>
                  <a:lnTo>
                    <a:pt x="7021957" y="0"/>
                  </a:lnTo>
                  <a:lnTo>
                    <a:pt x="7021957" y="12700"/>
                  </a:lnTo>
                  <a:lnTo>
                    <a:pt x="7021957" y="0"/>
                  </a:lnTo>
                  <a:cubicBezTo>
                    <a:pt x="7061581" y="0"/>
                    <a:pt x="7093712" y="32131"/>
                    <a:pt x="7093712" y="71755"/>
                  </a:cubicBezTo>
                  <a:lnTo>
                    <a:pt x="7081012" y="71755"/>
                  </a:lnTo>
                  <a:lnTo>
                    <a:pt x="7093712" y="71755"/>
                  </a:lnTo>
                  <a:lnTo>
                    <a:pt x="7093712" y="4677537"/>
                  </a:lnTo>
                  <a:lnTo>
                    <a:pt x="7081012" y="4677537"/>
                  </a:lnTo>
                  <a:lnTo>
                    <a:pt x="7093712" y="4677537"/>
                  </a:lnTo>
                  <a:cubicBezTo>
                    <a:pt x="7093712" y="4717161"/>
                    <a:pt x="7061581" y="4749292"/>
                    <a:pt x="7021957" y="4749292"/>
                  </a:cubicBezTo>
                  <a:lnTo>
                    <a:pt x="7021957" y="4736592"/>
                  </a:lnTo>
                  <a:lnTo>
                    <a:pt x="7021957" y="4749292"/>
                  </a:lnTo>
                  <a:lnTo>
                    <a:pt x="71755" y="4749292"/>
                  </a:lnTo>
                  <a:lnTo>
                    <a:pt x="71755" y="4736592"/>
                  </a:lnTo>
                  <a:lnTo>
                    <a:pt x="71755" y="4749292"/>
                  </a:lnTo>
                  <a:cubicBezTo>
                    <a:pt x="32131" y="4749292"/>
                    <a:pt x="0" y="4717161"/>
                    <a:pt x="0" y="4677537"/>
                  </a:cubicBezTo>
                  <a:lnTo>
                    <a:pt x="0" y="71755"/>
                  </a:lnTo>
                  <a:lnTo>
                    <a:pt x="12700" y="71755"/>
                  </a:lnTo>
                  <a:lnTo>
                    <a:pt x="0" y="71755"/>
                  </a:lnTo>
                  <a:moveTo>
                    <a:pt x="25400" y="71755"/>
                  </a:moveTo>
                  <a:lnTo>
                    <a:pt x="25400" y="4677537"/>
                  </a:lnTo>
                  <a:lnTo>
                    <a:pt x="12700" y="4677537"/>
                  </a:lnTo>
                  <a:lnTo>
                    <a:pt x="25400" y="4677537"/>
                  </a:lnTo>
                  <a:cubicBezTo>
                    <a:pt x="25400" y="4703064"/>
                    <a:pt x="46101" y="4723892"/>
                    <a:pt x="71755" y="4723892"/>
                  </a:cubicBezTo>
                  <a:lnTo>
                    <a:pt x="7021957" y="4723892"/>
                  </a:lnTo>
                  <a:cubicBezTo>
                    <a:pt x="7047611" y="4723892"/>
                    <a:pt x="7068312" y="4703191"/>
                    <a:pt x="7068312" y="4677537"/>
                  </a:cubicBezTo>
                  <a:lnTo>
                    <a:pt x="7068312" y="71755"/>
                  </a:lnTo>
                  <a:cubicBezTo>
                    <a:pt x="7068312" y="46228"/>
                    <a:pt x="7047611" y="25400"/>
                    <a:pt x="7021957" y="25400"/>
                  </a:cubicBezTo>
                  <a:lnTo>
                    <a:pt x="71755" y="25400"/>
                  </a:lnTo>
                  <a:lnTo>
                    <a:pt x="71755" y="12700"/>
                  </a:lnTo>
                  <a:lnTo>
                    <a:pt x="71755" y="25400"/>
                  </a:lnTo>
                  <a:cubicBezTo>
                    <a:pt x="46101" y="25400"/>
                    <a:pt x="25400" y="46101"/>
                    <a:pt x="25400" y="71755"/>
                  </a:cubicBezTo>
                  <a:close/>
                </a:path>
              </a:pathLst>
            </a:custGeom>
            <a:solidFill>
              <a:srgbClr val="40424D"/>
            </a:solidFill>
          </p:spPr>
          <p:txBody>
            <a:bodyPr/>
            <a:p/>
          </p:txBody>
        </p:sp>
      </p:grpSp>
      <p:grpSp>
        <p:nvGrpSpPr>
          <p:cNvPr name="Group 123" id="123"/>
          <p:cNvGrpSpPr/>
          <p:nvPr/>
        </p:nvGrpSpPr>
        <p:grpSpPr>
          <a:xfrm rot="0">
            <a:off x="12125020" y="6162675"/>
            <a:ext cx="76657" cy="3534461"/>
            <a:chOff x="0" y="0"/>
            <a:chExt cx="102210" cy="4712614"/>
          </a:xfrm>
        </p:grpSpPr>
        <p:sp>
          <p:nvSpPr>
            <p:cNvPr name="Freeform 124" id="124"/>
            <p:cNvSpPr/>
            <p:nvPr/>
          </p:nvSpPr>
          <p:spPr>
            <a:xfrm flipH="false" flipV="false" rot="0">
              <a:off x="12700" y="12700"/>
              <a:ext cx="76835" cy="4687189"/>
            </a:xfrm>
            <a:custGeom>
              <a:avLst/>
              <a:gdLst/>
              <a:ahLst/>
              <a:cxnLst/>
              <a:rect r="r" b="b" t="t" l="l"/>
              <a:pathLst>
                <a:path h="4687189" w="76835">
                  <a:moveTo>
                    <a:pt x="0" y="0"/>
                  </a:moveTo>
                  <a:lnTo>
                    <a:pt x="76835" y="0"/>
                  </a:lnTo>
                  <a:lnTo>
                    <a:pt x="76835" y="4687189"/>
                  </a:lnTo>
                  <a:lnTo>
                    <a:pt x="0" y="4687189"/>
                  </a:lnTo>
                  <a:close/>
                </a:path>
              </a:pathLst>
            </a:custGeom>
            <a:solidFill>
              <a:srgbClr val="40424D"/>
            </a:solidFill>
          </p:spPr>
          <p:txBody>
            <a:bodyPr/>
            <a:p/>
          </p:txBody>
        </p:sp>
      </p:grpSp>
      <p:grpSp>
        <p:nvGrpSpPr>
          <p:cNvPr name="Group 125" id="125"/>
          <p:cNvGrpSpPr/>
          <p:nvPr/>
        </p:nvGrpSpPr>
        <p:grpSpPr>
          <a:xfrm rot="0">
            <a:off x="16184880" y="6528816"/>
            <a:ext cx="1014984" cy="1192568"/>
            <a:chOff x="0" y="0"/>
            <a:chExt cx="1353312" cy="1590091"/>
          </a:xfrm>
        </p:grpSpPr>
        <p:sp>
          <p:nvSpPr>
            <p:cNvPr name="Freeform 126" id="126"/>
            <p:cNvSpPr/>
            <p:nvPr/>
          </p:nvSpPr>
          <p:spPr>
            <a:xfrm flipH="false" flipV="false" rot="0">
              <a:off x="0" y="0"/>
              <a:ext cx="1353312" cy="1590091"/>
            </a:xfrm>
            <a:custGeom>
              <a:avLst/>
              <a:gdLst/>
              <a:ahLst/>
              <a:cxnLst/>
              <a:rect r="r" b="b" t="t" l="l"/>
              <a:pathLst>
                <a:path h="1590091" w="1353312">
                  <a:moveTo>
                    <a:pt x="0" y="0"/>
                  </a:moveTo>
                  <a:lnTo>
                    <a:pt x="1353312" y="0"/>
                  </a:lnTo>
                  <a:lnTo>
                    <a:pt x="1353312" y="1590091"/>
                  </a:lnTo>
                  <a:lnTo>
                    <a:pt x="0" y="1590091"/>
                  </a:lnTo>
                  <a:close/>
                </a:path>
              </a:pathLst>
            </a:custGeom>
            <a:blipFill>
              <a:blip r:embed="rId4">
                <a:alphaModFix amt="0"/>
              </a:blip>
              <a:stretch>
                <a:fillRect l="-36691" t="0" r="-36691" b="42493"/>
              </a:stretch>
            </a:blipFill>
          </p:spPr>
          <p:txBody>
            <a:bodyPr/>
            <a:p/>
          </p:txBody>
        </p:sp>
        <p:sp>
          <p:nvSpPr>
            <p:cNvPr name="TextBox 127" id="127"/>
            <p:cNvSpPr txBox="true"/>
            <p:nvPr/>
          </p:nvSpPr>
          <p:spPr>
            <a:xfrm>
              <a:off x="0" y="9525"/>
              <a:ext cx="1353312" cy="15805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06</a:t>
              </a:r>
            </a:p>
          </p:txBody>
        </p:sp>
      </p:grpSp>
      <p:grpSp>
        <p:nvGrpSpPr>
          <p:cNvPr name="Group 128" id="128"/>
          <p:cNvGrpSpPr/>
          <p:nvPr/>
        </p:nvGrpSpPr>
        <p:grpSpPr>
          <a:xfrm rot="0">
            <a:off x="12483008" y="6519291"/>
            <a:ext cx="704850" cy="704850"/>
            <a:chOff x="0" y="0"/>
            <a:chExt cx="939800" cy="939800"/>
          </a:xfrm>
        </p:grpSpPr>
        <p:sp>
          <p:nvSpPr>
            <p:cNvPr name="Freeform 129" id="129"/>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1E1E24"/>
            </a:solidFill>
          </p:spPr>
          <p:txBody>
            <a:bodyPr/>
            <a:p/>
          </p:txBody>
        </p:sp>
        <p:sp>
          <p:nvSpPr>
            <p:cNvPr name="Freeform 130" id="130"/>
            <p:cNvSpPr/>
            <p:nvPr/>
          </p:nvSpPr>
          <p:spPr>
            <a:xfrm flipH="false" flipV="false" rot="0">
              <a:off x="0" y="0"/>
              <a:ext cx="939800" cy="939800"/>
            </a:xfrm>
            <a:custGeom>
              <a:avLst/>
              <a:gdLst/>
              <a:ahLst/>
              <a:cxnLst/>
              <a:rect r="r" b="b" t="t" l="l"/>
              <a:pathLst>
                <a:path h="939800" w="939800">
                  <a:moveTo>
                    <a:pt x="0" y="317500"/>
                  </a:moveTo>
                  <a:cubicBezTo>
                    <a:pt x="0" y="142113"/>
                    <a:pt x="142113" y="0"/>
                    <a:pt x="317500" y="0"/>
                  </a:cubicBezTo>
                  <a:lnTo>
                    <a:pt x="622300" y="0"/>
                  </a:lnTo>
                  <a:lnTo>
                    <a:pt x="622300" y="12700"/>
                  </a:lnTo>
                  <a:lnTo>
                    <a:pt x="622300" y="0"/>
                  </a:lnTo>
                  <a:lnTo>
                    <a:pt x="622300" y="12700"/>
                  </a:lnTo>
                  <a:lnTo>
                    <a:pt x="622300" y="0"/>
                  </a:lnTo>
                  <a:cubicBezTo>
                    <a:pt x="797687" y="0"/>
                    <a:pt x="939800" y="142113"/>
                    <a:pt x="939800" y="317500"/>
                  </a:cubicBezTo>
                  <a:lnTo>
                    <a:pt x="927100" y="317500"/>
                  </a:lnTo>
                  <a:lnTo>
                    <a:pt x="939800" y="317500"/>
                  </a:lnTo>
                  <a:lnTo>
                    <a:pt x="939800" y="622300"/>
                  </a:lnTo>
                  <a:lnTo>
                    <a:pt x="927100" y="622300"/>
                  </a:lnTo>
                  <a:lnTo>
                    <a:pt x="939800" y="622300"/>
                  </a:lnTo>
                  <a:cubicBezTo>
                    <a:pt x="939800" y="797687"/>
                    <a:pt x="797687" y="939800"/>
                    <a:pt x="622300" y="939800"/>
                  </a:cubicBezTo>
                  <a:lnTo>
                    <a:pt x="622300" y="927100"/>
                  </a:lnTo>
                  <a:lnTo>
                    <a:pt x="622300" y="939800"/>
                  </a:lnTo>
                  <a:lnTo>
                    <a:pt x="317500" y="939800"/>
                  </a:lnTo>
                  <a:lnTo>
                    <a:pt x="317500" y="927100"/>
                  </a:lnTo>
                  <a:lnTo>
                    <a:pt x="317500" y="939800"/>
                  </a:lnTo>
                  <a:cubicBezTo>
                    <a:pt x="142113" y="939800"/>
                    <a:pt x="0" y="797687"/>
                    <a:pt x="0" y="622300"/>
                  </a:cubicBezTo>
                  <a:lnTo>
                    <a:pt x="0" y="317500"/>
                  </a:lnTo>
                  <a:lnTo>
                    <a:pt x="12700" y="317500"/>
                  </a:lnTo>
                  <a:lnTo>
                    <a:pt x="0" y="317500"/>
                  </a:lnTo>
                  <a:moveTo>
                    <a:pt x="25400" y="317500"/>
                  </a:moveTo>
                  <a:lnTo>
                    <a:pt x="25400" y="622300"/>
                  </a:lnTo>
                  <a:lnTo>
                    <a:pt x="12700" y="622300"/>
                  </a:lnTo>
                  <a:lnTo>
                    <a:pt x="25400" y="622300"/>
                  </a:lnTo>
                  <a:cubicBezTo>
                    <a:pt x="25400" y="783590"/>
                    <a:pt x="156210" y="914400"/>
                    <a:pt x="317500" y="914400"/>
                  </a:cubicBezTo>
                  <a:lnTo>
                    <a:pt x="622300" y="914400"/>
                  </a:lnTo>
                  <a:cubicBezTo>
                    <a:pt x="783590" y="914400"/>
                    <a:pt x="914400" y="783590"/>
                    <a:pt x="914400" y="622300"/>
                  </a:cubicBezTo>
                  <a:lnTo>
                    <a:pt x="914400" y="317500"/>
                  </a:lnTo>
                  <a:cubicBezTo>
                    <a:pt x="914400" y="156210"/>
                    <a:pt x="783590" y="25400"/>
                    <a:pt x="622300" y="25400"/>
                  </a:cubicBezTo>
                  <a:lnTo>
                    <a:pt x="317500" y="25400"/>
                  </a:lnTo>
                  <a:lnTo>
                    <a:pt x="317500" y="12700"/>
                  </a:lnTo>
                  <a:lnTo>
                    <a:pt x="317500" y="25400"/>
                  </a:lnTo>
                  <a:cubicBezTo>
                    <a:pt x="156210" y="25400"/>
                    <a:pt x="25400" y="156210"/>
                    <a:pt x="25400" y="317500"/>
                  </a:cubicBezTo>
                  <a:close/>
                </a:path>
              </a:pathLst>
            </a:custGeom>
            <a:solidFill>
              <a:srgbClr val="40424D"/>
            </a:solidFill>
          </p:spPr>
          <p:txBody>
            <a:bodyPr/>
            <a:p/>
          </p:txBody>
        </p:sp>
      </p:grpSp>
      <p:grpSp>
        <p:nvGrpSpPr>
          <p:cNvPr name="Group 131" id="131"/>
          <p:cNvGrpSpPr/>
          <p:nvPr/>
        </p:nvGrpSpPr>
        <p:grpSpPr>
          <a:xfrm rot="0">
            <a:off x="12706502" y="6672834"/>
            <a:ext cx="257861" cy="400507"/>
            <a:chOff x="0" y="0"/>
            <a:chExt cx="343814" cy="534010"/>
          </a:xfrm>
        </p:grpSpPr>
        <p:sp>
          <p:nvSpPr>
            <p:cNvPr name="Freeform 132" id="132" descr="preencoded.png"/>
            <p:cNvSpPr/>
            <p:nvPr/>
          </p:nvSpPr>
          <p:spPr>
            <a:xfrm flipH="false" flipV="false" rot="0">
              <a:off x="0" y="0"/>
              <a:ext cx="343789" cy="534035"/>
            </a:xfrm>
            <a:custGeom>
              <a:avLst/>
              <a:gdLst/>
              <a:ahLst/>
              <a:cxnLst/>
              <a:rect r="r" b="b" t="t" l="l"/>
              <a:pathLst>
                <a:path h="534035" w="343789">
                  <a:moveTo>
                    <a:pt x="0" y="0"/>
                  </a:moveTo>
                  <a:lnTo>
                    <a:pt x="343789" y="0"/>
                  </a:lnTo>
                  <a:lnTo>
                    <a:pt x="343789" y="534035"/>
                  </a:lnTo>
                  <a:lnTo>
                    <a:pt x="0" y="534035"/>
                  </a:lnTo>
                  <a:lnTo>
                    <a:pt x="0" y="0"/>
                  </a:lnTo>
                  <a:close/>
                </a:path>
              </a:pathLst>
            </a:custGeom>
            <a:blipFill>
              <a:blip r:embed="rId11"/>
              <a:stretch>
                <a:fillRect l="0" t="13208" r="-7" b="13212"/>
              </a:stretch>
            </a:blipFill>
          </p:spPr>
          <p:txBody>
            <a:bodyPr/>
            <a:p/>
          </p:txBody>
        </p:sp>
      </p:grpSp>
      <p:grpSp>
        <p:nvGrpSpPr>
          <p:cNvPr name="Group 133" id="133"/>
          <p:cNvGrpSpPr/>
          <p:nvPr/>
        </p:nvGrpSpPr>
        <p:grpSpPr>
          <a:xfrm rot="0">
            <a:off x="12492533" y="7443673"/>
            <a:ext cx="4758080" cy="498491"/>
            <a:chOff x="0" y="0"/>
            <a:chExt cx="6344107" cy="664654"/>
          </a:xfrm>
        </p:grpSpPr>
        <p:sp>
          <p:nvSpPr>
            <p:cNvPr name="Freeform 134" id="134"/>
            <p:cNvSpPr/>
            <p:nvPr/>
          </p:nvSpPr>
          <p:spPr>
            <a:xfrm flipH="false" flipV="false" rot="0">
              <a:off x="0" y="0"/>
              <a:ext cx="6344108" cy="664655"/>
            </a:xfrm>
            <a:custGeom>
              <a:avLst/>
              <a:gdLst/>
              <a:ahLst/>
              <a:cxnLst/>
              <a:rect r="r" b="b" t="t" l="l"/>
              <a:pathLst>
                <a:path h="664655" w="6344108">
                  <a:moveTo>
                    <a:pt x="0" y="0"/>
                  </a:moveTo>
                  <a:lnTo>
                    <a:pt x="6344108" y="0"/>
                  </a:lnTo>
                  <a:lnTo>
                    <a:pt x="6344108" y="664655"/>
                  </a:lnTo>
                  <a:lnTo>
                    <a:pt x="0" y="664655"/>
                  </a:lnTo>
                  <a:close/>
                </a:path>
              </a:pathLst>
            </a:custGeom>
            <a:blipFill>
              <a:blip r:embed="rId4">
                <a:alphaModFix amt="0"/>
              </a:blip>
              <a:stretch>
                <a:fillRect l="0" t="-145812" r="0" b="-126155"/>
              </a:stretch>
            </a:blipFill>
          </p:spPr>
          <p:txBody>
            <a:bodyPr/>
            <a:p/>
          </p:txBody>
        </p:sp>
        <p:sp>
          <p:nvSpPr>
            <p:cNvPr name="TextBox 135" id="135"/>
            <p:cNvSpPr txBox="true"/>
            <p:nvPr/>
          </p:nvSpPr>
          <p:spPr>
            <a:xfrm>
              <a:off x="0" y="-9525"/>
              <a:ext cx="6344107"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Alimentation</a:t>
              </a:r>
            </a:p>
          </p:txBody>
        </p:sp>
      </p:grpSp>
      <p:grpSp>
        <p:nvGrpSpPr>
          <p:cNvPr name="Group 136" id="136"/>
          <p:cNvGrpSpPr/>
          <p:nvPr/>
        </p:nvGrpSpPr>
        <p:grpSpPr>
          <a:xfrm rot="0">
            <a:off x="12492533" y="8015630"/>
            <a:ext cx="4701845" cy="986181"/>
            <a:chOff x="0" y="0"/>
            <a:chExt cx="6269126" cy="1314908"/>
          </a:xfrm>
        </p:grpSpPr>
        <p:sp>
          <p:nvSpPr>
            <p:cNvPr name="Freeform 137" id="137"/>
            <p:cNvSpPr/>
            <p:nvPr/>
          </p:nvSpPr>
          <p:spPr>
            <a:xfrm flipH="false" flipV="false" rot="0">
              <a:off x="0" y="0"/>
              <a:ext cx="6269126" cy="1314909"/>
            </a:xfrm>
            <a:custGeom>
              <a:avLst/>
              <a:gdLst/>
              <a:ahLst/>
              <a:cxnLst/>
              <a:rect r="r" b="b" t="t" l="l"/>
              <a:pathLst>
                <a:path h="1314909" w="6269126">
                  <a:moveTo>
                    <a:pt x="0" y="0"/>
                  </a:moveTo>
                  <a:lnTo>
                    <a:pt x="6269126" y="0"/>
                  </a:lnTo>
                  <a:lnTo>
                    <a:pt x="6269126" y="1314909"/>
                  </a:lnTo>
                  <a:lnTo>
                    <a:pt x="0" y="1314909"/>
                  </a:lnTo>
                  <a:close/>
                </a:path>
              </a:pathLst>
            </a:custGeom>
            <a:blipFill>
              <a:blip r:embed="rId4">
                <a:alphaModFix amt="0"/>
              </a:blip>
              <a:stretch>
                <a:fillRect l="0" t="-42899" r="0" b="-42899"/>
              </a:stretch>
            </a:blipFill>
          </p:spPr>
          <p:txBody>
            <a:bodyPr/>
            <a:p/>
          </p:txBody>
        </p:sp>
        <p:sp>
          <p:nvSpPr>
            <p:cNvPr name="TextBox 138" id="138"/>
            <p:cNvSpPr txBox="true"/>
            <p:nvPr/>
          </p:nvSpPr>
          <p:spPr>
            <a:xfrm>
              <a:off x="0" y="-9525"/>
              <a:ext cx="6269126" cy="1324433"/>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Considérer la nourriture comme carburant et médecine, au service de l'énergie, du métabolisme, du cerveau et de la longévité.</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914857" y="792785"/>
            <a:ext cx="456743" cy="13716"/>
            <a:chOff x="0" y="0"/>
            <a:chExt cx="608990" cy="18288"/>
          </a:xfrm>
        </p:grpSpPr>
        <p:sp>
          <p:nvSpPr>
            <p:cNvPr name="Freeform 9" id="9"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4"/>
              <a:stretch>
                <a:fillRect l="1949" t="0" r="1945" b="0"/>
              </a:stretch>
            </a:blipFill>
          </p:spPr>
          <p:txBody>
            <a:bodyPr/>
            <a:p/>
          </p:txBody>
        </p:sp>
      </p:grpSp>
      <p:grpSp>
        <p:nvGrpSpPr>
          <p:cNvPr name="Group 10" id="10"/>
          <p:cNvGrpSpPr/>
          <p:nvPr/>
        </p:nvGrpSpPr>
        <p:grpSpPr>
          <a:xfrm rot="0">
            <a:off x="1543050" y="685800"/>
            <a:ext cx="2449678" cy="293380"/>
            <a:chOff x="0" y="0"/>
            <a:chExt cx="3266237" cy="391173"/>
          </a:xfrm>
        </p:grpSpPr>
        <p:sp>
          <p:nvSpPr>
            <p:cNvPr name="Freeform 11" id="11"/>
            <p:cNvSpPr/>
            <p:nvPr/>
          </p:nvSpPr>
          <p:spPr>
            <a:xfrm flipH="false" flipV="false" rot="0">
              <a:off x="0" y="0"/>
              <a:ext cx="3266236" cy="391173"/>
            </a:xfrm>
            <a:custGeom>
              <a:avLst/>
              <a:gdLst/>
              <a:ahLst/>
              <a:cxnLst/>
              <a:rect r="r" b="b" t="t" l="l"/>
              <a:pathLst>
                <a:path h="391173" w="3266236">
                  <a:moveTo>
                    <a:pt x="0" y="0"/>
                  </a:moveTo>
                  <a:lnTo>
                    <a:pt x="3266236" y="0"/>
                  </a:lnTo>
                  <a:lnTo>
                    <a:pt x="3266236" y="391173"/>
                  </a:lnTo>
                  <a:lnTo>
                    <a:pt x="0" y="391173"/>
                  </a:lnTo>
                  <a:close/>
                </a:path>
              </a:pathLst>
            </a:custGeom>
            <a:blipFill>
              <a:blip r:embed="rId5">
                <a:alphaModFix amt="0"/>
              </a:blip>
              <a:stretch>
                <a:fillRect l="0" t="-123659" r="0" b="-101734"/>
              </a:stretch>
            </a:blipFill>
          </p:spPr>
          <p:txBody>
            <a:bodyPr/>
            <a:p/>
          </p:txBody>
        </p:sp>
        <p:sp>
          <p:nvSpPr>
            <p:cNvPr name="TextBox 12" id="12"/>
            <p:cNvSpPr txBox="true"/>
            <p:nvPr/>
          </p:nvSpPr>
          <p:spPr>
            <a:xfrm>
              <a:off x="0" y="0"/>
              <a:ext cx="3266237"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Contexte &amp; Enjeux</a:t>
              </a:r>
            </a:p>
          </p:txBody>
        </p:sp>
      </p:grpSp>
      <p:grpSp>
        <p:nvGrpSpPr>
          <p:cNvPr name="Group 13" id="13"/>
          <p:cNvGrpSpPr/>
          <p:nvPr/>
        </p:nvGrpSpPr>
        <p:grpSpPr>
          <a:xfrm rot="0">
            <a:off x="914857" y="1028700"/>
            <a:ext cx="9533992" cy="889664"/>
            <a:chOff x="0" y="0"/>
            <a:chExt cx="12711989" cy="1186218"/>
          </a:xfrm>
        </p:grpSpPr>
        <p:sp>
          <p:nvSpPr>
            <p:cNvPr name="Freeform 14" id="14"/>
            <p:cNvSpPr/>
            <p:nvPr/>
          </p:nvSpPr>
          <p:spPr>
            <a:xfrm flipH="false" flipV="false" rot="0">
              <a:off x="0" y="0"/>
              <a:ext cx="12711988" cy="1186219"/>
            </a:xfrm>
            <a:custGeom>
              <a:avLst/>
              <a:gdLst/>
              <a:ahLst/>
              <a:cxnLst/>
              <a:rect r="r" b="b" t="t" l="l"/>
              <a:pathLst>
                <a:path h="1186219" w="12711988">
                  <a:moveTo>
                    <a:pt x="0" y="0"/>
                  </a:moveTo>
                  <a:lnTo>
                    <a:pt x="12711988" y="0"/>
                  </a:lnTo>
                  <a:lnTo>
                    <a:pt x="12711988" y="1186219"/>
                  </a:lnTo>
                  <a:lnTo>
                    <a:pt x="0" y="1186219"/>
                  </a:lnTo>
                  <a:close/>
                </a:path>
              </a:pathLst>
            </a:custGeom>
            <a:blipFill>
              <a:blip r:embed="rId5">
                <a:alphaModFix amt="0"/>
              </a:blip>
              <a:stretch>
                <a:fillRect l="0" t="-172656" r="0" b="-144962"/>
              </a:stretch>
            </a:blipFill>
          </p:spPr>
          <p:txBody>
            <a:bodyPr/>
            <a:p/>
          </p:txBody>
        </p:sp>
        <p:sp>
          <p:nvSpPr>
            <p:cNvPr name="TextBox 15" id="15"/>
            <p:cNvSpPr txBox="true"/>
            <p:nvPr/>
          </p:nvSpPr>
          <p:spPr>
            <a:xfrm>
              <a:off x="0" y="9525"/>
              <a:ext cx="12711989" cy="1176693"/>
            </a:xfrm>
            <a:prstGeom prst="rect">
              <a:avLst/>
            </a:prstGeom>
          </p:spPr>
          <p:txBody>
            <a:bodyPr anchor="ctr" rtlCol="false" tIns="0" lIns="0" bIns="0" rIns="0"/>
            <a:lstStyle/>
            <a:p>
              <a:pPr algn="l">
                <a:lnSpc>
                  <a:spcPts val="4860"/>
                </a:lnSpc>
              </a:pPr>
              <a:r>
                <a:rPr lang="en-US" sz="4050" b="true">
                  <a:solidFill>
                    <a:srgbClr val="FFFFFF"/>
                  </a:solidFill>
                  <a:latin typeface="Manrope Bold"/>
                  <a:ea typeface="Manrope Bold"/>
                  <a:cs typeface="Manrope Bold"/>
                  <a:sym typeface="Manrope Bold"/>
                </a:rPr>
                <a:t> Le Paradoxe du </a:t>
              </a:r>
              <a:r>
                <a:rPr lang="en-US" sz="4050" b="true">
                  <a:solidFill>
                    <a:srgbClr val="9CA3AF"/>
                  </a:solidFill>
                  <a:latin typeface="Manrope Bold"/>
                  <a:ea typeface="Manrope Bold"/>
                  <a:cs typeface="Manrope Bold"/>
                  <a:sym typeface="Manrope Bold"/>
                </a:rPr>
                <a:t>Vieillissement</a:t>
              </a:r>
            </a:p>
          </p:txBody>
        </p:sp>
      </p:grpSp>
      <p:grpSp>
        <p:nvGrpSpPr>
          <p:cNvPr name="Group 16" id="16"/>
          <p:cNvGrpSpPr/>
          <p:nvPr/>
        </p:nvGrpSpPr>
        <p:grpSpPr>
          <a:xfrm rot="0">
            <a:off x="914857" y="1785823"/>
            <a:ext cx="8401050" cy="430120"/>
            <a:chOff x="0" y="0"/>
            <a:chExt cx="11201400" cy="573494"/>
          </a:xfrm>
        </p:grpSpPr>
        <p:sp>
          <p:nvSpPr>
            <p:cNvPr name="Freeform 17" id="17"/>
            <p:cNvSpPr/>
            <p:nvPr/>
          </p:nvSpPr>
          <p:spPr>
            <a:xfrm flipH="false" flipV="false" rot="0">
              <a:off x="0" y="0"/>
              <a:ext cx="11201400" cy="573494"/>
            </a:xfrm>
            <a:custGeom>
              <a:avLst/>
              <a:gdLst/>
              <a:ahLst/>
              <a:cxnLst/>
              <a:rect r="r" b="b" t="t" l="l"/>
              <a:pathLst>
                <a:path h="573494" w="11201400">
                  <a:moveTo>
                    <a:pt x="0" y="0"/>
                  </a:moveTo>
                  <a:lnTo>
                    <a:pt x="11201400" y="0"/>
                  </a:lnTo>
                  <a:lnTo>
                    <a:pt x="11201400" y="573494"/>
                  </a:lnTo>
                  <a:lnTo>
                    <a:pt x="0" y="573494"/>
                  </a:lnTo>
                  <a:close/>
                </a:path>
              </a:pathLst>
            </a:custGeom>
            <a:blipFill>
              <a:blip r:embed="rId5">
                <a:alphaModFix amt="0"/>
              </a:blip>
              <a:stretch>
                <a:fillRect l="0" t="-334021" r="0" b="-327136"/>
              </a:stretch>
            </a:blipFill>
          </p:spPr>
          <p:txBody>
            <a:bodyPr/>
            <a:p/>
          </p:txBody>
        </p:sp>
        <p:sp>
          <p:nvSpPr>
            <p:cNvPr name="TextBox 18" id="18"/>
            <p:cNvSpPr txBox="true"/>
            <p:nvPr/>
          </p:nvSpPr>
          <p:spPr>
            <a:xfrm>
              <a:off x="0" y="-9525"/>
              <a:ext cx="11201400" cy="583019"/>
            </a:xfrm>
            <a:prstGeom prst="rect">
              <a:avLst/>
            </a:prstGeom>
          </p:spPr>
          <p:txBody>
            <a:bodyPr anchor="ctr" rtlCol="false" tIns="0" lIns="0" bIns="0" rIns="0"/>
            <a:lstStyle/>
            <a:p>
              <a:pPr algn="l">
                <a:lnSpc>
                  <a:spcPts val="2340"/>
                </a:lnSpc>
              </a:pPr>
              <a:r>
                <a:rPr lang="en-US" sz="1950">
                  <a:solidFill>
                    <a:srgbClr val="FFFFFF"/>
                  </a:solidFill>
                  <a:latin typeface="Manrope"/>
                  <a:ea typeface="Manrope"/>
                  <a:cs typeface="Manrope"/>
                  <a:sym typeface="Manrope"/>
                </a:rPr>
                <a:t>Coût, Santé et Longévité : pourquoi le modèle actuel s'effondre.</a:t>
              </a:r>
            </a:p>
          </p:txBody>
        </p:sp>
      </p:grpSp>
      <p:grpSp>
        <p:nvGrpSpPr>
          <p:cNvPr name="Group 19" id="19"/>
          <p:cNvGrpSpPr/>
          <p:nvPr/>
        </p:nvGrpSpPr>
        <p:grpSpPr>
          <a:xfrm rot="0">
            <a:off x="16419424" y="1899666"/>
            <a:ext cx="957377" cy="332327"/>
            <a:chOff x="0" y="0"/>
            <a:chExt cx="1276502" cy="443103"/>
          </a:xfrm>
        </p:grpSpPr>
        <p:sp>
          <p:nvSpPr>
            <p:cNvPr name="Freeform 20" id="20"/>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5">
                <a:alphaModFix amt="0"/>
              </a:blip>
              <a:stretch>
                <a:fillRect l="0" t="-13003" r="0" b="737"/>
              </a:stretch>
            </a:blipFill>
          </p:spPr>
          <p:txBody>
            <a:bodyPr/>
            <a:p/>
          </p:txBody>
        </p:sp>
        <p:sp>
          <p:nvSpPr>
            <p:cNvPr name="TextBox 21" id="21"/>
            <p:cNvSpPr txBox="true"/>
            <p:nvPr/>
          </p:nvSpPr>
          <p:spPr>
            <a:xfrm>
              <a:off x="0" y="-9525"/>
              <a:ext cx="1276502" cy="452628"/>
            </a:xfrm>
            <a:prstGeom prst="rect">
              <a:avLst/>
            </a:prstGeom>
          </p:spPr>
          <p:txBody>
            <a:bodyPr anchor="ctr" rtlCol="false" tIns="0" lIns="0" bIns="0" rIns="0"/>
            <a:lstStyle/>
            <a:p>
              <a:pPr algn="r">
                <a:lnSpc>
                  <a:spcPts val="1800"/>
                </a:lnSpc>
              </a:pPr>
              <a:r>
                <a:rPr lang="en-US" sz="1500">
                  <a:solidFill>
                    <a:srgbClr val="6B7280"/>
                  </a:solidFill>
                  <a:latin typeface="Manrope"/>
                  <a:ea typeface="Manrope"/>
                  <a:cs typeface="Manrope"/>
                  <a:sym typeface="Manrope"/>
                </a:rPr>
                <a:t>04 / 14</a:t>
              </a:r>
            </a:p>
          </p:txBody>
        </p:sp>
      </p:grpSp>
      <p:grpSp>
        <p:nvGrpSpPr>
          <p:cNvPr name="Group 22" id="22"/>
          <p:cNvGrpSpPr/>
          <p:nvPr/>
        </p:nvGrpSpPr>
        <p:grpSpPr>
          <a:xfrm rot="0">
            <a:off x="905332" y="2747391"/>
            <a:ext cx="5205070" cy="5676900"/>
            <a:chOff x="0" y="0"/>
            <a:chExt cx="6940093" cy="7569200"/>
          </a:xfrm>
        </p:grpSpPr>
        <p:sp>
          <p:nvSpPr>
            <p:cNvPr name="Freeform 23" id="23"/>
            <p:cNvSpPr/>
            <p:nvPr/>
          </p:nvSpPr>
          <p:spPr>
            <a:xfrm flipH="false" flipV="false" rot="0">
              <a:off x="12700" y="12700"/>
              <a:ext cx="6914642" cy="7543800"/>
            </a:xfrm>
            <a:custGeom>
              <a:avLst/>
              <a:gdLst/>
              <a:ahLst/>
              <a:cxnLst/>
              <a:rect r="r" b="b" t="t" l="l"/>
              <a:pathLst>
                <a:path h="7543800" w="6914642">
                  <a:moveTo>
                    <a:pt x="0" y="0"/>
                  </a:moveTo>
                  <a:lnTo>
                    <a:pt x="6914642" y="0"/>
                  </a:lnTo>
                  <a:lnTo>
                    <a:pt x="6914642" y="7543800"/>
                  </a:lnTo>
                  <a:lnTo>
                    <a:pt x="0" y="7543800"/>
                  </a:lnTo>
                  <a:close/>
                </a:path>
              </a:pathLst>
            </a:custGeom>
            <a:solidFill>
              <a:srgbClr val="1E1E24">
                <a:alpha val="15686"/>
              </a:srgbClr>
            </a:solidFill>
          </p:spPr>
          <p:txBody>
            <a:bodyPr/>
            <a:p/>
          </p:txBody>
        </p:sp>
        <p:sp>
          <p:nvSpPr>
            <p:cNvPr name="Freeform 24" id="24"/>
            <p:cNvSpPr/>
            <p:nvPr/>
          </p:nvSpPr>
          <p:spPr>
            <a:xfrm flipH="false" flipV="false" rot="0">
              <a:off x="0" y="0"/>
              <a:ext cx="6940042" cy="7569200"/>
            </a:xfrm>
            <a:custGeom>
              <a:avLst/>
              <a:gdLst/>
              <a:ahLst/>
              <a:cxnLst/>
              <a:rect r="r" b="b" t="t" l="l"/>
              <a:pathLst>
                <a:path h="7569200" w="6940042">
                  <a:moveTo>
                    <a:pt x="12700" y="0"/>
                  </a:moveTo>
                  <a:lnTo>
                    <a:pt x="6927342" y="0"/>
                  </a:lnTo>
                  <a:cubicBezTo>
                    <a:pt x="6934327" y="0"/>
                    <a:pt x="6940042" y="5715"/>
                    <a:pt x="6940042" y="12700"/>
                  </a:cubicBezTo>
                  <a:lnTo>
                    <a:pt x="6940042" y="7556500"/>
                  </a:lnTo>
                  <a:cubicBezTo>
                    <a:pt x="6940042" y="7563485"/>
                    <a:pt x="6934327" y="7569200"/>
                    <a:pt x="6927342" y="7569200"/>
                  </a:cubicBezTo>
                  <a:lnTo>
                    <a:pt x="12700" y="7569200"/>
                  </a:lnTo>
                  <a:cubicBezTo>
                    <a:pt x="5715" y="7569200"/>
                    <a:pt x="0" y="7563485"/>
                    <a:pt x="0" y="7556500"/>
                  </a:cubicBezTo>
                  <a:lnTo>
                    <a:pt x="0" y="12700"/>
                  </a:lnTo>
                  <a:cubicBezTo>
                    <a:pt x="0" y="5715"/>
                    <a:pt x="5715" y="0"/>
                    <a:pt x="12700" y="0"/>
                  </a:cubicBezTo>
                  <a:moveTo>
                    <a:pt x="12700" y="25400"/>
                  </a:moveTo>
                  <a:lnTo>
                    <a:pt x="12700" y="12700"/>
                  </a:lnTo>
                  <a:lnTo>
                    <a:pt x="25400" y="12700"/>
                  </a:lnTo>
                  <a:lnTo>
                    <a:pt x="25400" y="7556500"/>
                  </a:lnTo>
                  <a:lnTo>
                    <a:pt x="12700" y="7556500"/>
                  </a:lnTo>
                  <a:lnTo>
                    <a:pt x="12700" y="7543800"/>
                  </a:lnTo>
                  <a:lnTo>
                    <a:pt x="6927342" y="7543800"/>
                  </a:lnTo>
                  <a:lnTo>
                    <a:pt x="6927342" y="7556500"/>
                  </a:lnTo>
                  <a:lnTo>
                    <a:pt x="6914642" y="7556500"/>
                  </a:lnTo>
                  <a:lnTo>
                    <a:pt x="6914642" y="12700"/>
                  </a:lnTo>
                  <a:lnTo>
                    <a:pt x="6927342" y="12700"/>
                  </a:lnTo>
                  <a:lnTo>
                    <a:pt x="6927342" y="25400"/>
                  </a:lnTo>
                  <a:lnTo>
                    <a:pt x="12700" y="25400"/>
                  </a:lnTo>
                  <a:close/>
                </a:path>
              </a:pathLst>
            </a:custGeom>
            <a:solidFill>
              <a:srgbClr val="40424D"/>
            </a:solidFill>
          </p:spPr>
          <p:txBody>
            <a:bodyPr/>
            <a:p/>
          </p:txBody>
        </p:sp>
      </p:grpSp>
      <p:grpSp>
        <p:nvGrpSpPr>
          <p:cNvPr name="Group 25" id="25"/>
          <p:cNvGrpSpPr/>
          <p:nvPr/>
        </p:nvGrpSpPr>
        <p:grpSpPr>
          <a:xfrm rot="0">
            <a:off x="905332" y="2747391"/>
            <a:ext cx="5172151" cy="47854"/>
            <a:chOff x="0" y="0"/>
            <a:chExt cx="6896202" cy="63805"/>
          </a:xfrm>
        </p:grpSpPr>
        <p:sp>
          <p:nvSpPr>
            <p:cNvPr name="Freeform 26" id="26"/>
            <p:cNvSpPr/>
            <p:nvPr/>
          </p:nvSpPr>
          <p:spPr>
            <a:xfrm flipH="false" flipV="false" rot="0">
              <a:off x="12700" y="12700"/>
              <a:ext cx="6870827" cy="38354"/>
            </a:xfrm>
            <a:custGeom>
              <a:avLst/>
              <a:gdLst/>
              <a:ahLst/>
              <a:cxnLst/>
              <a:rect r="r" b="b" t="t" l="l"/>
              <a:pathLst>
                <a:path h="38354" w="6870827">
                  <a:moveTo>
                    <a:pt x="0" y="0"/>
                  </a:moveTo>
                  <a:lnTo>
                    <a:pt x="6870827" y="0"/>
                  </a:lnTo>
                  <a:lnTo>
                    <a:pt x="6870827" y="38354"/>
                  </a:lnTo>
                  <a:lnTo>
                    <a:pt x="0" y="38354"/>
                  </a:lnTo>
                  <a:close/>
                </a:path>
              </a:pathLst>
            </a:custGeom>
            <a:solidFill>
              <a:srgbClr val="40424D"/>
            </a:solidFill>
          </p:spPr>
          <p:txBody>
            <a:bodyPr/>
            <a:p/>
          </p:txBody>
        </p:sp>
      </p:grpSp>
      <p:grpSp>
        <p:nvGrpSpPr>
          <p:cNvPr name="Group 27" id="27"/>
          <p:cNvGrpSpPr/>
          <p:nvPr/>
        </p:nvGrpSpPr>
        <p:grpSpPr>
          <a:xfrm rot="0">
            <a:off x="1385316" y="3228746"/>
            <a:ext cx="342900" cy="456743"/>
            <a:chOff x="0" y="0"/>
            <a:chExt cx="457200" cy="608990"/>
          </a:xfrm>
        </p:grpSpPr>
        <p:sp>
          <p:nvSpPr>
            <p:cNvPr name="Freeform 28" id="28" descr="preencoded.png"/>
            <p:cNvSpPr/>
            <p:nvPr/>
          </p:nvSpPr>
          <p:spPr>
            <a:xfrm flipH="false" flipV="false" rot="0">
              <a:off x="0" y="0"/>
              <a:ext cx="457200" cy="608965"/>
            </a:xfrm>
            <a:custGeom>
              <a:avLst/>
              <a:gdLst/>
              <a:ahLst/>
              <a:cxnLst/>
              <a:rect r="r" b="b" t="t" l="l"/>
              <a:pathLst>
                <a:path h="608965" w="457200">
                  <a:moveTo>
                    <a:pt x="0" y="0"/>
                  </a:moveTo>
                  <a:lnTo>
                    <a:pt x="457200" y="0"/>
                  </a:lnTo>
                  <a:lnTo>
                    <a:pt x="457200" y="608965"/>
                  </a:lnTo>
                  <a:lnTo>
                    <a:pt x="0" y="608965"/>
                  </a:lnTo>
                  <a:lnTo>
                    <a:pt x="0" y="0"/>
                  </a:lnTo>
                  <a:close/>
                </a:path>
              </a:pathLst>
            </a:custGeom>
            <a:blipFill>
              <a:blip r:embed="rId6"/>
              <a:stretch>
                <a:fillRect l="0" t="12462" r="0" b="12458"/>
              </a:stretch>
            </a:blipFill>
          </p:spPr>
          <p:txBody>
            <a:bodyPr/>
            <a:p/>
          </p:txBody>
        </p:sp>
      </p:grpSp>
      <p:grpSp>
        <p:nvGrpSpPr>
          <p:cNvPr name="Group 29" id="29"/>
          <p:cNvGrpSpPr/>
          <p:nvPr/>
        </p:nvGrpSpPr>
        <p:grpSpPr>
          <a:xfrm rot="0">
            <a:off x="4743069" y="3269971"/>
            <a:ext cx="976427" cy="377037"/>
            <a:chOff x="0" y="0"/>
            <a:chExt cx="1301902" cy="502716"/>
          </a:xfrm>
        </p:grpSpPr>
        <p:sp>
          <p:nvSpPr>
            <p:cNvPr name="Freeform 30" id="30"/>
            <p:cNvSpPr/>
            <p:nvPr/>
          </p:nvSpPr>
          <p:spPr>
            <a:xfrm flipH="false" flipV="false" rot="0">
              <a:off x="0" y="0"/>
              <a:ext cx="1301877" cy="502665"/>
            </a:xfrm>
            <a:custGeom>
              <a:avLst/>
              <a:gdLst/>
              <a:ahLst/>
              <a:cxnLst/>
              <a:rect r="r" b="b" t="t" l="l"/>
              <a:pathLst>
                <a:path h="502665" w="1301877">
                  <a:moveTo>
                    <a:pt x="12700" y="0"/>
                  </a:moveTo>
                  <a:lnTo>
                    <a:pt x="1289177" y="0"/>
                  </a:lnTo>
                  <a:cubicBezTo>
                    <a:pt x="1296162" y="0"/>
                    <a:pt x="1301877" y="5715"/>
                    <a:pt x="1301877" y="12700"/>
                  </a:cubicBezTo>
                  <a:lnTo>
                    <a:pt x="1301877" y="489965"/>
                  </a:lnTo>
                  <a:cubicBezTo>
                    <a:pt x="1301877" y="496950"/>
                    <a:pt x="1296162" y="502665"/>
                    <a:pt x="1289177"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1289177" y="477265"/>
                  </a:lnTo>
                  <a:lnTo>
                    <a:pt x="1289177" y="489965"/>
                  </a:lnTo>
                  <a:lnTo>
                    <a:pt x="1276477" y="489965"/>
                  </a:lnTo>
                  <a:lnTo>
                    <a:pt x="1276477" y="12700"/>
                  </a:lnTo>
                  <a:lnTo>
                    <a:pt x="1289177" y="12700"/>
                  </a:lnTo>
                  <a:lnTo>
                    <a:pt x="1289177" y="25400"/>
                  </a:lnTo>
                  <a:lnTo>
                    <a:pt x="12700" y="25400"/>
                  </a:lnTo>
                  <a:close/>
                </a:path>
              </a:pathLst>
            </a:custGeom>
            <a:solidFill>
              <a:srgbClr val="4B5563"/>
            </a:solidFill>
          </p:spPr>
          <p:txBody>
            <a:bodyPr/>
            <a:p/>
          </p:txBody>
        </p:sp>
        <p:sp>
          <p:nvSpPr>
            <p:cNvPr name="TextBox 31" id="31"/>
            <p:cNvSpPr txBox="true"/>
            <p:nvPr/>
          </p:nvSpPr>
          <p:spPr>
            <a:xfrm>
              <a:off x="0" y="0"/>
              <a:ext cx="1301902" cy="502716"/>
            </a:xfrm>
            <a:prstGeom prst="rect">
              <a:avLst/>
            </a:prstGeom>
          </p:spPr>
          <p:txBody>
            <a:bodyPr anchor="ctr" rtlCol="false" tIns="50800" lIns="50800" bIns="50800" rIns="50800"/>
            <a:lstStyle/>
            <a:p>
              <a:pPr algn="l">
                <a:lnSpc>
                  <a:spcPts val="1439"/>
                </a:lnSpc>
              </a:pPr>
              <a:r>
                <a:rPr lang="en-US" sz="1200">
                  <a:solidFill>
                    <a:srgbClr val="9CA3AF"/>
                  </a:solidFill>
                  <a:latin typeface="Manrope"/>
                  <a:ea typeface="Manrope"/>
                  <a:cs typeface="Manrope"/>
                  <a:sym typeface="Manrope"/>
                </a:rPr>
                <a:t>Mondial</a:t>
              </a:r>
            </a:p>
          </p:txBody>
        </p:sp>
      </p:grpSp>
      <p:grpSp>
        <p:nvGrpSpPr>
          <p:cNvPr name="Group 32" id="32"/>
          <p:cNvGrpSpPr/>
          <p:nvPr/>
        </p:nvGrpSpPr>
        <p:grpSpPr>
          <a:xfrm rot="0">
            <a:off x="1385316" y="4029761"/>
            <a:ext cx="4413809" cy="332327"/>
            <a:chOff x="0" y="0"/>
            <a:chExt cx="5885078" cy="443103"/>
          </a:xfrm>
        </p:grpSpPr>
        <p:sp>
          <p:nvSpPr>
            <p:cNvPr name="Freeform 33" id="33"/>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3596" r="0" b="-203983"/>
              </a:stretch>
            </a:blipFill>
          </p:spPr>
          <p:txBody>
            <a:bodyPr/>
            <a:p/>
          </p:txBody>
        </p:sp>
        <p:sp>
          <p:nvSpPr>
            <p:cNvPr name="TextBox 34" id="34"/>
            <p:cNvSpPr txBox="true"/>
            <p:nvPr/>
          </p:nvSpPr>
          <p:spPr>
            <a:xfrm>
              <a:off x="0" y="-9525"/>
              <a:ext cx="5885078"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L'Urgence Économique</a:t>
              </a:r>
            </a:p>
          </p:txBody>
        </p:sp>
      </p:grpSp>
      <p:grpSp>
        <p:nvGrpSpPr>
          <p:cNvPr name="Group 35" id="35"/>
          <p:cNvGrpSpPr/>
          <p:nvPr/>
        </p:nvGrpSpPr>
        <p:grpSpPr>
          <a:xfrm rot="0">
            <a:off x="1385316" y="4671670"/>
            <a:ext cx="4413809" cy="1600657"/>
            <a:chOff x="0" y="0"/>
            <a:chExt cx="5885078" cy="2134210"/>
          </a:xfrm>
        </p:grpSpPr>
        <p:sp>
          <p:nvSpPr>
            <p:cNvPr name="Freeform 36" id="36"/>
            <p:cNvSpPr/>
            <p:nvPr/>
          </p:nvSpPr>
          <p:spPr>
            <a:xfrm flipH="false" flipV="false" rot="0">
              <a:off x="0" y="0"/>
              <a:ext cx="5885078" cy="2134210"/>
            </a:xfrm>
            <a:custGeom>
              <a:avLst/>
              <a:gdLst/>
              <a:ahLst/>
              <a:cxnLst/>
              <a:rect r="r" b="b" t="t" l="l"/>
              <a:pathLst>
                <a:path h="2134210" w="5885078">
                  <a:moveTo>
                    <a:pt x="0" y="0"/>
                  </a:moveTo>
                  <a:lnTo>
                    <a:pt x="5885078" y="0"/>
                  </a:lnTo>
                  <a:lnTo>
                    <a:pt x="5885078" y="2134210"/>
                  </a:lnTo>
                  <a:lnTo>
                    <a:pt x="0" y="2134210"/>
                  </a:lnTo>
                  <a:close/>
                </a:path>
              </a:pathLst>
            </a:custGeom>
            <a:blipFill>
              <a:blip r:embed="rId5">
                <a:alphaModFix amt="0"/>
              </a:blip>
              <a:stretch>
                <a:fillRect l="0" t="-3729" r="0" b="-3729"/>
              </a:stretch>
            </a:blipFill>
          </p:spPr>
          <p:txBody>
            <a:bodyPr/>
            <a:p/>
          </p:txBody>
        </p:sp>
        <p:sp>
          <p:nvSpPr>
            <p:cNvPr name="TextBox 37" id="37"/>
            <p:cNvSpPr txBox="true"/>
            <p:nvPr/>
          </p:nvSpPr>
          <p:spPr>
            <a:xfrm>
              <a:off x="0" y="0"/>
              <a:ext cx="5885078" cy="2134210"/>
            </a:xfrm>
            <a:prstGeom prst="rect">
              <a:avLst/>
            </a:prstGeom>
          </p:spPr>
          <p:txBody>
            <a:bodyPr anchor="ctr" rtlCol="false" tIns="0" lIns="0" bIns="0" rIns="0"/>
            <a:lstStyle/>
            <a:p>
              <a:pPr algn="l">
                <a:lnSpc>
                  <a:spcPts val="7559"/>
                </a:lnSpc>
              </a:pPr>
              <a:r>
                <a:rPr lang="en-US" b="true" sz="6300" spc="-225">
                  <a:solidFill>
                    <a:srgbClr val="FFFFFF"/>
                  </a:solidFill>
                  <a:latin typeface="Manrope Bold"/>
                  <a:ea typeface="Manrope Bold"/>
                  <a:cs typeface="Manrope Bold"/>
                  <a:sym typeface="Manrope Bold"/>
                </a:rPr>
                <a:t>47 000 Md$</a:t>
              </a:r>
            </a:p>
          </p:txBody>
        </p:sp>
      </p:grpSp>
      <p:grpSp>
        <p:nvGrpSpPr>
          <p:cNvPr name="Group 38" id="38"/>
          <p:cNvGrpSpPr/>
          <p:nvPr/>
        </p:nvGrpSpPr>
        <p:grpSpPr>
          <a:xfrm rot="0">
            <a:off x="1385316" y="6386170"/>
            <a:ext cx="4851349" cy="332327"/>
            <a:chOff x="0" y="0"/>
            <a:chExt cx="6468466" cy="443103"/>
          </a:xfrm>
        </p:grpSpPr>
        <p:sp>
          <p:nvSpPr>
            <p:cNvPr name="Freeform 39" id="39"/>
            <p:cNvSpPr/>
            <p:nvPr/>
          </p:nvSpPr>
          <p:spPr>
            <a:xfrm flipH="false" flipV="false" rot="0">
              <a:off x="0" y="0"/>
              <a:ext cx="6468466" cy="443104"/>
            </a:xfrm>
            <a:custGeom>
              <a:avLst/>
              <a:gdLst/>
              <a:ahLst/>
              <a:cxnLst/>
              <a:rect r="r" b="b" t="t" l="l"/>
              <a:pathLst>
                <a:path h="443104" w="6468466">
                  <a:moveTo>
                    <a:pt x="0" y="0"/>
                  </a:moveTo>
                  <a:lnTo>
                    <a:pt x="6468466" y="0"/>
                  </a:lnTo>
                  <a:lnTo>
                    <a:pt x="6468466" y="443104"/>
                  </a:lnTo>
                  <a:lnTo>
                    <a:pt x="0" y="443104"/>
                  </a:lnTo>
                  <a:close/>
                </a:path>
              </a:pathLst>
            </a:custGeom>
            <a:blipFill>
              <a:blip r:embed="rId5">
                <a:alphaModFix amt="0"/>
              </a:blip>
              <a:stretch>
                <a:fillRect l="0" t="-241314" r="0" b="-227573"/>
              </a:stretch>
            </a:blipFill>
          </p:spPr>
          <p:txBody>
            <a:bodyPr/>
            <a:p/>
          </p:txBody>
        </p:sp>
        <p:sp>
          <p:nvSpPr>
            <p:cNvPr name="TextBox 40" id="40"/>
            <p:cNvSpPr txBox="true"/>
            <p:nvPr/>
          </p:nvSpPr>
          <p:spPr>
            <a:xfrm>
              <a:off x="0" y="-9525"/>
              <a:ext cx="6468466"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Coût des maladies chroniques d'ici 2030</a:t>
              </a:r>
            </a:p>
          </p:txBody>
        </p:sp>
      </p:grpSp>
      <p:grpSp>
        <p:nvGrpSpPr>
          <p:cNvPr name="Group 41" id="41"/>
          <p:cNvGrpSpPr/>
          <p:nvPr/>
        </p:nvGrpSpPr>
        <p:grpSpPr>
          <a:xfrm rot="0">
            <a:off x="1385316" y="6958127"/>
            <a:ext cx="4238244" cy="13716"/>
            <a:chOff x="0" y="0"/>
            <a:chExt cx="5650992" cy="18288"/>
          </a:xfrm>
        </p:grpSpPr>
        <p:sp>
          <p:nvSpPr>
            <p:cNvPr name="Freeform 42" id="42" descr="preencoded.png"/>
            <p:cNvSpPr/>
            <p:nvPr/>
          </p:nvSpPr>
          <p:spPr>
            <a:xfrm flipH="false" flipV="false" rot="0">
              <a:off x="0" y="0"/>
              <a:ext cx="5650992" cy="18288"/>
            </a:xfrm>
            <a:custGeom>
              <a:avLst/>
              <a:gdLst/>
              <a:ahLst/>
              <a:cxnLst/>
              <a:rect r="r" b="b" t="t" l="l"/>
              <a:pathLst>
                <a:path h="18288" w="5650992">
                  <a:moveTo>
                    <a:pt x="0" y="0"/>
                  </a:moveTo>
                  <a:lnTo>
                    <a:pt x="5650992" y="0"/>
                  </a:lnTo>
                  <a:lnTo>
                    <a:pt x="5650992" y="18288"/>
                  </a:lnTo>
                  <a:lnTo>
                    <a:pt x="0" y="18288"/>
                  </a:lnTo>
                  <a:lnTo>
                    <a:pt x="0" y="0"/>
                  </a:lnTo>
                  <a:close/>
                </a:path>
              </a:pathLst>
            </a:custGeom>
            <a:blipFill>
              <a:blip r:embed="rId7"/>
              <a:stretch>
                <a:fillRect l="1995" t="0" r="1995" b="0"/>
              </a:stretch>
            </a:blipFill>
          </p:spPr>
          <p:txBody>
            <a:bodyPr/>
            <a:p/>
          </p:txBody>
        </p:sp>
      </p:grpSp>
      <p:grpSp>
        <p:nvGrpSpPr>
          <p:cNvPr name="Group 43" id="43"/>
          <p:cNvGrpSpPr/>
          <p:nvPr/>
        </p:nvGrpSpPr>
        <p:grpSpPr>
          <a:xfrm rot="0">
            <a:off x="1385316" y="7314743"/>
            <a:ext cx="200254" cy="229057"/>
            <a:chOff x="0" y="0"/>
            <a:chExt cx="267005" cy="305410"/>
          </a:xfrm>
        </p:grpSpPr>
        <p:sp>
          <p:nvSpPr>
            <p:cNvPr name="Freeform 44" id="44" descr="preencoded.png"/>
            <p:cNvSpPr/>
            <p:nvPr/>
          </p:nvSpPr>
          <p:spPr>
            <a:xfrm flipH="false" flipV="false" rot="0">
              <a:off x="0" y="0"/>
              <a:ext cx="266954" cy="305435"/>
            </a:xfrm>
            <a:custGeom>
              <a:avLst/>
              <a:gdLst/>
              <a:ahLst/>
              <a:cxnLst/>
              <a:rect r="r" b="b" t="t" l="l"/>
              <a:pathLst>
                <a:path h="305435" w="266954">
                  <a:moveTo>
                    <a:pt x="0" y="0"/>
                  </a:moveTo>
                  <a:lnTo>
                    <a:pt x="266954" y="0"/>
                  </a:lnTo>
                  <a:lnTo>
                    <a:pt x="266954" y="305435"/>
                  </a:lnTo>
                  <a:lnTo>
                    <a:pt x="0" y="305435"/>
                  </a:lnTo>
                  <a:lnTo>
                    <a:pt x="0" y="0"/>
                  </a:lnTo>
                  <a:close/>
                </a:path>
              </a:pathLst>
            </a:custGeom>
            <a:blipFill>
              <a:blip r:embed="rId8"/>
              <a:stretch>
                <a:fillRect l="0" t="41" r="-589" b="54"/>
              </a:stretch>
            </a:blipFill>
          </p:spPr>
          <p:txBody>
            <a:bodyPr/>
            <a:p/>
          </p:txBody>
        </p:sp>
      </p:grpSp>
      <p:grpSp>
        <p:nvGrpSpPr>
          <p:cNvPr name="Group 45" id="45"/>
          <p:cNvGrpSpPr/>
          <p:nvPr/>
        </p:nvGrpSpPr>
        <p:grpSpPr>
          <a:xfrm rot="0">
            <a:off x="1757020" y="7258507"/>
            <a:ext cx="2671877" cy="596284"/>
            <a:chOff x="0" y="0"/>
            <a:chExt cx="3562502" cy="795045"/>
          </a:xfrm>
        </p:grpSpPr>
        <p:sp>
          <p:nvSpPr>
            <p:cNvPr name="Freeform 46" id="46"/>
            <p:cNvSpPr/>
            <p:nvPr/>
          </p:nvSpPr>
          <p:spPr>
            <a:xfrm flipH="false" flipV="false" rot="0">
              <a:off x="0" y="0"/>
              <a:ext cx="3562502" cy="795046"/>
            </a:xfrm>
            <a:custGeom>
              <a:avLst/>
              <a:gdLst/>
              <a:ahLst/>
              <a:cxnLst/>
              <a:rect r="r" b="b" t="t" l="l"/>
              <a:pathLst>
                <a:path h="795046" w="3562502">
                  <a:moveTo>
                    <a:pt x="0" y="0"/>
                  </a:moveTo>
                  <a:lnTo>
                    <a:pt x="3562502" y="0"/>
                  </a:lnTo>
                  <a:lnTo>
                    <a:pt x="3562502" y="795046"/>
                  </a:lnTo>
                  <a:lnTo>
                    <a:pt x="0" y="795046"/>
                  </a:lnTo>
                  <a:close/>
                </a:path>
              </a:pathLst>
            </a:custGeom>
            <a:blipFill>
              <a:blip r:embed="rId5">
                <a:alphaModFix amt="0"/>
              </a:blip>
              <a:stretch>
                <a:fillRect l="0" t="-48895" r="0" b="-25724"/>
              </a:stretch>
            </a:blipFill>
          </p:spPr>
          <p:txBody>
            <a:bodyPr/>
            <a:p/>
          </p:txBody>
        </p:sp>
        <p:sp>
          <p:nvSpPr>
            <p:cNvPr name="TextBox 47" id="47"/>
            <p:cNvSpPr txBox="true"/>
            <p:nvPr/>
          </p:nvSpPr>
          <p:spPr>
            <a:xfrm>
              <a:off x="0" y="0"/>
              <a:ext cx="3562502"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426 Millions</a:t>
              </a:r>
            </a:p>
          </p:txBody>
        </p:sp>
      </p:grpSp>
      <p:grpSp>
        <p:nvGrpSpPr>
          <p:cNvPr name="Group 48" id="48"/>
          <p:cNvGrpSpPr/>
          <p:nvPr/>
        </p:nvGrpSpPr>
        <p:grpSpPr>
          <a:xfrm rot="0">
            <a:off x="1757020" y="7715250"/>
            <a:ext cx="3043580" cy="293380"/>
            <a:chOff x="0" y="0"/>
            <a:chExt cx="4058107" cy="391173"/>
          </a:xfrm>
        </p:grpSpPr>
        <p:sp>
          <p:nvSpPr>
            <p:cNvPr name="Freeform 49" id="49"/>
            <p:cNvSpPr/>
            <p:nvPr/>
          </p:nvSpPr>
          <p:spPr>
            <a:xfrm flipH="false" flipV="false" rot="0">
              <a:off x="0" y="0"/>
              <a:ext cx="4058108" cy="391173"/>
            </a:xfrm>
            <a:custGeom>
              <a:avLst/>
              <a:gdLst/>
              <a:ahLst/>
              <a:cxnLst/>
              <a:rect r="r" b="b" t="t" l="l"/>
              <a:pathLst>
                <a:path h="391173" w="4058108">
                  <a:moveTo>
                    <a:pt x="0" y="0"/>
                  </a:moveTo>
                  <a:lnTo>
                    <a:pt x="4058108" y="0"/>
                  </a:lnTo>
                  <a:lnTo>
                    <a:pt x="4058108" y="391173"/>
                  </a:lnTo>
                  <a:lnTo>
                    <a:pt x="0" y="391173"/>
                  </a:lnTo>
                  <a:close/>
                </a:path>
              </a:pathLst>
            </a:custGeom>
            <a:blipFill>
              <a:blip r:embed="rId5">
                <a:alphaModFix amt="0"/>
              </a:blip>
              <a:stretch>
                <a:fillRect l="0" t="-163103" r="0" b="-141179"/>
              </a:stretch>
            </a:blipFill>
          </p:spPr>
          <p:txBody>
            <a:bodyPr/>
            <a:p/>
          </p:txBody>
        </p:sp>
        <p:sp>
          <p:nvSpPr>
            <p:cNvPr name="TextBox 50" id="50"/>
            <p:cNvSpPr txBox="true"/>
            <p:nvPr/>
          </p:nvSpPr>
          <p:spPr>
            <a:xfrm>
              <a:off x="0" y="0"/>
              <a:ext cx="4058107" cy="391173"/>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Personnes &gt;80 ans en 2050 (x3)</a:t>
              </a:r>
            </a:p>
          </p:txBody>
        </p:sp>
      </p:grpSp>
      <p:grpSp>
        <p:nvGrpSpPr>
          <p:cNvPr name="Group 51" id="51"/>
          <p:cNvGrpSpPr/>
          <p:nvPr/>
        </p:nvGrpSpPr>
        <p:grpSpPr>
          <a:xfrm rot="0">
            <a:off x="6543980" y="2747391"/>
            <a:ext cx="5205070" cy="5676900"/>
            <a:chOff x="0" y="0"/>
            <a:chExt cx="6940093" cy="7569200"/>
          </a:xfrm>
        </p:grpSpPr>
        <p:sp>
          <p:nvSpPr>
            <p:cNvPr name="Freeform 52" id="52"/>
            <p:cNvSpPr/>
            <p:nvPr/>
          </p:nvSpPr>
          <p:spPr>
            <a:xfrm flipH="false" flipV="false" rot="0">
              <a:off x="12700" y="12700"/>
              <a:ext cx="6914642" cy="7543800"/>
            </a:xfrm>
            <a:custGeom>
              <a:avLst/>
              <a:gdLst/>
              <a:ahLst/>
              <a:cxnLst/>
              <a:rect r="r" b="b" t="t" l="l"/>
              <a:pathLst>
                <a:path h="7543800" w="6914642">
                  <a:moveTo>
                    <a:pt x="0" y="0"/>
                  </a:moveTo>
                  <a:lnTo>
                    <a:pt x="6914642" y="0"/>
                  </a:lnTo>
                  <a:lnTo>
                    <a:pt x="6914642" y="7543800"/>
                  </a:lnTo>
                  <a:lnTo>
                    <a:pt x="0" y="7543800"/>
                  </a:lnTo>
                  <a:close/>
                </a:path>
              </a:pathLst>
            </a:custGeom>
            <a:solidFill>
              <a:srgbClr val="1E1E24">
                <a:alpha val="15686"/>
              </a:srgbClr>
            </a:solidFill>
          </p:spPr>
          <p:txBody>
            <a:bodyPr/>
            <a:p/>
          </p:txBody>
        </p:sp>
        <p:sp>
          <p:nvSpPr>
            <p:cNvPr name="Freeform 53" id="53"/>
            <p:cNvSpPr/>
            <p:nvPr/>
          </p:nvSpPr>
          <p:spPr>
            <a:xfrm flipH="false" flipV="false" rot="0">
              <a:off x="0" y="0"/>
              <a:ext cx="6940042" cy="7569200"/>
            </a:xfrm>
            <a:custGeom>
              <a:avLst/>
              <a:gdLst/>
              <a:ahLst/>
              <a:cxnLst/>
              <a:rect r="r" b="b" t="t" l="l"/>
              <a:pathLst>
                <a:path h="7569200" w="6940042">
                  <a:moveTo>
                    <a:pt x="12700" y="0"/>
                  </a:moveTo>
                  <a:lnTo>
                    <a:pt x="6927342" y="0"/>
                  </a:lnTo>
                  <a:cubicBezTo>
                    <a:pt x="6934327" y="0"/>
                    <a:pt x="6940042" y="5715"/>
                    <a:pt x="6940042" y="12700"/>
                  </a:cubicBezTo>
                  <a:lnTo>
                    <a:pt x="6940042" y="7556500"/>
                  </a:lnTo>
                  <a:cubicBezTo>
                    <a:pt x="6940042" y="7563485"/>
                    <a:pt x="6934327" y="7569200"/>
                    <a:pt x="6927342" y="7569200"/>
                  </a:cubicBezTo>
                  <a:lnTo>
                    <a:pt x="12700" y="7569200"/>
                  </a:lnTo>
                  <a:cubicBezTo>
                    <a:pt x="5715" y="7569200"/>
                    <a:pt x="0" y="7563485"/>
                    <a:pt x="0" y="7556500"/>
                  </a:cubicBezTo>
                  <a:lnTo>
                    <a:pt x="0" y="12700"/>
                  </a:lnTo>
                  <a:cubicBezTo>
                    <a:pt x="0" y="5715"/>
                    <a:pt x="5715" y="0"/>
                    <a:pt x="12700" y="0"/>
                  </a:cubicBezTo>
                  <a:moveTo>
                    <a:pt x="12700" y="25400"/>
                  </a:moveTo>
                  <a:lnTo>
                    <a:pt x="12700" y="12700"/>
                  </a:lnTo>
                  <a:lnTo>
                    <a:pt x="25400" y="12700"/>
                  </a:lnTo>
                  <a:lnTo>
                    <a:pt x="25400" y="7556500"/>
                  </a:lnTo>
                  <a:lnTo>
                    <a:pt x="12700" y="7556500"/>
                  </a:lnTo>
                  <a:lnTo>
                    <a:pt x="12700" y="7543800"/>
                  </a:lnTo>
                  <a:lnTo>
                    <a:pt x="6927342" y="7543800"/>
                  </a:lnTo>
                  <a:lnTo>
                    <a:pt x="6927342" y="7556500"/>
                  </a:lnTo>
                  <a:lnTo>
                    <a:pt x="6914642" y="7556500"/>
                  </a:lnTo>
                  <a:lnTo>
                    <a:pt x="6914642" y="12700"/>
                  </a:lnTo>
                  <a:lnTo>
                    <a:pt x="6927342" y="12700"/>
                  </a:lnTo>
                  <a:lnTo>
                    <a:pt x="6927342" y="25400"/>
                  </a:lnTo>
                  <a:lnTo>
                    <a:pt x="12700" y="25400"/>
                  </a:lnTo>
                  <a:close/>
                </a:path>
              </a:pathLst>
            </a:custGeom>
            <a:solidFill>
              <a:srgbClr val="40424D"/>
            </a:solidFill>
          </p:spPr>
          <p:txBody>
            <a:bodyPr/>
            <a:p/>
          </p:txBody>
        </p:sp>
      </p:grpSp>
      <p:grpSp>
        <p:nvGrpSpPr>
          <p:cNvPr name="Group 54" id="54"/>
          <p:cNvGrpSpPr/>
          <p:nvPr/>
        </p:nvGrpSpPr>
        <p:grpSpPr>
          <a:xfrm rot="0">
            <a:off x="6543980" y="2747391"/>
            <a:ext cx="5172151" cy="47854"/>
            <a:chOff x="0" y="0"/>
            <a:chExt cx="6896202" cy="63805"/>
          </a:xfrm>
        </p:grpSpPr>
        <p:sp>
          <p:nvSpPr>
            <p:cNvPr name="Freeform 55" id="55"/>
            <p:cNvSpPr/>
            <p:nvPr/>
          </p:nvSpPr>
          <p:spPr>
            <a:xfrm flipH="false" flipV="false" rot="0">
              <a:off x="12700" y="12700"/>
              <a:ext cx="6870827" cy="38354"/>
            </a:xfrm>
            <a:custGeom>
              <a:avLst/>
              <a:gdLst/>
              <a:ahLst/>
              <a:cxnLst/>
              <a:rect r="r" b="b" t="t" l="l"/>
              <a:pathLst>
                <a:path h="38354" w="6870827">
                  <a:moveTo>
                    <a:pt x="0" y="0"/>
                  </a:moveTo>
                  <a:lnTo>
                    <a:pt x="6870827" y="0"/>
                  </a:lnTo>
                  <a:lnTo>
                    <a:pt x="6870827" y="38354"/>
                  </a:lnTo>
                  <a:lnTo>
                    <a:pt x="0" y="38354"/>
                  </a:lnTo>
                  <a:close/>
                </a:path>
              </a:pathLst>
            </a:custGeom>
            <a:solidFill>
              <a:srgbClr val="40424D"/>
            </a:solidFill>
          </p:spPr>
          <p:txBody>
            <a:bodyPr/>
            <a:p/>
          </p:txBody>
        </p:sp>
      </p:grpSp>
      <p:grpSp>
        <p:nvGrpSpPr>
          <p:cNvPr name="Group 56" id="56"/>
          <p:cNvGrpSpPr/>
          <p:nvPr/>
        </p:nvGrpSpPr>
        <p:grpSpPr>
          <a:xfrm rot="0">
            <a:off x="10197922" y="3219221"/>
            <a:ext cx="1162964" cy="377037"/>
            <a:chOff x="0" y="0"/>
            <a:chExt cx="1550619" cy="502716"/>
          </a:xfrm>
        </p:grpSpPr>
        <p:sp>
          <p:nvSpPr>
            <p:cNvPr name="Freeform 57" id="57"/>
            <p:cNvSpPr/>
            <p:nvPr/>
          </p:nvSpPr>
          <p:spPr>
            <a:xfrm flipH="false" flipV="false" rot="0">
              <a:off x="0" y="0"/>
              <a:ext cx="1550670" cy="502665"/>
            </a:xfrm>
            <a:custGeom>
              <a:avLst/>
              <a:gdLst/>
              <a:ahLst/>
              <a:cxnLst/>
              <a:rect r="r" b="b" t="t" l="l"/>
              <a:pathLst>
                <a:path h="502665" w="1550670">
                  <a:moveTo>
                    <a:pt x="12700" y="0"/>
                  </a:moveTo>
                  <a:lnTo>
                    <a:pt x="1537970" y="0"/>
                  </a:lnTo>
                  <a:cubicBezTo>
                    <a:pt x="1544955" y="0"/>
                    <a:pt x="1550670" y="5715"/>
                    <a:pt x="1550670" y="12700"/>
                  </a:cubicBezTo>
                  <a:lnTo>
                    <a:pt x="1550670" y="489965"/>
                  </a:lnTo>
                  <a:cubicBezTo>
                    <a:pt x="1550670" y="496950"/>
                    <a:pt x="1544955" y="502665"/>
                    <a:pt x="1537970"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1537970" y="477265"/>
                  </a:lnTo>
                  <a:lnTo>
                    <a:pt x="1537970" y="489965"/>
                  </a:lnTo>
                  <a:lnTo>
                    <a:pt x="1525270" y="489965"/>
                  </a:lnTo>
                  <a:lnTo>
                    <a:pt x="1525270" y="12700"/>
                  </a:lnTo>
                  <a:lnTo>
                    <a:pt x="1537970" y="12700"/>
                  </a:lnTo>
                  <a:lnTo>
                    <a:pt x="1537970" y="25400"/>
                  </a:lnTo>
                  <a:lnTo>
                    <a:pt x="12700" y="25400"/>
                  </a:lnTo>
                  <a:close/>
                </a:path>
              </a:pathLst>
            </a:custGeom>
            <a:solidFill>
              <a:srgbClr val="4B5563"/>
            </a:solidFill>
          </p:spPr>
          <p:txBody>
            <a:bodyPr/>
            <a:p/>
          </p:txBody>
        </p:sp>
        <p:sp>
          <p:nvSpPr>
            <p:cNvPr name="TextBox 58" id="58"/>
            <p:cNvSpPr txBox="true"/>
            <p:nvPr/>
          </p:nvSpPr>
          <p:spPr>
            <a:xfrm>
              <a:off x="0" y="0"/>
              <a:ext cx="1550619" cy="502716"/>
            </a:xfrm>
            <a:prstGeom prst="rect">
              <a:avLst/>
            </a:prstGeom>
          </p:spPr>
          <p:txBody>
            <a:bodyPr anchor="ctr" rtlCol="false" tIns="50800" lIns="50800" bIns="50800" rIns="50800"/>
            <a:lstStyle/>
            <a:p>
              <a:pPr algn="l">
                <a:lnSpc>
                  <a:spcPts val="1439"/>
                </a:lnSpc>
              </a:pPr>
              <a:r>
                <a:rPr lang="en-US" sz="1200">
                  <a:solidFill>
                    <a:srgbClr val="9CA3AF"/>
                  </a:solidFill>
                  <a:latin typeface="Manrope"/>
                  <a:ea typeface="Manrope"/>
                  <a:cs typeface="Manrope"/>
                  <a:sym typeface="Manrope"/>
                </a:rPr>
                <a:t>États-Unis</a:t>
              </a:r>
            </a:p>
          </p:txBody>
        </p:sp>
      </p:grpSp>
      <p:grpSp>
        <p:nvGrpSpPr>
          <p:cNvPr name="Group 59" id="59"/>
          <p:cNvGrpSpPr/>
          <p:nvPr/>
        </p:nvGrpSpPr>
        <p:grpSpPr>
          <a:xfrm rot="0">
            <a:off x="7023964" y="3929634"/>
            <a:ext cx="4413809" cy="332327"/>
            <a:chOff x="0" y="0"/>
            <a:chExt cx="5885078" cy="443103"/>
          </a:xfrm>
        </p:grpSpPr>
        <p:sp>
          <p:nvSpPr>
            <p:cNvPr name="Freeform 60" id="60"/>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3596" r="0" b="-203983"/>
              </a:stretch>
            </a:blipFill>
          </p:spPr>
          <p:txBody>
            <a:bodyPr/>
            <a:p/>
          </p:txBody>
        </p:sp>
        <p:sp>
          <p:nvSpPr>
            <p:cNvPr name="TextBox 61" id="61"/>
            <p:cNvSpPr txBox="true"/>
            <p:nvPr/>
          </p:nvSpPr>
          <p:spPr>
            <a:xfrm>
              <a:off x="0" y="-9525"/>
              <a:ext cx="5885078"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L'Échec du Modèle Réactif</a:t>
              </a:r>
            </a:p>
          </p:txBody>
        </p:sp>
      </p:grpSp>
      <p:grpSp>
        <p:nvGrpSpPr>
          <p:cNvPr name="Group 62" id="62"/>
          <p:cNvGrpSpPr/>
          <p:nvPr/>
        </p:nvGrpSpPr>
        <p:grpSpPr>
          <a:xfrm rot="0">
            <a:off x="7023964" y="4571543"/>
            <a:ext cx="4530395" cy="1388154"/>
            <a:chOff x="0" y="0"/>
            <a:chExt cx="6040526" cy="1850873"/>
          </a:xfrm>
        </p:grpSpPr>
        <p:sp>
          <p:nvSpPr>
            <p:cNvPr name="Freeform 63" id="63"/>
            <p:cNvSpPr/>
            <p:nvPr/>
          </p:nvSpPr>
          <p:spPr>
            <a:xfrm flipH="false" flipV="false" rot="0">
              <a:off x="0" y="0"/>
              <a:ext cx="6040526" cy="1850873"/>
            </a:xfrm>
            <a:custGeom>
              <a:avLst/>
              <a:gdLst/>
              <a:ahLst/>
              <a:cxnLst/>
              <a:rect r="r" b="b" t="t" l="l"/>
              <a:pathLst>
                <a:path h="1850873" w="6040526">
                  <a:moveTo>
                    <a:pt x="0" y="0"/>
                  </a:moveTo>
                  <a:lnTo>
                    <a:pt x="6040526" y="0"/>
                  </a:lnTo>
                  <a:lnTo>
                    <a:pt x="6040526" y="1850873"/>
                  </a:lnTo>
                  <a:lnTo>
                    <a:pt x="0" y="1850873"/>
                  </a:lnTo>
                  <a:close/>
                </a:path>
              </a:pathLst>
            </a:custGeom>
            <a:blipFill>
              <a:blip r:embed="rId5">
                <a:alphaModFix amt="0"/>
              </a:blip>
              <a:stretch>
                <a:fillRect l="0" t="-34739" r="0" b="7556"/>
              </a:stretch>
            </a:blipFill>
          </p:spPr>
          <p:txBody>
            <a:bodyPr/>
            <a:p/>
          </p:txBody>
        </p:sp>
        <p:sp>
          <p:nvSpPr>
            <p:cNvPr name="TextBox 64" id="64"/>
            <p:cNvSpPr txBox="true"/>
            <p:nvPr/>
          </p:nvSpPr>
          <p:spPr>
            <a:xfrm>
              <a:off x="0" y="0"/>
              <a:ext cx="6040526" cy="1850873"/>
            </a:xfrm>
            <a:prstGeom prst="rect">
              <a:avLst/>
            </a:prstGeom>
          </p:spPr>
          <p:txBody>
            <a:bodyPr anchor="ctr" rtlCol="false" tIns="0" lIns="0" bIns="0" rIns="0"/>
            <a:lstStyle/>
            <a:p>
              <a:pPr algn="l">
                <a:lnSpc>
                  <a:spcPts val="7559"/>
                </a:lnSpc>
              </a:pPr>
              <a:r>
                <a:rPr lang="en-US" b="true" sz="6300" spc="-225">
                  <a:solidFill>
                    <a:srgbClr val="FFFFFF"/>
                  </a:solidFill>
                  <a:latin typeface="Manrope Bold"/>
                  <a:ea typeface="Manrope Bold"/>
                  <a:cs typeface="Manrope Bold"/>
                  <a:sym typeface="Manrope Bold"/>
                </a:rPr>
                <a:t>5 300 Md$</a:t>
              </a:r>
            </a:p>
          </p:txBody>
        </p:sp>
      </p:grpSp>
      <p:grpSp>
        <p:nvGrpSpPr>
          <p:cNvPr name="Group 65" id="65"/>
          <p:cNvGrpSpPr/>
          <p:nvPr/>
        </p:nvGrpSpPr>
        <p:grpSpPr>
          <a:xfrm rot="0">
            <a:off x="7023964" y="5606396"/>
            <a:ext cx="4611319" cy="332327"/>
            <a:chOff x="0" y="0"/>
            <a:chExt cx="6148426" cy="443103"/>
          </a:xfrm>
        </p:grpSpPr>
        <p:sp>
          <p:nvSpPr>
            <p:cNvPr name="Freeform 66" id="66"/>
            <p:cNvSpPr/>
            <p:nvPr/>
          </p:nvSpPr>
          <p:spPr>
            <a:xfrm flipH="false" flipV="false" rot="0">
              <a:off x="0" y="0"/>
              <a:ext cx="6148426" cy="443104"/>
            </a:xfrm>
            <a:custGeom>
              <a:avLst/>
              <a:gdLst/>
              <a:ahLst/>
              <a:cxnLst/>
              <a:rect r="r" b="b" t="t" l="l"/>
              <a:pathLst>
                <a:path h="443104" w="6148426">
                  <a:moveTo>
                    <a:pt x="0" y="0"/>
                  </a:moveTo>
                  <a:lnTo>
                    <a:pt x="6148426" y="0"/>
                  </a:lnTo>
                  <a:lnTo>
                    <a:pt x="6148426" y="443104"/>
                  </a:lnTo>
                  <a:lnTo>
                    <a:pt x="0" y="443104"/>
                  </a:lnTo>
                  <a:close/>
                </a:path>
              </a:pathLst>
            </a:custGeom>
            <a:blipFill>
              <a:blip r:embed="rId5">
                <a:alphaModFix amt="0"/>
              </a:blip>
              <a:stretch>
                <a:fillRect l="0" t="-227240" r="0" b="-213500"/>
              </a:stretch>
            </a:blipFill>
          </p:spPr>
          <p:txBody>
            <a:bodyPr/>
            <a:p/>
          </p:txBody>
        </p:sp>
        <p:sp>
          <p:nvSpPr>
            <p:cNvPr name="TextBox 67" id="67"/>
            <p:cNvSpPr txBox="true"/>
            <p:nvPr/>
          </p:nvSpPr>
          <p:spPr>
            <a:xfrm>
              <a:off x="0" y="-9525"/>
              <a:ext cx="6148426"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Dépenses de santé annuelles (18% PIB)</a:t>
              </a:r>
            </a:p>
          </p:txBody>
        </p:sp>
      </p:grpSp>
      <p:grpSp>
        <p:nvGrpSpPr>
          <p:cNvPr name="Group 68" id="68"/>
          <p:cNvGrpSpPr/>
          <p:nvPr/>
        </p:nvGrpSpPr>
        <p:grpSpPr>
          <a:xfrm rot="0">
            <a:off x="7023964" y="6414973"/>
            <a:ext cx="4238244" cy="13716"/>
            <a:chOff x="0" y="0"/>
            <a:chExt cx="5650992" cy="18288"/>
          </a:xfrm>
        </p:grpSpPr>
        <p:sp>
          <p:nvSpPr>
            <p:cNvPr name="Freeform 69" id="69" descr="preencoded.png"/>
            <p:cNvSpPr/>
            <p:nvPr/>
          </p:nvSpPr>
          <p:spPr>
            <a:xfrm flipH="false" flipV="false" rot="0">
              <a:off x="0" y="0"/>
              <a:ext cx="5650992" cy="18288"/>
            </a:xfrm>
            <a:custGeom>
              <a:avLst/>
              <a:gdLst/>
              <a:ahLst/>
              <a:cxnLst/>
              <a:rect r="r" b="b" t="t" l="l"/>
              <a:pathLst>
                <a:path h="18288" w="5650992">
                  <a:moveTo>
                    <a:pt x="0" y="0"/>
                  </a:moveTo>
                  <a:lnTo>
                    <a:pt x="5650992" y="0"/>
                  </a:lnTo>
                  <a:lnTo>
                    <a:pt x="5650992" y="18288"/>
                  </a:lnTo>
                  <a:lnTo>
                    <a:pt x="0" y="18288"/>
                  </a:lnTo>
                  <a:lnTo>
                    <a:pt x="0" y="0"/>
                  </a:lnTo>
                  <a:close/>
                </a:path>
              </a:pathLst>
            </a:custGeom>
            <a:blipFill>
              <a:blip r:embed="rId7"/>
              <a:stretch>
                <a:fillRect l="1995" t="0" r="1995" b="0"/>
              </a:stretch>
            </a:blipFill>
          </p:spPr>
          <p:txBody>
            <a:bodyPr/>
            <a:p/>
          </p:txBody>
        </p:sp>
      </p:grpSp>
      <p:grpSp>
        <p:nvGrpSpPr>
          <p:cNvPr name="Group 70" id="70"/>
          <p:cNvGrpSpPr/>
          <p:nvPr/>
        </p:nvGrpSpPr>
        <p:grpSpPr>
          <a:xfrm rot="0">
            <a:off x="7014439" y="6705829"/>
            <a:ext cx="4262780" cy="1248004"/>
            <a:chOff x="0" y="0"/>
            <a:chExt cx="5683707" cy="1664005"/>
          </a:xfrm>
        </p:grpSpPr>
        <p:sp>
          <p:nvSpPr>
            <p:cNvPr name="Freeform 71" id="71"/>
            <p:cNvSpPr/>
            <p:nvPr/>
          </p:nvSpPr>
          <p:spPr>
            <a:xfrm flipH="false" flipV="false" rot="0">
              <a:off x="0" y="0"/>
              <a:ext cx="5683631" cy="1664081"/>
            </a:xfrm>
            <a:custGeom>
              <a:avLst/>
              <a:gdLst/>
              <a:ahLst/>
              <a:cxnLst/>
              <a:rect r="r" b="b" t="t" l="l"/>
              <a:pathLst>
                <a:path h="1664081" w="5683631">
                  <a:moveTo>
                    <a:pt x="0" y="182880"/>
                  </a:moveTo>
                  <a:cubicBezTo>
                    <a:pt x="0" y="81661"/>
                    <a:pt x="82804" y="0"/>
                    <a:pt x="184658" y="0"/>
                  </a:cubicBezTo>
                  <a:lnTo>
                    <a:pt x="5498973" y="0"/>
                  </a:lnTo>
                  <a:lnTo>
                    <a:pt x="5498973" y="12700"/>
                  </a:lnTo>
                  <a:lnTo>
                    <a:pt x="5498973" y="0"/>
                  </a:lnTo>
                  <a:cubicBezTo>
                    <a:pt x="5600827" y="0"/>
                    <a:pt x="5683631" y="81661"/>
                    <a:pt x="5683631" y="182880"/>
                  </a:cubicBezTo>
                  <a:lnTo>
                    <a:pt x="5670931" y="182880"/>
                  </a:lnTo>
                  <a:lnTo>
                    <a:pt x="5683631" y="182880"/>
                  </a:lnTo>
                  <a:lnTo>
                    <a:pt x="5683631" y="1481201"/>
                  </a:lnTo>
                  <a:lnTo>
                    <a:pt x="5670931" y="1481201"/>
                  </a:lnTo>
                  <a:lnTo>
                    <a:pt x="5683631" y="1481201"/>
                  </a:lnTo>
                  <a:cubicBezTo>
                    <a:pt x="5683631" y="1582293"/>
                    <a:pt x="5600827" y="1664081"/>
                    <a:pt x="5498973" y="1664081"/>
                  </a:cubicBezTo>
                  <a:lnTo>
                    <a:pt x="5498973" y="1651381"/>
                  </a:lnTo>
                  <a:lnTo>
                    <a:pt x="5498973" y="1664081"/>
                  </a:lnTo>
                  <a:lnTo>
                    <a:pt x="184658" y="1664081"/>
                  </a:lnTo>
                  <a:lnTo>
                    <a:pt x="184658" y="1651381"/>
                  </a:lnTo>
                  <a:lnTo>
                    <a:pt x="184658" y="1664081"/>
                  </a:lnTo>
                  <a:cubicBezTo>
                    <a:pt x="82804" y="1663954"/>
                    <a:pt x="0" y="1582293"/>
                    <a:pt x="0" y="1481201"/>
                  </a:cubicBezTo>
                  <a:lnTo>
                    <a:pt x="0" y="182880"/>
                  </a:lnTo>
                  <a:lnTo>
                    <a:pt x="12700" y="182880"/>
                  </a:lnTo>
                  <a:lnTo>
                    <a:pt x="0" y="182880"/>
                  </a:lnTo>
                  <a:moveTo>
                    <a:pt x="25400" y="182880"/>
                  </a:moveTo>
                  <a:lnTo>
                    <a:pt x="25400" y="1481201"/>
                  </a:lnTo>
                  <a:lnTo>
                    <a:pt x="12700" y="1481201"/>
                  </a:lnTo>
                  <a:lnTo>
                    <a:pt x="25400" y="1481201"/>
                  </a:lnTo>
                  <a:cubicBezTo>
                    <a:pt x="25400" y="1568069"/>
                    <a:pt x="96520" y="1638681"/>
                    <a:pt x="184658" y="1638681"/>
                  </a:cubicBezTo>
                  <a:lnTo>
                    <a:pt x="5498973" y="1638681"/>
                  </a:lnTo>
                  <a:cubicBezTo>
                    <a:pt x="5587111" y="1638681"/>
                    <a:pt x="5658231" y="1568069"/>
                    <a:pt x="5658231" y="1481201"/>
                  </a:cubicBezTo>
                  <a:lnTo>
                    <a:pt x="5658231" y="182880"/>
                  </a:lnTo>
                  <a:cubicBezTo>
                    <a:pt x="5658231" y="96012"/>
                    <a:pt x="5587111" y="25400"/>
                    <a:pt x="5498973" y="25400"/>
                  </a:cubicBezTo>
                  <a:lnTo>
                    <a:pt x="184658" y="25400"/>
                  </a:lnTo>
                  <a:lnTo>
                    <a:pt x="184658" y="12700"/>
                  </a:lnTo>
                  <a:lnTo>
                    <a:pt x="184658" y="25400"/>
                  </a:lnTo>
                  <a:cubicBezTo>
                    <a:pt x="96520" y="25400"/>
                    <a:pt x="25400" y="96012"/>
                    <a:pt x="25400" y="182880"/>
                  </a:cubicBezTo>
                  <a:close/>
                </a:path>
              </a:pathLst>
            </a:custGeom>
            <a:solidFill>
              <a:srgbClr val="E5E7EB"/>
            </a:solidFill>
          </p:spPr>
          <p:txBody>
            <a:bodyPr/>
            <a:p/>
          </p:txBody>
        </p:sp>
      </p:grpSp>
      <p:grpSp>
        <p:nvGrpSpPr>
          <p:cNvPr name="Group 72" id="72"/>
          <p:cNvGrpSpPr/>
          <p:nvPr/>
        </p:nvGrpSpPr>
        <p:grpSpPr>
          <a:xfrm rot="0">
            <a:off x="7473848" y="6900520"/>
            <a:ext cx="3763670" cy="293380"/>
            <a:chOff x="0" y="0"/>
            <a:chExt cx="5018227" cy="391173"/>
          </a:xfrm>
        </p:grpSpPr>
        <p:sp>
          <p:nvSpPr>
            <p:cNvPr name="Freeform 73" id="73"/>
            <p:cNvSpPr/>
            <p:nvPr/>
          </p:nvSpPr>
          <p:spPr>
            <a:xfrm flipH="false" flipV="false" rot="0">
              <a:off x="0" y="0"/>
              <a:ext cx="5018228" cy="391173"/>
            </a:xfrm>
            <a:custGeom>
              <a:avLst/>
              <a:gdLst/>
              <a:ahLst/>
              <a:cxnLst/>
              <a:rect r="r" b="b" t="t" l="l"/>
              <a:pathLst>
                <a:path h="391173" w="5018228">
                  <a:moveTo>
                    <a:pt x="0" y="0"/>
                  </a:moveTo>
                  <a:lnTo>
                    <a:pt x="5018228" y="0"/>
                  </a:lnTo>
                  <a:lnTo>
                    <a:pt x="5018228" y="391173"/>
                  </a:lnTo>
                  <a:lnTo>
                    <a:pt x="0" y="391173"/>
                  </a:lnTo>
                  <a:close/>
                </a:path>
              </a:pathLst>
            </a:custGeom>
            <a:blipFill>
              <a:blip r:embed="rId5">
                <a:alphaModFix amt="0"/>
              </a:blip>
              <a:stretch>
                <a:fillRect l="0" t="-210929" r="0" b="-189004"/>
              </a:stretch>
            </a:blipFill>
          </p:spPr>
          <p:txBody>
            <a:bodyPr/>
            <a:p/>
          </p:txBody>
        </p:sp>
        <p:sp>
          <p:nvSpPr>
            <p:cNvPr name="TextBox 74" id="74"/>
            <p:cNvSpPr txBox="true"/>
            <p:nvPr/>
          </p:nvSpPr>
          <p:spPr>
            <a:xfrm>
              <a:off x="0" y="0"/>
              <a:ext cx="5018227" cy="391173"/>
            </a:xfrm>
            <a:prstGeom prst="rect">
              <a:avLst/>
            </a:prstGeom>
          </p:spPr>
          <p:txBody>
            <a:bodyPr anchor="ctr" rtlCol="false" tIns="0" lIns="0" bIns="0" rIns="0"/>
            <a:lstStyle/>
            <a:p>
              <a:pPr algn="l">
                <a:lnSpc>
                  <a:spcPts val="1620"/>
                </a:lnSpc>
              </a:pPr>
              <a:r>
                <a:rPr lang="en-US" sz="1350" b="true">
                  <a:solidFill>
                    <a:srgbClr val="F87171"/>
                  </a:solidFill>
                  <a:latin typeface="Manrope Bold"/>
                  <a:ea typeface="Manrope Bold"/>
                  <a:cs typeface="Manrope Bold"/>
                  <a:sym typeface="Manrope Bold"/>
                </a:rPr>
                <a:t> Alerte Critique</a:t>
              </a:r>
            </a:p>
          </p:txBody>
        </p:sp>
      </p:grpSp>
      <p:grpSp>
        <p:nvGrpSpPr>
          <p:cNvPr name="Group 75" id="75"/>
          <p:cNvGrpSpPr/>
          <p:nvPr/>
        </p:nvGrpSpPr>
        <p:grpSpPr>
          <a:xfrm rot="0">
            <a:off x="7210501" y="6922465"/>
            <a:ext cx="171450" cy="171450"/>
            <a:chOff x="0" y="0"/>
            <a:chExt cx="228600" cy="228600"/>
          </a:xfrm>
        </p:grpSpPr>
        <p:sp>
          <p:nvSpPr>
            <p:cNvPr name="Freeform 76" id="76" descr="preencoded.png"/>
            <p:cNvSpPr/>
            <p:nvPr/>
          </p:nvSpPr>
          <p:spPr>
            <a:xfrm flipH="false" flipV="false" rot="0">
              <a:off x="0" y="0"/>
              <a:ext cx="228600" cy="228600"/>
            </a:xfrm>
            <a:custGeom>
              <a:avLst/>
              <a:gdLst/>
              <a:ahLst/>
              <a:cxnLst/>
              <a:rect r="r" b="b" t="t" l="l"/>
              <a:pathLst>
                <a:path h="228600" w="228600">
                  <a:moveTo>
                    <a:pt x="0" y="0"/>
                  </a:moveTo>
                  <a:lnTo>
                    <a:pt x="228600" y="0"/>
                  </a:lnTo>
                  <a:lnTo>
                    <a:pt x="228600" y="228600"/>
                  </a:lnTo>
                  <a:lnTo>
                    <a:pt x="0" y="228600"/>
                  </a:lnTo>
                  <a:lnTo>
                    <a:pt x="0" y="0"/>
                  </a:lnTo>
                  <a:close/>
                </a:path>
              </a:pathLst>
            </a:custGeom>
            <a:blipFill>
              <a:blip r:embed="rId9"/>
              <a:stretch>
                <a:fillRect l="0" t="0" r="0" b="0"/>
              </a:stretch>
            </a:blipFill>
          </p:spPr>
          <p:txBody>
            <a:bodyPr/>
            <a:p/>
          </p:txBody>
        </p:sp>
      </p:grpSp>
      <p:grpSp>
        <p:nvGrpSpPr>
          <p:cNvPr name="Group 77" id="77"/>
          <p:cNvGrpSpPr/>
          <p:nvPr/>
        </p:nvGrpSpPr>
        <p:grpSpPr>
          <a:xfrm rot="0">
            <a:off x="7210501" y="7187184"/>
            <a:ext cx="3987241" cy="571958"/>
            <a:chOff x="0" y="0"/>
            <a:chExt cx="5316322" cy="762610"/>
          </a:xfrm>
        </p:grpSpPr>
        <p:sp>
          <p:nvSpPr>
            <p:cNvPr name="Freeform 78" id="78"/>
            <p:cNvSpPr/>
            <p:nvPr/>
          </p:nvSpPr>
          <p:spPr>
            <a:xfrm flipH="false" flipV="false" rot="0">
              <a:off x="0" y="0"/>
              <a:ext cx="5316322" cy="762610"/>
            </a:xfrm>
            <a:custGeom>
              <a:avLst/>
              <a:gdLst/>
              <a:ahLst/>
              <a:cxnLst/>
              <a:rect r="r" b="b" t="t" l="l"/>
              <a:pathLst>
                <a:path h="762610" w="5316322">
                  <a:moveTo>
                    <a:pt x="0" y="0"/>
                  </a:moveTo>
                  <a:lnTo>
                    <a:pt x="5316322" y="0"/>
                  </a:lnTo>
                  <a:lnTo>
                    <a:pt x="5316322" y="762610"/>
                  </a:lnTo>
                  <a:lnTo>
                    <a:pt x="0" y="762610"/>
                  </a:lnTo>
                  <a:close/>
                </a:path>
              </a:pathLst>
            </a:custGeom>
            <a:blipFill>
              <a:blip r:embed="rId5">
                <a:alphaModFix amt="0"/>
              </a:blip>
              <a:stretch>
                <a:fillRect l="0" t="-85834" r="0" b="-85834"/>
              </a:stretch>
            </a:blipFill>
          </p:spPr>
          <p:txBody>
            <a:bodyPr/>
            <a:p/>
          </p:txBody>
        </p:sp>
        <p:sp>
          <p:nvSpPr>
            <p:cNvPr name="TextBox 79" id="79"/>
            <p:cNvSpPr txBox="true"/>
            <p:nvPr/>
          </p:nvSpPr>
          <p:spPr>
            <a:xfrm>
              <a:off x="0" y="-9525"/>
              <a:ext cx="5316322" cy="772135"/>
            </a:xfrm>
            <a:prstGeom prst="rect">
              <a:avLst/>
            </a:prstGeom>
          </p:spPr>
          <p:txBody>
            <a:bodyPr anchor="ctr" rtlCol="false" tIns="0" lIns="0" bIns="0" rIns="0"/>
            <a:lstStyle/>
            <a:p>
              <a:pPr algn="l">
                <a:lnSpc>
                  <a:spcPts val="1800"/>
                </a:lnSpc>
              </a:pPr>
              <a:r>
                <a:rPr lang="en-US" sz="1500">
                  <a:solidFill>
                    <a:srgbClr val="D1D5DB"/>
                  </a:solidFill>
                  <a:latin typeface="Manrope"/>
                  <a:ea typeface="Manrope"/>
                  <a:cs typeface="Manrope"/>
                  <a:sym typeface="Manrope"/>
                </a:rPr>
                <a:t>Baisse de l'espérance de vie aux États-Unis depuis 2015, malgré l'explosion des coûts.</a:t>
              </a:r>
            </a:p>
          </p:txBody>
        </p:sp>
      </p:grpSp>
      <p:grpSp>
        <p:nvGrpSpPr>
          <p:cNvPr name="Group 80" id="80"/>
          <p:cNvGrpSpPr/>
          <p:nvPr/>
        </p:nvGrpSpPr>
        <p:grpSpPr>
          <a:xfrm rot="0">
            <a:off x="12182627" y="2747391"/>
            <a:ext cx="5205070" cy="5676900"/>
            <a:chOff x="0" y="0"/>
            <a:chExt cx="6940093" cy="7569200"/>
          </a:xfrm>
        </p:grpSpPr>
        <p:sp>
          <p:nvSpPr>
            <p:cNvPr name="Freeform 81" id="81"/>
            <p:cNvSpPr/>
            <p:nvPr/>
          </p:nvSpPr>
          <p:spPr>
            <a:xfrm flipH="false" flipV="false" rot="0">
              <a:off x="12700" y="12700"/>
              <a:ext cx="6914642" cy="7543800"/>
            </a:xfrm>
            <a:custGeom>
              <a:avLst/>
              <a:gdLst/>
              <a:ahLst/>
              <a:cxnLst/>
              <a:rect r="r" b="b" t="t" l="l"/>
              <a:pathLst>
                <a:path h="7543800" w="6914642">
                  <a:moveTo>
                    <a:pt x="0" y="0"/>
                  </a:moveTo>
                  <a:lnTo>
                    <a:pt x="6914642" y="0"/>
                  </a:lnTo>
                  <a:lnTo>
                    <a:pt x="6914642" y="7543800"/>
                  </a:lnTo>
                  <a:lnTo>
                    <a:pt x="0" y="7543800"/>
                  </a:lnTo>
                  <a:close/>
                </a:path>
              </a:pathLst>
            </a:custGeom>
            <a:solidFill>
              <a:srgbClr val="1E1E24">
                <a:alpha val="15686"/>
              </a:srgbClr>
            </a:solidFill>
          </p:spPr>
          <p:txBody>
            <a:bodyPr/>
            <a:p/>
          </p:txBody>
        </p:sp>
        <p:sp>
          <p:nvSpPr>
            <p:cNvPr name="Freeform 82" id="82"/>
            <p:cNvSpPr/>
            <p:nvPr/>
          </p:nvSpPr>
          <p:spPr>
            <a:xfrm flipH="false" flipV="false" rot="0">
              <a:off x="0" y="0"/>
              <a:ext cx="6940042" cy="7569200"/>
            </a:xfrm>
            <a:custGeom>
              <a:avLst/>
              <a:gdLst/>
              <a:ahLst/>
              <a:cxnLst/>
              <a:rect r="r" b="b" t="t" l="l"/>
              <a:pathLst>
                <a:path h="7569200" w="6940042">
                  <a:moveTo>
                    <a:pt x="12700" y="0"/>
                  </a:moveTo>
                  <a:lnTo>
                    <a:pt x="6927342" y="0"/>
                  </a:lnTo>
                  <a:cubicBezTo>
                    <a:pt x="6934327" y="0"/>
                    <a:pt x="6940042" y="5715"/>
                    <a:pt x="6940042" y="12700"/>
                  </a:cubicBezTo>
                  <a:lnTo>
                    <a:pt x="6940042" y="7556500"/>
                  </a:lnTo>
                  <a:cubicBezTo>
                    <a:pt x="6940042" y="7563485"/>
                    <a:pt x="6934327" y="7569200"/>
                    <a:pt x="6927342" y="7569200"/>
                  </a:cubicBezTo>
                  <a:lnTo>
                    <a:pt x="12700" y="7569200"/>
                  </a:lnTo>
                  <a:cubicBezTo>
                    <a:pt x="5715" y="7569200"/>
                    <a:pt x="0" y="7563485"/>
                    <a:pt x="0" y="7556500"/>
                  </a:cubicBezTo>
                  <a:lnTo>
                    <a:pt x="0" y="12700"/>
                  </a:lnTo>
                  <a:cubicBezTo>
                    <a:pt x="0" y="5715"/>
                    <a:pt x="5715" y="0"/>
                    <a:pt x="12700" y="0"/>
                  </a:cubicBezTo>
                  <a:moveTo>
                    <a:pt x="12700" y="25400"/>
                  </a:moveTo>
                  <a:lnTo>
                    <a:pt x="12700" y="12700"/>
                  </a:lnTo>
                  <a:lnTo>
                    <a:pt x="25400" y="12700"/>
                  </a:lnTo>
                  <a:lnTo>
                    <a:pt x="25400" y="7556500"/>
                  </a:lnTo>
                  <a:lnTo>
                    <a:pt x="12700" y="7556500"/>
                  </a:lnTo>
                  <a:lnTo>
                    <a:pt x="12700" y="7543800"/>
                  </a:lnTo>
                  <a:lnTo>
                    <a:pt x="6927342" y="7543800"/>
                  </a:lnTo>
                  <a:lnTo>
                    <a:pt x="6927342" y="7556500"/>
                  </a:lnTo>
                  <a:lnTo>
                    <a:pt x="6914642" y="7556500"/>
                  </a:lnTo>
                  <a:lnTo>
                    <a:pt x="6914642" y="12700"/>
                  </a:lnTo>
                  <a:lnTo>
                    <a:pt x="6927342" y="12700"/>
                  </a:lnTo>
                  <a:lnTo>
                    <a:pt x="6927342" y="25400"/>
                  </a:lnTo>
                  <a:lnTo>
                    <a:pt x="12700" y="25400"/>
                  </a:lnTo>
                  <a:close/>
                </a:path>
              </a:pathLst>
            </a:custGeom>
            <a:solidFill>
              <a:srgbClr val="40424D"/>
            </a:solidFill>
          </p:spPr>
          <p:txBody>
            <a:bodyPr/>
            <a:p/>
          </p:txBody>
        </p:sp>
      </p:grpSp>
      <p:grpSp>
        <p:nvGrpSpPr>
          <p:cNvPr name="Group 83" id="83"/>
          <p:cNvGrpSpPr/>
          <p:nvPr/>
        </p:nvGrpSpPr>
        <p:grpSpPr>
          <a:xfrm rot="0">
            <a:off x="12182627" y="2747391"/>
            <a:ext cx="5172151" cy="47854"/>
            <a:chOff x="0" y="0"/>
            <a:chExt cx="6896202" cy="63805"/>
          </a:xfrm>
        </p:grpSpPr>
        <p:sp>
          <p:nvSpPr>
            <p:cNvPr name="Freeform 84" id="84"/>
            <p:cNvSpPr/>
            <p:nvPr/>
          </p:nvSpPr>
          <p:spPr>
            <a:xfrm flipH="false" flipV="false" rot="0">
              <a:off x="12700" y="12700"/>
              <a:ext cx="6870827" cy="38354"/>
            </a:xfrm>
            <a:custGeom>
              <a:avLst/>
              <a:gdLst/>
              <a:ahLst/>
              <a:cxnLst/>
              <a:rect r="r" b="b" t="t" l="l"/>
              <a:pathLst>
                <a:path h="38354" w="6870827">
                  <a:moveTo>
                    <a:pt x="0" y="0"/>
                  </a:moveTo>
                  <a:lnTo>
                    <a:pt x="6870827" y="0"/>
                  </a:lnTo>
                  <a:lnTo>
                    <a:pt x="6870827" y="38354"/>
                  </a:lnTo>
                  <a:lnTo>
                    <a:pt x="0" y="38354"/>
                  </a:lnTo>
                  <a:close/>
                </a:path>
              </a:pathLst>
            </a:custGeom>
            <a:solidFill>
              <a:srgbClr val="40424D"/>
            </a:solidFill>
          </p:spPr>
          <p:txBody>
            <a:bodyPr/>
            <a:p/>
          </p:txBody>
        </p:sp>
      </p:grpSp>
      <p:grpSp>
        <p:nvGrpSpPr>
          <p:cNvPr name="Group 85" id="85"/>
          <p:cNvGrpSpPr/>
          <p:nvPr/>
        </p:nvGrpSpPr>
        <p:grpSpPr>
          <a:xfrm rot="0">
            <a:off x="12663983" y="3228746"/>
            <a:ext cx="429311" cy="456743"/>
            <a:chOff x="0" y="0"/>
            <a:chExt cx="572414" cy="608990"/>
          </a:xfrm>
        </p:grpSpPr>
        <p:sp>
          <p:nvSpPr>
            <p:cNvPr name="Freeform 86" id="86" descr="preencoded.png"/>
            <p:cNvSpPr/>
            <p:nvPr/>
          </p:nvSpPr>
          <p:spPr>
            <a:xfrm flipH="false" flipV="false" rot="0">
              <a:off x="0" y="0"/>
              <a:ext cx="572389" cy="608965"/>
            </a:xfrm>
            <a:custGeom>
              <a:avLst/>
              <a:gdLst/>
              <a:ahLst/>
              <a:cxnLst/>
              <a:rect r="r" b="b" t="t" l="l"/>
              <a:pathLst>
                <a:path h="608965" w="572389">
                  <a:moveTo>
                    <a:pt x="0" y="0"/>
                  </a:moveTo>
                  <a:lnTo>
                    <a:pt x="572389" y="0"/>
                  </a:lnTo>
                  <a:lnTo>
                    <a:pt x="572389" y="608965"/>
                  </a:lnTo>
                  <a:lnTo>
                    <a:pt x="0" y="608965"/>
                  </a:lnTo>
                  <a:lnTo>
                    <a:pt x="0" y="0"/>
                  </a:lnTo>
                  <a:close/>
                </a:path>
              </a:pathLst>
            </a:custGeom>
            <a:blipFill>
              <a:blip r:embed="rId10"/>
              <a:stretch>
                <a:fillRect l="0" t="12402" r="-4" b="12398"/>
              </a:stretch>
            </a:blipFill>
          </p:spPr>
          <p:txBody>
            <a:bodyPr/>
            <a:p/>
          </p:txBody>
        </p:sp>
      </p:grpSp>
      <p:grpSp>
        <p:nvGrpSpPr>
          <p:cNvPr name="Group 87" id="87"/>
          <p:cNvGrpSpPr/>
          <p:nvPr/>
        </p:nvGrpSpPr>
        <p:grpSpPr>
          <a:xfrm rot="0">
            <a:off x="16360521" y="3269971"/>
            <a:ext cx="648614" cy="377037"/>
            <a:chOff x="0" y="0"/>
            <a:chExt cx="864819" cy="502716"/>
          </a:xfrm>
        </p:grpSpPr>
        <p:sp>
          <p:nvSpPr>
            <p:cNvPr name="Freeform 88" id="88"/>
            <p:cNvSpPr/>
            <p:nvPr/>
          </p:nvSpPr>
          <p:spPr>
            <a:xfrm flipH="false" flipV="false" rot="0">
              <a:off x="0" y="0"/>
              <a:ext cx="864870" cy="502665"/>
            </a:xfrm>
            <a:custGeom>
              <a:avLst/>
              <a:gdLst/>
              <a:ahLst/>
              <a:cxnLst/>
              <a:rect r="r" b="b" t="t" l="l"/>
              <a:pathLst>
                <a:path h="502665" w="864870">
                  <a:moveTo>
                    <a:pt x="12700" y="0"/>
                  </a:moveTo>
                  <a:lnTo>
                    <a:pt x="852170" y="0"/>
                  </a:lnTo>
                  <a:cubicBezTo>
                    <a:pt x="859155" y="0"/>
                    <a:pt x="864870" y="5715"/>
                    <a:pt x="864870" y="12700"/>
                  </a:cubicBezTo>
                  <a:lnTo>
                    <a:pt x="864870" y="489965"/>
                  </a:lnTo>
                  <a:cubicBezTo>
                    <a:pt x="864870" y="496950"/>
                    <a:pt x="859155" y="502665"/>
                    <a:pt x="852170"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852170" y="477265"/>
                  </a:lnTo>
                  <a:lnTo>
                    <a:pt x="852170" y="489965"/>
                  </a:lnTo>
                  <a:lnTo>
                    <a:pt x="839470" y="489965"/>
                  </a:lnTo>
                  <a:lnTo>
                    <a:pt x="839470" y="12700"/>
                  </a:lnTo>
                  <a:lnTo>
                    <a:pt x="852170" y="12700"/>
                  </a:lnTo>
                  <a:lnTo>
                    <a:pt x="852170" y="25400"/>
                  </a:lnTo>
                  <a:lnTo>
                    <a:pt x="12700" y="25400"/>
                  </a:lnTo>
                  <a:close/>
                </a:path>
              </a:pathLst>
            </a:custGeom>
            <a:solidFill>
              <a:srgbClr val="4B5563"/>
            </a:solidFill>
          </p:spPr>
          <p:txBody>
            <a:bodyPr/>
            <a:p/>
          </p:txBody>
        </p:sp>
        <p:sp>
          <p:nvSpPr>
            <p:cNvPr name="TextBox 89" id="89"/>
            <p:cNvSpPr txBox="true"/>
            <p:nvPr/>
          </p:nvSpPr>
          <p:spPr>
            <a:xfrm>
              <a:off x="0" y="0"/>
              <a:ext cx="864819" cy="502716"/>
            </a:xfrm>
            <a:prstGeom prst="rect">
              <a:avLst/>
            </a:prstGeom>
          </p:spPr>
          <p:txBody>
            <a:bodyPr anchor="ctr" rtlCol="false" tIns="50800" lIns="50800" bIns="50800" rIns="50800"/>
            <a:lstStyle/>
            <a:p>
              <a:pPr algn="l">
                <a:lnSpc>
                  <a:spcPts val="1439"/>
                </a:lnSpc>
              </a:pPr>
              <a:r>
                <a:rPr lang="en-US" sz="1200">
                  <a:solidFill>
                    <a:srgbClr val="9CA3AF"/>
                  </a:solidFill>
                  <a:latin typeface="Manrope"/>
                  <a:ea typeface="Manrope"/>
                  <a:cs typeface="Manrope"/>
                  <a:sym typeface="Manrope"/>
                </a:rPr>
                <a:t>Écart USA</a:t>
              </a:r>
            </a:p>
          </p:txBody>
        </p:sp>
      </p:grpSp>
      <p:grpSp>
        <p:nvGrpSpPr>
          <p:cNvPr name="Group 90" id="90"/>
          <p:cNvGrpSpPr/>
          <p:nvPr/>
        </p:nvGrpSpPr>
        <p:grpSpPr>
          <a:xfrm rot="0">
            <a:off x="12663983" y="4029761"/>
            <a:ext cx="4413809" cy="332327"/>
            <a:chOff x="0" y="0"/>
            <a:chExt cx="5885078" cy="443103"/>
          </a:xfrm>
        </p:grpSpPr>
        <p:sp>
          <p:nvSpPr>
            <p:cNvPr name="Freeform 91" id="91"/>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3596" r="0" b="-203983"/>
              </a:stretch>
            </a:blipFill>
          </p:spPr>
          <p:txBody>
            <a:bodyPr/>
            <a:p/>
          </p:txBody>
        </p:sp>
        <p:sp>
          <p:nvSpPr>
            <p:cNvPr name="TextBox 92" id="92"/>
            <p:cNvSpPr txBox="true"/>
            <p:nvPr/>
          </p:nvSpPr>
          <p:spPr>
            <a:xfrm>
              <a:off x="0" y="-9525"/>
              <a:ext cx="5885078"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Le Gouffre de la Fragilité</a:t>
              </a:r>
            </a:p>
          </p:txBody>
        </p:sp>
      </p:grpSp>
      <p:grpSp>
        <p:nvGrpSpPr>
          <p:cNvPr name="Group 93" id="93"/>
          <p:cNvGrpSpPr/>
          <p:nvPr/>
        </p:nvGrpSpPr>
        <p:grpSpPr>
          <a:xfrm rot="0">
            <a:off x="12663983" y="4671670"/>
            <a:ext cx="4530395" cy="1388154"/>
            <a:chOff x="0" y="0"/>
            <a:chExt cx="6040526" cy="1850873"/>
          </a:xfrm>
        </p:grpSpPr>
        <p:sp>
          <p:nvSpPr>
            <p:cNvPr name="Freeform 94" id="94"/>
            <p:cNvSpPr/>
            <p:nvPr/>
          </p:nvSpPr>
          <p:spPr>
            <a:xfrm flipH="false" flipV="false" rot="0">
              <a:off x="0" y="0"/>
              <a:ext cx="6040526" cy="1850873"/>
            </a:xfrm>
            <a:custGeom>
              <a:avLst/>
              <a:gdLst/>
              <a:ahLst/>
              <a:cxnLst/>
              <a:rect r="r" b="b" t="t" l="l"/>
              <a:pathLst>
                <a:path h="1850873" w="6040526">
                  <a:moveTo>
                    <a:pt x="0" y="0"/>
                  </a:moveTo>
                  <a:lnTo>
                    <a:pt x="6040526" y="0"/>
                  </a:lnTo>
                  <a:lnTo>
                    <a:pt x="6040526" y="1850873"/>
                  </a:lnTo>
                  <a:lnTo>
                    <a:pt x="0" y="1850873"/>
                  </a:lnTo>
                  <a:close/>
                </a:path>
              </a:pathLst>
            </a:custGeom>
            <a:blipFill>
              <a:blip r:embed="rId5">
                <a:alphaModFix amt="0"/>
              </a:blip>
              <a:stretch>
                <a:fillRect l="0" t="-34739" r="0" b="7556"/>
              </a:stretch>
            </a:blipFill>
          </p:spPr>
          <p:txBody>
            <a:bodyPr/>
            <a:p/>
          </p:txBody>
        </p:sp>
        <p:sp>
          <p:nvSpPr>
            <p:cNvPr name="TextBox 95" id="95"/>
            <p:cNvSpPr txBox="true"/>
            <p:nvPr/>
          </p:nvSpPr>
          <p:spPr>
            <a:xfrm>
              <a:off x="0" y="0"/>
              <a:ext cx="6040526" cy="1850873"/>
            </a:xfrm>
            <a:prstGeom prst="rect">
              <a:avLst/>
            </a:prstGeom>
          </p:spPr>
          <p:txBody>
            <a:bodyPr anchor="ctr" rtlCol="false" tIns="0" lIns="0" bIns="0" rIns="0"/>
            <a:lstStyle/>
            <a:p>
              <a:pPr algn="l">
                <a:lnSpc>
                  <a:spcPts val="7559"/>
                </a:lnSpc>
              </a:pPr>
              <a:r>
                <a:rPr lang="en-US" b="true" sz="6300" spc="-225">
                  <a:solidFill>
                    <a:srgbClr val="FFFFFF"/>
                  </a:solidFill>
                  <a:latin typeface="Manrope Bold"/>
                  <a:ea typeface="Manrope Bold"/>
                  <a:cs typeface="Manrope Bold"/>
                  <a:sym typeface="Manrope Bold"/>
                </a:rPr>
                <a:t>12,4 Ans</a:t>
              </a:r>
            </a:p>
          </p:txBody>
        </p:sp>
      </p:grpSp>
      <p:grpSp>
        <p:nvGrpSpPr>
          <p:cNvPr name="Group 96" id="96"/>
          <p:cNvGrpSpPr/>
          <p:nvPr/>
        </p:nvGrpSpPr>
        <p:grpSpPr>
          <a:xfrm rot="0">
            <a:off x="12663983" y="5586527"/>
            <a:ext cx="4413809" cy="332327"/>
            <a:chOff x="0" y="0"/>
            <a:chExt cx="5885078" cy="443103"/>
          </a:xfrm>
        </p:grpSpPr>
        <p:sp>
          <p:nvSpPr>
            <p:cNvPr name="Freeform 97" id="97"/>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5660" r="0" b="-201920"/>
              </a:stretch>
            </a:blipFill>
          </p:spPr>
          <p:txBody>
            <a:bodyPr/>
            <a:p/>
          </p:txBody>
        </p:sp>
        <p:sp>
          <p:nvSpPr>
            <p:cNvPr name="TextBox 98" id="98"/>
            <p:cNvSpPr txBox="true"/>
            <p:nvPr/>
          </p:nvSpPr>
          <p:spPr>
            <a:xfrm>
              <a:off x="0" y="-9525"/>
              <a:ext cx="5885078"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Temps perdu dans la maladie</a:t>
              </a:r>
            </a:p>
          </p:txBody>
        </p:sp>
      </p:grpSp>
      <p:grpSp>
        <p:nvGrpSpPr>
          <p:cNvPr name="Group 99" id="99"/>
          <p:cNvGrpSpPr/>
          <p:nvPr/>
        </p:nvGrpSpPr>
        <p:grpSpPr>
          <a:xfrm rot="0">
            <a:off x="12663983" y="6414973"/>
            <a:ext cx="2585466" cy="293380"/>
            <a:chOff x="0" y="0"/>
            <a:chExt cx="3447288" cy="391173"/>
          </a:xfrm>
        </p:grpSpPr>
        <p:sp>
          <p:nvSpPr>
            <p:cNvPr name="Freeform 100" id="100"/>
            <p:cNvSpPr/>
            <p:nvPr/>
          </p:nvSpPr>
          <p:spPr>
            <a:xfrm flipH="false" flipV="false" rot="0">
              <a:off x="0" y="0"/>
              <a:ext cx="3447288" cy="391173"/>
            </a:xfrm>
            <a:custGeom>
              <a:avLst/>
              <a:gdLst/>
              <a:ahLst/>
              <a:cxnLst/>
              <a:rect r="r" b="b" t="t" l="l"/>
              <a:pathLst>
                <a:path h="391173" w="3447288">
                  <a:moveTo>
                    <a:pt x="0" y="0"/>
                  </a:moveTo>
                  <a:lnTo>
                    <a:pt x="3447288" y="0"/>
                  </a:lnTo>
                  <a:lnTo>
                    <a:pt x="3447288" y="391173"/>
                  </a:lnTo>
                  <a:lnTo>
                    <a:pt x="0" y="391173"/>
                  </a:lnTo>
                  <a:close/>
                </a:path>
              </a:pathLst>
            </a:custGeom>
            <a:blipFill>
              <a:blip r:embed="rId5">
                <a:alphaModFix amt="0"/>
              </a:blip>
              <a:stretch>
                <a:fillRect l="0" t="-132677" r="0" b="-110753"/>
              </a:stretch>
            </a:blipFill>
          </p:spPr>
          <p:txBody>
            <a:bodyPr/>
            <a:p/>
          </p:txBody>
        </p:sp>
        <p:sp>
          <p:nvSpPr>
            <p:cNvPr name="TextBox 101" id="101"/>
            <p:cNvSpPr txBox="true"/>
            <p:nvPr/>
          </p:nvSpPr>
          <p:spPr>
            <a:xfrm>
              <a:off x="0" y="0"/>
              <a:ext cx="3447288" cy="391173"/>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Espérance de vie (78.4 ans)</a:t>
              </a:r>
            </a:p>
          </p:txBody>
        </p:sp>
      </p:grpSp>
      <p:grpSp>
        <p:nvGrpSpPr>
          <p:cNvPr name="Group 102" id="102"/>
          <p:cNvGrpSpPr/>
          <p:nvPr/>
        </p:nvGrpSpPr>
        <p:grpSpPr>
          <a:xfrm rot="0">
            <a:off x="12663983" y="6757873"/>
            <a:ext cx="4238244" cy="171450"/>
            <a:chOff x="0" y="0"/>
            <a:chExt cx="5650992" cy="228600"/>
          </a:xfrm>
        </p:grpSpPr>
        <p:sp>
          <p:nvSpPr>
            <p:cNvPr name="Freeform 103" id="103" descr="preencoded.png"/>
            <p:cNvSpPr/>
            <p:nvPr/>
          </p:nvSpPr>
          <p:spPr>
            <a:xfrm flipH="false" flipV="false" rot="0">
              <a:off x="0" y="0"/>
              <a:ext cx="5650992" cy="228600"/>
            </a:xfrm>
            <a:custGeom>
              <a:avLst/>
              <a:gdLst/>
              <a:ahLst/>
              <a:cxnLst/>
              <a:rect r="r" b="b" t="t" l="l"/>
              <a:pathLst>
                <a:path h="228600" w="5650992">
                  <a:moveTo>
                    <a:pt x="0" y="0"/>
                  </a:moveTo>
                  <a:lnTo>
                    <a:pt x="5650992" y="0"/>
                  </a:lnTo>
                  <a:lnTo>
                    <a:pt x="5650992" y="228600"/>
                  </a:lnTo>
                  <a:lnTo>
                    <a:pt x="0" y="228600"/>
                  </a:lnTo>
                  <a:lnTo>
                    <a:pt x="0" y="0"/>
                  </a:lnTo>
                  <a:close/>
                </a:path>
              </a:pathLst>
            </a:custGeom>
            <a:blipFill>
              <a:blip r:embed="rId11"/>
              <a:stretch>
                <a:fillRect l="0" t="3" r="-2" b="2"/>
              </a:stretch>
            </a:blipFill>
          </p:spPr>
          <p:txBody>
            <a:bodyPr/>
            <a:p/>
          </p:txBody>
        </p:sp>
      </p:grpSp>
      <p:grpSp>
        <p:nvGrpSpPr>
          <p:cNvPr name="Group 104" id="104"/>
          <p:cNvGrpSpPr/>
          <p:nvPr/>
        </p:nvGrpSpPr>
        <p:grpSpPr>
          <a:xfrm rot="0">
            <a:off x="12663983" y="6757873"/>
            <a:ext cx="4238244" cy="171450"/>
            <a:chOff x="0" y="0"/>
            <a:chExt cx="5650992" cy="228600"/>
          </a:xfrm>
        </p:grpSpPr>
        <p:sp>
          <p:nvSpPr>
            <p:cNvPr name="Freeform 105" id="105" descr="preencoded.png"/>
            <p:cNvSpPr/>
            <p:nvPr/>
          </p:nvSpPr>
          <p:spPr>
            <a:xfrm flipH="false" flipV="false" rot="0">
              <a:off x="0" y="0"/>
              <a:ext cx="5650992" cy="228600"/>
            </a:xfrm>
            <a:custGeom>
              <a:avLst/>
              <a:gdLst/>
              <a:ahLst/>
              <a:cxnLst/>
              <a:rect r="r" b="b" t="t" l="l"/>
              <a:pathLst>
                <a:path h="228600" w="5650992">
                  <a:moveTo>
                    <a:pt x="0" y="0"/>
                  </a:moveTo>
                  <a:lnTo>
                    <a:pt x="5650992" y="0"/>
                  </a:lnTo>
                  <a:lnTo>
                    <a:pt x="5650992" y="228600"/>
                  </a:lnTo>
                  <a:lnTo>
                    <a:pt x="0" y="228600"/>
                  </a:lnTo>
                  <a:lnTo>
                    <a:pt x="0" y="0"/>
                  </a:lnTo>
                  <a:close/>
                </a:path>
              </a:pathLst>
            </a:custGeom>
            <a:blipFill>
              <a:blip r:embed="rId12"/>
              <a:stretch>
                <a:fillRect l="0" t="3" r="-2" b="2"/>
              </a:stretch>
            </a:blipFill>
          </p:spPr>
          <p:txBody>
            <a:bodyPr/>
            <a:p/>
          </p:txBody>
        </p:sp>
      </p:grpSp>
      <p:grpSp>
        <p:nvGrpSpPr>
          <p:cNvPr name="Group 106" id="106"/>
          <p:cNvGrpSpPr/>
          <p:nvPr/>
        </p:nvGrpSpPr>
        <p:grpSpPr>
          <a:xfrm rot="0">
            <a:off x="12663983" y="7100773"/>
            <a:ext cx="2211019" cy="293380"/>
            <a:chOff x="0" y="0"/>
            <a:chExt cx="2948026" cy="391173"/>
          </a:xfrm>
        </p:grpSpPr>
        <p:sp>
          <p:nvSpPr>
            <p:cNvPr name="Freeform 107" id="107"/>
            <p:cNvSpPr/>
            <p:nvPr/>
          </p:nvSpPr>
          <p:spPr>
            <a:xfrm flipH="false" flipV="false" rot="0">
              <a:off x="0" y="0"/>
              <a:ext cx="2948026" cy="391173"/>
            </a:xfrm>
            <a:custGeom>
              <a:avLst/>
              <a:gdLst/>
              <a:ahLst/>
              <a:cxnLst/>
              <a:rect r="r" b="b" t="t" l="l"/>
              <a:pathLst>
                <a:path h="391173" w="2948026">
                  <a:moveTo>
                    <a:pt x="0" y="0"/>
                  </a:moveTo>
                  <a:lnTo>
                    <a:pt x="2948026" y="0"/>
                  </a:lnTo>
                  <a:lnTo>
                    <a:pt x="2948026" y="391173"/>
                  </a:lnTo>
                  <a:lnTo>
                    <a:pt x="0" y="391173"/>
                  </a:lnTo>
                  <a:close/>
                </a:path>
              </a:pathLst>
            </a:custGeom>
            <a:blipFill>
              <a:blip r:embed="rId5">
                <a:alphaModFix amt="0"/>
              </a:blip>
              <a:stretch>
                <a:fillRect l="0" t="-107808" r="0" b="-85884"/>
              </a:stretch>
            </a:blipFill>
          </p:spPr>
          <p:txBody>
            <a:bodyPr/>
            <a:p/>
          </p:txBody>
        </p:sp>
        <p:sp>
          <p:nvSpPr>
            <p:cNvPr name="TextBox 108" id="108"/>
            <p:cNvSpPr txBox="true"/>
            <p:nvPr/>
          </p:nvSpPr>
          <p:spPr>
            <a:xfrm>
              <a:off x="0" y="0"/>
              <a:ext cx="2948026" cy="391173"/>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Bonne santé (66.0 ans)</a:t>
              </a:r>
            </a:p>
          </p:txBody>
        </p:sp>
      </p:grpSp>
      <p:grpSp>
        <p:nvGrpSpPr>
          <p:cNvPr name="Group 109" id="109"/>
          <p:cNvGrpSpPr/>
          <p:nvPr/>
        </p:nvGrpSpPr>
        <p:grpSpPr>
          <a:xfrm rot="0">
            <a:off x="12663983" y="7443673"/>
            <a:ext cx="4238244" cy="171450"/>
            <a:chOff x="0" y="0"/>
            <a:chExt cx="5650992" cy="228600"/>
          </a:xfrm>
        </p:grpSpPr>
        <p:sp>
          <p:nvSpPr>
            <p:cNvPr name="Freeform 110" id="110" descr="preencoded.png"/>
            <p:cNvSpPr/>
            <p:nvPr/>
          </p:nvSpPr>
          <p:spPr>
            <a:xfrm flipH="false" flipV="false" rot="0">
              <a:off x="0" y="0"/>
              <a:ext cx="5650992" cy="228600"/>
            </a:xfrm>
            <a:custGeom>
              <a:avLst/>
              <a:gdLst/>
              <a:ahLst/>
              <a:cxnLst/>
              <a:rect r="r" b="b" t="t" l="l"/>
              <a:pathLst>
                <a:path h="228600" w="5650992">
                  <a:moveTo>
                    <a:pt x="0" y="0"/>
                  </a:moveTo>
                  <a:lnTo>
                    <a:pt x="5650992" y="0"/>
                  </a:lnTo>
                  <a:lnTo>
                    <a:pt x="5650992" y="228600"/>
                  </a:lnTo>
                  <a:lnTo>
                    <a:pt x="0" y="228600"/>
                  </a:lnTo>
                  <a:lnTo>
                    <a:pt x="0" y="0"/>
                  </a:lnTo>
                  <a:close/>
                </a:path>
              </a:pathLst>
            </a:custGeom>
            <a:blipFill>
              <a:blip r:embed="rId11"/>
              <a:stretch>
                <a:fillRect l="0" t="3" r="-2" b="2"/>
              </a:stretch>
            </a:blipFill>
          </p:spPr>
          <p:txBody>
            <a:bodyPr/>
            <a:p/>
          </p:txBody>
        </p:sp>
      </p:grpSp>
      <p:grpSp>
        <p:nvGrpSpPr>
          <p:cNvPr name="Group 111" id="111"/>
          <p:cNvGrpSpPr/>
          <p:nvPr/>
        </p:nvGrpSpPr>
        <p:grpSpPr>
          <a:xfrm rot="0">
            <a:off x="12663983" y="7443673"/>
            <a:ext cx="3433115" cy="171450"/>
            <a:chOff x="0" y="0"/>
            <a:chExt cx="4577486" cy="228600"/>
          </a:xfrm>
        </p:grpSpPr>
        <p:sp>
          <p:nvSpPr>
            <p:cNvPr name="Freeform 112" id="112" descr="preencoded.png"/>
            <p:cNvSpPr/>
            <p:nvPr/>
          </p:nvSpPr>
          <p:spPr>
            <a:xfrm flipH="false" flipV="false" rot="0">
              <a:off x="0" y="0"/>
              <a:ext cx="4577461" cy="228600"/>
            </a:xfrm>
            <a:custGeom>
              <a:avLst/>
              <a:gdLst/>
              <a:ahLst/>
              <a:cxnLst/>
              <a:rect r="r" b="b" t="t" l="l"/>
              <a:pathLst>
                <a:path h="228600" w="4577461">
                  <a:moveTo>
                    <a:pt x="0" y="0"/>
                  </a:moveTo>
                  <a:lnTo>
                    <a:pt x="4577461" y="0"/>
                  </a:lnTo>
                  <a:lnTo>
                    <a:pt x="4577461" y="228600"/>
                  </a:lnTo>
                  <a:lnTo>
                    <a:pt x="0" y="228600"/>
                  </a:lnTo>
                  <a:lnTo>
                    <a:pt x="0" y="0"/>
                  </a:lnTo>
                  <a:close/>
                </a:path>
              </a:pathLst>
            </a:custGeom>
            <a:blipFill>
              <a:blip r:embed="rId13"/>
              <a:stretch>
                <a:fillRect l="1" t="0" r="-20" b="0"/>
              </a:stretch>
            </a:blipFill>
          </p:spPr>
          <p:txBody>
            <a:bodyPr/>
            <a:p/>
          </p:txBody>
        </p:sp>
      </p:grpSp>
      <p:grpSp>
        <p:nvGrpSpPr>
          <p:cNvPr name="Group 113" id="113"/>
          <p:cNvGrpSpPr/>
          <p:nvPr/>
        </p:nvGrpSpPr>
        <p:grpSpPr>
          <a:xfrm rot="0">
            <a:off x="12493904" y="7728966"/>
            <a:ext cx="4413809" cy="263957"/>
            <a:chOff x="0" y="0"/>
            <a:chExt cx="5885078" cy="351942"/>
          </a:xfrm>
        </p:grpSpPr>
        <p:sp>
          <p:nvSpPr>
            <p:cNvPr name="Freeform 114" id="114"/>
            <p:cNvSpPr/>
            <p:nvPr/>
          </p:nvSpPr>
          <p:spPr>
            <a:xfrm flipH="false" flipV="false" rot="0">
              <a:off x="0" y="0"/>
              <a:ext cx="5885078" cy="351943"/>
            </a:xfrm>
            <a:custGeom>
              <a:avLst/>
              <a:gdLst/>
              <a:ahLst/>
              <a:cxnLst/>
              <a:rect r="r" b="b" t="t" l="l"/>
              <a:pathLst>
                <a:path h="351943" w="5885078">
                  <a:moveTo>
                    <a:pt x="0" y="0"/>
                  </a:moveTo>
                  <a:lnTo>
                    <a:pt x="5885078" y="0"/>
                  </a:lnTo>
                  <a:lnTo>
                    <a:pt x="5885078" y="351943"/>
                  </a:lnTo>
                  <a:lnTo>
                    <a:pt x="0" y="351943"/>
                  </a:lnTo>
                  <a:close/>
                </a:path>
              </a:pathLst>
            </a:custGeom>
            <a:blipFill>
              <a:blip r:embed="rId5">
                <a:alphaModFix amt="0"/>
              </a:blip>
              <a:stretch>
                <a:fillRect l="0" t="-285031" r="0" b="-266613"/>
              </a:stretch>
            </a:blipFill>
          </p:spPr>
          <p:txBody>
            <a:bodyPr/>
            <a:p/>
          </p:txBody>
        </p:sp>
        <p:sp>
          <p:nvSpPr>
            <p:cNvPr name="TextBox 115" id="115"/>
            <p:cNvSpPr txBox="true"/>
            <p:nvPr/>
          </p:nvSpPr>
          <p:spPr>
            <a:xfrm>
              <a:off x="0" y="0"/>
              <a:ext cx="5885078" cy="351942"/>
            </a:xfrm>
            <a:prstGeom prst="rect">
              <a:avLst/>
            </a:prstGeom>
          </p:spPr>
          <p:txBody>
            <a:bodyPr anchor="ctr" rtlCol="false" tIns="0" lIns="0" bIns="0" rIns="0"/>
            <a:lstStyle/>
            <a:p>
              <a:pPr algn="r">
                <a:lnSpc>
                  <a:spcPts val="1439"/>
                </a:lnSpc>
              </a:pPr>
              <a:r>
                <a:rPr lang="en-US" sz="1200" i="true">
                  <a:solidFill>
                    <a:srgbClr val="6B7280"/>
                  </a:solidFill>
                  <a:latin typeface="Manrope"/>
                  <a:ea typeface="Manrope"/>
                  <a:cs typeface="Manrope"/>
                  <a:sym typeface="Manrope"/>
                </a:rPr>
                <a:t>Lifespan vs Healthspan</a:t>
              </a:r>
            </a:p>
          </p:txBody>
        </p:sp>
      </p:grpSp>
      <p:grpSp>
        <p:nvGrpSpPr>
          <p:cNvPr name="Group 116" id="116"/>
          <p:cNvGrpSpPr/>
          <p:nvPr/>
        </p:nvGrpSpPr>
        <p:grpSpPr>
          <a:xfrm rot="0">
            <a:off x="905332" y="8634298"/>
            <a:ext cx="16478250" cy="1404366"/>
            <a:chOff x="0" y="0"/>
            <a:chExt cx="21971000" cy="1872488"/>
          </a:xfrm>
        </p:grpSpPr>
        <p:sp>
          <p:nvSpPr>
            <p:cNvPr name="Freeform 117" id="117"/>
            <p:cNvSpPr/>
            <p:nvPr/>
          </p:nvSpPr>
          <p:spPr>
            <a:xfrm flipH="false" flipV="false" rot="0">
              <a:off x="12700" y="12700"/>
              <a:ext cx="21945600" cy="1847088"/>
            </a:xfrm>
            <a:custGeom>
              <a:avLst/>
              <a:gdLst/>
              <a:ahLst/>
              <a:cxnLst/>
              <a:rect r="r" b="b" t="t" l="l"/>
              <a:pathLst>
                <a:path h="1847088" w="21945600">
                  <a:moveTo>
                    <a:pt x="0" y="75438"/>
                  </a:moveTo>
                  <a:cubicBezTo>
                    <a:pt x="0" y="33782"/>
                    <a:pt x="34163" y="0"/>
                    <a:pt x="76327" y="0"/>
                  </a:cubicBezTo>
                  <a:lnTo>
                    <a:pt x="21869273" y="0"/>
                  </a:lnTo>
                  <a:cubicBezTo>
                    <a:pt x="21911438" y="0"/>
                    <a:pt x="21945600" y="33782"/>
                    <a:pt x="21945600" y="75438"/>
                  </a:cubicBezTo>
                  <a:lnTo>
                    <a:pt x="21945600" y="1771650"/>
                  </a:lnTo>
                  <a:cubicBezTo>
                    <a:pt x="21945600" y="1813306"/>
                    <a:pt x="21911438" y="1847088"/>
                    <a:pt x="21869273" y="1847088"/>
                  </a:cubicBezTo>
                  <a:lnTo>
                    <a:pt x="76327" y="1847088"/>
                  </a:lnTo>
                  <a:cubicBezTo>
                    <a:pt x="34163" y="1847088"/>
                    <a:pt x="0" y="1813306"/>
                    <a:pt x="0" y="1771650"/>
                  </a:cubicBezTo>
                  <a:close/>
                </a:path>
              </a:pathLst>
            </a:custGeom>
            <a:solidFill>
              <a:srgbClr val="FFFFFF">
                <a:alpha val="0"/>
              </a:srgbClr>
            </a:solidFill>
          </p:spPr>
          <p:txBody>
            <a:bodyPr/>
            <a:p/>
          </p:txBody>
        </p:sp>
        <p:sp>
          <p:nvSpPr>
            <p:cNvPr name="Freeform 118" id="118"/>
            <p:cNvSpPr/>
            <p:nvPr/>
          </p:nvSpPr>
          <p:spPr>
            <a:xfrm flipH="false" flipV="false" rot="0">
              <a:off x="0" y="0"/>
              <a:ext cx="21971000" cy="1872488"/>
            </a:xfrm>
            <a:custGeom>
              <a:avLst/>
              <a:gdLst/>
              <a:ahLst/>
              <a:cxnLst/>
              <a:rect r="r" b="b" t="t" l="l"/>
              <a:pathLst>
                <a:path h="1872488" w="21971000">
                  <a:moveTo>
                    <a:pt x="0" y="88138"/>
                  </a:moveTo>
                  <a:cubicBezTo>
                    <a:pt x="0" y="39243"/>
                    <a:pt x="40005" y="0"/>
                    <a:pt x="89027" y="0"/>
                  </a:cubicBezTo>
                  <a:lnTo>
                    <a:pt x="21881973" y="0"/>
                  </a:lnTo>
                  <a:lnTo>
                    <a:pt x="21881973" y="12700"/>
                  </a:lnTo>
                  <a:lnTo>
                    <a:pt x="21881973" y="0"/>
                  </a:lnTo>
                  <a:cubicBezTo>
                    <a:pt x="21930995" y="0"/>
                    <a:pt x="21971000" y="39243"/>
                    <a:pt x="21971000" y="88138"/>
                  </a:cubicBezTo>
                  <a:lnTo>
                    <a:pt x="21958300" y="88138"/>
                  </a:lnTo>
                  <a:lnTo>
                    <a:pt x="21971000" y="88138"/>
                  </a:lnTo>
                  <a:lnTo>
                    <a:pt x="21971000" y="1784350"/>
                  </a:lnTo>
                  <a:lnTo>
                    <a:pt x="21958300" y="1784350"/>
                  </a:lnTo>
                  <a:lnTo>
                    <a:pt x="21971000" y="1784350"/>
                  </a:lnTo>
                  <a:cubicBezTo>
                    <a:pt x="21971000" y="1833118"/>
                    <a:pt x="21930995" y="1872488"/>
                    <a:pt x="21881973" y="1872488"/>
                  </a:cubicBezTo>
                  <a:lnTo>
                    <a:pt x="21881973" y="1859788"/>
                  </a:lnTo>
                  <a:lnTo>
                    <a:pt x="21881973" y="1872488"/>
                  </a:lnTo>
                  <a:lnTo>
                    <a:pt x="89027" y="1872488"/>
                  </a:lnTo>
                  <a:lnTo>
                    <a:pt x="89027" y="1859788"/>
                  </a:lnTo>
                  <a:lnTo>
                    <a:pt x="89027" y="1872488"/>
                  </a:lnTo>
                  <a:cubicBezTo>
                    <a:pt x="40005" y="1872488"/>
                    <a:pt x="0" y="1833245"/>
                    <a:pt x="0" y="1784350"/>
                  </a:cubicBezTo>
                  <a:lnTo>
                    <a:pt x="0" y="88138"/>
                  </a:lnTo>
                  <a:lnTo>
                    <a:pt x="12700" y="88138"/>
                  </a:lnTo>
                  <a:lnTo>
                    <a:pt x="0" y="88138"/>
                  </a:lnTo>
                  <a:moveTo>
                    <a:pt x="25400" y="88138"/>
                  </a:moveTo>
                  <a:lnTo>
                    <a:pt x="25400" y="1784350"/>
                  </a:lnTo>
                  <a:lnTo>
                    <a:pt x="12700" y="1784350"/>
                  </a:lnTo>
                  <a:lnTo>
                    <a:pt x="25400" y="1784350"/>
                  </a:lnTo>
                  <a:cubicBezTo>
                    <a:pt x="25400" y="1818894"/>
                    <a:pt x="53721" y="1847088"/>
                    <a:pt x="89027" y="1847088"/>
                  </a:cubicBezTo>
                  <a:lnTo>
                    <a:pt x="21881973" y="1847088"/>
                  </a:lnTo>
                  <a:cubicBezTo>
                    <a:pt x="21917279" y="1847088"/>
                    <a:pt x="21945600" y="1818894"/>
                    <a:pt x="21945600" y="1784350"/>
                  </a:cubicBezTo>
                  <a:lnTo>
                    <a:pt x="21945600" y="88138"/>
                  </a:lnTo>
                  <a:cubicBezTo>
                    <a:pt x="21945600" y="53594"/>
                    <a:pt x="21917279" y="25400"/>
                    <a:pt x="21881973" y="25400"/>
                  </a:cubicBezTo>
                  <a:lnTo>
                    <a:pt x="89027" y="25400"/>
                  </a:lnTo>
                  <a:lnTo>
                    <a:pt x="89027" y="12700"/>
                  </a:lnTo>
                  <a:lnTo>
                    <a:pt x="89027" y="25400"/>
                  </a:lnTo>
                  <a:cubicBezTo>
                    <a:pt x="53721" y="25400"/>
                    <a:pt x="25400" y="53594"/>
                    <a:pt x="25400" y="88138"/>
                  </a:cubicBezTo>
                  <a:close/>
                </a:path>
              </a:pathLst>
            </a:custGeom>
            <a:solidFill>
              <a:srgbClr val="FFFFFF">
                <a:alpha val="3922"/>
              </a:srgbClr>
            </a:solidFill>
          </p:spPr>
          <p:txBody>
            <a:bodyPr/>
            <a:p/>
          </p:txBody>
        </p:sp>
      </p:grpSp>
      <p:grpSp>
        <p:nvGrpSpPr>
          <p:cNvPr name="Group 119" id="119"/>
          <p:cNvGrpSpPr/>
          <p:nvPr/>
        </p:nvGrpSpPr>
        <p:grpSpPr>
          <a:xfrm rot="0">
            <a:off x="1261948" y="9041663"/>
            <a:ext cx="591007" cy="591007"/>
            <a:chOff x="0" y="0"/>
            <a:chExt cx="788010" cy="788010"/>
          </a:xfrm>
        </p:grpSpPr>
        <p:sp>
          <p:nvSpPr>
            <p:cNvPr name="Freeform 120" id="120"/>
            <p:cNvSpPr/>
            <p:nvPr/>
          </p:nvSpPr>
          <p:spPr>
            <a:xfrm flipH="false" flipV="false" rot="0">
              <a:off x="12700" y="12700"/>
              <a:ext cx="762635" cy="762635"/>
            </a:xfrm>
            <a:custGeom>
              <a:avLst/>
              <a:gdLst/>
              <a:ahLst/>
              <a:cxnLst/>
              <a:rect r="r" b="b" t="t" l="l"/>
              <a:pathLst>
                <a:path h="762635" w="762635">
                  <a:moveTo>
                    <a:pt x="0" y="381254"/>
                  </a:moveTo>
                  <a:cubicBezTo>
                    <a:pt x="0" y="170688"/>
                    <a:pt x="170688" y="0"/>
                    <a:pt x="381254" y="0"/>
                  </a:cubicBezTo>
                  <a:cubicBezTo>
                    <a:pt x="591820" y="0"/>
                    <a:pt x="762635" y="170688"/>
                    <a:pt x="762635" y="381254"/>
                  </a:cubicBezTo>
                  <a:cubicBezTo>
                    <a:pt x="762635" y="591820"/>
                    <a:pt x="591947" y="762635"/>
                    <a:pt x="381254" y="762635"/>
                  </a:cubicBezTo>
                  <a:cubicBezTo>
                    <a:pt x="170561" y="762635"/>
                    <a:pt x="0" y="591947"/>
                    <a:pt x="0" y="381254"/>
                  </a:cubicBezTo>
                  <a:close/>
                </a:path>
              </a:pathLst>
            </a:custGeom>
            <a:solidFill>
              <a:srgbClr val="FFFFFF"/>
            </a:solidFill>
          </p:spPr>
          <p:txBody>
            <a:bodyPr/>
            <a:p/>
          </p:txBody>
        </p:sp>
      </p:grpSp>
      <p:grpSp>
        <p:nvGrpSpPr>
          <p:cNvPr name="Group 121" id="121"/>
          <p:cNvGrpSpPr/>
          <p:nvPr/>
        </p:nvGrpSpPr>
        <p:grpSpPr>
          <a:xfrm rot="0">
            <a:off x="1429207" y="9136228"/>
            <a:ext cx="257861" cy="400507"/>
            <a:chOff x="0" y="0"/>
            <a:chExt cx="343814" cy="534010"/>
          </a:xfrm>
        </p:grpSpPr>
        <p:sp>
          <p:nvSpPr>
            <p:cNvPr name="Freeform 122" id="122" descr="preencoded.png"/>
            <p:cNvSpPr/>
            <p:nvPr/>
          </p:nvSpPr>
          <p:spPr>
            <a:xfrm flipH="false" flipV="false" rot="0">
              <a:off x="0" y="0"/>
              <a:ext cx="343789" cy="534035"/>
            </a:xfrm>
            <a:custGeom>
              <a:avLst/>
              <a:gdLst/>
              <a:ahLst/>
              <a:cxnLst/>
              <a:rect r="r" b="b" t="t" l="l"/>
              <a:pathLst>
                <a:path h="534035" w="343789">
                  <a:moveTo>
                    <a:pt x="0" y="0"/>
                  </a:moveTo>
                  <a:lnTo>
                    <a:pt x="343789" y="0"/>
                  </a:lnTo>
                  <a:lnTo>
                    <a:pt x="343789" y="534035"/>
                  </a:lnTo>
                  <a:lnTo>
                    <a:pt x="0" y="534035"/>
                  </a:lnTo>
                  <a:lnTo>
                    <a:pt x="0" y="0"/>
                  </a:lnTo>
                  <a:close/>
                </a:path>
              </a:pathLst>
            </a:custGeom>
            <a:blipFill>
              <a:blip r:embed="rId14"/>
              <a:stretch>
                <a:fillRect l="0" t="17807" r="-7" b="17812"/>
              </a:stretch>
            </a:blipFill>
          </p:spPr>
          <p:txBody>
            <a:bodyPr/>
            <a:p/>
          </p:txBody>
        </p:sp>
      </p:grpSp>
      <p:grpSp>
        <p:nvGrpSpPr>
          <p:cNvPr name="Group 123" id="123"/>
          <p:cNvGrpSpPr/>
          <p:nvPr/>
        </p:nvGrpSpPr>
        <p:grpSpPr>
          <a:xfrm rot="0">
            <a:off x="2071116" y="9022385"/>
            <a:ext cx="8658911" cy="293380"/>
            <a:chOff x="0" y="0"/>
            <a:chExt cx="11545214" cy="391173"/>
          </a:xfrm>
        </p:grpSpPr>
        <p:sp>
          <p:nvSpPr>
            <p:cNvPr name="Freeform 124" id="124"/>
            <p:cNvSpPr/>
            <p:nvPr/>
          </p:nvSpPr>
          <p:spPr>
            <a:xfrm flipH="false" flipV="false" rot="0">
              <a:off x="0" y="0"/>
              <a:ext cx="11545214" cy="391173"/>
            </a:xfrm>
            <a:custGeom>
              <a:avLst/>
              <a:gdLst/>
              <a:ahLst/>
              <a:cxnLst/>
              <a:rect r="r" b="b" t="t" l="l"/>
              <a:pathLst>
                <a:path h="391173" w="11545214">
                  <a:moveTo>
                    <a:pt x="0" y="0"/>
                  </a:moveTo>
                  <a:lnTo>
                    <a:pt x="11545214" y="0"/>
                  </a:lnTo>
                  <a:lnTo>
                    <a:pt x="11545214" y="391173"/>
                  </a:lnTo>
                  <a:lnTo>
                    <a:pt x="0" y="391173"/>
                  </a:lnTo>
                  <a:close/>
                </a:path>
              </a:pathLst>
            </a:custGeom>
            <a:blipFill>
              <a:blip r:embed="rId5">
                <a:alphaModFix amt="0"/>
              </a:blip>
              <a:stretch>
                <a:fillRect l="0" t="-536050" r="0" b="-514125"/>
              </a:stretch>
            </a:blipFill>
          </p:spPr>
          <p:txBody>
            <a:bodyPr/>
            <a:p/>
          </p:txBody>
        </p:sp>
        <p:sp>
          <p:nvSpPr>
            <p:cNvPr name="TextBox 125" id="125"/>
            <p:cNvSpPr txBox="true"/>
            <p:nvPr/>
          </p:nvSpPr>
          <p:spPr>
            <a:xfrm>
              <a:off x="0" y="0"/>
              <a:ext cx="11545214" cy="391173"/>
            </a:xfrm>
            <a:prstGeom prst="rect">
              <a:avLst/>
            </a:prstGeom>
          </p:spPr>
          <p:txBody>
            <a:bodyPr anchor="ctr" rtlCol="false" tIns="0" lIns="0" bIns="0" rIns="0"/>
            <a:lstStyle/>
            <a:p>
              <a:pPr algn="l">
                <a:lnSpc>
                  <a:spcPts val="1620"/>
                </a:lnSpc>
              </a:pPr>
              <a:r>
                <a:rPr lang="en-US" b="true" sz="1350" spc="135">
                  <a:solidFill>
                    <a:srgbClr val="9CA3AF"/>
                  </a:solidFill>
                  <a:latin typeface="Manrope Bold"/>
                  <a:ea typeface="Manrope Bold"/>
                  <a:cs typeface="Manrope Bold"/>
                  <a:sym typeface="Manrope Bold"/>
                </a:rPr>
                <a:t>L'OBJECTIF CLINIQUE</a:t>
              </a:r>
            </a:p>
          </p:txBody>
        </p:sp>
      </p:grpSp>
      <p:grpSp>
        <p:nvGrpSpPr>
          <p:cNvPr name="Group 126" id="126"/>
          <p:cNvGrpSpPr/>
          <p:nvPr/>
        </p:nvGrpSpPr>
        <p:grpSpPr>
          <a:xfrm rot="0">
            <a:off x="2071116" y="9251442"/>
            <a:ext cx="9516161" cy="498491"/>
            <a:chOff x="0" y="0"/>
            <a:chExt cx="12688214" cy="664654"/>
          </a:xfrm>
        </p:grpSpPr>
        <p:sp>
          <p:nvSpPr>
            <p:cNvPr name="Freeform 127" id="127"/>
            <p:cNvSpPr/>
            <p:nvPr/>
          </p:nvSpPr>
          <p:spPr>
            <a:xfrm flipH="false" flipV="false" rot="0">
              <a:off x="0" y="0"/>
              <a:ext cx="12688214" cy="664655"/>
            </a:xfrm>
            <a:custGeom>
              <a:avLst/>
              <a:gdLst/>
              <a:ahLst/>
              <a:cxnLst/>
              <a:rect r="r" b="b" t="t" l="l"/>
              <a:pathLst>
                <a:path h="664655" w="12688214">
                  <a:moveTo>
                    <a:pt x="0" y="0"/>
                  </a:moveTo>
                  <a:lnTo>
                    <a:pt x="12688214" y="0"/>
                  </a:lnTo>
                  <a:lnTo>
                    <a:pt x="12688214" y="664655"/>
                  </a:lnTo>
                  <a:lnTo>
                    <a:pt x="0" y="664655"/>
                  </a:lnTo>
                  <a:close/>
                </a:path>
              </a:pathLst>
            </a:custGeom>
            <a:blipFill>
              <a:blip r:embed="rId5">
                <a:alphaModFix amt="0"/>
              </a:blip>
              <a:stretch>
                <a:fillRect l="0" t="-331796" r="0" b="-312139"/>
              </a:stretch>
            </a:blipFill>
          </p:spPr>
          <p:txBody>
            <a:bodyPr/>
            <a:p/>
          </p:txBody>
        </p:sp>
        <p:sp>
          <p:nvSpPr>
            <p:cNvPr name="TextBox 128" id="128"/>
            <p:cNvSpPr txBox="true"/>
            <p:nvPr/>
          </p:nvSpPr>
          <p:spPr>
            <a:xfrm>
              <a:off x="0" y="-9525"/>
              <a:ext cx="12688214"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Compresser la morbidité &amp; prolonger les années fonctionnelles.</a:t>
              </a:r>
            </a:p>
          </p:txBody>
        </p:sp>
      </p:grpSp>
      <p:grpSp>
        <p:nvGrpSpPr>
          <p:cNvPr name="Group 129" id="129"/>
          <p:cNvGrpSpPr/>
          <p:nvPr/>
        </p:nvGrpSpPr>
        <p:grpSpPr>
          <a:xfrm rot="0">
            <a:off x="11878056" y="9051188"/>
            <a:ext cx="13716" cy="571957"/>
            <a:chOff x="0" y="0"/>
            <a:chExt cx="18288" cy="762610"/>
          </a:xfrm>
        </p:grpSpPr>
        <p:sp>
          <p:nvSpPr>
            <p:cNvPr name="Freeform 130" id="130" descr="preencoded.png"/>
            <p:cNvSpPr/>
            <p:nvPr/>
          </p:nvSpPr>
          <p:spPr>
            <a:xfrm flipH="false" flipV="false" rot="0">
              <a:off x="0" y="0"/>
              <a:ext cx="18288" cy="762635"/>
            </a:xfrm>
            <a:custGeom>
              <a:avLst/>
              <a:gdLst/>
              <a:ahLst/>
              <a:cxnLst/>
              <a:rect r="r" b="b" t="t" l="l"/>
              <a:pathLst>
                <a:path h="762635" w="18288">
                  <a:moveTo>
                    <a:pt x="0" y="0"/>
                  </a:moveTo>
                  <a:lnTo>
                    <a:pt x="18288" y="0"/>
                  </a:lnTo>
                  <a:lnTo>
                    <a:pt x="18288" y="762635"/>
                  </a:lnTo>
                  <a:lnTo>
                    <a:pt x="0" y="762635"/>
                  </a:lnTo>
                  <a:lnTo>
                    <a:pt x="0" y="0"/>
                  </a:lnTo>
                  <a:close/>
                </a:path>
              </a:pathLst>
            </a:custGeom>
            <a:blipFill>
              <a:blip r:embed="rId15"/>
              <a:stretch>
                <a:fillRect l="0" t="2039" r="0" b="2039"/>
              </a:stretch>
            </a:blipFill>
          </p:spPr>
          <p:txBody>
            <a:bodyPr/>
            <a:p/>
          </p:txBody>
        </p:sp>
      </p:grpSp>
      <p:grpSp>
        <p:nvGrpSpPr>
          <p:cNvPr name="Group 131" id="131"/>
          <p:cNvGrpSpPr/>
          <p:nvPr/>
        </p:nvGrpSpPr>
        <p:grpSpPr>
          <a:xfrm rot="0">
            <a:off x="13089179" y="9001811"/>
            <a:ext cx="2204161" cy="596284"/>
            <a:chOff x="0" y="0"/>
            <a:chExt cx="2938882" cy="795045"/>
          </a:xfrm>
        </p:grpSpPr>
        <p:sp>
          <p:nvSpPr>
            <p:cNvPr name="Freeform 132" id="132"/>
            <p:cNvSpPr/>
            <p:nvPr/>
          </p:nvSpPr>
          <p:spPr>
            <a:xfrm flipH="false" flipV="false" rot="0">
              <a:off x="0" y="0"/>
              <a:ext cx="2938882" cy="795046"/>
            </a:xfrm>
            <a:custGeom>
              <a:avLst/>
              <a:gdLst/>
              <a:ahLst/>
              <a:cxnLst/>
              <a:rect r="r" b="b" t="t" l="l"/>
              <a:pathLst>
                <a:path h="795046" w="2938882">
                  <a:moveTo>
                    <a:pt x="0" y="0"/>
                  </a:moveTo>
                  <a:lnTo>
                    <a:pt x="2938882" y="0"/>
                  </a:lnTo>
                  <a:lnTo>
                    <a:pt x="2938882" y="795046"/>
                  </a:lnTo>
                  <a:lnTo>
                    <a:pt x="0" y="795046"/>
                  </a:lnTo>
                  <a:close/>
                </a:path>
              </a:pathLst>
            </a:custGeom>
            <a:blipFill>
              <a:blip r:embed="rId5">
                <a:alphaModFix amt="0"/>
              </a:blip>
              <a:stretch>
                <a:fillRect l="0" t="-33612" r="0" b="-10440"/>
              </a:stretch>
            </a:blipFill>
          </p:spPr>
          <p:txBody>
            <a:bodyPr/>
            <a:p/>
          </p:txBody>
        </p:sp>
        <p:sp>
          <p:nvSpPr>
            <p:cNvPr name="TextBox 133" id="133"/>
            <p:cNvSpPr txBox="true"/>
            <p:nvPr/>
          </p:nvSpPr>
          <p:spPr>
            <a:xfrm>
              <a:off x="0" y="0"/>
              <a:ext cx="2938882" cy="795045"/>
            </a:xfrm>
            <a:prstGeom prst="rect">
              <a:avLst/>
            </a:prstGeom>
          </p:spPr>
          <p:txBody>
            <a:bodyPr anchor="ctr" rtlCol="false" tIns="0" lIns="0" bIns="0" rIns="0"/>
            <a:lstStyle/>
            <a:p>
              <a:pPr algn="ctr">
                <a:lnSpc>
                  <a:spcPts val="3240"/>
                </a:lnSpc>
              </a:pPr>
              <a:r>
                <a:rPr lang="en-US" sz="2700" b="true">
                  <a:solidFill>
                    <a:srgbClr val="FFFFFF"/>
                  </a:solidFill>
                  <a:latin typeface="Manrope Bold"/>
                  <a:ea typeface="Manrope Bold"/>
                  <a:cs typeface="Manrope Bold"/>
                  <a:sym typeface="Manrope Bold"/>
                </a:rPr>
                <a:t>Healthspan</a:t>
              </a:r>
            </a:p>
          </p:txBody>
        </p:sp>
      </p:grpSp>
      <p:grpSp>
        <p:nvGrpSpPr>
          <p:cNvPr name="Group 134" id="134"/>
          <p:cNvGrpSpPr/>
          <p:nvPr/>
        </p:nvGrpSpPr>
        <p:grpSpPr>
          <a:xfrm rot="0">
            <a:off x="13168732" y="9458554"/>
            <a:ext cx="2043684" cy="263957"/>
            <a:chOff x="0" y="0"/>
            <a:chExt cx="2724912" cy="351942"/>
          </a:xfrm>
        </p:grpSpPr>
        <p:sp>
          <p:nvSpPr>
            <p:cNvPr name="Freeform 135" id="135"/>
            <p:cNvSpPr/>
            <p:nvPr/>
          </p:nvSpPr>
          <p:spPr>
            <a:xfrm flipH="false" flipV="false" rot="0">
              <a:off x="0" y="0"/>
              <a:ext cx="2724912" cy="351943"/>
            </a:xfrm>
            <a:custGeom>
              <a:avLst/>
              <a:gdLst/>
              <a:ahLst/>
              <a:cxnLst/>
              <a:rect r="r" b="b" t="t" l="l"/>
              <a:pathLst>
                <a:path h="351943" w="2724912">
                  <a:moveTo>
                    <a:pt x="0" y="0"/>
                  </a:moveTo>
                  <a:lnTo>
                    <a:pt x="2724912" y="0"/>
                  </a:lnTo>
                  <a:lnTo>
                    <a:pt x="2724912" y="351943"/>
                  </a:lnTo>
                  <a:lnTo>
                    <a:pt x="0" y="351943"/>
                  </a:lnTo>
                  <a:close/>
                </a:path>
              </a:pathLst>
            </a:custGeom>
            <a:blipFill>
              <a:blip r:embed="rId5">
                <a:alphaModFix amt="0"/>
              </a:blip>
              <a:stretch>
                <a:fillRect l="0" t="-110071" r="0" b="-91653"/>
              </a:stretch>
            </a:blipFill>
          </p:spPr>
          <p:txBody>
            <a:bodyPr/>
            <a:p/>
          </p:txBody>
        </p:sp>
        <p:sp>
          <p:nvSpPr>
            <p:cNvPr name="TextBox 136" id="136"/>
            <p:cNvSpPr txBox="true"/>
            <p:nvPr/>
          </p:nvSpPr>
          <p:spPr>
            <a:xfrm>
              <a:off x="0" y="0"/>
              <a:ext cx="2724912" cy="351942"/>
            </a:xfrm>
            <a:prstGeom prst="rect">
              <a:avLst/>
            </a:prstGeom>
          </p:spPr>
          <p:txBody>
            <a:bodyPr anchor="ctr" rtlCol="false" tIns="0" lIns="0" bIns="0" rIns="0"/>
            <a:lstStyle/>
            <a:p>
              <a:pPr algn="ctr">
                <a:lnSpc>
                  <a:spcPts val="1439"/>
                </a:lnSpc>
              </a:pPr>
              <a:r>
                <a:rPr lang="en-US" sz="1200">
                  <a:solidFill>
                    <a:srgbClr val="6B7280"/>
                  </a:solidFill>
                  <a:latin typeface="Manrope"/>
                  <a:ea typeface="Manrope"/>
                  <a:cs typeface="Manrope"/>
                  <a:sym typeface="Manrope"/>
                </a:rPr>
                <a:t>Maximiser</a:t>
              </a:r>
            </a:p>
          </p:txBody>
        </p:sp>
      </p:grpSp>
      <p:grpSp>
        <p:nvGrpSpPr>
          <p:cNvPr name="Group 137" id="137"/>
          <p:cNvGrpSpPr/>
          <p:nvPr/>
        </p:nvGrpSpPr>
        <p:grpSpPr>
          <a:xfrm rot="0">
            <a:off x="15463418" y="9001811"/>
            <a:ext cx="1700784" cy="596284"/>
            <a:chOff x="0" y="0"/>
            <a:chExt cx="2267712" cy="795045"/>
          </a:xfrm>
        </p:grpSpPr>
        <p:sp>
          <p:nvSpPr>
            <p:cNvPr name="Freeform 138" id="138"/>
            <p:cNvSpPr/>
            <p:nvPr/>
          </p:nvSpPr>
          <p:spPr>
            <a:xfrm flipH="false" flipV="false" rot="0">
              <a:off x="0" y="0"/>
              <a:ext cx="2267712" cy="795046"/>
            </a:xfrm>
            <a:custGeom>
              <a:avLst/>
              <a:gdLst/>
              <a:ahLst/>
              <a:cxnLst/>
              <a:rect r="r" b="b" t="t" l="l"/>
              <a:pathLst>
                <a:path h="795046" w="2267712">
                  <a:moveTo>
                    <a:pt x="0" y="0"/>
                  </a:moveTo>
                  <a:lnTo>
                    <a:pt x="2267712" y="0"/>
                  </a:lnTo>
                  <a:lnTo>
                    <a:pt x="2267712" y="795046"/>
                  </a:lnTo>
                  <a:lnTo>
                    <a:pt x="0" y="795046"/>
                  </a:lnTo>
                  <a:close/>
                </a:path>
              </a:pathLst>
            </a:custGeom>
            <a:blipFill>
              <a:blip r:embed="rId5">
                <a:alphaModFix amt="0"/>
              </a:blip>
              <a:stretch>
                <a:fillRect l="0" t="-17163" r="0" b="6008"/>
              </a:stretch>
            </a:blipFill>
          </p:spPr>
          <p:txBody>
            <a:bodyPr/>
            <a:p/>
          </p:txBody>
        </p:sp>
        <p:sp>
          <p:nvSpPr>
            <p:cNvPr name="TextBox 139" id="139"/>
            <p:cNvSpPr txBox="true"/>
            <p:nvPr/>
          </p:nvSpPr>
          <p:spPr>
            <a:xfrm>
              <a:off x="0" y="0"/>
              <a:ext cx="2267712" cy="795045"/>
            </a:xfrm>
            <a:prstGeom prst="rect">
              <a:avLst/>
            </a:prstGeom>
          </p:spPr>
          <p:txBody>
            <a:bodyPr anchor="ctr" rtlCol="false" tIns="0" lIns="0" bIns="0" rIns="0"/>
            <a:lstStyle/>
            <a:p>
              <a:pPr algn="ctr">
                <a:lnSpc>
                  <a:spcPts val="3240"/>
                </a:lnSpc>
              </a:pPr>
              <a:r>
                <a:rPr lang="en-US" sz="2700" b="true">
                  <a:solidFill>
                    <a:srgbClr val="6B7280"/>
                  </a:solidFill>
                  <a:latin typeface="Manrope Bold"/>
                  <a:ea typeface="Manrope Bold"/>
                  <a:cs typeface="Manrope Bold"/>
                  <a:sym typeface="Manrope Bold"/>
                </a:rPr>
                <a:t>Lifespan</a:t>
              </a:r>
            </a:p>
          </p:txBody>
        </p:sp>
      </p:grpSp>
      <p:grpSp>
        <p:nvGrpSpPr>
          <p:cNvPr name="Group 140" id="140"/>
          <p:cNvGrpSpPr/>
          <p:nvPr/>
        </p:nvGrpSpPr>
        <p:grpSpPr>
          <a:xfrm rot="0">
            <a:off x="15542285" y="9444842"/>
            <a:ext cx="1543050" cy="291379"/>
            <a:chOff x="0" y="0"/>
            <a:chExt cx="2057400" cy="388506"/>
          </a:xfrm>
        </p:grpSpPr>
        <p:sp>
          <p:nvSpPr>
            <p:cNvPr name="Freeform 141" id="141"/>
            <p:cNvSpPr/>
            <p:nvPr/>
          </p:nvSpPr>
          <p:spPr>
            <a:xfrm flipH="false" flipV="false" rot="0">
              <a:off x="0" y="0"/>
              <a:ext cx="2057400" cy="388506"/>
            </a:xfrm>
            <a:custGeom>
              <a:avLst/>
              <a:gdLst/>
              <a:ahLst/>
              <a:cxnLst/>
              <a:rect r="r" b="b" t="t" l="l"/>
              <a:pathLst>
                <a:path h="388506" w="2057400">
                  <a:moveTo>
                    <a:pt x="0" y="0"/>
                  </a:moveTo>
                  <a:lnTo>
                    <a:pt x="2057400" y="0"/>
                  </a:lnTo>
                  <a:lnTo>
                    <a:pt x="2057400" y="388506"/>
                  </a:lnTo>
                  <a:lnTo>
                    <a:pt x="0" y="388506"/>
                  </a:lnTo>
                  <a:close/>
                </a:path>
              </a:pathLst>
            </a:custGeom>
            <a:blipFill>
              <a:blip r:embed="rId5">
                <a:alphaModFix amt="0"/>
              </a:blip>
              <a:stretch>
                <a:fillRect l="0" t="-66234" r="0" b="-40138"/>
              </a:stretch>
            </a:blipFill>
          </p:spPr>
          <p:txBody>
            <a:bodyPr/>
            <a:p/>
          </p:txBody>
        </p:sp>
        <p:sp>
          <p:nvSpPr>
            <p:cNvPr name="TextBox 142" id="142"/>
            <p:cNvSpPr txBox="true"/>
            <p:nvPr/>
          </p:nvSpPr>
          <p:spPr>
            <a:xfrm>
              <a:off x="0" y="0"/>
              <a:ext cx="2057400" cy="388506"/>
            </a:xfrm>
            <a:prstGeom prst="rect">
              <a:avLst/>
            </a:prstGeom>
          </p:spPr>
          <p:txBody>
            <a:bodyPr anchor="ctr" rtlCol="false" tIns="0" lIns="0" bIns="0" rIns="0"/>
            <a:lstStyle/>
            <a:p>
              <a:pPr algn="ctr">
                <a:lnSpc>
                  <a:spcPts val="1439"/>
                </a:lnSpc>
              </a:pPr>
              <a:r>
                <a:rPr lang="en-US" sz="1200">
                  <a:solidFill>
                    <a:srgbClr val="6B7280"/>
                  </a:solidFill>
                  <a:latin typeface="Manrope"/>
                  <a:ea typeface="Manrope"/>
                  <a:cs typeface="Manrope"/>
                  <a:sym typeface="Manrope"/>
                </a:rPr>
                <a:t>Prolonger</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1905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0" y="0"/>
            <a:ext cx="7314743" cy="10287000"/>
            <a:chOff x="0" y="0"/>
            <a:chExt cx="9752990" cy="13716000"/>
          </a:xfrm>
        </p:grpSpPr>
        <p:sp>
          <p:nvSpPr>
            <p:cNvPr name="Freeform 9" id="9"/>
            <p:cNvSpPr/>
            <p:nvPr/>
          </p:nvSpPr>
          <p:spPr>
            <a:xfrm flipH="false" flipV="false" rot="0">
              <a:off x="0" y="0"/>
              <a:ext cx="9752965" cy="13716000"/>
            </a:xfrm>
            <a:custGeom>
              <a:avLst/>
              <a:gdLst/>
              <a:ahLst/>
              <a:cxnLst/>
              <a:rect r="r" b="b" t="t" l="l"/>
              <a:pathLst>
                <a:path h="13716000" w="9752965">
                  <a:moveTo>
                    <a:pt x="0" y="0"/>
                  </a:moveTo>
                  <a:lnTo>
                    <a:pt x="9752965" y="0"/>
                  </a:lnTo>
                  <a:lnTo>
                    <a:pt x="9752965" y="13716000"/>
                  </a:lnTo>
                  <a:lnTo>
                    <a:pt x="0" y="13716000"/>
                  </a:lnTo>
                  <a:close/>
                </a:path>
              </a:pathLst>
            </a:custGeom>
            <a:solidFill>
              <a:srgbClr val="1E1E24"/>
            </a:solidFill>
          </p:spPr>
          <p:txBody>
            <a:bodyPr/>
            <a:p/>
          </p:txBody>
        </p:sp>
      </p:grpSp>
      <p:grpSp>
        <p:nvGrpSpPr>
          <p:cNvPr name="Group 10" id="10"/>
          <p:cNvGrpSpPr/>
          <p:nvPr/>
        </p:nvGrpSpPr>
        <p:grpSpPr>
          <a:xfrm rot="0">
            <a:off x="7291502" y="-9525"/>
            <a:ext cx="32766" cy="10306050"/>
            <a:chOff x="0" y="0"/>
            <a:chExt cx="43688" cy="13741400"/>
          </a:xfrm>
        </p:grpSpPr>
        <p:sp>
          <p:nvSpPr>
            <p:cNvPr name="Freeform 11" id="11"/>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2" id="12"/>
          <p:cNvGrpSpPr/>
          <p:nvPr/>
        </p:nvGrpSpPr>
        <p:grpSpPr>
          <a:xfrm rot="0">
            <a:off x="847725" y="1539011"/>
            <a:ext cx="1819961" cy="377037"/>
            <a:chOff x="0" y="0"/>
            <a:chExt cx="2426614" cy="502716"/>
          </a:xfrm>
        </p:grpSpPr>
        <p:sp>
          <p:nvSpPr>
            <p:cNvPr name="Freeform 13" id="13"/>
            <p:cNvSpPr/>
            <p:nvPr/>
          </p:nvSpPr>
          <p:spPr>
            <a:xfrm flipH="false" flipV="false" rot="0">
              <a:off x="0" y="0"/>
              <a:ext cx="2426589" cy="502665"/>
            </a:xfrm>
            <a:custGeom>
              <a:avLst/>
              <a:gdLst/>
              <a:ahLst/>
              <a:cxnLst/>
              <a:rect r="r" b="b" t="t" l="l"/>
              <a:pathLst>
                <a:path h="502665" w="2426589">
                  <a:moveTo>
                    <a:pt x="12700" y="0"/>
                  </a:moveTo>
                  <a:lnTo>
                    <a:pt x="2413889" y="0"/>
                  </a:lnTo>
                  <a:cubicBezTo>
                    <a:pt x="2420874" y="0"/>
                    <a:pt x="2426589" y="5715"/>
                    <a:pt x="2426589" y="12700"/>
                  </a:cubicBezTo>
                  <a:lnTo>
                    <a:pt x="2426589" y="489965"/>
                  </a:lnTo>
                  <a:cubicBezTo>
                    <a:pt x="2426589" y="496950"/>
                    <a:pt x="2420874" y="502665"/>
                    <a:pt x="2413889"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2413889" y="477265"/>
                  </a:lnTo>
                  <a:lnTo>
                    <a:pt x="2413889" y="489965"/>
                  </a:lnTo>
                  <a:lnTo>
                    <a:pt x="2401189" y="489965"/>
                  </a:lnTo>
                  <a:lnTo>
                    <a:pt x="2401189" y="12700"/>
                  </a:lnTo>
                  <a:lnTo>
                    <a:pt x="2413889" y="12700"/>
                  </a:lnTo>
                  <a:lnTo>
                    <a:pt x="2413889" y="25400"/>
                  </a:lnTo>
                  <a:lnTo>
                    <a:pt x="12700" y="25400"/>
                  </a:lnTo>
                  <a:close/>
                </a:path>
              </a:pathLst>
            </a:custGeom>
            <a:solidFill>
              <a:srgbClr val="EDEFF7"/>
            </a:solidFill>
          </p:spPr>
          <p:txBody>
            <a:bodyPr/>
            <a:p/>
          </p:txBody>
        </p:sp>
        <p:sp>
          <p:nvSpPr>
            <p:cNvPr name="TextBox 14" id="14"/>
            <p:cNvSpPr txBox="true"/>
            <p:nvPr/>
          </p:nvSpPr>
          <p:spPr>
            <a:xfrm>
              <a:off x="0" y="0"/>
              <a:ext cx="2426614" cy="502716"/>
            </a:xfrm>
            <a:prstGeom prst="rect">
              <a:avLst/>
            </a:prstGeom>
          </p:spPr>
          <p:txBody>
            <a:bodyPr anchor="ctr" rtlCol="false" tIns="50800" lIns="50800" bIns="50800" rIns="50800"/>
            <a:lstStyle/>
            <a:p>
              <a:pPr algn="l">
                <a:lnSpc>
                  <a:spcPts val="1439"/>
                </a:lnSpc>
              </a:pPr>
              <a:r>
                <a:rPr lang="en-US" sz="1200" spc="112">
                  <a:solidFill>
                    <a:srgbClr val="9CA3AF"/>
                  </a:solidFill>
                  <a:latin typeface="Manrope"/>
                  <a:ea typeface="Manrope"/>
                  <a:cs typeface="Manrope"/>
                  <a:sym typeface="Manrope"/>
                </a:rPr>
                <a:t>Risque Critique</a:t>
              </a:r>
            </a:p>
          </p:txBody>
        </p:sp>
      </p:grpSp>
      <p:grpSp>
        <p:nvGrpSpPr>
          <p:cNvPr name="Group 15" id="15"/>
          <p:cNvGrpSpPr/>
          <p:nvPr/>
        </p:nvGrpSpPr>
        <p:grpSpPr>
          <a:xfrm rot="0">
            <a:off x="857250" y="2134210"/>
            <a:ext cx="5757977" cy="391173"/>
            <a:chOff x="0" y="0"/>
            <a:chExt cx="7677302" cy="521564"/>
          </a:xfrm>
        </p:grpSpPr>
        <p:sp>
          <p:nvSpPr>
            <p:cNvPr name="Freeform 16" id="16"/>
            <p:cNvSpPr/>
            <p:nvPr/>
          </p:nvSpPr>
          <p:spPr>
            <a:xfrm flipH="false" flipV="false" rot="0">
              <a:off x="0" y="0"/>
              <a:ext cx="7677302" cy="521564"/>
            </a:xfrm>
            <a:custGeom>
              <a:avLst/>
              <a:gdLst/>
              <a:ahLst/>
              <a:cxnLst/>
              <a:rect r="r" b="b" t="t" l="l"/>
              <a:pathLst>
                <a:path h="521564" w="7677302">
                  <a:moveTo>
                    <a:pt x="0" y="0"/>
                  </a:moveTo>
                  <a:lnTo>
                    <a:pt x="7677302" y="0"/>
                  </a:lnTo>
                  <a:lnTo>
                    <a:pt x="7677302" y="521564"/>
                  </a:lnTo>
                  <a:lnTo>
                    <a:pt x="0" y="521564"/>
                  </a:lnTo>
                  <a:close/>
                </a:path>
              </a:pathLst>
            </a:custGeom>
            <a:blipFill>
              <a:blip r:embed="rId4">
                <a:alphaModFix amt="0"/>
              </a:blip>
              <a:stretch>
                <a:fillRect l="0" t="-259290" r="0" b="-214340"/>
              </a:stretch>
            </a:blipFill>
          </p:spPr>
          <p:txBody>
            <a:bodyPr/>
            <a:p/>
          </p:txBody>
        </p:sp>
        <p:sp>
          <p:nvSpPr>
            <p:cNvPr name="TextBox 17" id="17"/>
            <p:cNvSpPr txBox="true"/>
            <p:nvPr/>
          </p:nvSpPr>
          <p:spPr>
            <a:xfrm>
              <a:off x="0" y="9525"/>
              <a:ext cx="7677302" cy="512039"/>
            </a:xfrm>
            <a:prstGeom prst="rect">
              <a:avLst/>
            </a:prstGeom>
          </p:spPr>
          <p:txBody>
            <a:bodyPr anchor="ctr" rtlCol="false" tIns="0" lIns="0" bIns="0" rIns="0"/>
            <a:lstStyle/>
            <a:p>
              <a:pPr algn="l">
                <a:lnSpc>
                  <a:spcPts val="2160"/>
                </a:lnSpc>
              </a:pPr>
              <a:r>
                <a:rPr lang="en-US" sz="1800" spc="-225">
                  <a:solidFill>
                    <a:srgbClr val="FFFFFF"/>
                  </a:solidFill>
                  <a:latin typeface="Manrope"/>
                  <a:ea typeface="Manrope"/>
                  <a:cs typeface="Manrope"/>
                  <a:sym typeface="Manrope"/>
                </a:rPr>
                <a:t>L'ÂGE</a:t>
              </a:r>
            </a:p>
          </p:txBody>
        </p:sp>
      </p:grpSp>
      <p:grpSp>
        <p:nvGrpSpPr>
          <p:cNvPr name="Group 18" id="18"/>
          <p:cNvGrpSpPr/>
          <p:nvPr/>
        </p:nvGrpSpPr>
        <p:grpSpPr>
          <a:xfrm rot="0">
            <a:off x="857250" y="2488635"/>
            <a:ext cx="5757977" cy="391173"/>
            <a:chOff x="0" y="0"/>
            <a:chExt cx="7677302" cy="521564"/>
          </a:xfrm>
        </p:grpSpPr>
        <p:sp>
          <p:nvSpPr>
            <p:cNvPr name="Freeform 19" id="19"/>
            <p:cNvSpPr/>
            <p:nvPr/>
          </p:nvSpPr>
          <p:spPr>
            <a:xfrm flipH="false" flipV="false" rot="0">
              <a:off x="0" y="0"/>
              <a:ext cx="7677302" cy="521564"/>
            </a:xfrm>
            <a:custGeom>
              <a:avLst/>
              <a:gdLst/>
              <a:ahLst/>
              <a:cxnLst/>
              <a:rect r="r" b="b" t="t" l="l"/>
              <a:pathLst>
                <a:path h="521564" w="7677302">
                  <a:moveTo>
                    <a:pt x="0" y="0"/>
                  </a:moveTo>
                  <a:lnTo>
                    <a:pt x="7677302" y="0"/>
                  </a:lnTo>
                  <a:lnTo>
                    <a:pt x="7677302" y="521564"/>
                  </a:lnTo>
                  <a:lnTo>
                    <a:pt x="0" y="521564"/>
                  </a:lnTo>
                  <a:close/>
                </a:path>
              </a:pathLst>
            </a:custGeom>
            <a:blipFill>
              <a:blip r:embed="rId4">
                <a:alphaModFix amt="0"/>
              </a:blip>
              <a:stretch>
                <a:fillRect l="0" t="-242985" r="0" b="-230645"/>
              </a:stretch>
            </a:blipFill>
          </p:spPr>
          <p:txBody>
            <a:bodyPr/>
            <a:p/>
          </p:txBody>
        </p:sp>
        <p:sp>
          <p:nvSpPr>
            <p:cNvPr name="TextBox 20" id="20"/>
            <p:cNvSpPr txBox="true"/>
            <p:nvPr/>
          </p:nvSpPr>
          <p:spPr>
            <a:xfrm>
              <a:off x="0" y="9525"/>
              <a:ext cx="7677302" cy="512039"/>
            </a:xfrm>
            <a:prstGeom prst="rect">
              <a:avLst/>
            </a:prstGeom>
          </p:spPr>
          <p:txBody>
            <a:bodyPr anchor="ctr" rtlCol="false" tIns="0" lIns="0" bIns="0" rIns="0"/>
            <a:lstStyle/>
            <a:p>
              <a:pPr algn="l">
                <a:lnSpc>
                  <a:spcPts val="2160"/>
                </a:lnSpc>
              </a:pPr>
              <a:r>
                <a:rPr lang="en-US" sz="1800" spc="225">
                  <a:solidFill>
                    <a:srgbClr val="9DA2B3"/>
                  </a:solidFill>
                  <a:latin typeface="Manrope"/>
                  <a:ea typeface="Manrope"/>
                  <a:cs typeface="Manrope"/>
                  <a:sym typeface="Manrope"/>
                </a:rPr>
                <a:t>Facteur de Risque N°1</a:t>
              </a:r>
            </a:p>
          </p:txBody>
        </p:sp>
      </p:grpSp>
      <p:grpSp>
        <p:nvGrpSpPr>
          <p:cNvPr name="Group 21" id="21"/>
          <p:cNvGrpSpPr/>
          <p:nvPr/>
        </p:nvGrpSpPr>
        <p:grpSpPr>
          <a:xfrm rot="0">
            <a:off x="857250" y="2684221"/>
            <a:ext cx="5701741" cy="1257758"/>
            <a:chOff x="0" y="0"/>
            <a:chExt cx="7602322" cy="1677010"/>
          </a:xfrm>
        </p:grpSpPr>
        <p:sp>
          <p:nvSpPr>
            <p:cNvPr name="Freeform 22" id="22"/>
            <p:cNvSpPr/>
            <p:nvPr/>
          </p:nvSpPr>
          <p:spPr>
            <a:xfrm flipH="false" flipV="false" rot="0">
              <a:off x="0" y="0"/>
              <a:ext cx="7602322" cy="1677010"/>
            </a:xfrm>
            <a:custGeom>
              <a:avLst/>
              <a:gdLst/>
              <a:ahLst/>
              <a:cxnLst/>
              <a:rect r="r" b="b" t="t" l="l"/>
              <a:pathLst>
                <a:path h="1677010" w="7602322">
                  <a:moveTo>
                    <a:pt x="0" y="0"/>
                  </a:moveTo>
                  <a:lnTo>
                    <a:pt x="7602322" y="0"/>
                  </a:lnTo>
                  <a:lnTo>
                    <a:pt x="7602322" y="1677010"/>
                  </a:lnTo>
                  <a:lnTo>
                    <a:pt x="0" y="1677010"/>
                  </a:lnTo>
                  <a:close/>
                </a:path>
              </a:pathLst>
            </a:custGeom>
            <a:blipFill>
              <a:blip r:embed="rId4">
                <a:alphaModFix amt="0"/>
              </a:blip>
              <a:stretch>
                <a:fillRect l="0" t="-38330" r="0" b="-38330"/>
              </a:stretch>
            </a:blipFill>
          </p:spPr>
          <p:txBody>
            <a:bodyPr/>
            <a:p/>
          </p:txBody>
        </p:sp>
        <p:sp>
          <p:nvSpPr>
            <p:cNvPr name="TextBox 23" id="23"/>
            <p:cNvSpPr txBox="true"/>
            <p:nvPr/>
          </p:nvSpPr>
          <p:spPr>
            <a:xfrm>
              <a:off x="0" y="-9525"/>
              <a:ext cx="7602322" cy="1686535"/>
            </a:xfrm>
            <a:prstGeom prst="rect">
              <a:avLst/>
            </a:prstGeom>
          </p:spPr>
          <p:txBody>
            <a:bodyPr anchor="ctr" rtlCol="false" tIns="0" lIns="0" bIns="0" rIns="0"/>
            <a:lstStyle/>
            <a:p>
              <a:pPr algn="l">
                <a:lnSpc>
                  <a:spcPts val="2340"/>
                </a:lnSpc>
              </a:pPr>
              <a:r>
                <a:rPr lang="en-US" sz="1950">
                  <a:solidFill>
                    <a:srgbClr val="FFFFFF"/>
                  </a:solidFill>
                  <a:latin typeface="Manrope"/>
                  <a:ea typeface="Manrope"/>
                  <a:cs typeface="Manrope"/>
                  <a:sym typeface="Manrope"/>
                </a:rPr>
                <a:t> Les maladies chroniques n'apparaissent pas </a:t>
              </a:r>
              <a:r>
                <a:rPr lang="en-US" sz="1950" i="true">
                  <a:solidFill>
                    <a:srgbClr val="FFFFFF"/>
                  </a:solidFill>
                  <a:latin typeface="Manrope"/>
                  <a:ea typeface="Manrope"/>
                  <a:cs typeface="Manrope"/>
                  <a:sym typeface="Manrope"/>
                </a:rPr>
                <a:t>avec</a:t>
              </a:r>
              <a:r>
                <a:rPr lang="en-US" sz="1950">
                  <a:solidFill>
                    <a:srgbClr val="FFFFFF"/>
                  </a:solidFill>
                  <a:latin typeface="Manrope"/>
                  <a:ea typeface="Manrope"/>
                  <a:cs typeface="Manrope"/>
                  <a:sym typeface="Manrope"/>
                </a:rPr>
                <a:t> l'âge, elles apparaissent </a:t>
              </a:r>
              <a:r>
                <a:rPr lang="en-US" sz="1950" b="true">
                  <a:solidFill>
                    <a:srgbClr val="FFFFFF"/>
                  </a:solidFill>
                  <a:latin typeface="Manrope Bold"/>
                  <a:ea typeface="Manrope Bold"/>
                  <a:cs typeface="Manrope Bold"/>
                  <a:sym typeface="Manrope Bold"/>
                </a:rPr>
                <a:t>à cause</a:t>
              </a:r>
              <a:r>
                <a:rPr lang="en-US" sz="1950">
                  <a:solidFill>
                    <a:srgbClr val="FFFFFF"/>
                  </a:solidFill>
                  <a:latin typeface="Manrope"/>
                  <a:ea typeface="Manrope"/>
                  <a:cs typeface="Manrope"/>
                  <a:sym typeface="Manrope"/>
                </a:rPr>
                <a:t> de l'âge. </a:t>
              </a:r>
            </a:p>
          </p:txBody>
        </p:sp>
      </p:grpSp>
      <p:grpSp>
        <p:nvGrpSpPr>
          <p:cNvPr name="Group 24" id="24"/>
          <p:cNvGrpSpPr/>
          <p:nvPr/>
        </p:nvGrpSpPr>
        <p:grpSpPr>
          <a:xfrm rot="0">
            <a:off x="857250" y="4394606"/>
            <a:ext cx="5586527" cy="1828343"/>
            <a:chOff x="0" y="0"/>
            <a:chExt cx="7448702" cy="2437790"/>
          </a:xfrm>
        </p:grpSpPr>
        <p:sp>
          <p:nvSpPr>
            <p:cNvPr name="Freeform 25" id="25"/>
            <p:cNvSpPr/>
            <p:nvPr/>
          </p:nvSpPr>
          <p:spPr>
            <a:xfrm flipH="false" flipV="false" rot="0">
              <a:off x="0" y="0"/>
              <a:ext cx="7448677" cy="2437765"/>
            </a:xfrm>
            <a:custGeom>
              <a:avLst/>
              <a:gdLst/>
              <a:ahLst/>
              <a:cxnLst/>
              <a:rect r="r" b="b" t="t" l="l"/>
              <a:pathLst>
                <a:path h="2437765" w="7448677">
                  <a:moveTo>
                    <a:pt x="0" y="0"/>
                  </a:moveTo>
                  <a:lnTo>
                    <a:pt x="7448677" y="0"/>
                  </a:lnTo>
                  <a:lnTo>
                    <a:pt x="7448677" y="2437765"/>
                  </a:lnTo>
                  <a:lnTo>
                    <a:pt x="0" y="2437765"/>
                  </a:lnTo>
                  <a:close/>
                </a:path>
              </a:pathLst>
            </a:custGeom>
            <a:solidFill>
              <a:srgbClr val="FFFFFF">
                <a:alpha val="0"/>
              </a:srgbClr>
            </a:solidFill>
          </p:spPr>
          <p:txBody>
            <a:bodyPr/>
            <a:p/>
          </p:txBody>
        </p:sp>
      </p:grpSp>
      <p:grpSp>
        <p:nvGrpSpPr>
          <p:cNvPr name="Group 26" id="26"/>
          <p:cNvGrpSpPr/>
          <p:nvPr/>
        </p:nvGrpSpPr>
        <p:grpSpPr>
          <a:xfrm rot="0">
            <a:off x="847725" y="4385081"/>
            <a:ext cx="61570" cy="1847393"/>
            <a:chOff x="0" y="0"/>
            <a:chExt cx="82093" cy="2463190"/>
          </a:xfrm>
        </p:grpSpPr>
        <p:sp>
          <p:nvSpPr>
            <p:cNvPr name="Freeform 27" id="27"/>
            <p:cNvSpPr/>
            <p:nvPr/>
          </p:nvSpPr>
          <p:spPr>
            <a:xfrm flipH="false" flipV="false" rot="0">
              <a:off x="12700" y="12700"/>
              <a:ext cx="56642" cy="2437765"/>
            </a:xfrm>
            <a:custGeom>
              <a:avLst/>
              <a:gdLst/>
              <a:ahLst/>
              <a:cxnLst/>
              <a:rect r="r" b="b" t="t" l="l"/>
              <a:pathLst>
                <a:path h="2437765" w="56642">
                  <a:moveTo>
                    <a:pt x="0" y="0"/>
                  </a:moveTo>
                  <a:lnTo>
                    <a:pt x="56642" y="0"/>
                  </a:lnTo>
                  <a:lnTo>
                    <a:pt x="56642" y="2437765"/>
                  </a:lnTo>
                  <a:lnTo>
                    <a:pt x="0" y="2437765"/>
                  </a:lnTo>
                  <a:close/>
                </a:path>
              </a:pathLst>
            </a:custGeom>
            <a:solidFill>
              <a:srgbClr val="FFFFFF"/>
            </a:solidFill>
          </p:spPr>
          <p:txBody>
            <a:bodyPr/>
            <a:p/>
          </p:txBody>
        </p:sp>
      </p:grpSp>
      <p:grpSp>
        <p:nvGrpSpPr>
          <p:cNvPr name="Group 28" id="28"/>
          <p:cNvGrpSpPr/>
          <p:nvPr/>
        </p:nvGrpSpPr>
        <p:grpSpPr>
          <a:xfrm rot="0">
            <a:off x="1186434" y="4679899"/>
            <a:ext cx="5087264" cy="1257758"/>
            <a:chOff x="0" y="0"/>
            <a:chExt cx="6783019" cy="1677010"/>
          </a:xfrm>
        </p:grpSpPr>
        <p:sp>
          <p:nvSpPr>
            <p:cNvPr name="Freeform 29" id="29"/>
            <p:cNvSpPr/>
            <p:nvPr/>
          </p:nvSpPr>
          <p:spPr>
            <a:xfrm flipH="false" flipV="false" rot="0">
              <a:off x="0" y="0"/>
              <a:ext cx="6783020" cy="1677010"/>
            </a:xfrm>
            <a:custGeom>
              <a:avLst/>
              <a:gdLst/>
              <a:ahLst/>
              <a:cxnLst/>
              <a:rect r="r" b="b" t="t" l="l"/>
              <a:pathLst>
                <a:path h="1677010" w="6783020">
                  <a:moveTo>
                    <a:pt x="0" y="0"/>
                  </a:moveTo>
                  <a:lnTo>
                    <a:pt x="6783020" y="0"/>
                  </a:lnTo>
                  <a:lnTo>
                    <a:pt x="6783020" y="1677010"/>
                  </a:lnTo>
                  <a:lnTo>
                    <a:pt x="0" y="1677010"/>
                  </a:lnTo>
                  <a:close/>
                </a:path>
              </a:pathLst>
            </a:custGeom>
            <a:blipFill>
              <a:blip r:embed="rId4">
                <a:alphaModFix amt="0"/>
              </a:blip>
              <a:stretch>
                <a:fillRect l="0" t="-28811" r="0" b="-28811"/>
              </a:stretch>
            </a:blipFill>
          </p:spPr>
          <p:txBody>
            <a:bodyPr/>
            <a:p/>
          </p:txBody>
        </p:sp>
        <p:sp>
          <p:nvSpPr>
            <p:cNvPr name="TextBox 30" id="30"/>
            <p:cNvSpPr txBox="true"/>
            <p:nvPr/>
          </p:nvSpPr>
          <p:spPr>
            <a:xfrm>
              <a:off x="0" y="-9525"/>
              <a:ext cx="6783019" cy="1686535"/>
            </a:xfrm>
            <a:prstGeom prst="rect">
              <a:avLst/>
            </a:prstGeom>
          </p:spPr>
          <p:txBody>
            <a:bodyPr anchor="ctr" rtlCol="false" tIns="0" lIns="0" bIns="0" rIns="0"/>
            <a:lstStyle/>
            <a:p>
              <a:pPr algn="l">
                <a:lnSpc>
                  <a:spcPts val="1800"/>
                </a:lnSpc>
              </a:pPr>
              <a:r>
                <a:rPr lang="en-US" sz="1500" b="true">
                  <a:solidFill>
                    <a:srgbClr val="FFFFFF"/>
                  </a:solidFill>
                  <a:latin typeface="Manrope Bold"/>
                  <a:ea typeface="Manrope Bold"/>
                  <a:cs typeface="Manrope Bold"/>
                  <a:sym typeface="Manrope Bold"/>
                </a:rPr>
                <a:t>CHANGEMENT DE PARADIGME</a:t>
              </a:r>
              <a:r>
                <a:rPr lang="en-US" sz="1500">
                  <a:solidFill>
                    <a:srgbClr val="D1D5DB"/>
                  </a:solidFill>
                  <a:latin typeface="Manrope"/>
                  <a:ea typeface="Manrope"/>
                  <a:cs typeface="Manrope"/>
                  <a:sym typeface="Manrope"/>
                </a:rPr>
                <a:t> </a:t>
              </a:r>
            </a:p>
            <a:p>
              <a:pPr algn="l">
                <a:lnSpc>
                  <a:spcPts val="1800"/>
                </a:lnSpc>
              </a:pPr>
              <a:r>
                <a:rPr lang="en-US" sz="1500">
                  <a:solidFill>
                    <a:srgbClr val="D1D5DB"/>
                  </a:solidFill>
                  <a:latin typeface="Manrope"/>
                  <a:ea typeface="Manrope"/>
                  <a:cs typeface="Manrope"/>
                  <a:sym typeface="Manrope"/>
                </a:rPr>
                <a:t>Nous ne traitons plus les symptômes isolés. </a:t>
              </a:r>
            </a:p>
            <a:p>
              <a:pPr algn="l">
                <a:lnSpc>
                  <a:spcPts val="1800"/>
                </a:lnSpc>
              </a:pPr>
              <a:r>
                <a:rPr lang="en-US" sz="1500">
                  <a:solidFill>
                    <a:srgbClr val="D1D5DB"/>
                  </a:solidFill>
                  <a:latin typeface="Manrope"/>
                  <a:ea typeface="Manrope"/>
                  <a:cs typeface="Manrope"/>
                  <a:sym typeface="Manrope"/>
                </a:rPr>
                <a:t>Nous ciblons le mécanisme fondamental du vieillissement lui-même. </a:t>
              </a:r>
            </a:p>
          </p:txBody>
        </p:sp>
      </p:grpSp>
      <p:grpSp>
        <p:nvGrpSpPr>
          <p:cNvPr name="Group 31" id="31"/>
          <p:cNvGrpSpPr/>
          <p:nvPr/>
        </p:nvGrpSpPr>
        <p:grpSpPr>
          <a:xfrm rot="0">
            <a:off x="857250" y="6794906"/>
            <a:ext cx="5757977" cy="293380"/>
            <a:chOff x="0" y="0"/>
            <a:chExt cx="7677302" cy="391173"/>
          </a:xfrm>
        </p:grpSpPr>
        <p:sp>
          <p:nvSpPr>
            <p:cNvPr name="Freeform 32" id="32"/>
            <p:cNvSpPr/>
            <p:nvPr/>
          </p:nvSpPr>
          <p:spPr>
            <a:xfrm flipH="false" flipV="false" rot="0">
              <a:off x="0" y="0"/>
              <a:ext cx="7677302" cy="391173"/>
            </a:xfrm>
            <a:custGeom>
              <a:avLst/>
              <a:gdLst/>
              <a:ahLst/>
              <a:cxnLst/>
              <a:rect r="r" b="b" t="t" l="l"/>
              <a:pathLst>
                <a:path h="391173" w="7677302">
                  <a:moveTo>
                    <a:pt x="0" y="0"/>
                  </a:moveTo>
                  <a:lnTo>
                    <a:pt x="7677302" y="0"/>
                  </a:lnTo>
                  <a:lnTo>
                    <a:pt x="7677302" y="391173"/>
                  </a:lnTo>
                  <a:lnTo>
                    <a:pt x="0" y="391173"/>
                  </a:lnTo>
                  <a:close/>
                </a:path>
              </a:pathLst>
            </a:custGeom>
            <a:blipFill>
              <a:blip r:embed="rId4">
                <a:alphaModFix amt="0"/>
              </a:blip>
              <a:stretch>
                <a:fillRect l="0" t="-343382" r="0" b="-321457"/>
              </a:stretch>
            </a:blipFill>
          </p:spPr>
          <p:txBody>
            <a:bodyPr/>
            <a:p/>
          </p:txBody>
        </p:sp>
        <p:sp>
          <p:nvSpPr>
            <p:cNvPr name="TextBox 33" id="33"/>
            <p:cNvSpPr txBox="true"/>
            <p:nvPr/>
          </p:nvSpPr>
          <p:spPr>
            <a:xfrm>
              <a:off x="0" y="0"/>
              <a:ext cx="76773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Impact sur la Mortalité</a:t>
              </a:r>
            </a:p>
          </p:txBody>
        </p:sp>
      </p:grpSp>
      <p:grpSp>
        <p:nvGrpSpPr>
          <p:cNvPr name="Group 34" id="34"/>
          <p:cNvGrpSpPr/>
          <p:nvPr/>
        </p:nvGrpSpPr>
        <p:grpSpPr>
          <a:xfrm rot="0">
            <a:off x="857250" y="7251649"/>
            <a:ext cx="3043580" cy="293380"/>
            <a:chOff x="0" y="0"/>
            <a:chExt cx="4058107" cy="391173"/>
          </a:xfrm>
        </p:grpSpPr>
        <p:sp>
          <p:nvSpPr>
            <p:cNvPr name="Freeform 35" id="35"/>
            <p:cNvSpPr/>
            <p:nvPr/>
          </p:nvSpPr>
          <p:spPr>
            <a:xfrm flipH="false" flipV="false" rot="0">
              <a:off x="0" y="0"/>
              <a:ext cx="4058108" cy="391172"/>
            </a:xfrm>
            <a:custGeom>
              <a:avLst/>
              <a:gdLst/>
              <a:ahLst/>
              <a:cxnLst/>
              <a:rect r="r" b="b" t="t" l="l"/>
              <a:pathLst>
                <a:path h="391172" w="4058108">
                  <a:moveTo>
                    <a:pt x="0" y="0"/>
                  </a:moveTo>
                  <a:lnTo>
                    <a:pt x="4058108" y="0"/>
                  </a:lnTo>
                  <a:lnTo>
                    <a:pt x="4058108" y="391172"/>
                  </a:lnTo>
                  <a:lnTo>
                    <a:pt x="0" y="391172"/>
                  </a:lnTo>
                  <a:close/>
                </a:path>
              </a:pathLst>
            </a:custGeom>
            <a:blipFill>
              <a:blip r:embed="rId4">
                <a:alphaModFix amt="0"/>
              </a:blip>
              <a:stretch>
                <a:fillRect l="0" t="-158195" r="0" b="-146088"/>
              </a:stretch>
            </a:blipFill>
          </p:spPr>
          <p:txBody>
            <a:bodyPr/>
            <a:p/>
          </p:txBody>
        </p:sp>
        <p:sp>
          <p:nvSpPr>
            <p:cNvPr name="TextBox 36" id="36"/>
            <p:cNvSpPr txBox="true"/>
            <p:nvPr/>
          </p:nvSpPr>
          <p:spPr>
            <a:xfrm>
              <a:off x="0" y="0"/>
              <a:ext cx="4058107"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Tabac / Obésité / Hypertension</a:t>
              </a:r>
            </a:p>
          </p:txBody>
        </p:sp>
      </p:grpSp>
      <p:grpSp>
        <p:nvGrpSpPr>
          <p:cNvPr name="Group 37" id="37"/>
          <p:cNvGrpSpPr/>
          <p:nvPr/>
        </p:nvGrpSpPr>
        <p:grpSpPr>
          <a:xfrm rot="0">
            <a:off x="5401361" y="7251649"/>
            <a:ext cx="1241298" cy="293380"/>
            <a:chOff x="0" y="0"/>
            <a:chExt cx="1655064" cy="391173"/>
          </a:xfrm>
        </p:grpSpPr>
        <p:sp>
          <p:nvSpPr>
            <p:cNvPr name="Freeform 38" id="38"/>
            <p:cNvSpPr/>
            <p:nvPr/>
          </p:nvSpPr>
          <p:spPr>
            <a:xfrm flipH="false" flipV="false" rot="0">
              <a:off x="0" y="0"/>
              <a:ext cx="1655064" cy="391172"/>
            </a:xfrm>
            <a:custGeom>
              <a:avLst/>
              <a:gdLst/>
              <a:ahLst/>
              <a:cxnLst/>
              <a:rect r="r" b="b" t="t" l="l"/>
              <a:pathLst>
                <a:path h="391172" w="1655064">
                  <a:moveTo>
                    <a:pt x="0" y="0"/>
                  </a:moveTo>
                  <a:lnTo>
                    <a:pt x="1655064" y="0"/>
                  </a:lnTo>
                  <a:lnTo>
                    <a:pt x="1655064" y="391172"/>
                  </a:lnTo>
                  <a:lnTo>
                    <a:pt x="0" y="391172"/>
                  </a:lnTo>
                  <a:close/>
                </a:path>
              </a:pathLst>
            </a:custGeom>
            <a:blipFill>
              <a:blip r:embed="rId4">
                <a:alphaModFix amt="0"/>
              </a:blip>
              <a:stretch>
                <a:fillRect l="0" t="-38495" r="0" b="-26388"/>
              </a:stretch>
            </a:blipFill>
          </p:spPr>
          <p:txBody>
            <a:bodyPr/>
            <a:p/>
          </p:txBody>
        </p:sp>
        <p:sp>
          <p:nvSpPr>
            <p:cNvPr name="TextBox 39" id="39"/>
            <p:cNvSpPr txBox="true"/>
            <p:nvPr/>
          </p:nvSpPr>
          <p:spPr>
            <a:xfrm>
              <a:off x="0" y="0"/>
              <a:ext cx="1655064"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Risque Élevé</a:t>
              </a:r>
            </a:p>
          </p:txBody>
        </p:sp>
      </p:grpSp>
      <p:grpSp>
        <p:nvGrpSpPr>
          <p:cNvPr name="Group 40" id="40"/>
          <p:cNvGrpSpPr/>
          <p:nvPr/>
        </p:nvGrpSpPr>
        <p:grpSpPr>
          <a:xfrm rot="0">
            <a:off x="857250" y="7594549"/>
            <a:ext cx="5586527" cy="113843"/>
            <a:chOff x="0" y="0"/>
            <a:chExt cx="7448702" cy="151790"/>
          </a:xfrm>
        </p:grpSpPr>
        <p:sp>
          <p:nvSpPr>
            <p:cNvPr name="Freeform 41" id="41" descr="preencoded.png"/>
            <p:cNvSpPr/>
            <p:nvPr/>
          </p:nvSpPr>
          <p:spPr>
            <a:xfrm flipH="false" flipV="false" rot="0">
              <a:off x="0" y="0"/>
              <a:ext cx="7448677" cy="151765"/>
            </a:xfrm>
            <a:custGeom>
              <a:avLst/>
              <a:gdLst/>
              <a:ahLst/>
              <a:cxnLst/>
              <a:rect r="r" b="b" t="t" l="l"/>
              <a:pathLst>
                <a:path h="151765" w="7448677">
                  <a:moveTo>
                    <a:pt x="0" y="0"/>
                  </a:moveTo>
                  <a:lnTo>
                    <a:pt x="7448677" y="0"/>
                  </a:lnTo>
                  <a:lnTo>
                    <a:pt x="7448677" y="151765"/>
                  </a:lnTo>
                  <a:lnTo>
                    <a:pt x="0" y="151765"/>
                  </a:lnTo>
                  <a:lnTo>
                    <a:pt x="0" y="0"/>
                  </a:lnTo>
                  <a:close/>
                </a:path>
              </a:pathLst>
            </a:custGeom>
            <a:blipFill>
              <a:blip r:embed="rId5"/>
              <a:stretch>
                <a:fillRect l="201" t="0" r="200" b="-16"/>
              </a:stretch>
            </a:blipFill>
          </p:spPr>
          <p:txBody>
            <a:bodyPr/>
            <a:p/>
          </p:txBody>
        </p:sp>
      </p:grpSp>
      <p:grpSp>
        <p:nvGrpSpPr>
          <p:cNvPr name="Group 42" id="42"/>
          <p:cNvGrpSpPr/>
          <p:nvPr/>
        </p:nvGrpSpPr>
        <p:grpSpPr>
          <a:xfrm rot="0">
            <a:off x="857250" y="7594549"/>
            <a:ext cx="2514143" cy="113843"/>
            <a:chOff x="0" y="0"/>
            <a:chExt cx="3352190" cy="151790"/>
          </a:xfrm>
        </p:grpSpPr>
        <p:sp>
          <p:nvSpPr>
            <p:cNvPr name="Freeform 43" id="43" descr="preencoded.png"/>
            <p:cNvSpPr/>
            <p:nvPr/>
          </p:nvSpPr>
          <p:spPr>
            <a:xfrm flipH="false" flipV="false" rot="0">
              <a:off x="0" y="0"/>
              <a:ext cx="3352165" cy="151765"/>
            </a:xfrm>
            <a:custGeom>
              <a:avLst/>
              <a:gdLst/>
              <a:ahLst/>
              <a:cxnLst/>
              <a:rect r="r" b="b" t="t" l="l"/>
              <a:pathLst>
                <a:path h="151765" w="3352165">
                  <a:moveTo>
                    <a:pt x="0" y="0"/>
                  </a:moveTo>
                  <a:lnTo>
                    <a:pt x="3352165" y="0"/>
                  </a:lnTo>
                  <a:lnTo>
                    <a:pt x="3352165" y="151765"/>
                  </a:lnTo>
                  <a:lnTo>
                    <a:pt x="0" y="151765"/>
                  </a:lnTo>
                  <a:lnTo>
                    <a:pt x="0" y="0"/>
                  </a:lnTo>
                  <a:close/>
                </a:path>
              </a:pathLst>
            </a:custGeom>
            <a:blipFill>
              <a:blip r:embed="rId6"/>
              <a:stretch>
                <a:fillRect l="208" t="0" r="173" b="-16"/>
              </a:stretch>
            </a:blipFill>
          </p:spPr>
          <p:txBody>
            <a:bodyPr/>
            <a:p/>
          </p:txBody>
        </p:sp>
      </p:grpSp>
      <p:grpSp>
        <p:nvGrpSpPr>
          <p:cNvPr name="Group 44" id="44"/>
          <p:cNvGrpSpPr/>
          <p:nvPr/>
        </p:nvGrpSpPr>
        <p:grpSpPr>
          <a:xfrm rot="0">
            <a:off x="857250" y="7995056"/>
            <a:ext cx="1479956" cy="293380"/>
            <a:chOff x="0" y="0"/>
            <a:chExt cx="1973275" cy="391173"/>
          </a:xfrm>
        </p:grpSpPr>
        <p:sp>
          <p:nvSpPr>
            <p:cNvPr name="Freeform 45" id="45"/>
            <p:cNvSpPr/>
            <p:nvPr/>
          </p:nvSpPr>
          <p:spPr>
            <a:xfrm flipH="false" flipV="false" rot="0">
              <a:off x="0" y="0"/>
              <a:ext cx="1973276" cy="391172"/>
            </a:xfrm>
            <a:custGeom>
              <a:avLst/>
              <a:gdLst/>
              <a:ahLst/>
              <a:cxnLst/>
              <a:rect r="r" b="b" t="t" l="l"/>
              <a:pathLst>
                <a:path h="391172" w="1973276">
                  <a:moveTo>
                    <a:pt x="0" y="0"/>
                  </a:moveTo>
                  <a:lnTo>
                    <a:pt x="1973276" y="0"/>
                  </a:lnTo>
                  <a:lnTo>
                    <a:pt x="1973276" y="391172"/>
                  </a:lnTo>
                  <a:lnTo>
                    <a:pt x="0" y="391172"/>
                  </a:lnTo>
                  <a:close/>
                </a:path>
              </a:pathLst>
            </a:custGeom>
            <a:blipFill>
              <a:blip r:embed="rId4">
                <a:alphaModFix amt="0"/>
              </a:blip>
              <a:stretch>
                <a:fillRect l="0" t="-54345" r="0" b="-42239"/>
              </a:stretch>
            </a:blipFill>
          </p:spPr>
          <p:txBody>
            <a:bodyPr/>
            <a:p/>
          </p:txBody>
        </p:sp>
        <p:sp>
          <p:nvSpPr>
            <p:cNvPr name="TextBox 46" id="46"/>
            <p:cNvSpPr txBox="true"/>
            <p:nvPr/>
          </p:nvSpPr>
          <p:spPr>
            <a:xfrm>
              <a:off x="0" y="0"/>
              <a:ext cx="1973275"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Âge Biologique</a:t>
              </a:r>
            </a:p>
          </p:txBody>
        </p:sp>
      </p:grpSp>
      <p:grpSp>
        <p:nvGrpSpPr>
          <p:cNvPr name="Group 47" id="47"/>
          <p:cNvGrpSpPr/>
          <p:nvPr/>
        </p:nvGrpSpPr>
        <p:grpSpPr>
          <a:xfrm rot="0">
            <a:off x="5192878" y="7995056"/>
            <a:ext cx="1496416" cy="293380"/>
            <a:chOff x="0" y="0"/>
            <a:chExt cx="1995221" cy="391173"/>
          </a:xfrm>
        </p:grpSpPr>
        <p:sp>
          <p:nvSpPr>
            <p:cNvPr name="Freeform 48" id="48"/>
            <p:cNvSpPr/>
            <p:nvPr/>
          </p:nvSpPr>
          <p:spPr>
            <a:xfrm flipH="false" flipV="false" rot="0">
              <a:off x="0" y="0"/>
              <a:ext cx="1995220" cy="391172"/>
            </a:xfrm>
            <a:custGeom>
              <a:avLst/>
              <a:gdLst/>
              <a:ahLst/>
              <a:cxnLst/>
              <a:rect r="r" b="b" t="t" l="l"/>
              <a:pathLst>
                <a:path h="391172" w="1995220">
                  <a:moveTo>
                    <a:pt x="0" y="0"/>
                  </a:moveTo>
                  <a:lnTo>
                    <a:pt x="1995220" y="0"/>
                  </a:lnTo>
                  <a:lnTo>
                    <a:pt x="1995220" y="391172"/>
                  </a:lnTo>
                  <a:lnTo>
                    <a:pt x="0" y="391172"/>
                  </a:lnTo>
                  <a:close/>
                </a:path>
              </a:pathLst>
            </a:custGeom>
            <a:blipFill>
              <a:blip r:embed="rId4">
                <a:alphaModFix amt="0"/>
              </a:blip>
              <a:stretch>
                <a:fillRect l="0" t="-55439" r="0" b="-43332"/>
              </a:stretch>
            </a:blipFill>
          </p:spPr>
          <p:txBody>
            <a:bodyPr/>
            <a:p/>
          </p:txBody>
        </p:sp>
        <p:sp>
          <p:nvSpPr>
            <p:cNvPr name="TextBox 49" id="49"/>
            <p:cNvSpPr txBox="true"/>
            <p:nvPr/>
          </p:nvSpPr>
          <p:spPr>
            <a:xfrm>
              <a:off x="0" y="0"/>
              <a:ext cx="1995221"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Risque Critique</a:t>
              </a:r>
            </a:p>
          </p:txBody>
        </p:sp>
      </p:grpSp>
      <p:grpSp>
        <p:nvGrpSpPr>
          <p:cNvPr name="Group 50" id="50"/>
          <p:cNvGrpSpPr/>
          <p:nvPr/>
        </p:nvGrpSpPr>
        <p:grpSpPr>
          <a:xfrm rot="0">
            <a:off x="857250" y="8337956"/>
            <a:ext cx="5586527" cy="113843"/>
            <a:chOff x="0" y="0"/>
            <a:chExt cx="7448702" cy="151790"/>
          </a:xfrm>
        </p:grpSpPr>
        <p:sp>
          <p:nvSpPr>
            <p:cNvPr name="Freeform 51" id="51" descr="preencoded.png"/>
            <p:cNvSpPr/>
            <p:nvPr/>
          </p:nvSpPr>
          <p:spPr>
            <a:xfrm flipH="false" flipV="false" rot="0">
              <a:off x="0" y="0"/>
              <a:ext cx="7448677" cy="151765"/>
            </a:xfrm>
            <a:custGeom>
              <a:avLst/>
              <a:gdLst/>
              <a:ahLst/>
              <a:cxnLst/>
              <a:rect r="r" b="b" t="t" l="l"/>
              <a:pathLst>
                <a:path h="151765" w="7448677">
                  <a:moveTo>
                    <a:pt x="0" y="0"/>
                  </a:moveTo>
                  <a:lnTo>
                    <a:pt x="7448677" y="0"/>
                  </a:lnTo>
                  <a:lnTo>
                    <a:pt x="7448677" y="151765"/>
                  </a:lnTo>
                  <a:lnTo>
                    <a:pt x="0" y="151765"/>
                  </a:lnTo>
                  <a:lnTo>
                    <a:pt x="0" y="0"/>
                  </a:lnTo>
                  <a:close/>
                </a:path>
              </a:pathLst>
            </a:custGeom>
            <a:blipFill>
              <a:blip r:embed="rId5"/>
              <a:stretch>
                <a:fillRect l="201" t="0" r="200" b="-16"/>
              </a:stretch>
            </a:blipFill>
          </p:spPr>
          <p:txBody>
            <a:bodyPr/>
            <a:p/>
          </p:txBody>
        </p:sp>
      </p:grpSp>
      <p:grpSp>
        <p:nvGrpSpPr>
          <p:cNvPr name="Group 52" id="52"/>
          <p:cNvGrpSpPr/>
          <p:nvPr/>
        </p:nvGrpSpPr>
        <p:grpSpPr>
          <a:xfrm rot="0">
            <a:off x="857250" y="8337956"/>
            <a:ext cx="5306720" cy="113843"/>
            <a:chOff x="0" y="0"/>
            <a:chExt cx="7075627" cy="151790"/>
          </a:xfrm>
        </p:grpSpPr>
        <p:sp>
          <p:nvSpPr>
            <p:cNvPr name="Freeform 53" id="53" descr="preencoded.png"/>
            <p:cNvSpPr/>
            <p:nvPr/>
          </p:nvSpPr>
          <p:spPr>
            <a:xfrm flipH="false" flipV="false" rot="0">
              <a:off x="0" y="0"/>
              <a:ext cx="7075678" cy="151765"/>
            </a:xfrm>
            <a:custGeom>
              <a:avLst/>
              <a:gdLst/>
              <a:ahLst/>
              <a:cxnLst/>
              <a:rect r="r" b="b" t="t" l="l"/>
              <a:pathLst>
                <a:path h="151765" w="7075678">
                  <a:moveTo>
                    <a:pt x="0" y="0"/>
                  </a:moveTo>
                  <a:lnTo>
                    <a:pt x="7075678" y="0"/>
                  </a:lnTo>
                  <a:lnTo>
                    <a:pt x="7075678" y="151765"/>
                  </a:lnTo>
                  <a:lnTo>
                    <a:pt x="0" y="151765"/>
                  </a:lnTo>
                  <a:lnTo>
                    <a:pt x="0" y="0"/>
                  </a:lnTo>
                  <a:close/>
                </a:path>
              </a:pathLst>
            </a:custGeom>
            <a:blipFill>
              <a:blip r:embed="rId7"/>
              <a:stretch>
                <a:fillRect l="198" t="0" r="199" b="-41"/>
              </a:stretch>
            </a:blipFill>
          </p:spPr>
          <p:txBody>
            <a:bodyPr/>
            <a:p/>
          </p:txBody>
        </p:sp>
      </p:grpSp>
      <p:grpSp>
        <p:nvGrpSpPr>
          <p:cNvPr name="Group 54" id="54"/>
          <p:cNvGrpSpPr/>
          <p:nvPr/>
        </p:nvGrpSpPr>
        <p:grpSpPr>
          <a:xfrm rot="0">
            <a:off x="8458657" y="781812"/>
            <a:ext cx="3507181" cy="1218800"/>
            <a:chOff x="0" y="0"/>
            <a:chExt cx="4676242" cy="1625067"/>
          </a:xfrm>
        </p:grpSpPr>
        <p:sp>
          <p:nvSpPr>
            <p:cNvPr name="Freeform 55" id="55"/>
            <p:cNvSpPr/>
            <p:nvPr/>
          </p:nvSpPr>
          <p:spPr>
            <a:xfrm flipH="false" flipV="false" rot="0">
              <a:off x="0" y="0"/>
              <a:ext cx="4676242" cy="1625067"/>
            </a:xfrm>
            <a:custGeom>
              <a:avLst/>
              <a:gdLst/>
              <a:ahLst/>
              <a:cxnLst/>
              <a:rect r="r" b="b" t="t" l="l"/>
              <a:pathLst>
                <a:path h="1625067" w="4676242">
                  <a:moveTo>
                    <a:pt x="0" y="0"/>
                  </a:moveTo>
                  <a:lnTo>
                    <a:pt x="4676242" y="0"/>
                  </a:lnTo>
                  <a:lnTo>
                    <a:pt x="4676242" y="1625067"/>
                  </a:lnTo>
                  <a:lnTo>
                    <a:pt x="0" y="1625067"/>
                  </a:lnTo>
                  <a:close/>
                </a:path>
              </a:pathLst>
            </a:custGeom>
            <a:blipFill>
              <a:blip r:embed="rId4">
                <a:alphaModFix amt="0"/>
              </a:blip>
              <a:stretch>
                <a:fillRect l="0" t="-13868" r="0" b="1729"/>
              </a:stretch>
            </a:blipFill>
          </p:spPr>
          <p:txBody>
            <a:bodyPr/>
            <a:p/>
          </p:txBody>
        </p:sp>
        <p:sp>
          <p:nvSpPr>
            <p:cNvPr name="TextBox 56" id="56"/>
            <p:cNvSpPr txBox="true"/>
            <p:nvPr/>
          </p:nvSpPr>
          <p:spPr>
            <a:xfrm>
              <a:off x="0" y="0"/>
              <a:ext cx="4676242" cy="1625067"/>
            </a:xfrm>
            <a:prstGeom prst="rect">
              <a:avLst/>
            </a:prstGeom>
          </p:spPr>
          <p:txBody>
            <a:bodyPr anchor="ctr" rtlCol="false" tIns="0" lIns="0" bIns="0" rIns="0"/>
            <a:lstStyle/>
            <a:p>
              <a:pPr algn="l">
                <a:lnSpc>
                  <a:spcPts val="3960"/>
                </a:lnSpc>
              </a:pPr>
              <a:r>
                <a:rPr lang="en-US" sz="3300" b="true">
                  <a:solidFill>
                    <a:srgbClr val="FFFFFF"/>
                  </a:solidFill>
                  <a:latin typeface="Manrope Bold"/>
                  <a:ea typeface="Manrope Bold"/>
                  <a:cs typeface="Manrope Bold"/>
                  <a:sym typeface="Manrope Bold"/>
                </a:rPr>
                <a:t>Les 5 Cavaliers</a:t>
              </a:r>
            </a:p>
            <a:p>
              <a:pPr algn="l">
                <a:lnSpc>
                  <a:spcPts val="3960"/>
                </a:lnSpc>
              </a:pPr>
              <a:r>
                <a:rPr lang="en-US" sz="3300" b="true">
                  <a:solidFill>
                    <a:srgbClr val="FFFFFF"/>
                  </a:solidFill>
                  <a:latin typeface="Manrope Bold"/>
                  <a:ea typeface="Manrope Bold"/>
                  <a:cs typeface="Manrope Bold"/>
                  <a:sym typeface="Manrope Bold"/>
                </a:rPr>
                <a:t>du Vieillissement</a:t>
              </a:r>
            </a:p>
          </p:txBody>
        </p:sp>
      </p:grpSp>
      <p:grpSp>
        <p:nvGrpSpPr>
          <p:cNvPr name="Group 57" id="57"/>
          <p:cNvGrpSpPr/>
          <p:nvPr/>
        </p:nvGrpSpPr>
        <p:grpSpPr>
          <a:xfrm rot="0">
            <a:off x="16190366" y="1525219"/>
            <a:ext cx="957377" cy="332327"/>
            <a:chOff x="0" y="0"/>
            <a:chExt cx="1276502" cy="443103"/>
          </a:xfrm>
        </p:grpSpPr>
        <p:sp>
          <p:nvSpPr>
            <p:cNvPr name="Freeform 58" id="58"/>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4">
                <a:alphaModFix amt="0"/>
              </a:blip>
              <a:stretch>
                <a:fillRect l="0" t="-13003" r="0" b="737"/>
              </a:stretch>
            </a:blipFill>
          </p:spPr>
          <p:txBody>
            <a:bodyPr/>
            <a:p/>
          </p:txBody>
        </p:sp>
        <p:sp>
          <p:nvSpPr>
            <p:cNvPr name="TextBox 59" id="59"/>
            <p:cNvSpPr txBox="true"/>
            <p:nvPr/>
          </p:nvSpPr>
          <p:spPr>
            <a:xfrm>
              <a:off x="0" y="-9525"/>
              <a:ext cx="1276502" cy="452628"/>
            </a:xfrm>
            <a:prstGeom prst="rect">
              <a:avLst/>
            </a:prstGeom>
          </p:spPr>
          <p:txBody>
            <a:bodyPr anchor="ctr" rtlCol="false" tIns="0" lIns="0" bIns="0" rIns="0"/>
            <a:lstStyle/>
            <a:p>
              <a:pPr algn="r">
                <a:lnSpc>
                  <a:spcPts val="1800"/>
                </a:lnSpc>
              </a:pPr>
              <a:r>
                <a:rPr lang="en-US" sz="1500">
                  <a:solidFill>
                    <a:srgbClr val="6B7280"/>
                  </a:solidFill>
                  <a:latin typeface="Manrope"/>
                  <a:ea typeface="Manrope"/>
                  <a:cs typeface="Manrope"/>
                  <a:sym typeface="Manrope"/>
                </a:rPr>
                <a:t>05 / 14</a:t>
              </a:r>
            </a:p>
          </p:txBody>
        </p:sp>
      </p:grpSp>
      <p:grpSp>
        <p:nvGrpSpPr>
          <p:cNvPr name="Group 60" id="60"/>
          <p:cNvGrpSpPr/>
          <p:nvPr/>
        </p:nvGrpSpPr>
        <p:grpSpPr>
          <a:xfrm rot="0">
            <a:off x="8458657" y="2950312"/>
            <a:ext cx="685800" cy="332327"/>
            <a:chOff x="0" y="0"/>
            <a:chExt cx="914400" cy="443103"/>
          </a:xfrm>
        </p:grpSpPr>
        <p:sp>
          <p:nvSpPr>
            <p:cNvPr name="Freeform 61" id="61"/>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62" id="62"/>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6E7180"/>
                  </a:solidFill>
                  <a:latin typeface="Manrope Bold"/>
                  <a:ea typeface="Manrope Bold"/>
                  <a:cs typeface="Manrope Bold"/>
                  <a:sym typeface="Manrope Bold"/>
                </a:rPr>
                <a:t>01</a:t>
              </a:r>
            </a:p>
          </p:txBody>
        </p:sp>
      </p:grpSp>
      <p:grpSp>
        <p:nvGrpSpPr>
          <p:cNvPr name="Group 63" id="63"/>
          <p:cNvGrpSpPr/>
          <p:nvPr/>
        </p:nvGrpSpPr>
        <p:grpSpPr>
          <a:xfrm rot="0">
            <a:off x="9019718" y="2747391"/>
            <a:ext cx="704850" cy="704850"/>
            <a:chOff x="0" y="0"/>
            <a:chExt cx="939800" cy="939800"/>
          </a:xfrm>
        </p:grpSpPr>
        <p:sp>
          <p:nvSpPr>
            <p:cNvPr name="Freeform 64" id="64"/>
            <p:cNvSpPr/>
            <p:nvPr/>
          </p:nvSpPr>
          <p:spPr>
            <a:xfrm flipH="false" flipV="false" rot="0">
              <a:off x="12700" y="1270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1E24"/>
            </a:solidFill>
          </p:spPr>
          <p:txBody>
            <a:bodyPr/>
            <a:p/>
          </p:txBody>
        </p:sp>
        <p:sp>
          <p:nvSpPr>
            <p:cNvPr name="Freeform 65" id="65"/>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lnTo>
                    <a:pt x="469900" y="12700"/>
                  </a:lnTo>
                  <a:lnTo>
                    <a:pt x="469900" y="0"/>
                  </a:lnTo>
                  <a:cubicBezTo>
                    <a:pt x="729361" y="0"/>
                    <a:pt x="939800" y="210439"/>
                    <a:pt x="939800" y="469900"/>
                  </a:cubicBezTo>
                  <a:lnTo>
                    <a:pt x="927100" y="469900"/>
                  </a:lnTo>
                  <a:lnTo>
                    <a:pt x="939800" y="469900"/>
                  </a:lnTo>
                  <a:cubicBezTo>
                    <a:pt x="939800" y="729361"/>
                    <a:pt x="729361" y="939800"/>
                    <a:pt x="469900" y="939800"/>
                  </a:cubicBezTo>
                  <a:lnTo>
                    <a:pt x="469900" y="927100"/>
                  </a:lnTo>
                  <a:lnTo>
                    <a:pt x="469900" y="939800"/>
                  </a:lnTo>
                  <a:cubicBezTo>
                    <a:pt x="210439" y="939800"/>
                    <a:pt x="0" y="729361"/>
                    <a:pt x="0" y="469900"/>
                  </a:cubicBezTo>
                  <a:lnTo>
                    <a:pt x="12700" y="469900"/>
                  </a:lnTo>
                  <a:lnTo>
                    <a:pt x="23495" y="476631"/>
                  </a:lnTo>
                  <a:cubicBezTo>
                    <a:pt x="20447" y="481457"/>
                    <a:pt x="14732" y="483616"/>
                    <a:pt x="9271" y="482092"/>
                  </a:cubicBezTo>
                  <a:cubicBezTo>
                    <a:pt x="3810" y="480568"/>
                    <a:pt x="0" y="475615"/>
                    <a:pt x="0" y="469900"/>
                  </a:cubicBezTo>
                  <a:moveTo>
                    <a:pt x="25400" y="469900"/>
                  </a:moveTo>
                  <a:lnTo>
                    <a:pt x="12700" y="469900"/>
                  </a:lnTo>
                  <a:lnTo>
                    <a:pt x="1905" y="463169"/>
                  </a:lnTo>
                  <a:cubicBezTo>
                    <a:pt x="4953" y="458343"/>
                    <a:pt x="10668" y="456184"/>
                    <a:pt x="16129" y="457708"/>
                  </a:cubicBezTo>
                  <a:cubicBezTo>
                    <a:pt x="21590" y="459232"/>
                    <a:pt x="25400" y="464185"/>
                    <a:pt x="25400" y="469900"/>
                  </a:cubicBezTo>
                  <a:cubicBezTo>
                    <a:pt x="25400" y="715391"/>
                    <a:pt x="224409" y="914400"/>
                    <a:pt x="469900" y="914400"/>
                  </a:cubicBezTo>
                  <a:cubicBezTo>
                    <a:pt x="715391" y="914400"/>
                    <a:pt x="914400" y="715391"/>
                    <a:pt x="914400" y="469900"/>
                  </a:cubicBezTo>
                  <a:cubicBezTo>
                    <a:pt x="914400" y="224409"/>
                    <a:pt x="715391" y="25400"/>
                    <a:pt x="469900" y="25400"/>
                  </a:cubicBezTo>
                  <a:lnTo>
                    <a:pt x="469900" y="12700"/>
                  </a:lnTo>
                  <a:lnTo>
                    <a:pt x="469900" y="25400"/>
                  </a:lnTo>
                  <a:cubicBezTo>
                    <a:pt x="224409" y="25400"/>
                    <a:pt x="25400" y="224409"/>
                    <a:pt x="25400" y="469900"/>
                  </a:cubicBezTo>
                  <a:close/>
                </a:path>
              </a:pathLst>
            </a:custGeom>
            <a:solidFill>
              <a:srgbClr val="40424D"/>
            </a:solidFill>
          </p:spPr>
          <p:txBody>
            <a:bodyPr/>
            <a:p/>
          </p:txBody>
        </p:sp>
      </p:grpSp>
      <p:grpSp>
        <p:nvGrpSpPr>
          <p:cNvPr name="Group 66" id="66"/>
          <p:cNvGrpSpPr/>
          <p:nvPr/>
        </p:nvGrpSpPr>
        <p:grpSpPr>
          <a:xfrm rot="0">
            <a:off x="9244584" y="2972257"/>
            <a:ext cx="257861" cy="257861"/>
            <a:chOff x="0" y="0"/>
            <a:chExt cx="343814" cy="343814"/>
          </a:xfrm>
        </p:grpSpPr>
        <p:sp>
          <p:nvSpPr>
            <p:cNvPr name="Freeform 67" id="67" descr="preencoded.png"/>
            <p:cNvSpPr/>
            <p:nvPr/>
          </p:nvSpPr>
          <p:spPr>
            <a:xfrm flipH="false" flipV="false" rot="0">
              <a:off x="0" y="0"/>
              <a:ext cx="343789" cy="343789"/>
            </a:xfrm>
            <a:custGeom>
              <a:avLst/>
              <a:gdLst/>
              <a:ahLst/>
              <a:cxnLst/>
              <a:rect r="r" b="b" t="t" l="l"/>
              <a:pathLst>
                <a:path h="343789" w="343789">
                  <a:moveTo>
                    <a:pt x="0" y="0"/>
                  </a:moveTo>
                  <a:lnTo>
                    <a:pt x="343789" y="0"/>
                  </a:lnTo>
                  <a:lnTo>
                    <a:pt x="343789" y="343789"/>
                  </a:lnTo>
                  <a:lnTo>
                    <a:pt x="0" y="343789"/>
                  </a:lnTo>
                  <a:lnTo>
                    <a:pt x="0" y="0"/>
                  </a:lnTo>
                  <a:close/>
                </a:path>
              </a:pathLst>
            </a:custGeom>
            <a:blipFill>
              <a:blip r:embed="rId8"/>
              <a:stretch>
                <a:fillRect l="0" t="0" r="-7" b="-7"/>
              </a:stretch>
            </a:blipFill>
          </p:spPr>
          <p:txBody>
            <a:bodyPr/>
            <a:p/>
          </p:txBody>
        </p:sp>
      </p:grpSp>
      <p:grpSp>
        <p:nvGrpSpPr>
          <p:cNvPr name="Group 68" id="68"/>
          <p:cNvGrpSpPr/>
          <p:nvPr/>
        </p:nvGrpSpPr>
        <p:grpSpPr>
          <a:xfrm rot="0">
            <a:off x="10057943" y="2739085"/>
            <a:ext cx="7258507" cy="430120"/>
            <a:chOff x="0" y="0"/>
            <a:chExt cx="9678010" cy="573494"/>
          </a:xfrm>
        </p:grpSpPr>
        <p:sp>
          <p:nvSpPr>
            <p:cNvPr name="Freeform 69" id="69"/>
            <p:cNvSpPr/>
            <p:nvPr/>
          </p:nvSpPr>
          <p:spPr>
            <a:xfrm flipH="false" flipV="false" rot="0">
              <a:off x="0" y="0"/>
              <a:ext cx="9678010" cy="573494"/>
            </a:xfrm>
            <a:custGeom>
              <a:avLst/>
              <a:gdLst/>
              <a:ahLst/>
              <a:cxnLst/>
              <a:rect r="r" b="b" t="t" l="l"/>
              <a:pathLst>
                <a:path h="573494" w="9678010">
                  <a:moveTo>
                    <a:pt x="0" y="0"/>
                  </a:moveTo>
                  <a:lnTo>
                    <a:pt x="9678010" y="0"/>
                  </a:lnTo>
                  <a:lnTo>
                    <a:pt x="9678010" y="573494"/>
                  </a:lnTo>
                  <a:lnTo>
                    <a:pt x="0" y="573494"/>
                  </a:lnTo>
                  <a:close/>
                </a:path>
              </a:pathLst>
            </a:custGeom>
            <a:blipFill>
              <a:blip r:embed="rId4">
                <a:alphaModFix amt="0"/>
              </a:blip>
              <a:stretch>
                <a:fillRect l="0" t="-283856" r="0" b="-273783"/>
              </a:stretch>
            </a:blipFill>
          </p:spPr>
          <p:txBody>
            <a:bodyPr/>
            <a:p/>
          </p:txBody>
        </p:sp>
        <p:sp>
          <p:nvSpPr>
            <p:cNvPr name="TextBox 70" id="70"/>
            <p:cNvSpPr txBox="true"/>
            <p:nvPr/>
          </p:nvSpPr>
          <p:spPr>
            <a:xfrm>
              <a:off x="0" y="-9525"/>
              <a:ext cx="967801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Neurodégénérescence</a:t>
              </a:r>
            </a:p>
          </p:txBody>
        </p:sp>
      </p:grpSp>
      <p:grpSp>
        <p:nvGrpSpPr>
          <p:cNvPr name="Group 71" id="71"/>
          <p:cNvGrpSpPr/>
          <p:nvPr/>
        </p:nvGrpSpPr>
        <p:grpSpPr>
          <a:xfrm rot="0">
            <a:off x="10057943" y="3182112"/>
            <a:ext cx="7258507" cy="293380"/>
            <a:chOff x="0" y="0"/>
            <a:chExt cx="9678010" cy="391173"/>
          </a:xfrm>
        </p:grpSpPr>
        <p:sp>
          <p:nvSpPr>
            <p:cNvPr name="Freeform 72" id="72"/>
            <p:cNvSpPr/>
            <p:nvPr/>
          </p:nvSpPr>
          <p:spPr>
            <a:xfrm flipH="false" flipV="false" rot="0">
              <a:off x="0" y="0"/>
              <a:ext cx="9678010" cy="391174"/>
            </a:xfrm>
            <a:custGeom>
              <a:avLst/>
              <a:gdLst/>
              <a:ahLst/>
              <a:cxnLst/>
              <a:rect r="r" b="b" t="t" l="l"/>
              <a:pathLst>
                <a:path h="391174" w="9678010">
                  <a:moveTo>
                    <a:pt x="0" y="0"/>
                  </a:moveTo>
                  <a:lnTo>
                    <a:pt x="9678010" y="0"/>
                  </a:lnTo>
                  <a:lnTo>
                    <a:pt x="9678010" y="391174"/>
                  </a:lnTo>
                  <a:lnTo>
                    <a:pt x="0" y="391174"/>
                  </a:lnTo>
                  <a:close/>
                </a:path>
              </a:pathLst>
            </a:custGeom>
            <a:blipFill>
              <a:blip r:embed="rId4">
                <a:alphaModFix amt="0"/>
              </a:blip>
              <a:stretch>
                <a:fillRect l="0" t="-433223" r="0" b="-430934"/>
              </a:stretch>
            </a:blipFill>
          </p:spPr>
          <p:txBody>
            <a:bodyPr/>
            <a:p/>
          </p:txBody>
        </p:sp>
        <p:sp>
          <p:nvSpPr>
            <p:cNvPr name="TextBox 73" id="73"/>
            <p:cNvSpPr txBox="true"/>
            <p:nvPr/>
          </p:nvSpPr>
          <p:spPr>
            <a:xfrm>
              <a:off x="0" y="0"/>
              <a:ext cx="9678010"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Alzheimer, Parkinson, Déclin cognitif</a:t>
              </a:r>
            </a:p>
          </p:txBody>
        </p:sp>
      </p:grpSp>
      <p:grpSp>
        <p:nvGrpSpPr>
          <p:cNvPr name="Group 74" id="74"/>
          <p:cNvGrpSpPr/>
          <p:nvPr/>
        </p:nvGrpSpPr>
        <p:grpSpPr>
          <a:xfrm rot="0">
            <a:off x="8449132" y="5224501"/>
            <a:ext cx="8705393" cy="32766"/>
            <a:chOff x="0" y="0"/>
            <a:chExt cx="11607190" cy="43688"/>
          </a:xfrm>
        </p:grpSpPr>
        <p:sp>
          <p:nvSpPr>
            <p:cNvPr name="Freeform 75" id="75"/>
            <p:cNvSpPr/>
            <p:nvPr/>
          </p:nvSpPr>
          <p:spPr>
            <a:xfrm flipH="false" flipV="false" rot="0">
              <a:off x="12700" y="12700"/>
              <a:ext cx="11581765" cy="18288"/>
            </a:xfrm>
            <a:custGeom>
              <a:avLst/>
              <a:gdLst/>
              <a:ahLst/>
              <a:cxnLst/>
              <a:rect r="r" b="b" t="t" l="l"/>
              <a:pathLst>
                <a:path h="18288" w="11581765">
                  <a:moveTo>
                    <a:pt x="0" y="0"/>
                  </a:moveTo>
                  <a:lnTo>
                    <a:pt x="11581765" y="0"/>
                  </a:lnTo>
                  <a:lnTo>
                    <a:pt x="11581765" y="18288"/>
                  </a:lnTo>
                  <a:lnTo>
                    <a:pt x="0" y="18288"/>
                  </a:lnTo>
                  <a:close/>
                </a:path>
              </a:pathLst>
            </a:custGeom>
            <a:solidFill>
              <a:srgbClr val="40424D"/>
            </a:solidFill>
          </p:spPr>
          <p:txBody>
            <a:bodyPr/>
            <a:p/>
          </p:txBody>
        </p:sp>
      </p:grpSp>
      <p:grpSp>
        <p:nvGrpSpPr>
          <p:cNvPr name="Group 76" id="76"/>
          <p:cNvGrpSpPr/>
          <p:nvPr/>
        </p:nvGrpSpPr>
        <p:grpSpPr>
          <a:xfrm rot="0">
            <a:off x="8458657" y="4372661"/>
            <a:ext cx="685800" cy="332327"/>
            <a:chOff x="0" y="0"/>
            <a:chExt cx="914400" cy="443103"/>
          </a:xfrm>
        </p:grpSpPr>
        <p:sp>
          <p:nvSpPr>
            <p:cNvPr name="Freeform 77" id="77"/>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78" id="78"/>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6E7180"/>
                  </a:solidFill>
                  <a:latin typeface="Manrope Bold"/>
                  <a:ea typeface="Manrope Bold"/>
                  <a:cs typeface="Manrope Bold"/>
                  <a:sym typeface="Manrope Bold"/>
                </a:rPr>
                <a:t>02</a:t>
              </a:r>
            </a:p>
          </p:txBody>
        </p:sp>
      </p:grpSp>
      <p:grpSp>
        <p:nvGrpSpPr>
          <p:cNvPr name="Group 79" id="79"/>
          <p:cNvGrpSpPr/>
          <p:nvPr/>
        </p:nvGrpSpPr>
        <p:grpSpPr>
          <a:xfrm rot="0">
            <a:off x="9019718" y="4169740"/>
            <a:ext cx="704850" cy="704850"/>
            <a:chOff x="0" y="0"/>
            <a:chExt cx="939800" cy="939800"/>
          </a:xfrm>
        </p:grpSpPr>
        <p:sp>
          <p:nvSpPr>
            <p:cNvPr name="Freeform 80" id="80"/>
            <p:cNvSpPr/>
            <p:nvPr/>
          </p:nvSpPr>
          <p:spPr>
            <a:xfrm flipH="false" flipV="false" rot="0">
              <a:off x="12700" y="1270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1E24"/>
            </a:solidFill>
          </p:spPr>
          <p:txBody>
            <a:bodyPr/>
            <a:p/>
          </p:txBody>
        </p:sp>
        <p:sp>
          <p:nvSpPr>
            <p:cNvPr name="Freeform 81" id="81"/>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lnTo>
                    <a:pt x="469900" y="12700"/>
                  </a:lnTo>
                  <a:lnTo>
                    <a:pt x="469900" y="0"/>
                  </a:lnTo>
                  <a:cubicBezTo>
                    <a:pt x="729361" y="0"/>
                    <a:pt x="939800" y="210439"/>
                    <a:pt x="939800" y="469900"/>
                  </a:cubicBezTo>
                  <a:lnTo>
                    <a:pt x="927100" y="469900"/>
                  </a:lnTo>
                  <a:lnTo>
                    <a:pt x="939800" y="469900"/>
                  </a:lnTo>
                  <a:cubicBezTo>
                    <a:pt x="939800" y="729361"/>
                    <a:pt x="729361" y="939800"/>
                    <a:pt x="469900" y="939800"/>
                  </a:cubicBezTo>
                  <a:lnTo>
                    <a:pt x="469900" y="927100"/>
                  </a:lnTo>
                  <a:lnTo>
                    <a:pt x="469900" y="939800"/>
                  </a:lnTo>
                  <a:cubicBezTo>
                    <a:pt x="210439" y="939800"/>
                    <a:pt x="0" y="729361"/>
                    <a:pt x="0" y="469900"/>
                  </a:cubicBezTo>
                  <a:lnTo>
                    <a:pt x="12700" y="469900"/>
                  </a:lnTo>
                  <a:lnTo>
                    <a:pt x="23495" y="476631"/>
                  </a:lnTo>
                  <a:cubicBezTo>
                    <a:pt x="20447" y="481457"/>
                    <a:pt x="14732" y="483616"/>
                    <a:pt x="9271" y="482092"/>
                  </a:cubicBezTo>
                  <a:cubicBezTo>
                    <a:pt x="3810" y="480568"/>
                    <a:pt x="0" y="475615"/>
                    <a:pt x="0" y="469900"/>
                  </a:cubicBezTo>
                  <a:moveTo>
                    <a:pt x="25400" y="469900"/>
                  </a:moveTo>
                  <a:lnTo>
                    <a:pt x="12700" y="469900"/>
                  </a:lnTo>
                  <a:lnTo>
                    <a:pt x="1905" y="463169"/>
                  </a:lnTo>
                  <a:cubicBezTo>
                    <a:pt x="4953" y="458343"/>
                    <a:pt x="10668" y="456184"/>
                    <a:pt x="16129" y="457708"/>
                  </a:cubicBezTo>
                  <a:cubicBezTo>
                    <a:pt x="21590" y="459232"/>
                    <a:pt x="25400" y="464185"/>
                    <a:pt x="25400" y="469900"/>
                  </a:cubicBezTo>
                  <a:cubicBezTo>
                    <a:pt x="25400" y="715391"/>
                    <a:pt x="224409" y="914400"/>
                    <a:pt x="469900" y="914400"/>
                  </a:cubicBezTo>
                  <a:cubicBezTo>
                    <a:pt x="715391" y="914400"/>
                    <a:pt x="914400" y="715391"/>
                    <a:pt x="914400" y="469900"/>
                  </a:cubicBezTo>
                  <a:cubicBezTo>
                    <a:pt x="914400" y="224409"/>
                    <a:pt x="715391" y="25400"/>
                    <a:pt x="469900" y="25400"/>
                  </a:cubicBezTo>
                  <a:lnTo>
                    <a:pt x="469900" y="12700"/>
                  </a:lnTo>
                  <a:lnTo>
                    <a:pt x="469900" y="25400"/>
                  </a:lnTo>
                  <a:cubicBezTo>
                    <a:pt x="224409" y="25400"/>
                    <a:pt x="25400" y="224409"/>
                    <a:pt x="25400" y="469900"/>
                  </a:cubicBezTo>
                  <a:close/>
                </a:path>
              </a:pathLst>
            </a:custGeom>
            <a:solidFill>
              <a:srgbClr val="40424D"/>
            </a:solidFill>
          </p:spPr>
          <p:txBody>
            <a:bodyPr/>
            <a:p/>
          </p:txBody>
        </p:sp>
      </p:grpSp>
      <p:grpSp>
        <p:nvGrpSpPr>
          <p:cNvPr name="Group 82" id="82"/>
          <p:cNvGrpSpPr/>
          <p:nvPr/>
        </p:nvGrpSpPr>
        <p:grpSpPr>
          <a:xfrm rot="0">
            <a:off x="9244584" y="4393235"/>
            <a:ext cx="257861" cy="257861"/>
            <a:chOff x="0" y="0"/>
            <a:chExt cx="343814" cy="343814"/>
          </a:xfrm>
        </p:grpSpPr>
        <p:sp>
          <p:nvSpPr>
            <p:cNvPr name="Freeform 83" id="83" descr="preencoded.png"/>
            <p:cNvSpPr/>
            <p:nvPr/>
          </p:nvSpPr>
          <p:spPr>
            <a:xfrm flipH="false" flipV="false" rot="0">
              <a:off x="0" y="0"/>
              <a:ext cx="343789" cy="343789"/>
            </a:xfrm>
            <a:custGeom>
              <a:avLst/>
              <a:gdLst/>
              <a:ahLst/>
              <a:cxnLst/>
              <a:rect r="r" b="b" t="t" l="l"/>
              <a:pathLst>
                <a:path h="343789" w="343789">
                  <a:moveTo>
                    <a:pt x="0" y="0"/>
                  </a:moveTo>
                  <a:lnTo>
                    <a:pt x="343789" y="0"/>
                  </a:lnTo>
                  <a:lnTo>
                    <a:pt x="343789" y="343789"/>
                  </a:lnTo>
                  <a:lnTo>
                    <a:pt x="0" y="343789"/>
                  </a:lnTo>
                  <a:lnTo>
                    <a:pt x="0" y="0"/>
                  </a:lnTo>
                  <a:close/>
                </a:path>
              </a:pathLst>
            </a:custGeom>
            <a:blipFill>
              <a:blip r:embed="rId9"/>
              <a:stretch>
                <a:fillRect l="0" t="0" r="-7" b="-7"/>
              </a:stretch>
            </a:blipFill>
          </p:spPr>
          <p:txBody>
            <a:bodyPr/>
            <a:p/>
          </p:txBody>
        </p:sp>
      </p:grpSp>
      <p:grpSp>
        <p:nvGrpSpPr>
          <p:cNvPr name="Group 84" id="84"/>
          <p:cNvGrpSpPr/>
          <p:nvPr/>
        </p:nvGrpSpPr>
        <p:grpSpPr>
          <a:xfrm rot="0">
            <a:off x="10057943" y="4161434"/>
            <a:ext cx="7258507" cy="430120"/>
            <a:chOff x="0" y="0"/>
            <a:chExt cx="9678010" cy="573494"/>
          </a:xfrm>
        </p:grpSpPr>
        <p:sp>
          <p:nvSpPr>
            <p:cNvPr name="Freeform 85" id="85"/>
            <p:cNvSpPr/>
            <p:nvPr/>
          </p:nvSpPr>
          <p:spPr>
            <a:xfrm flipH="false" flipV="false" rot="0">
              <a:off x="0" y="0"/>
              <a:ext cx="9678010" cy="573494"/>
            </a:xfrm>
            <a:custGeom>
              <a:avLst/>
              <a:gdLst/>
              <a:ahLst/>
              <a:cxnLst/>
              <a:rect r="r" b="b" t="t" l="l"/>
              <a:pathLst>
                <a:path h="573494" w="9678010">
                  <a:moveTo>
                    <a:pt x="0" y="0"/>
                  </a:moveTo>
                  <a:lnTo>
                    <a:pt x="9678010" y="0"/>
                  </a:lnTo>
                  <a:lnTo>
                    <a:pt x="9678010" y="573494"/>
                  </a:lnTo>
                  <a:lnTo>
                    <a:pt x="0" y="573494"/>
                  </a:lnTo>
                  <a:close/>
                </a:path>
              </a:pathLst>
            </a:custGeom>
            <a:blipFill>
              <a:blip r:embed="rId4">
                <a:alphaModFix amt="0"/>
              </a:blip>
              <a:stretch>
                <a:fillRect l="0" t="-283856" r="0" b="-273783"/>
              </a:stretch>
            </a:blipFill>
          </p:spPr>
          <p:txBody>
            <a:bodyPr/>
            <a:p/>
          </p:txBody>
        </p:sp>
        <p:sp>
          <p:nvSpPr>
            <p:cNvPr name="TextBox 86" id="86"/>
            <p:cNvSpPr txBox="true"/>
            <p:nvPr/>
          </p:nvSpPr>
          <p:spPr>
            <a:xfrm>
              <a:off x="0" y="-9525"/>
              <a:ext cx="967801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Maladies Cardiovasculaires</a:t>
              </a:r>
            </a:p>
          </p:txBody>
        </p:sp>
      </p:grpSp>
      <p:grpSp>
        <p:nvGrpSpPr>
          <p:cNvPr name="Group 87" id="87"/>
          <p:cNvGrpSpPr/>
          <p:nvPr/>
        </p:nvGrpSpPr>
        <p:grpSpPr>
          <a:xfrm rot="0">
            <a:off x="10057943" y="4604461"/>
            <a:ext cx="7258507" cy="293380"/>
            <a:chOff x="0" y="0"/>
            <a:chExt cx="9678010" cy="391173"/>
          </a:xfrm>
        </p:grpSpPr>
        <p:sp>
          <p:nvSpPr>
            <p:cNvPr name="Freeform 88" id="88"/>
            <p:cNvSpPr/>
            <p:nvPr/>
          </p:nvSpPr>
          <p:spPr>
            <a:xfrm flipH="false" flipV="false" rot="0">
              <a:off x="0" y="0"/>
              <a:ext cx="9678010" cy="391174"/>
            </a:xfrm>
            <a:custGeom>
              <a:avLst/>
              <a:gdLst/>
              <a:ahLst/>
              <a:cxnLst/>
              <a:rect r="r" b="b" t="t" l="l"/>
              <a:pathLst>
                <a:path h="391174" w="9678010">
                  <a:moveTo>
                    <a:pt x="0" y="0"/>
                  </a:moveTo>
                  <a:lnTo>
                    <a:pt x="9678010" y="0"/>
                  </a:lnTo>
                  <a:lnTo>
                    <a:pt x="9678010" y="391174"/>
                  </a:lnTo>
                  <a:lnTo>
                    <a:pt x="0" y="391174"/>
                  </a:lnTo>
                  <a:close/>
                </a:path>
              </a:pathLst>
            </a:custGeom>
            <a:blipFill>
              <a:blip r:embed="rId4">
                <a:alphaModFix amt="0"/>
              </a:blip>
              <a:stretch>
                <a:fillRect l="0" t="-433223" r="0" b="-430934"/>
              </a:stretch>
            </a:blipFill>
          </p:spPr>
          <p:txBody>
            <a:bodyPr/>
            <a:p/>
          </p:txBody>
        </p:sp>
        <p:sp>
          <p:nvSpPr>
            <p:cNvPr name="TextBox 89" id="89"/>
            <p:cNvSpPr txBox="true"/>
            <p:nvPr/>
          </p:nvSpPr>
          <p:spPr>
            <a:xfrm>
              <a:off x="0" y="0"/>
              <a:ext cx="9678010"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Athérosclérose, Insuffisance cardiaque, AVC</a:t>
              </a:r>
            </a:p>
          </p:txBody>
        </p:sp>
      </p:grpSp>
      <p:grpSp>
        <p:nvGrpSpPr>
          <p:cNvPr name="Group 90" id="90"/>
          <p:cNvGrpSpPr/>
          <p:nvPr/>
        </p:nvGrpSpPr>
        <p:grpSpPr>
          <a:xfrm rot="0">
            <a:off x="8449132" y="6645478"/>
            <a:ext cx="8705393" cy="32766"/>
            <a:chOff x="0" y="0"/>
            <a:chExt cx="11607190" cy="43688"/>
          </a:xfrm>
        </p:grpSpPr>
        <p:sp>
          <p:nvSpPr>
            <p:cNvPr name="Freeform 91" id="91"/>
            <p:cNvSpPr/>
            <p:nvPr/>
          </p:nvSpPr>
          <p:spPr>
            <a:xfrm flipH="false" flipV="false" rot="0">
              <a:off x="12700" y="12700"/>
              <a:ext cx="11581765" cy="18288"/>
            </a:xfrm>
            <a:custGeom>
              <a:avLst/>
              <a:gdLst/>
              <a:ahLst/>
              <a:cxnLst/>
              <a:rect r="r" b="b" t="t" l="l"/>
              <a:pathLst>
                <a:path h="18288" w="11581765">
                  <a:moveTo>
                    <a:pt x="0" y="0"/>
                  </a:moveTo>
                  <a:lnTo>
                    <a:pt x="11581765" y="0"/>
                  </a:lnTo>
                  <a:lnTo>
                    <a:pt x="11581765" y="18288"/>
                  </a:lnTo>
                  <a:lnTo>
                    <a:pt x="0" y="18288"/>
                  </a:lnTo>
                  <a:close/>
                </a:path>
              </a:pathLst>
            </a:custGeom>
            <a:solidFill>
              <a:srgbClr val="40424D"/>
            </a:solidFill>
          </p:spPr>
          <p:txBody>
            <a:bodyPr/>
            <a:p/>
          </p:txBody>
        </p:sp>
      </p:grpSp>
      <p:grpSp>
        <p:nvGrpSpPr>
          <p:cNvPr name="Group 92" id="92"/>
          <p:cNvGrpSpPr/>
          <p:nvPr/>
        </p:nvGrpSpPr>
        <p:grpSpPr>
          <a:xfrm rot="0">
            <a:off x="8458657" y="5793638"/>
            <a:ext cx="685800" cy="332327"/>
            <a:chOff x="0" y="0"/>
            <a:chExt cx="914400" cy="443103"/>
          </a:xfrm>
        </p:grpSpPr>
        <p:sp>
          <p:nvSpPr>
            <p:cNvPr name="Freeform 93" id="93"/>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94" id="94"/>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6E7180"/>
                  </a:solidFill>
                  <a:latin typeface="Manrope Bold"/>
                  <a:ea typeface="Manrope Bold"/>
                  <a:cs typeface="Manrope Bold"/>
                  <a:sym typeface="Manrope Bold"/>
                </a:rPr>
                <a:t>03</a:t>
              </a:r>
            </a:p>
          </p:txBody>
        </p:sp>
      </p:grpSp>
      <p:grpSp>
        <p:nvGrpSpPr>
          <p:cNvPr name="Group 95" id="95"/>
          <p:cNvGrpSpPr/>
          <p:nvPr/>
        </p:nvGrpSpPr>
        <p:grpSpPr>
          <a:xfrm rot="0">
            <a:off x="9019718" y="5590718"/>
            <a:ext cx="704850" cy="704850"/>
            <a:chOff x="0" y="0"/>
            <a:chExt cx="939800" cy="939800"/>
          </a:xfrm>
        </p:grpSpPr>
        <p:sp>
          <p:nvSpPr>
            <p:cNvPr name="Freeform 96" id="96"/>
            <p:cNvSpPr/>
            <p:nvPr/>
          </p:nvSpPr>
          <p:spPr>
            <a:xfrm flipH="false" flipV="false" rot="0">
              <a:off x="12700" y="1270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1E24"/>
            </a:solidFill>
          </p:spPr>
          <p:txBody>
            <a:bodyPr/>
            <a:p/>
          </p:txBody>
        </p:sp>
        <p:sp>
          <p:nvSpPr>
            <p:cNvPr name="Freeform 97" id="97"/>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lnTo>
                    <a:pt x="469900" y="12700"/>
                  </a:lnTo>
                  <a:lnTo>
                    <a:pt x="469900" y="0"/>
                  </a:lnTo>
                  <a:cubicBezTo>
                    <a:pt x="729361" y="0"/>
                    <a:pt x="939800" y="210439"/>
                    <a:pt x="939800" y="469900"/>
                  </a:cubicBezTo>
                  <a:lnTo>
                    <a:pt x="927100" y="469900"/>
                  </a:lnTo>
                  <a:lnTo>
                    <a:pt x="939800" y="469900"/>
                  </a:lnTo>
                  <a:cubicBezTo>
                    <a:pt x="939800" y="729361"/>
                    <a:pt x="729361" y="939800"/>
                    <a:pt x="469900" y="939800"/>
                  </a:cubicBezTo>
                  <a:lnTo>
                    <a:pt x="469900" y="927100"/>
                  </a:lnTo>
                  <a:lnTo>
                    <a:pt x="469900" y="939800"/>
                  </a:lnTo>
                  <a:cubicBezTo>
                    <a:pt x="210439" y="939800"/>
                    <a:pt x="0" y="729361"/>
                    <a:pt x="0" y="469900"/>
                  </a:cubicBezTo>
                  <a:lnTo>
                    <a:pt x="12700" y="469900"/>
                  </a:lnTo>
                  <a:lnTo>
                    <a:pt x="23495" y="476631"/>
                  </a:lnTo>
                  <a:cubicBezTo>
                    <a:pt x="20447" y="481457"/>
                    <a:pt x="14732" y="483616"/>
                    <a:pt x="9271" y="482092"/>
                  </a:cubicBezTo>
                  <a:cubicBezTo>
                    <a:pt x="3810" y="480568"/>
                    <a:pt x="0" y="475615"/>
                    <a:pt x="0" y="469900"/>
                  </a:cubicBezTo>
                  <a:moveTo>
                    <a:pt x="25400" y="469900"/>
                  </a:moveTo>
                  <a:lnTo>
                    <a:pt x="12700" y="469900"/>
                  </a:lnTo>
                  <a:lnTo>
                    <a:pt x="1905" y="463169"/>
                  </a:lnTo>
                  <a:cubicBezTo>
                    <a:pt x="4953" y="458343"/>
                    <a:pt x="10668" y="456184"/>
                    <a:pt x="16129" y="457708"/>
                  </a:cubicBezTo>
                  <a:cubicBezTo>
                    <a:pt x="21590" y="459232"/>
                    <a:pt x="25400" y="464185"/>
                    <a:pt x="25400" y="469900"/>
                  </a:cubicBezTo>
                  <a:cubicBezTo>
                    <a:pt x="25400" y="715391"/>
                    <a:pt x="224409" y="914400"/>
                    <a:pt x="469900" y="914400"/>
                  </a:cubicBezTo>
                  <a:cubicBezTo>
                    <a:pt x="715391" y="914400"/>
                    <a:pt x="914400" y="715391"/>
                    <a:pt x="914400" y="469900"/>
                  </a:cubicBezTo>
                  <a:cubicBezTo>
                    <a:pt x="914400" y="224409"/>
                    <a:pt x="715391" y="25400"/>
                    <a:pt x="469900" y="25400"/>
                  </a:cubicBezTo>
                  <a:lnTo>
                    <a:pt x="469900" y="12700"/>
                  </a:lnTo>
                  <a:lnTo>
                    <a:pt x="469900" y="25400"/>
                  </a:lnTo>
                  <a:cubicBezTo>
                    <a:pt x="224409" y="25400"/>
                    <a:pt x="25400" y="224409"/>
                    <a:pt x="25400" y="469900"/>
                  </a:cubicBezTo>
                  <a:close/>
                </a:path>
              </a:pathLst>
            </a:custGeom>
            <a:solidFill>
              <a:srgbClr val="40424D"/>
            </a:solidFill>
          </p:spPr>
          <p:txBody>
            <a:bodyPr/>
            <a:p/>
          </p:txBody>
        </p:sp>
      </p:grpSp>
      <p:grpSp>
        <p:nvGrpSpPr>
          <p:cNvPr name="Group 98" id="98"/>
          <p:cNvGrpSpPr/>
          <p:nvPr/>
        </p:nvGrpSpPr>
        <p:grpSpPr>
          <a:xfrm rot="0">
            <a:off x="9258300" y="5815584"/>
            <a:ext cx="229057" cy="257861"/>
            <a:chOff x="0" y="0"/>
            <a:chExt cx="305410" cy="343814"/>
          </a:xfrm>
        </p:grpSpPr>
        <p:sp>
          <p:nvSpPr>
            <p:cNvPr name="Freeform 99" id="99" descr="preencoded.png"/>
            <p:cNvSpPr/>
            <p:nvPr/>
          </p:nvSpPr>
          <p:spPr>
            <a:xfrm flipH="false" flipV="false" rot="0">
              <a:off x="0" y="0"/>
              <a:ext cx="305435" cy="343789"/>
            </a:xfrm>
            <a:custGeom>
              <a:avLst/>
              <a:gdLst/>
              <a:ahLst/>
              <a:cxnLst/>
              <a:rect r="r" b="b" t="t" l="l"/>
              <a:pathLst>
                <a:path h="343789" w="305435">
                  <a:moveTo>
                    <a:pt x="0" y="0"/>
                  </a:moveTo>
                  <a:lnTo>
                    <a:pt x="305435" y="0"/>
                  </a:lnTo>
                  <a:lnTo>
                    <a:pt x="305435" y="343789"/>
                  </a:lnTo>
                  <a:lnTo>
                    <a:pt x="0" y="343789"/>
                  </a:lnTo>
                  <a:lnTo>
                    <a:pt x="0" y="0"/>
                  </a:lnTo>
                  <a:close/>
                </a:path>
              </a:pathLst>
            </a:custGeom>
            <a:blipFill>
              <a:blip r:embed="rId10"/>
              <a:stretch>
                <a:fillRect l="748" t="0" r="511" b="-7"/>
              </a:stretch>
            </a:blipFill>
          </p:spPr>
          <p:txBody>
            <a:bodyPr/>
            <a:p/>
          </p:txBody>
        </p:sp>
      </p:grpSp>
      <p:grpSp>
        <p:nvGrpSpPr>
          <p:cNvPr name="Group 100" id="100"/>
          <p:cNvGrpSpPr/>
          <p:nvPr/>
        </p:nvGrpSpPr>
        <p:grpSpPr>
          <a:xfrm rot="0">
            <a:off x="10057943" y="5582412"/>
            <a:ext cx="7258507" cy="430120"/>
            <a:chOff x="0" y="0"/>
            <a:chExt cx="9678010" cy="573494"/>
          </a:xfrm>
        </p:grpSpPr>
        <p:sp>
          <p:nvSpPr>
            <p:cNvPr name="Freeform 101" id="101"/>
            <p:cNvSpPr/>
            <p:nvPr/>
          </p:nvSpPr>
          <p:spPr>
            <a:xfrm flipH="false" flipV="false" rot="0">
              <a:off x="0" y="0"/>
              <a:ext cx="9678010" cy="573494"/>
            </a:xfrm>
            <a:custGeom>
              <a:avLst/>
              <a:gdLst/>
              <a:ahLst/>
              <a:cxnLst/>
              <a:rect r="r" b="b" t="t" l="l"/>
              <a:pathLst>
                <a:path h="573494" w="9678010">
                  <a:moveTo>
                    <a:pt x="0" y="0"/>
                  </a:moveTo>
                  <a:lnTo>
                    <a:pt x="9678010" y="0"/>
                  </a:lnTo>
                  <a:lnTo>
                    <a:pt x="9678010" y="573494"/>
                  </a:lnTo>
                  <a:lnTo>
                    <a:pt x="0" y="573494"/>
                  </a:lnTo>
                  <a:close/>
                </a:path>
              </a:pathLst>
            </a:custGeom>
            <a:blipFill>
              <a:blip r:embed="rId4">
                <a:alphaModFix amt="0"/>
              </a:blip>
              <a:stretch>
                <a:fillRect l="0" t="-283856" r="0" b="-273783"/>
              </a:stretch>
            </a:blipFill>
          </p:spPr>
          <p:txBody>
            <a:bodyPr/>
            <a:p/>
          </p:txBody>
        </p:sp>
        <p:sp>
          <p:nvSpPr>
            <p:cNvPr name="TextBox 102" id="102"/>
            <p:cNvSpPr txBox="true"/>
            <p:nvPr/>
          </p:nvSpPr>
          <p:spPr>
            <a:xfrm>
              <a:off x="0" y="-9525"/>
              <a:ext cx="967801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Fragilité &amp; Déclin Musculo-squelettique</a:t>
              </a:r>
            </a:p>
          </p:txBody>
        </p:sp>
      </p:grpSp>
      <p:grpSp>
        <p:nvGrpSpPr>
          <p:cNvPr name="Group 103" id="103"/>
          <p:cNvGrpSpPr/>
          <p:nvPr/>
        </p:nvGrpSpPr>
        <p:grpSpPr>
          <a:xfrm rot="0">
            <a:off x="10057943" y="6025439"/>
            <a:ext cx="7258507" cy="293380"/>
            <a:chOff x="0" y="0"/>
            <a:chExt cx="9678010" cy="391173"/>
          </a:xfrm>
        </p:grpSpPr>
        <p:sp>
          <p:nvSpPr>
            <p:cNvPr name="Freeform 104" id="104"/>
            <p:cNvSpPr/>
            <p:nvPr/>
          </p:nvSpPr>
          <p:spPr>
            <a:xfrm flipH="false" flipV="false" rot="0">
              <a:off x="0" y="0"/>
              <a:ext cx="9678010" cy="391174"/>
            </a:xfrm>
            <a:custGeom>
              <a:avLst/>
              <a:gdLst/>
              <a:ahLst/>
              <a:cxnLst/>
              <a:rect r="r" b="b" t="t" l="l"/>
              <a:pathLst>
                <a:path h="391174" w="9678010">
                  <a:moveTo>
                    <a:pt x="0" y="0"/>
                  </a:moveTo>
                  <a:lnTo>
                    <a:pt x="9678010" y="0"/>
                  </a:lnTo>
                  <a:lnTo>
                    <a:pt x="9678010" y="391174"/>
                  </a:lnTo>
                  <a:lnTo>
                    <a:pt x="0" y="391174"/>
                  </a:lnTo>
                  <a:close/>
                </a:path>
              </a:pathLst>
            </a:custGeom>
            <a:blipFill>
              <a:blip r:embed="rId4">
                <a:alphaModFix amt="0"/>
              </a:blip>
              <a:stretch>
                <a:fillRect l="0" t="-433223" r="0" b="-430934"/>
              </a:stretch>
            </a:blipFill>
          </p:spPr>
          <p:txBody>
            <a:bodyPr/>
            <a:p/>
          </p:txBody>
        </p:sp>
        <p:sp>
          <p:nvSpPr>
            <p:cNvPr name="TextBox 105" id="105"/>
            <p:cNvSpPr txBox="true"/>
            <p:nvPr/>
          </p:nvSpPr>
          <p:spPr>
            <a:xfrm>
              <a:off x="0" y="0"/>
              <a:ext cx="9678010"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Sarcopénie, Ostéoporose, Perte de mobilité</a:t>
              </a:r>
            </a:p>
          </p:txBody>
        </p:sp>
      </p:grpSp>
      <p:grpSp>
        <p:nvGrpSpPr>
          <p:cNvPr name="Group 106" id="106"/>
          <p:cNvGrpSpPr/>
          <p:nvPr/>
        </p:nvGrpSpPr>
        <p:grpSpPr>
          <a:xfrm rot="0">
            <a:off x="8449132" y="8067827"/>
            <a:ext cx="8705393" cy="32766"/>
            <a:chOff x="0" y="0"/>
            <a:chExt cx="11607190" cy="43688"/>
          </a:xfrm>
        </p:grpSpPr>
        <p:sp>
          <p:nvSpPr>
            <p:cNvPr name="Freeform 107" id="107"/>
            <p:cNvSpPr/>
            <p:nvPr/>
          </p:nvSpPr>
          <p:spPr>
            <a:xfrm flipH="false" flipV="false" rot="0">
              <a:off x="12700" y="12700"/>
              <a:ext cx="11581765" cy="18288"/>
            </a:xfrm>
            <a:custGeom>
              <a:avLst/>
              <a:gdLst/>
              <a:ahLst/>
              <a:cxnLst/>
              <a:rect r="r" b="b" t="t" l="l"/>
              <a:pathLst>
                <a:path h="18288" w="11581765">
                  <a:moveTo>
                    <a:pt x="0" y="0"/>
                  </a:moveTo>
                  <a:lnTo>
                    <a:pt x="11581765" y="0"/>
                  </a:lnTo>
                  <a:lnTo>
                    <a:pt x="11581765" y="18288"/>
                  </a:lnTo>
                  <a:lnTo>
                    <a:pt x="0" y="18288"/>
                  </a:lnTo>
                  <a:close/>
                </a:path>
              </a:pathLst>
            </a:custGeom>
            <a:solidFill>
              <a:srgbClr val="40424D"/>
            </a:solidFill>
          </p:spPr>
          <p:txBody>
            <a:bodyPr/>
            <a:p/>
          </p:txBody>
        </p:sp>
      </p:grpSp>
      <p:grpSp>
        <p:nvGrpSpPr>
          <p:cNvPr name="Group 108" id="108"/>
          <p:cNvGrpSpPr/>
          <p:nvPr/>
        </p:nvGrpSpPr>
        <p:grpSpPr>
          <a:xfrm rot="0">
            <a:off x="8458657" y="7214616"/>
            <a:ext cx="685800" cy="332327"/>
            <a:chOff x="0" y="0"/>
            <a:chExt cx="914400" cy="443103"/>
          </a:xfrm>
        </p:grpSpPr>
        <p:sp>
          <p:nvSpPr>
            <p:cNvPr name="Freeform 109" id="109"/>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110" id="110"/>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6E7180"/>
                  </a:solidFill>
                  <a:latin typeface="Manrope Bold"/>
                  <a:ea typeface="Manrope Bold"/>
                  <a:cs typeface="Manrope Bold"/>
                  <a:sym typeface="Manrope Bold"/>
                </a:rPr>
                <a:t>04</a:t>
              </a:r>
            </a:p>
          </p:txBody>
        </p:sp>
      </p:grpSp>
      <p:grpSp>
        <p:nvGrpSpPr>
          <p:cNvPr name="Group 111" id="111"/>
          <p:cNvGrpSpPr/>
          <p:nvPr/>
        </p:nvGrpSpPr>
        <p:grpSpPr>
          <a:xfrm rot="0">
            <a:off x="9019718" y="7013067"/>
            <a:ext cx="704850" cy="704850"/>
            <a:chOff x="0" y="0"/>
            <a:chExt cx="939800" cy="939800"/>
          </a:xfrm>
        </p:grpSpPr>
        <p:sp>
          <p:nvSpPr>
            <p:cNvPr name="Freeform 112" id="112"/>
            <p:cNvSpPr/>
            <p:nvPr/>
          </p:nvSpPr>
          <p:spPr>
            <a:xfrm flipH="false" flipV="false" rot="0">
              <a:off x="12700" y="1270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1E24"/>
            </a:solidFill>
          </p:spPr>
          <p:txBody>
            <a:bodyPr/>
            <a:p/>
          </p:txBody>
        </p:sp>
        <p:sp>
          <p:nvSpPr>
            <p:cNvPr name="Freeform 113" id="113"/>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lnTo>
                    <a:pt x="469900" y="12700"/>
                  </a:lnTo>
                  <a:lnTo>
                    <a:pt x="469900" y="0"/>
                  </a:lnTo>
                  <a:cubicBezTo>
                    <a:pt x="729361" y="0"/>
                    <a:pt x="939800" y="210439"/>
                    <a:pt x="939800" y="469900"/>
                  </a:cubicBezTo>
                  <a:lnTo>
                    <a:pt x="927100" y="469900"/>
                  </a:lnTo>
                  <a:lnTo>
                    <a:pt x="939800" y="469900"/>
                  </a:lnTo>
                  <a:cubicBezTo>
                    <a:pt x="939800" y="729361"/>
                    <a:pt x="729361" y="939800"/>
                    <a:pt x="469900" y="939800"/>
                  </a:cubicBezTo>
                  <a:lnTo>
                    <a:pt x="469900" y="927100"/>
                  </a:lnTo>
                  <a:lnTo>
                    <a:pt x="469900" y="939800"/>
                  </a:lnTo>
                  <a:cubicBezTo>
                    <a:pt x="210439" y="939800"/>
                    <a:pt x="0" y="729361"/>
                    <a:pt x="0" y="469900"/>
                  </a:cubicBezTo>
                  <a:lnTo>
                    <a:pt x="12700" y="469900"/>
                  </a:lnTo>
                  <a:lnTo>
                    <a:pt x="23495" y="476631"/>
                  </a:lnTo>
                  <a:cubicBezTo>
                    <a:pt x="20447" y="481457"/>
                    <a:pt x="14732" y="483616"/>
                    <a:pt x="9271" y="482092"/>
                  </a:cubicBezTo>
                  <a:cubicBezTo>
                    <a:pt x="3810" y="480568"/>
                    <a:pt x="0" y="475615"/>
                    <a:pt x="0" y="469900"/>
                  </a:cubicBezTo>
                  <a:moveTo>
                    <a:pt x="25400" y="469900"/>
                  </a:moveTo>
                  <a:lnTo>
                    <a:pt x="12700" y="469900"/>
                  </a:lnTo>
                  <a:lnTo>
                    <a:pt x="1905" y="463169"/>
                  </a:lnTo>
                  <a:cubicBezTo>
                    <a:pt x="4953" y="458343"/>
                    <a:pt x="10668" y="456184"/>
                    <a:pt x="16129" y="457708"/>
                  </a:cubicBezTo>
                  <a:cubicBezTo>
                    <a:pt x="21590" y="459232"/>
                    <a:pt x="25400" y="464185"/>
                    <a:pt x="25400" y="469900"/>
                  </a:cubicBezTo>
                  <a:cubicBezTo>
                    <a:pt x="25400" y="715391"/>
                    <a:pt x="224409" y="914400"/>
                    <a:pt x="469900" y="914400"/>
                  </a:cubicBezTo>
                  <a:cubicBezTo>
                    <a:pt x="715391" y="914400"/>
                    <a:pt x="914400" y="715391"/>
                    <a:pt x="914400" y="469900"/>
                  </a:cubicBezTo>
                  <a:cubicBezTo>
                    <a:pt x="914400" y="224409"/>
                    <a:pt x="715391" y="25400"/>
                    <a:pt x="469900" y="25400"/>
                  </a:cubicBezTo>
                  <a:lnTo>
                    <a:pt x="469900" y="12700"/>
                  </a:lnTo>
                  <a:lnTo>
                    <a:pt x="469900" y="25400"/>
                  </a:lnTo>
                  <a:cubicBezTo>
                    <a:pt x="224409" y="25400"/>
                    <a:pt x="25400" y="224409"/>
                    <a:pt x="25400" y="469900"/>
                  </a:cubicBezTo>
                  <a:close/>
                </a:path>
              </a:pathLst>
            </a:custGeom>
            <a:solidFill>
              <a:srgbClr val="40424D"/>
            </a:solidFill>
          </p:spPr>
          <p:txBody>
            <a:bodyPr/>
            <a:p/>
          </p:txBody>
        </p:sp>
      </p:grpSp>
      <p:grpSp>
        <p:nvGrpSpPr>
          <p:cNvPr name="Group 114" id="114"/>
          <p:cNvGrpSpPr/>
          <p:nvPr/>
        </p:nvGrpSpPr>
        <p:grpSpPr>
          <a:xfrm rot="0">
            <a:off x="9258300" y="7236562"/>
            <a:ext cx="229057" cy="257861"/>
            <a:chOff x="0" y="0"/>
            <a:chExt cx="305410" cy="343814"/>
          </a:xfrm>
        </p:grpSpPr>
        <p:sp>
          <p:nvSpPr>
            <p:cNvPr name="Freeform 115" id="115" descr="preencoded.png"/>
            <p:cNvSpPr/>
            <p:nvPr/>
          </p:nvSpPr>
          <p:spPr>
            <a:xfrm flipH="false" flipV="false" rot="0">
              <a:off x="0" y="0"/>
              <a:ext cx="305435" cy="343789"/>
            </a:xfrm>
            <a:custGeom>
              <a:avLst/>
              <a:gdLst/>
              <a:ahLst/>
              <a:cxnLst/>
              <a:rect r="r" b="b" t="t" l="l"/>
              <a:pathLst>
                <a:path h="343789" w="305435">
                  <a:moveTo>
                    <a:pt x="0" y="0"/>
                  </a:moveTo>
                  <a:lnTo>
                    <a:pt x="305435" y="0"/>
                  </a:lnTo>
                  <a:lnTo>
                    <a:pt x="305435" y="343789"/>
                  </a:lnTo>
                  <a:lnTo>
                    <a:pt x="0" y="343789"/>
                  </a:lnTo>
                  <a:lnTo>
                    <a:pt x="0" y="0"/>
                  </a:lnTo>
                  <a:close/>
                </a:path>
              </a:pathLst>
            </a:custGeom>
            <a:blipFill>
              <a:blip r:embed="rId11"/>
              <a:stretch>
                <a:fillRect l="748" t="0" r="511" b="-7"/>
              </a:stretch>
            </a:blipFill>
          </p:spPr>
          <p:txBody>
            <a:bodyPr/>
            <a:p/>
          </p:txBody>
        </p:sp>
      </p:grpSp>
      <p:grpSp>
        <p:nvGrpSpPr>
          <p:cNvPr name="Group 116" id="116"/>
          <p:cNvGrpSpPr/>
          <p:nvPr/>
        </p:nvGrpSpPr>
        <p:grpSpPr>
          <a:xfrm rot="0">
            <a:off x="10057943" y="7004761"/>
            <a:ext cx="7258507" cy="430120"/>
            <a:chOff x="0" y="0"/>
            <a:chExt cx="9678010" cy="573494"/>
          </a:xfrm>
        </p:grpSpPr>
        <p:sp>
          <p:nvSpPr>
            <p:cNvPr name="Freeform 117" id="117"/>
            <p:cNvSpPr/>
            <p:nvPr/>
          </p:nvSpPr>
          <p:spPr>
            <a:xfrm flipH="false" flipV="false" rot="0">
              <a:off x="0" y="0"/>
              <a:ext cx="9678010" cy="573494"/>
            </a:xfrm>
            <a:custGeom>
              <a:avLst/>
              <a:gdLst/>
              <a:ahLst/>
              <a:cxnLst/>
              <a:rect r="r" b="b" t="t" l="l"/>
              <a:pathLst>
                <a:path h="573494" w="9678010">
                  <a:moveTo>
                    <a:pt x="0" y="0"/>
                  </a:moveTo>
                  <a:lnTo>
                    <a:pt x="9678010" y="0"/>
                  </a:lnTo>
                  <a:lnTo>
                    <a:pt x="9678010" y="573494"/>
                  </a:lnTo>
                  <a:lnTo>
                    <a:pt x="0" y="573494"/>
                  </a:lnTo>
                  <a:close/>
                </a:path>
              </a:pathLst>
            </a:custGeom>
            <a:blipFill>
              <a:blip r:embed="rId4">
                <a:alphaModFix amt="0"/>
              </a:blip>
              <a:stretch>
                <a:fillRect l="0" t="-283856" r="0" b="-273783"/>
              </a:stretch>
            </a:blipFill>
          </p:spPr>
          <p:txBody>
            <a:bodyPr/>
            <a:p/>
          </p:txBody>
        </p:sp>
        <p:sp>
          <p:nvSpPr>
            <p:cNvPr name="TextBox 118" id="118"/>
            <p:cNvSpPr txBox="true"/>
            <p:nvPr/>
          </p:nvSpPr>
          <p:spPr>
            <a:xfrm>
              <a:off x="0" y="-9525"/>
              <a:ext cx="967801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Cancer</a:t>
              </a:r>
            </a:p>
          </p:txBody>
        </p:sp>
      </p:grpSp>
      <p:grpSp>
        <p:nvGrpSpPr>
          <p:cNvPr name="Group 119" id="119"/>
          <p:cNvGrpSpPr/>
          <p:nvPr/>
        </p:nvGrpSpPr>
        <p:grpSpPr>
          <a:xfrm rot="0">
            <a:off x="10057943" y="7447788"/>
            <a:ext cx="7258507" cy="293380"/>
            <a:chOff x="0" y="0"/>
            <a:chExt cx="9678010" cy="391173"/>
          </a:xfrm>
        </p:grpSpPr>
        <p:sp>
          <p:nvSpPr>
            <p:cNvPr name="Freeform 120" id="120"/>
            <p:cNvSpPr/>
            <p:nvPr/>
          </p:nvSpPr>
          <p:spPr>
            <a:xfrm flipH="false" flipV="false" rot="0">
              <a:off x="0" y="0"/>
              <a:ext cx="9678010" cy="391174"/>
            </a:xfrm>
            <a:custGeom>
              <a:avLst/>
              <a:gdLst/>
              <a:ahLst/>
              <a:cxnLst/>
              <a:rect r="r" b="b" t="t" l="l"/>
              <a:pathLst>
                <a:path h="391174" w="9678010">
                  <a:moveTo>
                    <a:pt x="0" y="0"/>
                  </a:moveTo>
                  <a:lnTo>
                    <a:pt x="9678010" y="0"/>
                  </a:lnTo>
                  <a:lnTo>
                    <a:pt x="9678010" y="391174"/>
                  </a:lnTo>
                  <a:lnTo>
                    <a:pt x="0" y="391174"/>
                  </a:lnTo>
                  <a:close/>
                </a:path>
              </a:pathLst>
            </a:custGeom>
            <a:blipFill>
              <a:blip r:embed="rId4">
                <a:alphaModFix amt="0"/>
              </a:blip>
              <a:stretch>
                <a:fillRect l="0" t="-433223" r="0" b="-430934"/>
              </a:stretch>
            </a:blipFill>
          </p:spPr>
          <p:txBody>
            <a:bodyPr/>
            <a:p/>
          </p:txBody>
        </p:sp>
        <p:sp>
          <p:nvSpPr>
            <p:cNvPr name="TextBox 121" id="121"/>
            <p:cNvSpPr txBox="true"/>
            <p:nvPr/>
          </p:nvSpPr>
          <p:spPr>
            <a:xfrm>
              <a:off x="0" y="0"/>
              <a:ext cx="9678010"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Instabilité génomique et prolifération cellulaire</a:t>
              </a:r>
            </a:p>
          </p:txBody>
        </p:sp>
      </p:grpSp>
      <p:grpSp>
        <p:nvGrpSpPr>
          <p:cNvPr name="Group 122" id="122"/>
          <p:cNvGrpSpPr/>
          <p:nvPr/>
        </p:nvGrpSpPr>
        <p:grpSpPr>
          <a:xfrm rot="0">
            <a:off x="8449132" y="9488805"/>
            <a:ext cx="8705393" cy="32766"/>
            <a:chOff x="0" y="0"/>
            <a:chExt cx="11607190" cy="43688"/>
          </a:xfrm>
        </p:grpSpPr>
        <p:sp>
          <p:nvSpPr>
            <p:cNvPr name="Freeform 123" id="123"/>
            <p:cNvSpPr/>
            <p:nvPr/>
          </p:nvSpPr>
          <p:spPr>
            <a:xfrm flipH="false" flipV="false" rot="0">
              <a:off x="12700" y="12700"/>
              <a:ext cx="11581765" cy="18288"/>
            </a:xfrm>
            <a:custGeom>
              <a:avLst/>
              <a:gdLst/>
              <a:ahLst/>
              <a:cxnLst/>
              <a:rect r="r" b="b" t="t" l="l"/>
              <a:pathLst>
                <a:path h="18288" w="11581765">
                  <a:moveTo>
                    <a:pt x="0" y="0"/>
                  </a:moveTo>
                  <a:lnTo>
                    <a:pt x="11581765" y="0"/>
                  </a:lnTo>
                  <a:lnTo>
                    <a:pt x="11581765" y="18288"/>
                  </a:lnTo>
                  <a:lnTo>
                    <a:pt x="0" y="18288"/>
                  </a:lnTo>
                  <a:close/>
                </a:path>
              </a:pathLst>
            </a:custGeom>
            <a:solidFill>
              <a:srgbClr val="40424D"/>
            </a:solidFill>
          </p:spPr>
          <p:txBody>
            <a:bodyPr/>
            <a:p/>
          </p:txBody>
        </p:sp>
      </p:grpSp>
      <p:grpSp>
        <p:nvGrpSpPr>
          <p:cNvPr name="Group 124" id="124"/>
          <p:cNvGrpSpPr/>
          <p:nvPr/>
        </p:nvGrpSpPr>
        <p:grpSpPr>
          <a:xfrm rot="0">
            <a:off x="8458657" y="8636965"/>
            <a:ext cx="685800" cy="332327"/>
            <a:chOff x="0" y="0"/>
            <a:chExt cx="914400" cy="443103"/>
          </a:xfrm>
        </p:grpSpPr>
        <p:sp>
          <p:nvSpPr>
            <p:cNvPr name="Freeform 125" id="125"/>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126" id="126"/>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6E7180"/>
                  </a:solidFill>
                  <a:latin typeface="Manrope Bold"/>
                  <a:ea typeface="Manrope Bold"/>
                  <a:cs typeface="Manrope Bold"/>
                  <a:sym typeface="Manrope Bold"/>
                </a:rPr>
                <a:t>05</a:t>
              </a:r>
            </a:p>
          </p:txBody>
        </p:sp>
      </p:grpSp>
      <p:grpSp>
        <p:nvGrpSpPr>
          <p:cNvPr name="Group 127" id="127"/>
          <p:cNvGrpSpPr/>
          <p:nvPr/>
        </p:nvGrpSpPr>
        <p:grpSpPr>
          <a:xfrm rot="0">
            <a:off x="9019718" y="8434045"/>
            <a:ext cx="704850" cy="704850"/>
            <a:chOff x="0" y="0"/>
            <a:chExt cx="939800" cy="939800"/>
          </a:xfrm>
        </p:grpSpPr>
        <p:sp>
          <p:nvSpPr>
            <p:cNvPr name="Freeform 128" id="128"/>
            <p:cNvSpPr/>
            <p:nvPr/>
          </p:nvSpPr>
          <p:spPr>
            <a:xfrm flipH="false" flipV="false" rot="0">
              <a:off x="12700" y="1270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1E24"/>
            </a:solidFill>
          </p:spPr>
          <p:txBody>
            <a:bodyPr/>
            <a:p/>
          </p:txBody>
        </p:sp>
        <p:sp>
          <p:nvSpPr>
            <p:cNvPr name="Freeform 129" id="129"/>
            <p:cNvSpPr/>
            <p:nvPr/>
          </p:nvSpPr>
          <p:spPr>
            <a:xfrm flipH="false" flipV="false" rot="0">
              <a:off x="0" y="0"/>
              <a:ext cx="939800" cy="939800"/>
            </a:xfrm>
            <a:custGeom>
              <a:avLst/>
              <a:gdLst/>
              <a:ahLst/>
              <a:cxnLst/>
              <a:rect r="r" b="b" t="t" l="l"/>
              <a:pathLst>
                <a:path h="939800" w="939800">
                  <a:moveTo>
                    <a:pt x="0" y="469900"/>
                  </a:moveTo>
                  <a:cubicBezTo>
                    <a:pt x="0" y="210439"/>
                    <a:pt x="210439" y="0"/>
                    <a:pt x="469900" y="0"/>
                  </a:cubicBezTo>
                  <a:lnTo>
                    <a:pt x="469900" y="12700"/>
                  </a:lnTo>
                  <a:lnTo>
                    <a:pt x="469900" y="0"/>
                  </a:lnTo>
                  <a:cubicBezTo>
                    <a:pt x="729361" y="0"/>
                    <a:pt x="939800" y="210439"/>
                    <a:pt x="939800" y="469900"/>
                  </a:cubicBezTo>
                  <a:lnTo>
                    <a:pt x="927100" y="469900"/>
                  </a:lnTo>
                  <a:lnTo>
                    <a:pt x="939800" y="469900"/>
                  </a:lnTo>
                  <a:cubicBezTo>
                    <a:pt x="939800" y="729361"/>
                    <a:pt x="729361" y="939800"/>
                    <a:pt x="469900" y="939800"/>
                  </a:cubicBezTo>
                  <a:lnTo>
                    <a:pt x="469900" y="927100"/>
                  </a:lnTo>
                  <a:lnTo>
                    <a:pt x="469900" y="939800"/>
                  </a:lnTo>
                  <a:cubicBezTo>
                    <a:pt x="210439" y="939800"/>
                    <a:pt x="0" y="729361"/>
                    <a:pt x="0" y="469900"/>
                  </a:cubicBezTo>
                  <a:lnTo>
                    <a:pt x="12700" y="469900"/>
                  </a:lnTo>
                  <a:lnTo>
                    <a:pt x="23495" y="476631"/>
                  </a:lnTo>
                  <a:cubicBezTo>
                    <a:pt x="20447" y="481457"/>
                    <a:pt x="14732" y="483616"/>
                    <a:pt x="9271" y="482092"/>
                  </a:cubicBezTo>
                  <a:cubicBezTo>
                    <a:pt x="3810" y="480568"/>
                    <a:pt x="0" y="475615"/>
                    <a:pt x="0" y="469900"/>
                  </a:cubicBezTo>
                  <a:moveTo>
                    <a:pt x="25400" y="469900"/>
                  </a:moveTo>
                  <a:lnTo>
                    <a:pt x="12700" y="469900"/>
                  </a:lnTo>
                  <a:lnTo>
                    <a:pt x="1905" y="463169"/>
                  </a:lnTo>
                  <a:cubicBezTo>
                    <a:pt x="4953" y="458343"/>
                    <a:pt x="10668" y="456184"/>
                    <a:pt x="16129" y="457708"/>
                  </a:cubicBezTo>
                  <a:cubicBezTo>
                    <a:pt x="21590" y="459232"/>
                    <a:pt x="25400" y="464185"/>
                    <a:pt x="25400" y="469900"/>
                  </a:cubicBezTo>
                  <a:cubicBezTo>
                    <a:pt x="25400" y="715391"/>
                    <a:pt x="224409" y="914400"/>
                    <a:pt x="469900" y="914400"/>
                  </a:cubicBezTo>
                  <a:cubicBezTo>
                    <a:pt x="715391" y="914400"/>
                    <a:pt x="914400" y="715391"/>
                    <a:pt x="914400" y="469900"/>
                  </a:cubicBezTo>
                  <a:cubicBezTo>
                    <a:pt x="914400" y="224409"/>
                    <a:pt x="715391" y="25400"/>
                    <a:pt x="469900" y="25400"/>
                  </a:cubicBezTo>
                  <a:lnTo>
                    <a:pt x="469900" y="12700"/>
                  </a:lnTo>
                  <a:lnTo>
                    <a:pt x="469900" y="25400"/>
                  </a:lnTo>
                  <a:cubicBezTo>
                    <a:pt x="224409" y="25400"/>
                    <a:pt x="25400" y="224409"/>
                    <a:pt x="25400" y="469900"/>
                  </a:cubicBezTo>
                  <a:close/>
                </a:path>
              </a:pathLst>
            </a:custGeom>
            <a:solidFill>
              <a:srgbClr val="40424D"/>
            </a:solidFill>
          </p:spPr>
          <p:txBody>
            <a:bodyPr/>
            <a:p/>
          </p:txBody>
        </p:sp>
      </p:grpSp>
      <p:grpSp>
        <p:nvGrpSpPr>
          <p:cNvPr name="Group 130" id="130"/>
          <p:cNvGrpSpPr/>
          <p:nvPr/>
        </p:nvGrpSpPr>
        <p:grpSpPr>
          <a:xfrm rot="0">
            <a:off x="9244584" y="8658911"/>
            <a:ext cx="257861" cy="257861"/>
            <a:chOff x="0" y="0"/>
            <a:chExt cx="343814" cy="343814"/>
          </a:xfrm>
        </p:grpSpPr>
        <p:sp>
          <p:nvSpPr>
            <p:cNvPr name="Freeform 131" id="131" descr="preencoded.png"/>
            <p:cNvSpPr/>
            <p:nvPr/>
          </p:nvSpPr>
          <p:spPr>
            <a:xfrm flipH="false" flipV="false" rot="0">
              <a:off x="0" y="0"/>
              <a:ext cx="343789" cy="343789"/>
            </a:xfrm>
            <a:custGeom>
              <a:avLst/>
              <a:gdLst/>
              <a:ahLst/>
              <a:cxnLst/>
              <a:rect r="r" b="b" t="t" l="l"/>
              <a:pathLst>
                <a:path h="343789" w="343789">
                  <a:moveTo>
                    <a:pt x="0" y="0"/>
                  </a:moveTo>
                  <a:lnTo>
                    <a:pt x="343789" y="0"/>
                  </a:lnTo>
                  <a:lnTo>
                    <a:pt x="343789" y="343789"/>
                  </a:lnTo>
                  <a:lnTo>
                    <a:pt x="0" y="343789"/>
                  </a:lnTo>
                  <a:lnTo>
                    <a:pt x="0" y="0"/>
                  </a:lnTo>
                  <a:close/>
                </a:path>
              </a:pathLst>
            </a:custGeom>
            <a:blipFill>
              <a:blip r:embed="rId12"/>
              <a:stretch>
                <a:fillRect l="0" t="0" r="-7" b="-7"/>
              </a:stretch>
            </a:blipFill>
          </p:spPr>
          <p:txBody>
            <a:bodyPr/>
            <a:p/>
          </p:txBody>
        </p:sp>
      </p:grpSp>
      <p:grpSp>
        <p:nvGrpSpPr>
          <p:cNvPr name="Group 132" id="132"/>
          <p:cNvGrpSpPr/>
          <p:nvPr/>
        </p:nvGrpSpPr>
        <p:grpSpPr>
          <a:xfrm rot="0">
            <a:off x="10067468" y="8425739"/>
            <a:ext cx="7258507" cy="430120"/>
            <a:chOff x="0" y="0"/>
            <a:chExt cx="9678010" cy="573494"/>
          </a:xfrm>
        </p:grpSpPr>
        <p:sp>
          <p:nvSpPr>
            <p:cNvPr name="Freeform 133" id="133"/>
            <p:cNvSpPr/>
            <p:nvPr/>
          </p:nvSpPr>
          <p:spPr>
            <a:xfrm flipH="false" flipV="false" rot="0">
              <a:off x="0" y="0"/>
              <a:ext cx="9678010" cy="573494"/>
            </a:xfrm>
            <a:custGeom>
              <a:avLst/>
              <a:gdLst/>
              <a:ahLst/>
              <a:cxnLst/>
              <a:rect r="r" b="b" t="t" l="l"/>
              <a:pathLst>
                <a:path h="573494" w="9678010">
                  <a:moveTo>
                    <a:pt x="0" y="0"/>
                  </a:moveTo>
                  <a:lnTo>
                    <a:pt x="9678010" y="0"/>
                  </a:lnTo>
                  <a:lnTo>
                    <a:pt x="9678010" y="573494"/>
                  </a:lnTo>
                  <a:lnTo>
                    <a:pt x="0" y="573494"/>
                  </a:lnTo>
                  <a:close/>
                </a:path>
              </a:pathLst>
            </a:custGeom>
            <a:blipFill>
              <a:blip r:embed="rId4">
                <a:alphaModFix amt="0"/>
              </a:blip>
              <a:stretch>
                <a:fillRect l="0" t="-283856" r="0" b="-273783"/>
              </a:stretch>
            </a:blipFill>
          </p:spPr>
          <p:txBody>
            <a:bodyPr/>
            <a:p/>
          </p:txBody>
        </p:sp>
        <p:sp>
          <p:nvSpPr>
            <p:cNvPr name="TextBox 134" id="134"/>
            <p:cNvSpPr txBox="true"/>
            <p:nvPr/>
          </p:nvSpPr>
          <p:spPr>
            <a:xfrm>
              <a:off x="0" y="-9525"/>
              <a:ext cx="967801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Dysfonction Immunitaire &amp; Inflammation</a:t>
              </a:r>
            </a:p>
          </p:txBody>
        </p:sp>
      </p:grpSp>
      <p:grpSp>
        <p:nvGrpSpPr>
          <p:cNvPr name="Group 135" id="135"/>
          <p:cNvGrpSpPr/>
          <p:nvPr/>
        </p:nvGrpSpPr>
        <p:grpSpPr>
          <a:xfrm rot="0">
            <a:off x="10057943" y="8868766"/>
            <a:ext cx="7258507" cy="293380"/>
            <a:chOff x="0" y="0"/>
            <a:chExt cx="9678010" cy="391173"/>
          </a:xfrm>
        </p:grpSpPr>
        <p:sp>
          <p:nvSpPr>
            <p:cNvPr name="Freeform 136" id="136"/>
            <p:cNvSpPr/>
            <p:nvPr/>
          </p:nvSpPr>
          <p:spPr>
            <a:xfrm flipH="false" flipV="false" rot="0">
              <a:off x="0" y="0"/>
              <a:ext cx="9678010" cy="391174"/>
            </a:xfrm>
            <a:custGeom>
              <a:avLst/>
              <a:gdLst/>
              <a:ahLst/>
              <a:cxnLst/>
              <a:rect r="r" b="b" t="t" l="l"/>
              <a:pathLst>
                <a:path h="391174" w="9678010">
                  <a:moveTo>
                    <a:pt x="0" y="0"/>
                  </a:moveTo>
                  <a:lnTo>
                    <a:pt x="9678010" y="0"/>
                  </a:lnTo>
                  <a:lnTo>
                    <a:pt x="9678010" y="391174"/>
                  </a:lnTo>
                  <a:lnTo>
                    <a:pt x="0" y="391174"/>
                  </a:lnTo>
                  <a:close/>
                </a:path>
              </a:pathLst>
            </a:custGeom>
            <a:blipFill>
              <a:blip r:embed="rId4">
                <a:alphaModFix amt="0"/>
              </a:blip>
              <a:stretch>
                <a:fillRect l="0" t="-433223" r="0" b="-430934"/>
              </a:stretch>
            </a:blipFill>
          </p:spPr>
          <p:txBody>
            <a:bodyPr/>
            <a:p/>
          </p:txBody>
        </p:sp>
        <p:sp>
          <p:nvSpPr>
            <p:cNvPr name="TextBox 137" id="137"/>
            <p:cNvSpPr txBox="true"/>
            <p:nvPr/>
          </p:nvSpPr>
          <p:spPr>
            <a:xfrm>
              <a:off x="0" y="0"/>
              <a:ext cx="9678010"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Inflammaging, Auto-immunité, Sénescence</a:t>
              </a:r>
            </a:p>
          </p:txBody>
        </p:sp>
      </p:grpSp>
      <p:grpSp>
        <p:nvGrpSpPr>
          <p:cNvPr name="Group 138" id="138"/>
          <p:cNvGrpSpPr/>
          <p:nvPr/>
        </p:nvGrpSpPr>
        <p:grpSpPr>
          <a:xfrm rot="0">
            <a:off x="8442350" y="3804818"/>
            <a:ext cx="8705393" cy="32766"/>
            <a:chOff x="0" y="0"/>
            <a:chExt cx="11607190" cy="43688"/>
          </a:xfrm>
        </p:grpSpPr>
        <p:sp>
          <p:nvSpPr>
            <p:cNvPr name="Freeform 139" id="139"/>
            <p:cNvSpPr/>
            <p:nvPr/>
          </p:nvSpPr>
          <p:spPr>
            <a:xfrm flipH="false" flipV="false" rot="0">
              <a:off x="12700" y="12700"/>
              <a:ext cx="11581765" cy="18288"/>
            </a:xfrm>
            <a:custGeom>
              <a:avLst/>
              <a:gdLst/>
              <a:ahLst/>
              <a:cxnLst/>
              <a:rect r="r" b="b" t="t" l="l"/>
              <a:pathLst>
                <a:path h="18288" w="11581765">
                  <a:moveTo>
                    <a:pt x="0" y="0"/>
                  </a:moveTo>
                  <a:lnTo>
                    <a:pt x="11581765" y="0"/>
                  </a:lnTo>
                  <a:lnTo>
                    <a:pt x="11581765" y="18288"/>
                  </a:lnTo>
                  <a:lnTo>
                    <a:pt x="0" y="18288"/>
                  </a:lnTo>
                  <a:close/>
                </a:path>
              </a:pathLst>
            </a:custGeom>
            <a:solidFill>
              <a:srgbClr val="40424D"/>
            </a:solidFill>
          </p:spPr>
          <p:txBody>
            <a:body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400507" y="1429207"/>
            <a:ext cx="7429957" cy="7429957"/>
            <a:chOff x="0" y="0"/>
            <a:chExt cx="9906610" cy="9906610"/>
          </a:xfrm>
        </p:grpSpPr>
        <p:sp>
          <p:nvSpPr>
            <p:cNvPr name="Freeform 9" id="9" descr="preencoded.png"/>
            <p:cNvSpPr/>
            <p:nvPr/>
          </p:nvSpPr>
          <p:spPr>
            <a:xfrm flipH="false" flipV="false" rot="0">
              <a:off x="0" y="0"/>
              <a:ext cx="9906635" cy="9906635"/>
            </a:xfrm>
            <a:custGeom>
              <a:avLst/>
              <a:gdLst/>
              <a:ahLst/>
              <a:cxnLst/>
              <a:rect r="r" b="b" t="t" l="l"/>
              <a:pathLst>
                <a:path h="9906635" w="9906635">
                  <a:moveTo>
                    <a:pt x="0" y="0"/>
                  </a:moveTo>
                  <a:lnTo>
                    <a:pt x="9906635" y="0"/>
                  </a:lnTo>
                  <a:lnTo>
                    <a:pt x="9906635" y="9906635"/>
                  </a:lnTo>
                  <a:lnTo>
                    <a:pt x="0" y="9906635"/>
                  </a:lnTo>
                  <a:lnTo>
                    <a:pt x="0" y="0"/>
                  </a:lnTo>
                  <a:close/>
                </a:path>
              </a:pathLst>
            </a:custGeom>
            <a:blipFill>
              <a:blip r:embed="rId4"/>
              <a:stretch>
                <a:fillRect l="0" t="0" r="0" b="0"/>
              </a:stretch>
            </a:blipFill>
          </p:spPr>
          <p:txBody>
            <a:bodyPr/>
            <a:p/>
          </p:txBody>
        </p:sp>
      </p:grpSp>
      <p:grpSp>
        <p:nvGrpSpPr>
          <p:cNvPr name="Group 10" id="10"/>
          <p:cNvGrpSpPr/>
          <p:nvPr/>
        </p:nvGrpSpPr>
        <p:grpSpPr>
          <a:xfrm rot="0">
            <a:off x="8229600" y="0"/>
            <a:ext cx="10057943" cy="10287000"/>
            <a:chOff x="0" y="0"/>
            <a:chExt cx="13410590" cy="13716000"/>
          </a:xfrm>
        </p:grpSpPr>
        <p:sp>
          <p:nvSpPr>
            <p:cNvPr name="Freeform 11" id="11" descr="preencoded.png"/>
            <p:cNvSpPr/>
            <p:nvPr/>
          </p:nvSpPr>
          <p:spPr>
            <a:xfrm flipH="false" flipV="false" rot="0">
              <a:off x="0" y="0"/>
              <a:ext cx="13410564" cy="13716000"/>
            </a:xfrm>
            <a:custGeom>
              <a:avLst/>
              <a:gdLst/>
              <a:ahLst/>
              <a:cxnLst/>
              <a:rect r="r" b="b" t="t" l="l"/>
              <a:pathLst>
                <a:path h="13716000" w="13410564">
                  <a:moveTo>
                    <a:pt x="0" y="0"/>
                  </a:moveTo>
                  <a:lnTo>
                    <a:pt x="13410564" y="0"/>
                  </a:lnTo>
                  <a:lnTo>
                    <a:pt x="13410564" y="13716000"/>
                  </a:lnTo>
                  <a:lnTo>
                    <a:pt x="0" y="13716000"/>
                  </a:lnTo>
                  <a:lnTo>
                    <a:pt x="0" y="0"/>
                  </a:lnTo>
                  <a:close/>
                </a:path>
              </a:pathLst>
            </a:custGeom>
            <a:blipFill>
              <a:blip r:embed="rId5"/>
              <a:stretch>
                <a:fillRect l="0" t="2" r="0" b="1"/>
              </a:stretch>
            </a:blipFill>
          </p:spPr>
          <p:txBody>
            <a:bodyPr/>
            <a:p/>
          </p:txBody>
        </p:sp>
      </p:grpSp>
      <p:grpSp>
        <p:nvGrpSpPr>
          <p:cNvPr name="Group 12" id="12"/>
          <p:cNvGrpSpPr/>
          <p:nvPr/>
        </p:nvGrpSpPr>
        <p:grpSpPr>
          <a:xfrm rot="0">
            <a:off x="9086850" y="105613"/>
            <a:ext cx="8516264" cy="293380"/>
            <a:chOff x="0" y="0"/>
            <a:chExt cx="11355019" cy="391173"/>
          </a:xfrm>
        </p:grpSpPr>
        <p:sp>
          <p:nvSpPr>
            <p:cNvPr name="Freeform 13" id="13"/>
            <p:cNvSpPr/>
            <p:nvPr/>
          </p:nvSpPr>
          <p:spPr>
            <a:xfrm flipH="false" flipV="false" rot="0">
              <a:off x="0" y="0"/>
              <a:ext cx="11355020" cy="391172"/>
            </a:xfrm>
            <a:custGeom>
              <a:avLst/>
              <a:gdLst/>
              <a:ahLst/>
              <a:cxnLst/>
              <a:rect r="r" b="b" t="t" l="l"/>
              <a:pathLst>
                <a:path h="391172" w="11355020">
                  <a:moveTo>
                    <a:pt x="0" y="0"/>
                  </a:moveTo>
                  <a:lnTo>
                    <a:pt x="11355020" y="0"/>
                  </a:lnTo>
                  <a:lnTo>
                    <a:pt x="11355020" y="391172"/>
                  </a:lnTo>
                  <a:lnTo>
                    <a:pt x="0" y="391172"/>
                  </a:lnTo>
                  <a:close/>
                </a:path>
              </a:pathLst>
            </a:custGeom>
            <a:blipFill>
              <a:blip r:embed="rId6">
                <a:alphaModFix amt="0"/>
              </a:blip>
              <a:stretch>
                <a:fillRect l="0" t="-521668" r="0" b="-509561"/>
              </a:stretch>
            </a:blipFill>
          </p:spPr>
          <p:txBody>
            <a:bodyPr/>
            <a:p/>
          </p:txBody>
        </p:sp>
        <p:sp>
          <p:nvSpPr>
            <p:cNvPr name="TextBox 14" id="14"/>
            <p:cNvSpPr txBox="true"/>
            <p:nvPr/>
          </p:nvSpPr>
          <p:spPr>
            <a:xfrm>
              <a:off x="0" y="0"/>
              <a:ext cx="11355019" cy="391173"/>
            </a:xfrm>
            <a:prstGeom prst="rect">
              <a:avLst/>
            </a:prstGeom>
          </p:spPr>
          <p:txBody>
            <a:bodyPr anchor="ctr" rtlCol="false" tIns="0" lIns="0" bIns="0" rIns="0"/>
            <a:lstStyle/>
            <a:p>
              <a:pPr algn="l">
                <a:lnSpc>
                  <a:spcPts val="1620"/>
                </a:lnSpc>
              </a:pPr>
              <a:r>
                <a:rPr lang="en-US" sz="1350" spc="337">
                  <a:solidFill>
                    <a:srgbClr val="9DA2B3"/>
                  </a:solidFill>
                  <a:latin typeface="Manrope"/>
                  <a:ea typeface="Manrope"/>
                  <a:cs typeface="Manrope"/>
                  <a:sym typeface="Manrope"/>
                </a:rPr>
                <a:t>MÉTHODOLOGIE PROPRIÉTAIRE</a:t>
              </a:r>
            </a:p>
          </p:txBody>
        </p:sp>
      </p:grpSp>
      <p:grpSp>
        <p:nvGrpSpPr>
          <p:cNvPr name="Group 15" id="15"/>
          <p:cNvGrpSpPr/>
          <p:nvPr/>
        </p:nvGrpSpPr>
        <p:grpSpPr>
          <a:xfrm rot="0">
            <a:off x="9077325" y="96088"/>
            <a:ext cx="304343" cy="32766"/>
            <a:chOff x="0" y="0"/>
            <a:chExt cx="405790" cy="43688"/>
          </a:xfrm>
        </p:grpSpPr>
        <p:sp>
          <p:nvSpPr>
            <p:cNvPr name="Freeform 16" id="16"/>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7" id="17"/>
          <p:cNvGrpSpPr/>
          <p:nvPr/>
        </p:nvGrpSpPr>
        <p:grpSpPr>
          <a:xfrm rot="0">
            <a:off x="9086850" y="935431"/>
            <a:ext cx="8458657" cy="668169"/>
            <a:chOff x="0" y="0"/>
            <a:chExt cx="11278210" cy="890892"/>
          </a:xfrm>
        </p:grpSpPr>
        <p:sp>
          <p:nvSpPr>
            <p:cNvPr name="Freeform 18" id="18"/>
            <p:cNvSpPr/>
            <p:nvPr/>
          </p:nvSpPr>
          <p:spPr>
            <a:xfrm flipH="false" flipV="false" rot="0">
              <a:off x="0" y="0"/>
              <a:ext cx="11278210" cy="890892"/>
            </a:xfrm>
            <a:custGeom>
              <a:avLst/>
              <a:gdLst/>
              <a:ahLst/>
              <a:cxnLst/>
              <a:rect r="r" b="b" t="t" l="l"/>
              <a:pathLst>
                <a:path h="890892" w="11278210">
                  <a:moveTo>
                    <a:pt x="0" y="0"/>
                  </a:moveTo>
                  <a:lnTo>
                    <a:pt x="11278210" y="0"/>
                  </a:lnTo>
                  <a:lnTo>
                    <a:pt x="11278210" y="890892"/>
                  </a:lnTo>
                  <a:lnTo>
                    <a:pt x="0" y="890892"/>
                  </a:lnTo>
                  <a:close/>
                </a:path>
              </a:pathLst>
            </a:custGeom>
            <a:blipFill>
              <a:blip r:embed="rId6">
                <a:alphaModFix amt="0"/>
              </a:blip>
              <a:stretch>
                <a:fillRect l="0" t="-208180" r="0" b="-185159"/>
              </a:stretch>
            </a:blipFill>
          </p:spPr>
          <p:txBody>
            <a:bodyPr/>
            <a:p/>
          </p:txBody>
        </p:sp>
        <p:sp>
          <p:nvSpPr>
            <p:cNvPr name="TextBox 19" id="19"/>
            <p:cNvSpPr txBox="true"/>
            <p:nvPr/>
          </p:nvSpPr>
          <p:spPr>
            <a:xfrm>
              <a:off x="0" y="9525"/>
              <a:ext cx="11278210" cy="881367"/>
            </a:xfrm>
            <a:prstGeom prst="rect">
              <a:avLst/>
            </a:prstGeom>
          </p:spPr>
          <p:txBody>
            <a:bodyPr anchor="ctr" rtlCol="false" tIns="0" lIns="0" bIns="0" rIns="0"/>
            <a:lstStyle/>
            <a:p>
              <a:pPr algn="l">
                <a:lnSpc>
                  <a:spcPts val="2160"/>
                </a:lnSpc>
              </a:pPr>
              <a:r>
                <a:rPr lang="en-US" sz="1800">
                  <a:solidFill>
                    <a:srgbClr val="FFFFFF"/>
                  </a:solidFill>
                  <a:latin typeface="Manrope"/>
                  <a:ea typeface="Manrope"/>
                  <a:cs typeface="Manrope"/>
                  <a:sym typeface="Manrope"/>
                </a:rPr>
                <a:t>The ADDOR </a:t>
              </a:r>
            </a:p>
            <a:p>
              <a:pPr algn="l">
                <a:lnSpc>
                  <a:spcPts val="2160"/>
                </a:lnSpc>
              </a:pPr>
              <a:r>
                <a:rPr lang="en-US" sz="1800">
                  <a:solidFill>
                    <a:srgbClr val="6B7280"/>
                  </a:solidFill>
                  <a:latin typeface="Manrope"/>
                  <a:ea typeface="Manrope"/>
                  <a:cs typeface="Manrope"/>
                  <a:sym typeface="Manrope"/>
                </a:rPr>
                <a:t>Longevity Wheel™</a:t>
              </a:r>
            </a:p>
          </p:txBody>
        </p:sp>
      </p:grpSp>
      <p:grpSp>
        <p:nvGrpSpPr>
          <p:cNvPr name="Group 20" id="20"/>
          <p:cNvGrpSpPr/>
          <p:nvPr/>
        </p:nvGrpSpPr>
        <p:grpSpPr>
          <a:xfrm rot="0">
            <a:off x="9086850" y="2180844"/>
            <a:ext cx="8343443" cy="1429207"/>
            <a:chOff x="0" y="0"/>
            <a:chExt cx="11124590" cy="1905610"/>
          </a:xfrm>
        </p:grpSpPr>
        <p:sp>
          <p:nvSpPr>
            <p:cNvPr name="Freeform 21" id="21"/>
            <p:cNvSpPr/>
            <p:nvPr/>
          </p:nvSpPr>
          <p:spPr>
            <a:xfrm flipH="false" flipV="false" rot="0">
              <a:off x="0" y="0"/>
              <a:ext cx="11124565" cy="1905635"/>
            </a:xfrm>
            <a:custGeom>
              <a:avLst/>
              <a:gdLst/>
              <a:ahLst/>
              <a:cxnLst/>
              <a:rect r="r" b="b" t="t" l="l"/>
              <a:pathLst>
                <a:path h="1905635" w="11124565">
                  <a:moveTo>
                    <a:pt x="0" y="0"/>
                  </a:moveTo>
                  <a:lnTo>
                    <a:pt x="11124565" y="0"/>
                  </a:lnTo>
                  <a:lnTo>
                    <a:pt x="11124565" y="1905635"/>
                  </a:lnTo>
                  <a:lnTo>
                    <a:pt x="0" y="1905635"/>
                  </a:lnTo>
                  <a:close/>
                </a:path>
              </a:pathLst>
            </a:custGeom>
            <a:solidFill>
              <a:srgbClr val="FFFFFF">
                <a:alpha val="0"/>
              </a:srgbClr>
            </a:solidFill>
          </p:spPr>
          <p:txBody>
            <a:bodyPr/>
            <a:p/>
          </p:txBody>
        </p:sp>
      </p:grpSp>
      <p:grpSp>
        <p:nvGrpSpPr>
          <p:cNvPr name="Group 22" id="22"/>
          <p:cNvGrpSpPr/>
          <p:nvPr/>
        </p:nvGrpSpPr>
        <p:grpSpPr>
          <a:xfrm rot="0">
            <a:off x="9077325" y="2171319"/>
            <a:ext cx="32766" cy="1448257"/>
            <a:chOff x="0" y="0"/>
            <a:chExt cx="43688" cy="1931010"/>
          </a:xfrm>
        </p:grpSpPr>
        <p:sp>
          <p:nvSpPr>
            <p:cNvPr name="Freeform 23" id="23"/>
            <p:cNvSpPr/>
            <p:nvPr/>
          </p:nvSpPr>
          <p:spPr>
            <a:xfrm flipH="false" flipV="false" rot="0">
              <a:off x="12700" y="12700"/>
              <a:ext cx="18288" cy="1905635"/>
            </a:xfrm>
            <a:custGeom>
              <a:avLst/>
              <a:gdLst/>
              <a:ahLst/>
              <a:cxnLst/>
              <a:rect r="r" b="b" t="t" l="l"/>
              <a:pathLst>
                <a:path h="1905635" w="18288">
                  <a:moveTo>
                    <a:pt x="0" y="0"/>
                  </a:moveTo>
                  <a:lnTo>
                    <a:pt x="18288" y="0"/>
                  </a:lnTo>
                  <a:lnTo>
                    <a:pt x="18288" y="1905635"/>
                  </a:lnTo>
                  <a:lnTo>
                    <a:pt x="0" y="1905635"/>
                  </a:lnTo>
                  <a:close/>
                </a:path>
              </a:pathLst>
            </a:custGeom>
            <a:solidFill>
              <a:srgbClr val="40424D"/>
            </a:solidFill>
          </p:spPr>
          <p:txBody>
            <a:bodyPr/>
            <a:p/>
          </p:txBody>
        </p:sp>
      </p:grpSp>
      <p:grpSp>
        <p:nvGrpSpPr>
          <p:cNvPr name="Group 24" id="24"/>
          <p:cNvGrpSpPr/>
          <p:nvPr/>
        </p:nvGrpSpPr>
        <p:grpSpPr>
          <a:xfrm rot="0">
            <a:off x="9901580" y="2409901"/>
            <a:ext cx="7472477" cy="391173"/>
            <a:chOff x="0" y="0"/>
            <a:chExt cx="9963302" cy="521564"/>
          </a:xfrm>
        </p:grpSpPr>
        <p:sp>
          <p:nvSpPr>
            <p:cNvPr name="Freeform 25" id="25"/>
            <p:cNvSpPr/>
            <p:nvPr/>
          </p:nvSpPr>
          <p:spPr>
            <a:xfrm flipH="false" flipV="false" rot="0">
              <a:off x="0" y="0"/>
              <a:ext cx="9963302" cy="521564"/>
            </a:xfrm>
            <a:custGeom>
              <a:avLst/>
              <a:gdLst/>
              <a:ahLst/>
              <a:cxnLst/>
              <a:rect r="r" b="b" t="t" l="l"/>
              <a:pathLst>
                <a:path h="521564" w="9963302">
                  <a:moveTo>
                    <a:pt x="0" y="0"/>
                  </a:moveTo>
                  <a:lnTo>
                    <a:pt x="9963302" y="0"/>
                  </a:lnTo>
                  <a:lnTo>
                    <a:pt x="9963302" y="521564"/>
                  </a:lnTo>
                  <a:lnTo>
                    <a:pt x="0" y="521564"/>
                  </a:lnTo>
                  <a:close/>
                </a:path>
              </a:pathLst>
            </a:custGeom>
            <a:blipFill>
              <a:blip r:embed="rId6">
                <a:alphaModFix amt="0"/>
              </a:blip>
              <a:stretch>
                <a:fillRect l="0" t="-328388" r="0" b="-316047"/>
              </a:stretch>
            </a:blipFill>
          </p:spPr>
          <p:txBody>
            <a:bodyPr/>
            <a:p/>
          </p:txBody>
        </p:sp>
        <p:sp>
          <p:nvSpPr>
            <p:cNvPr name="TextBox 26" id="26"/>
            <p:cNvSpPr txBox="true"/>
            <p:nvPr/>
          </p:nvSpPr>
          <p:spPr>
            <a:xfrm>
              <a:off x="0" y="9525"/>
              <a:ext cx="9963302" cy="512039"/>
            </a:xfrm>
            <a:prstGeom prst="rect">
              <a:avLst/>
            </a:prstGeom>
          </p:spPr>
          <p:txBody>
            <a:bodyPr anchor="ctr" rtlCol="false" tIns="0" lIns="0" bIns="0" rIns="0"/>
            <a:lstStyle/>
            <a:p>
              <a:pPr algn="l">
                <a:lnSpc>
                  <a:spcPts val="2160"/>
                </a:lnSpc>
              </a:pPr>
              <a:r>
                <a:rPr lang="en-US" b="true" sz="1800" spc="112">
                  <a:solidFill>
                    <a:srgbClr val="FFFFFF"/>
                  </a:solidFill>
                  <a:latin typeface="Manrope Bold"/>
                  <a:ea typeface="Manrope Bold"/>
                  <a:cs typeface="Manrope Bold"/>
                  <a:sym typeface="Manrope Bold"/>
                </a:rPr>
                <a:t>Assess: Mesurer</a:t>
              </a:r>
            </a:p>
          </p:txBody>
        </p:sp>
      </p:grpSp>
      <p:grpSp>
        <p:nvGrpSpPr>
          <p:cNvPr name="Group 27" id="27"/>
          <p:cNvGrpSpPr/>
          <p:nvPr/>
        </p:nvGrpSpPr>
        <p:grpSpPr>
          <a:xfrm rot="0">
            <a:off x="9901580" y="2809037"/>
            <a:ext cx="7416241" cy="571958"/>
            <a:chOff x="0" y="0"/>
            <a:chExt cx="9888322" cy="762610"/>
          </a:xfrm>
        </p:grpSpPr>
        <p:sp>
          <p:nvSpPr>
            <p:cNvPr name="Freeform 28" id="28"/>
            <p:cNvSpPr/>
            <p:nvPr/>
          </p:nvSpPr>
          <p:spPr>
            <a:xfrm flipH="false" flipV="false" rot="0">
              <a:off x="0" y="0"/>
              <a:ext cx="9888322" cy="762610"/>
            </a:xfrm>
            <a:custGeom>
              <a:avLst/>
              <a:gdLst/>
              <a:ahLst/>
              <a:cxnLst/>
              <a:rect r="r" b="b" t="t" l="l"/>
              <a:pathLst>
                <a:path h="762610" w="9888322">
                  <a:moveTo>
                    <a:pt x="0" y="0"/>
                  </a:moveTo>
                  <a:lnTo>
                    <a:pt x="9888322" y="0"/>
                  </a:lnTo>
                  <a:lnTo>
                    <a:pt x="9888322" y="762610"/>
                  </a:lnTo>
                  <a:lnTo>
                    <a:pt x="0" y="762610"/>
                  </a:lnTo>
                  <a:close/>
                </a:path>
              </a:pathLst>
            </a:custGeom>
            <a:blipFill>
              <a:blip r:embed="rId6">
                <a:alphaModFix amt="0"/>
              </a:blip>
              <a:stretch>
                <a:fillRect l="0" t="-202651" r="0" b="-202651"/>
              </a:stretch>
            </a:blipFill>
          </p:spPr>
          <p:txBody>
            <a:bodyPr/>
            <a:p/>
          </p:txBody>
        </p:sp>
        <p:sp>
          <p:nvSpPr>
            <p:cNvPr name="TextBox 29" id="29"/>
            <p:cNvSpPr txBox="true"/>
            <p:nvPr/>
          </p:nvSpPr>
          <p:spPr>
            <a:xfrm>
              <a:off x="0" y="-9525"/>
              <a:ext cx="9888322" cy="772135"/>
            </a:xfrm>
            <a:prstGeom prst="rect">
              <a:avLst/>
            </a:prstGeom>
          </p:spPr>
          <p:txBody>
            <a:bodyPr anchor="ctr" rtlCol="false" tIns="0" lIns="0" bIns="0" rIns="0"/>
            <a:lstStyle/>
            <a:p>
              <a:pPr algn="l">
                <a:lnSpc>
                  <a:spcPts val="1800"/>
                </a:lnSpc>
              </a:pPr>
              <a:r>
                <a:rPr lang="en-US" sz="1500">
                  <a:solidFill>
                    <a:srgbClr val="9DA2B3"/>
                  </a:solidFill>
                  <a:latin typeface="Manrope"/>
                  <a:ea typeface="Manrope"/>
                  <a:cs typeface="Manrope"/>
                  <a:sym typeface="Manrope"/>
                </a:rPr>
                <a:t>Analyse complète : objectifs, âge biologique, biomarqueurs clés, capacités physiques &amp; cognitives.</a:t>
              </a:r>
            </a:p>
          </p:txBody>
        </p:sp>
      </p:grpSp>
      <p:grpSp>
        <p:nvGrpSpPr>
          <p:cNvPr name="Group 30" id="30"/>
          <p:cNvGrpSpPr/>
          <p:nvPr/>
        </p:nvGrpSpPr>
        <p:grpSpPr>
          <a:xfrm rot="0">
            <a:off x="9086850" y="3826764"/>
            <a:ext cx="8343443" cy="1429207"/>
            <a:chOff x="0" y="0"/>
            <a:chExt cx="11124590" cy="1905610"/>
          </a:xfrm>
        </p:grpSpPr>
        <p:sp>
          <p:nvSpPr>
            <p:cNvPr name="Freeform 31" id="31"/>
            <p:cNvSpPr/>
            <p:nvPr/>
          </p:nvSpPr>
          <p:spPr>
            <a:xfrm flipH="false" flipV="false" rot="0">
              <a:off x="0" y="0"/>
              <a:ext cx="11124565" cy="1905635"/>
            </a:xfrm>
            <a:custGeom>
              <a:avLst/>
              <a:gdLst/>
              <a:ahLst/>
              <a:cxnLst/>
              <a:rect r="r" b="b" t="t" l="l"/>
              <a:pathLst>
                <a:path h="1905635" w="11124565">
                  <a:moveTo>
                    <a:pt x="0" y="0"/>
                  </a:moveTo>
                  <a:lnTo>
                    <a:pt x="11124565" y="0"/>
                  </a:lnTo>
                  <a:lnTo>
                    <a:pt x="11124565" y="1905635"/>
                  </a:lnTo>
                  <a:lnTo>
                    <a:pt x="0" y="1905635"/>
                  </a:lnTo>
                  <a:close/>
                </a:path>
              </a:pathLst>
            </a:custGeom>
            <a:solidFill>
              <a:srgbClr val="FFFFFF">
                <a:alpha val="0"/>
              </a:srgbClr>
            </a:solidFill>
          </p:spPr>
          <p:txBody>
            <a:bodyPr/>
            <a:p/>
          </p:txBody>
        </p:sp>
      </p:grpSp>
      <p:grpSp>
        <p:nvGrpSpPr>
          <p:cNvPr name="Group 32" id="32"/>
          <p:cNvGrpSpPr/>
          <p:nvPr/>
        </p:nvGrpSpPr>
        <p:grpSpPr>
          <a:xfrm rot="0">
            <a:off x="9077325" y="3817239"/>
            <a:ext cx="32766" cy="1448257"/>
            <a:chOff x="0" y="0"/>
            <a:chExt cx="43688" cy="1931010"/>
          </a:xfrm>
        </p:grpSpPr>
        <p:sp>
          <p:nvSpPr>
            <p:cNvPr name="Freeform 33" id="33"/>
            <p:cNvSpPr/>
            <p:nvPr/>
          </p:nvSpPr>
          <p:spPr>
            <a:xfrm flipH="false" flipV="false" rot="0">
              <a:off x="12700" y="12700"/>
              <a:ext cx="18288" cy="1905635"/>
            </a:xfrm>
            <a:custGeom>
              <a:avLst/>
              <a:gdLst/>
              <a:ahLst/>
              <a:cxnLst/>
              <a:rect r="r" b="b" t="t" l="l"/>
              <a:pathLst>
                <a:path h="1905635" w="18288">
                  <a:moveTo>
                    <a:pt x="0" y="0"/>
                  </a:moveTo>
                  <a:lnTo>
                    <a:pt x="18288" y="0"/>
                  </a:lnTo>
                  <a:lnTo>
                    <a:pt x="18288" y="1905635"/>
                  </a:lnTo>
                  <a:lnTo>
                    <a:pt x="0" y="1905635"/>
                  </a:lnTo>
                  <a:close/>
                </a:path>
              </a:pathLst>
            </a:custGeom>
            <a:solidFill>
              <a:srgbClr val="40424D"/>
            </a:solidFill>
          </p:spPr>
          <p:txBody>
            <a:bodyPr/>
            <a:p/>
          </p:txBody>
        </p:sp>
      </p:grpSp>
      <p:grpSp>
        <p:nvGrpSpPr>
          <p:cNvPr name="Group 34" id="34"/>
          <p:cNvGrpSpPr/>
          <p:nvPr/>
        </p:nvGrpSpPr>
        <p:grpSpPr>
          <a:xfrm rot="0">
            <a:off x="9901580" y="4054450"/>
            <a:ext cx="7472477" cy="391173"/>
            <a:chOff x="0" y="0"/>
            <a:chExt cx="9963302" cy="521564"/>
          </a:xfrm>
        </p:grpSpPr>
        <p:sp>
          <p:nvSpPr>
            <p:cNvPr name="Freeform 35" id="35"/>
            <p:cNvSpPr/>
            <p:nvPr/>
          </p:nvSpPr>
          <p:spPr>
            <a:xfrm flipH="false" flipV="false" rot="0">
              <a:off x="0" y="0"/>
              <a:ext cx="9963302" cy="521564"/>
            </a:xfrm>
            <a:custGeom>
              <a:avLst/>
              <a:gdLst/>
              <a:ahLst/>
              <a:cxnLst/>
              <a:rect r="r" b="b" t="t" l="l"/>
              <a:pathLst>
                <a:path h="521564" w="9963302">
                  <a:moveTo>
                    <a:pt x="0" y="0"/>
                  </a:moveTo>
                  <a:lnTo>
                    <a:pt x="9963302" y="0"/>
                  </a:lnTo>
                  <a:lnTo>
                    <a:pt x="9963302" y="521564"/>
                  </a:lnTo>
                  <a:lnTo>
                    <a:pt x="0" y="521564"/>
                  </a:lnTo>
                  <a:close/>
                </a:path>
              </a:pathLst>
            </a:custGeom>
            <a:blipFill>
              <a:blip r:embed="rId6">
                <a:alphaModFix amt="0"/>
              </a:blip>
              <a:stretch>
                <a:fillRect l="0" t="-328388" r="0" b="-316047"/>
              </a:stretch>
            </a:blipFill>
          </p:spPr>
          <p:txBody>
            <a:bodyPr/>
            <a:p/>
          </p:txBody>
        </p:sp>
        <p:sp>
          <p:nvSpPr>
            <p:cNvPr name="TextBox 36" id="36"/>
            <p:cNvSpPr txBox="true"/>
            <p:nvPr/>
          </p:nvSpPr>
          <p:spPr>
            <a:xfrm>
              <a:off x="0" y="9525"/>
              <a:ext cx="9963302" cy="512039"/>
            </a:xfrm>
            <a:prstGeom prst="rect">
              <a:avLst/>
            </a:prstGeom>
          </p:spPr>
          <p:txBody>
            <a:bodyPr anchor="ctr" rtlCol="false" tIns="0" lIns="0" bIns="0" rIns="0"/>
            <a:lstStyle/>
            <a:p>
              <a:pPr algn="l">
                <a:lnSpc>
                  <a:spcPts val="2160"/>
                </a:lnSpc>
              </a:pPr>
              <a:r>
                <a:rPr lang="en-US" b="true" sz="1800" spc="149">
                  <a:solidFill>
                    <a:srgbClr val="FFFFFF"/>
                  </a:solidFill>
                  <a:latin typeface="Manrope Bold"/>
                  <a:ea typeface="Manrope Bold"/>
                  <a:cs typeface="Manrope Bold"/>
                  <a:sym typeface="Manrope Bold"/>
                </a:rPr>
                <a:t>Design: Concevoir</a:t>
              </a:r>
            </a:p>
          </p:txBody>
        </p:sp>
      </p:grpSp>
      <p:grpSp>
        <p:nvGrpSpPr>
          <p:cNvPr name="Group 37" id="37"/>
          <p:cNvGrpSpPr/>
          <p:nvPr/>
        </p:nvGrpSpPr>
        <p:grpSpPr>
          <a:xfrm rot="0">
            <a:off x="9901580" y="4454957"/>
            <a:ext cx="7416241" cy="571958"/>
            <a:chOff x="0" y="0"/>
            <a:chExt cx="9888322" cy="762610"/>
          </a:xfrm>
        </p:grpSpPr>
        <p:sp>
          <p:nvSpPr>
            <p:cNvPr name="Freeform 38" id="38"/>
            <p:cNvSpPr/>
            <p:nvPr/>
          </p:nvSpPr>
          <p:spPr>
            <a:xfrm flipH="false" flipV="false" rot="0">
              <a:off x="0" y="0"/>
              <a:ext cx="9888322" cy="762610"/>
            </a:xfrm>
            <a:custGeom>
              <a:avLst/>
              <a:gdLst/>
              <a:ahLst/>
              <a:cxnLst/>
              <a:rect r="r" b="b" t="t" l="l"/>
              <a:pathLst>
                <a:path h="762610" w="9888322">
                  <a:moveTo>
                    <a:pt x="0" y="0"/>
                  </a:moveTo>
                  <a:lnTo>
                    <a:pt x="9888322" y="0"/>
                  </a:lnTo>
                  <a:lnTo>
                    <a:pt x="9888322" y="762610"/>
                  </a:lnTo>
                  <a:lnTo>
                    <a:pt x="0" y="762610"/>
                  </a:lnTo>
                  <a:close/>
                </a:path>
              </a:pathLst>
            </a:custGeom>
            <a:blipFill>
              <a:blip r:embed="rId6">
                <a:alphaModFix amt="0"/>
              </a:blip>
              <a:stretch>
                <a:fillRect l="0" t="-202651" r="0" b="-202651"/>
              </a:stretch>
            </a:blipFill>
          </p:spPr>
          <p:txBody>
            <a:bodyPr/>
            <a:p/>
          </p:txBody>
        </p:sp>
        <p:sp>
          <p:nvSpPr>
            <p:cNvPr name="TextBox 39" id="39"/>
            <p:cNvSpPr txBox="true"/>
            <p:nvPr/>
          </p:nvSpPr>
          <p:spPr>
            <a:xfrm>
              <a:off x="0" y="-9525"/>
              <a:ext cx="9888322" cy="772135"/>
            </a:xfrm>
            <a:prstGeom prst="rect">
              <a:avLst/>
            </a:prstGeom>
          </p:spPr>
          <p:txBody>
            <a:bodyPr anchor="ctr" rtlCol="false" tIns="0" lIns="0" bIns="0" rIns="0"/>
            <a:lstStyle/>
            <a:p>
              <a:pPr algn="l">
                <a:lnSpc>
                  <a:spcPts val="1800"/>
                </a:lnSpc>
              </a:pPr>
              <a:r>
                <a:rPr lang="en-US" sz="1500">
                  <a:solidFill>
                    <a:srgbClr val="9DA2B3"/>
                  </a:solidFill>
                  <a:latin typeface="Manrope"/>
                  <a:ea typeface="Manrope"/>
                  <a:cs typeface="Manrope"/>
                  <a:sym typeface="Manrope"/>
                </a:rPr>
                <a:t>Plan stratégique de 90 jours : nutrition, métabolisme, mouvement, sommeil et environnement.</a:t>
              </a:r>
            </a:p>
          </p:txBody>
        </p:sp>
      </p:grpSp>
      <p:grpSp>
        <p:nvGrpSpPr>
          <p:cNvPr name="Group 40" id="40"/>
          <p:cNvGrpSpPr/>
          <p:nvPr/>
        </p:nvGrpSpPr>
        <p:grpSpPr>
          <a:xfrm rot="0">
            <a:off x="9086850" y="5472684"/>
            <a:ext cx="8343443" cy="1429207"/>
            <a:chOff x="0" y="0"/>
            <a:chExt cx="11124590" cy="1905610"/>
          </a:xfrm>
        </p:grpSpPr>
        <p:sp>
          <p:nvSpPr>
            <p:cNvPr name="Freeform 41" id="41"/>
            <p:cNvSpPr/>
            <p:nvPr/>
          </p:nvSpPr>
          <p:spPr>
            <a:xfrm flipH="false" flipV="false" rot="0">
              <a:off x="0" y="0"/>
              <a:ext cx="11124565" cy="1905635"/>
            </a:xfrm>
            <a:custGeom>
              <a:avLst/>
              <a:gdLst/>
              <a:ahLst/>
              <a:cxnLst/>
              <a:rect r="r" b="b" t="t" l="l"/>
              <a:pathLst>
                <a:path h="1905635" w="11124565">
                  <a:moveTo>
                    <a:pt x="0" y="0"/>
                  </a:moveTo>
                  <a:lnTo>
                    <a:pt x="11124565" y="0"/>
                  </a:lnTo>
                  <a:lnTo>
                    <a:pt x="11124565" y="1905635"/>
                  </a:lnTo>
                  <a:lnTo>
                    <a:pt x="0" y="1905635"/>
                  </a:lnTo>
                  <a:close/>
                </a:path>
              </a:pathLst>
            </a:custGeom>
            <a:solidFill>
              <a:srgbClr val="FFFFFF">
                <a:alpha val="0"/>
              </a:srgbClr>
            </a:solidFill>
          </p:spPr>
          <p:txBody>
            <a:bodyPr/>
            <a:p/>
          </p:txBody>
        </p:sp>
      </p:grpSp>
      <p:grpSp>
        <p:nvGrpSpPr>
          <p:cNvPr name="Group 42" id="42"/>
          <p:cNvGrpSpPr/>
          <p:nvPr/>
        </p:nvGrpSpPr>
        <p:grpSpPr>
          <a:xfrm rot="0">
            <a:off x="9077325" y="5463159"/>
            <a:ext cx="32766" cy="1448257"/>
            <a:chOff x="0" y="0"/>
            <a:chExt cx="43688" cy="1931010"/>
          </a:xfrm>
        </p:grpSpPr>
        <p:sp>
          <p:nvSpPr>
            <p:cNvPr name="Freeform 43" id="43"/>
            <p:cNvSpPr/>
            <p:nvPr/>
          </p:nvSpPr>
          <p:spPr>
            <a:xfrm flipH="false" flipV="false" rot="0">
              <a:off x="12700" y="12700"/>
              <a:ext cx="18288" cy="1905635"/>
            </a:xfrm>
            <a:custGeom>
              <a:avLst/>
              <a:gdLst/>
              <a:ahLst/>
              <a:cxnLst/>
              <a:rect r="r" b="b" t="t" l="l"/>
              <a:pathLst>
                <a:path h="1905635" w="18288">
                  <a:moveTo>
                    <a:pt x="0" y="0"/>
                  </a:moveTo>
                  <a:lnTo>
                    <a:pt x="18288" y="0"/>
                  </a:lnTo>
                  <a:lnTo>
                    <a:pt x="18288" y="1905635"/>
                  </a:lnTo>
                  <a:lnTo>
                    <a:pt x="0" y="1905635"/>
                  </a:lnTo>
                  <a:close/>
                </a:path>
              </a:pathLst>
            </a:custGeom>
            <a:solidFill>
              <a:srgbClr val="40424D"/>
            </a:solidFill>
          </p:spPr>
          <p:txBody>
            <a:bodyPr/>
            <a:p/>
          </p:txBody>
        </p:sp>
      </p:grpSp>
      <p:grpSp>
        <p:nvGrpSpPr>
          <p:cNvPr name="Group 44" id="44"/>
          <p:cNvGrpSpPr/>
          <p:nvPr/>
        </p:nvGrpSpPr>
        <p:grpSpPr>
          <a:xfrm rot="0">
            <a:off x="9901580" y="5700370"/>
            <a:ext cx="7472477" cy="391173"/>
            <a:chOff x="0" y="0"/>
            <a:chExt cx="9963302" cy="521564"/>
          </a:xfrm>
        </p:grpSpPr>
        <p:sp>
          <p:nvSpPr>
            <p:cNvPr name="Freeform 45" id="45"/>
            <p:cNvSpPr/>
            <p:nvPr/>
          </p:nvSpPr>
          <p:spPr>
            <a:xfrm flipH="false" flipV="false" rot="0">
              <a:off x="0" y="0"/>
              <a:ext cx="9963302" cy="521564"/>
            </a:xfrm>
            <a:custGeom>
              <a:avLst/>
              <a:gdLst/>
              <a:ahLst/>
              <a:cxnLst/>
              <a:rect r="r" b="b" t="t" l="l"/>
              <a:pathLst>
                <a:path h="521564" w="9963302">
                  <a:moveTo>
                    <a:pt x="0" y="0"/>
                  </a:moveTo>
                  <a:lnTo>
                    <a:pt x="9963302" y="0"/>
                  </a:lnTo>
                  <a:lnTo>
                    <a:pt x="9963302" y="521564"/>
                  </a:lnTo>
                  <a:lnTo>
                    <a:pt x="0" y="521564"/>
                  </a:lnTo>
                  <a:close/>
                </a:path>
              </a:pathLst>
            </a:custGeom>
            <a:blipFill>
              <a:blip r:embed="rId6">
                <a:alphaModFix amt="0"/>
              </a:blip>
              <a:stretch>
                <a:fillRect l="0" t="-328388" r="0" b="-316047"/>
              </a:stretch>
            </a:blipFill>
          </p:spPr>
          <p:txBody>
            <a:bodyPr/>
            <a:p/>
          </p:txBody>
        </p:sp>
        <p:sp>
          <p:nvSpPr>
            <p:cNvPr name="TextBox 46" id="46"/>
            <p:cNvSpPr txBox="true"/>
            <p:nvPr/>
          </p:nvSpPr>
          <p:spPr>
            <a:xfrm>
              <a:off x="0" y="9525"/>
              <a:ext cx="9963302" cy="512039"/>
            </a:xfrm>
            <a:prstGeom prst="rect">
              <a:avLst/>
            </a:prstGeom>
          </p:spPr>
          <p:txBody>
            <a:bodyPr anchor="ctr" rtlCol="false" tIns="0" lIns="0" bIns="0" rIns="0"/>
            <a:lstStyle/>
            <a:p>
              <a:pPr algn="l">
                <a:lnSpc>
                  <a:spcPts val="2160"/>
                </a:lnSpc>
              </a:pPr>
              <a:r>
                <a:rPr lang="en-US" b="true" sz="1800" spc="149">
                  <a:solidFill>
                    <a:srgbClr val="FFFFFF"/>
                  </a:solidFill>
                  <a:latin typeface="Manrope Bold"/>
                  <a:ea typeface="Manrope Bold"/>
                  <a:cs typeface="Manrope Bold"/>
                  <a:sym typeface="Manrope Bold"/>
                </a:rPr>
                <a:t>Develop: Construire</a:t>
              </a:r>
            </a:p>
          </p:txBody>
        </p:sp>
      </p:grpSp>
      <p:grpSp>
        <p:nvGrpSpPr>
          <p:cNvPr name="Group 47" id="47"/>
          <p:cNvGrpSpPr/>
          <p:nvPr/>
        </p:nvGrpSpPr>
        <p:grpSpPr>
          <a:xfrm rot="0">
            <a:off x="9901580" y="6100877"/>
            <a:ext cx="7416241" cy="571958"/>
            <a:chOff x="0" y="0"/>
            <a:chExt cx="9888322" cy="762610"/>
          </a:xfrm>
        </p:grpSpPr>
        <p:sp>
          <p:nvSpPr>
            <p:cNvPr name="Freeform 48" id="48"/>
            <p:cNvSpPr/>
            <p:nvPr/>
          </p:nvSpPr>
          <p:spPr>
            <a:xfrm flipH="false" flipV="false" rot="0">
              <a:off x="0" y="0"/>
              <a:ext cx="9888322" cy="762610"/>
            </a:xfrm>
            <a:custGeom>
              <a:avLst/>
              <a:gdLst/>
              <a:ahLst/>
              <a:cxnLst/>
              <a:rect r="r" b="b" t="t" l="l"/>
              <a:pathLst>
                <a:path h="762610" w="9888322">
                  <a:moveTo>
                    <a:pt x="0" y="0"/>
                  </a:moveTo>
                  <a:lnTo>
                    <a:pt x="9888322" y="0"/>
                  </a:lnTo>
                  <a:lnTo>
                    <a:pt x="9888322" y="762610"/>
                  </a:lnTo>
                  <a:lnTo>
                    <a:pt x="0" y="762610"/>
                  </a:lnTo>
                  <a:close/>
                </a:path>
              </a:pathLst>
            </a:custGeom>
            <a:blipFill>
              <a:blip r:embed="rId6">
                <a:alphaModFix amt="0"/>
              </a:blip>
              <a:stretch>
                <a:fillRect l="0" t="-202651" r="0" b="-202651"/>
              </a:stretch>
            </a:blipFill>
          </p:spPr>
          <p:txBody>
            <a:bodyPr/>
            <a:p/>
          </p:txBody>
        </p:sp>
        <p:sp>
          <p:nvSpPr>
            <p:cNvPr name="TextBox 49" id="49"/>
            <p:cNvSpPr txBox="true"/>
            <p:nvPr/>
          </p:nvSpPr>
          <p:spPr>
            <a:xfrm>
              <a:off x="0" y="-9525"/>
              <a:ext cx="9888322" cy="772135"/>
            </a:xfrm>
            <a:prstGeom prst="rect">
              <a:avLst/>
            </a:prstGeom>
          </p:spPr>
          <p:txBody>
            <a:bodyPr anchor="ctr" rtlCol="false" tIns="0" lIns="0" bIns="0" rIns="0"/>
            <a:lstStyle/>
            <a:p>
              <a:pPr algn="l">
                <a:lnSpc>
                  <a:spcPts val="1800"/>
                </a:lnSpc>
              </a:pPr>
              <a:r>
                <a:rPr lang="en-US" sz="1500">
                  <a:solidFill>
                    <a:srgbClr val="9DA2B3"/>
                  </a:solidFill>
                  <a:latin typeface="Manrope"/>
                  <a:ea typeface="Manrope"/>
                  <a:cs typeface="Manrope"/>
                  <a:sym typeface="Manrope"/>
                </a:rPr>
                <a:t>Ancrage d'habitudes durables, coaching médical et progression fonctionnelle sécurisée.</a:t>
              </a:r>
            </a:p>
          </p:txBody>
        </p:sp>
      </p:grpSp>
      <p:grpSp>
        <p:nvGrpSpPr>
          <p:cNvPr name="Group 50" id="50"/>
          <p:cNvGrpSpPr/>
          <p:nvPr/>
        </p:nvGrpSpPr>
        <p:grpSpPr>
          <a:xfrm rot="0">
            <a:off x="9086850" y="7117232"/>
            <a:ext cx="8343443" cy="1429207"/>
            <a:chOff x="0" y="0"/>
            <a:chExt cx="11124590" cy="1905610"/>
          </a:xfrm>
        </p:grpSpPr>
        <p:sp>
          <p:nvSpPr>
            <p:cNvPr name="Freeform 51" id="51"/>
            <p:cNvSpPr/>
            <p:nvPr/>
          </p:nvSpPr>
          <p:spPr>
            <a:xfrm flipH="false" flipV="false" rot="0">
              <a:off x="0" y="0"/>
              <a:ext cx="11124565" cy="1905635"/>
            </a:xfrm>
            <a:custGeom>
              <a:avLst/>
              <a:gdLst/>
              <a:ahLst/>
              <a:cxnLst/>
              <a:rect r="r" b="b" t="t" l="l"/>
              <a:pathLst>
                <a:path h="1905635" w="11124565">
                  <a:moveTo>
                    <a:pt x="0" y="0"/>
                  </a:moveTo>
                  <a:lnTo>
                    <a:pt x="11124565" y="0"/>
                  </a:lnTo>
                  <a:lnTo>
                    <a:pt x="11124565" y="1905635"/>
                  </a:lnTo>
                  <a:lnTo>
                    <a:pt x="0" y="1905635"/>
                  </a:lnTo>
                  <a:close/>
                </a:path>
              </a:pathLst>
            </a:custGeom>
            <a:solidFill>
              <a:srgbClr val="FFFFFF">
                <a:alpha val="0"/>
              </a:srgbClr>
            </a:solidFill>
          </p:spPr>
          <p:txBody>
            <a:bodyPr/>
            <a:p/>
          </p:txBody>
        </p:sp>
      </p:grpSp>
      <p:grpSp>
        <p:nvGrpSpPr>
          <p:cNvPr name="Group 52" id="52"/>
          <p:cNvGrpSpPr/>
          <p:nvPr/>
        </p:nvGrpSpPr>
        <p:grpSpPr>
          <a:xfrm rot="0">
            <a:off x="9077325" y="7107707"/>
            <a:ext cx="32766" cy="1448257"/>
            <a:chOff x="0" y="0"/>
            <a:chExt cx="43688" cy="1931010"/>
          </a:xfrm>
        </p:grpSpPr>
        <p:sp>
          <p:nvSpPr>
            <p:cNvPr name="Freeform 53" id="53"/>
            <p:cNvSpPr/>
            <p:nvPr/>
          </p:nvSpPr>
          <p:spPr>
            <a:xfrm flipH="false" flipV="false" rot="0">
              <a:off x="12700" y="12700"/>
              <a:ext cx="18288" cy="1905635"/>
            </a:xfrm>
            <a:custGeom>
              <a:avLst/>
              <a:gdLst/>
              <a:ahLst/>
              <a:cxnLst/>
              <a:rect r="r" b="b" t="t" l="l"/>
              <a:pathLst>
                <a:path h="1905635" w="18288">
                  <a:moveTo>
                    <a:pt x="0" y="0"/>
                  </a:moveTo>
                  <a:lnTo>
                    <a:pt x="18288" y="0"/>
                  </a:lnTo>
                  <a:lnTo>
                    <a:pt x="18288" y="1905635"/>
                  </a:lnTo>
                  <a:lnTo>
                    <a:pt x="0" y="1905635"/>
                  </a:lnTo>
                  <a:close/>
                </a:path>
              </a:pathLst>
            </a:custGeom>
            <a:solidFill>
              <a:srgbClr val="40424D"/>
            </a:solidFill>
          </p:spPr>
          <p:txBody>
            <a:bodyPr/>
            <a:p/>
          </p:txBody>
        </p:sp>
      </p:grpSp>
      <p:grpSp>
        <p:nvGrpSpPr>
          <p:cNvPr name="Group 54" id="54"/>
          <p:cNvGrpSpPr/>
          <p:nvPr/>
        </p:nvGrpSpPr>
        <p:grpSpPr>
          <a:xfrm rot="0">
            <a:off x="9901580" y="7346290"/>
            <a:ext cx="7472477" cy="391173"/>
            <a:chOff x="0" y="0"/>
            <a:chExt cx="9963302" cy="521564"/>
          </a:xfrm>
        </p:grpSpPr>
        <p:sp>
          <p:nvSpPr>
            <p:cNvPr name="Freeform 55" id="55"/>
            <p:cNvSpPr/>
            <p:nvPr/>
          </p:nvSpPr>
          <p:spPr>
            <a:xfrm flipH="false" flipV="false" rot="0">
              <a:off x="0" y="0"/>
              <a:ext cx="9963302" cy="521564"/>
            </a:xfrm>
            <a:custGeom>
              <a:avLst/>
              <a:gdLst/>
              <a:ahLst/>
              <a:cxnLst/>
              <a:rect r="r" b="b" t="t" l="l"/>
              <a:pathLst>
                <a:path h="521564" w="9963302">
                  <a:moveTo>
                    <a:pt x="0" y="0"/>
                  </a:moveTo>
                  <a:lnTo>
                    <a:pt x="9963302" y="0"/>
                  </a:lnTo>
                  <a:lnTo>
                    <a:pt x="9963302" y="521564"/>
                  </a:lnTo>
                  <a:lnTo>
                    <a:pt x="0" y="521564"/>
                  </a:lnTo>
                  <a:close/>
                </a:path>
              </a:pathLst>
            </a:custGeom>
            <a:blipFill>
              <a:blip r:embed="rId6">
                <a:alphaModFix amt="0"/>
              </a:blip>
              <a:stretch>
                <a:fillRect l="0" t="-328388" r="0" b="-316047"/>
              </a:stretch>
            </a:blipFill>
          </p:spPr>
          <p:txBody>
            <a:bodyPr/>
            <a:p/>
          </p:txBody>
        </p:sp>
        <p:sp>
          <p:nvSpPr>
            <p:cNvPr name="TextBox 56" id="56"/>
            <p:cNvSpPr txBox="true"/>
            <p:nvPr/>
          </p:nvSpPr>
          <p:spPr>
            <a:xfrm>
              <a:off x="0" y="9525"/>
              <a:ext cx="9963302" cy="512039"/>
            </a:xfrm>
            <a:prstGeom prst="rect">
              <a:avLst/>
            </a:prstGeom>
          </p:spPr>
          <p:txBody>
            <a:bodyPr anchor="ctr" rtlCol="false" tIns="0" lIns="0" bIns="0" rIns="0"/>
            <a:lstStyle/>
            <a:p>
              <a:pPr algn="l">
                <a:lnSpc>
                  <a:spcPts val="2160"/>
                </a:lnSpc>
              </a:pPr>
              <a:r>
                <a:rPr lang="en-US" b="true" sz="1800" spc="112">
                  <a:solidFill>
                    <a:srgbClr val="FFFFFF"/>
                  </a:solidFill>
                  <a:latin typeface="Manrope Bold"/>
                  <a:ea typeface="Manrope Bold"/>
                  <a:cs typeface="Manrope Bold"/>
                  <a:sym typeface="Manrope Bold"/>
                </a:rPr>
                <a:t>Optimize: Affiner</a:t>
              </a:r>
            </a:p>
          </p:txBody>
        </p:sp>
      </p:grpSp>
      <p:grpSp>
        <p:nvGrpSpPr>
          <p:cNvPr name="Group 57" id="57"/>
          <p:cNvGrpSpPr/>
          <p:nvPr/>
        </p:nvGrpSpPr>
        <p:grpSpPr>
          <a:xfrm rot="0">
            <a:off x="9901580" y="7746797"/>
            <a:ext cx="7416241" cy="571958"/>
            <a:chOff x="0" y="0"/>
            <a:chExt cx="9888322" cy="762610"/>
          </a:xfrm>
        </p:grpSpPr>
        <p:sp>
          <p:nvSpPr>
            <p:cNvPr name="Freeform 58" id="58"/>
            <p:cNvSpPr/>
            <p:nvPr/>
          </p:nvSpPr>
          <p:spPr>
            <a:xfrm flipH="false" flipV="false" rot="0">
              <a:off x="0" y="0"/>
              <a:ext cx="9888322" cy="762610"/>
            </a:xfrm>
            <a:custGeom>
              <a:avLst/>
              <a:gdLst/>
              <a:ahLst/>
              <a:cxnLst/>
              <a:rect r="r" b="b" t="t" l="l"/>
              <a:pathLst>
                <a:path h="762610" w="9888322">
                  <a:moveTo>
                    <a:pt x="0" y="0"/>
                  </a:moveTo>
                  <a:lnTo>
                    <a:pt x="9888322" y="0"/>
                  </a:lnTo>
                  <a:lnTo>
                    <a:pt x="9888322" y="762610"/>
                  </a:lnTo>
                  <a:lnTo>
                    <a:pt x="0" y="762610"/>
                  </a:lnTo>
                  <a:close/>
                </a:path>
              </a:pathLst>
            </a:custGeom>
            <a:blipFill>
              <a:blip r:embed="rId6">
                <a:alphaModFix amt="0"/>
              </a:blip>
              <a:stretch>
                <a:fillRect l="0" t="-202651" r="0" b="-202651"/>
              </a:stretch>
            </a:blipFill>
          </p:spPr>
          <p:txBody>
            <a:bodyPr/>
            <a:p/>
          </p:txBody>
        </p:sp>
        <p:sp>
          <p:nvSpPr>
            <p:cNvPr name="TextBox 59" id="59"/>
            <p:cNvSpPr txBox="true"/>
            <p:nvPr/>
          </p:nvSpPr>
          <p:spPr>
            <a:xfrm>
              <a:off x="0" y="-9525"/>
              <a:ext cx="9888322" cy="772135"/>
            </a:xfrm>
            <a:prstGeom prst="rect">
              <a:avLst/>
            </a:prstGeom>
          </p:spPr>
          <p:txBody>
            <a:bodyPr anchor="ctr" rtlCol="false" tIns="0" lIns="0" bIns="0" rIns="0"/>
            <a:lstStyle/>
            <a:p>
              <a:pPr algn="l">
                <a:lnSpc>
                  <a:spcPts val="1800"/>
                </a:lnSpc>
              </a:pPr>
              <a:r>
                <a:rPr lang="en-US" sz="1500">
                  <a:solidFill>
                    <a:srgbClr val="9DA2B3"/>
                  </a:solidFill>
                  <a:latin typeface="Manrope"/>
                  <a:ea typeface="Manrope"/>
                  <a:cs typeface="Manrope"/>
                  <a:sym typeface="Manrope"/>
                </a:rPr>
                <a:t>Recalibrage piloté par la data (Data-driven). Optimisation métabolique et hormonale continue.</a:t>
              </a:r>
            </a:p>
          </p:txBody>
        </p:sp>
      </p:grpSp>
      <p:grpSp>
        <p:nvGrpSpPr>
          <p:cNvPr name="Group 60" id="60"/>
          <p:cNvGrpSpPr/>
          <p:nvPr/>
        </p:nvGrpSpPr>
        <p:grpSpPr>
          <a:xfrm rot="0">
            <a:off x="9086850" y="8763152"/>
            <a:ext cx="8343443" cy="1429207"/>
            <a:chOff x="0" y="0"/>
            <a:chExt cx="11124590" cy="1905610"/>
          </a:xfrm>
        </p:grpSpPr>
        <p:sp>
          <p:nvSpPr>
            <p:cNvPr name="Freeform 61" id="61"/>
            <p:cNvSpPr/>
            <p:nvPr/>
          </p:nvSpPr>
          <p:spPr>
            <a:xfrm flipH="false" flipV="false" rot="0">
              <a:off x="0" y="0"/>
              <a:ext cx="11124565" cy="1905635"/>
            </a:xfrm>
            <a:custGeom>
              <a:avLst/>
              <a:gdLst/>
              <a:ahLst/>
              <a:cxnLst/>
              <a:rect r="r" b="b" t="t" l="l"/>
              <a:pathLst>
                <a:path h="1905635" w="11124565">
                  <a:moveTo>
                    <a:pt x="0" y="0"/>
                  </a:moveTo>
                  <a:lnTo>
                    <a:pt x="11124565" y="0"/>
                  </a:lnTo>
                  <a:lnTo>
                    <a:pt x="11124565" y="1905635"/>
                  </a:lnTo>
                  <a:lnTo>
                    <a:pt x="0" y="1905635"/>
                  </a:lnTo>
                  <a:close/>
                </a:path>
              </a:pathLst>
            </a:custGeom>
            <a:solidFill>
              <a:srgbClr val="FFFFFF">
                <a:alpha val="0"/>
              </a:srgbClr>
            </a:solidFill>
          </p:spPr>
          <p:txBody>
            <a:bodyPr/>
            <a:p/>
          </p:txBody>
        </p:sp>
      </p:grpSp>
      <p:grpSp>
        <p:nvGrpSpPr>
          <p:cNvPr name="Group 62" id="62"/>
          <p:cNvGrpSpPr/>
          <p:nvPr/>
        </p:nvGrpSpPr>
        <p:grpSpPr>
          <a:xfrm rot="0">
            <a:off x="9077325" y="8753627"/>
            <a:ext cx="32766" cy="1448257"/>
            <a:chOff x="0" y="0"/>
            <a:chExt cx="43688" cy="1931010"/>
          </a:xfrm>
        </p:grpSpPr>
        <p:sp>
          <p:nvSpPr>
            <p:cNvPr name="Freeform 63" id="63"/>
            <p:cNvSpPr/>
            <p:nvPr/>
          </p:nvSpPr>
          <p:spPr>
            <a:xfrm flipH="false" flipV="false" rot="0">
              <a:off x="12700" y="12700"/>
              <a:ext cx="18288" cy="1905635"/>
            </a:xfrm>
            <a:custGeom>
              <a:avLst/>
              <a:gdLst/>
              <a:ahLst/>
              <a:cxnLst/>
              <a:rect r="r" b="b" t="t" l="l"/>
              <a:pathLst>
                <a:path h="1905635" w="18288">
                  <a:moveTo>
                    <a:pt x="0" y="0"/>
                  </a:moveTo>
                  <a:lnTo>
                    <a:pt x="18288" y="0"/>
                  </a:lnTo>
                  <a:lnTo>
                    <a:pt x="18288" y="1905635"/>
                  </a:lnTo>
                  <a:lnTo>
                    <a:pt x="0" y="1905635"/>
                  </a:lnTo>
                  <a:close/>
                </a:path>
              </a:pathLst>
            </a:custGeom>
            <a:solidFill>
              <a:srgbClr val="40424D"/>
            </a:solidFill>
          </p:spPr>
          <p:txBody>
            <a:bodyPr/>
            <a:p/>
          </p:txBody>
        </p:sp>
      </p:grpSp>
      <p:grpSp>
        <p:nvGrpSpPr>
          <p:cNvPr name="Group 64" id="64"/>
          <p:cNvGrpSpPr/>
          <p:nvPr/>
        </p:nvGrpSpPr>
        <p:grpSpPr>
          <a:xfrm rot="0">
            <a:off x="9901580" y="8992210"/>
            <a:ext cx="7472477" cy="391173"/>
            <a:chOff x="0" y="0"/>
            <a:chExt cx="9963302" cy="521564"/>
          </a:xfrm>
        </p:grpSpPr>
        <p:sp>
          <p:nvSpPr>
            <p:cNvPr name="Freeform 65" id="65"/>
            <p:cNvSpPr/>
            <p:nvPr/>
          </p:nvSpPr>
          <p:spPr>
            <a:xfrm flipH="false" flipV="false" rot="0">
              <a:off x="0" y="0"/>
              <a:ext cx="9963302" cy="521564"/>
            </a:xfrm>
            <a:custGeom>
              <a:avLst/>
              <a:gdLst/>
              <a:ahLst/>
              <a:cxnLst/>
              <a:rect r="r" b="b" t="t" l="l"/>
              <a:pathLst>
                <a:path h="521564" w="9963302">
                  <a:moveTo>
                    <a:pt x="0" y="0"/>
                  </a:moveTo>
                  <a:lnTo>
                    <a:pt x="9963302" y="0"/>
                  </a:lnTo>
                  <a:lnTo>
                    <a:pt x="9963302" y="521564"/>
                  </a:lnTo>
                  <a:lnTo>
                    <a:pt x="0" y="521564"/>
                  </a:lnTo>
                  <a:close/>
                </a:path>
              </a:pathLst>
            </a:custGeom>
            <a:blipFill>
              <a:blip r:embed="rId6">
                <a:alphaModFix amt="0"/>
              </a:blip>
              <a:stretch>
                <a:fillRect l="0" t="-328388" r="0" b="-316047"/>
              </a:stretch>
            </a:blipFill>
          </p:spPr>
          <p:txBody>
            <a:bodyPr/>
            <a:p/>
          </p:txBody>
        </p:sp>
        <p:sp>
          <p:nvSpPr>
            <p:cNvPr name="TextBox 66" id="66"/>
            <p:cNvSpPr txBox="true"/>
            <p:nvPr/>
          </p:nvSpPr>
          <p:spPr>
            <a:xfrm>
              <a:off x="0" y="9525"/>
              <a:ext cx="9963302" cy="512039"/>
            </a:xfrm>
            <a:prstGeom prst="rect">
              <a:avLst/>
            </a:prstGeom>
          </p:spPr>
          <p:txBody>
            <a:bodyPr anchor="ctr" rtlCol="false" tIns="0" lIns="0" bIns="0" rIns="0"/>
            <a:lstStyle/>
            <a:p>
              <a:pPr algn="l">
                <a:lnSpc>
                  <a:spcPts val="2160"/>
                </a:lnSpc>
              </a:pPr>
              <a:r>
                <a:rPr lang="en-US" b="true" sz="1800" spc="112">
                  <a:solidFill>
                    <a:srgbClr val="FFFFFF"/>
                  </a:solidFill>
                  <a:latin typeface="Manrope Bold"/>
                  <a:ea typeface="Manrope Bold"/>
                  <a:cs typeface="Manrope Bold"/>
                  <a:sym typeface="Manrope Bold"/>
                </a:rPr>
                <a:t>Rejuvenate: Rajeunir</a:t>
              </a:r>
            </a:p>
          </p:txBody>
        </p:sp>
      </p:grpSp>
      <p:grpSp>
        <p:nvGrpSpPr>
          <p:cNvPr name="Group 67" id="67"/>
          <p:cNvGrpSpPr/>
          <p:nvPr/>
        </p:nvGrpSpPr>
        <p:grpSpPr>
          <a:xfrm rot="0">
            <a:off x="9901580" y="9392717"/>
            <a:ext cx="7416241" cy="571957"/>
            <a:chOff x="0" y="0"/>
            <a:chExt cx="9888322" cy="762610"/>
          </a:xfrm>
        </p:grpSpPr>
        <p:sp>
          <p:nvSpPr>
            <p:cNvPr name="Freeform 68" id="68"/>
            <p:cNvSpPr/>
            <p:nvPr/>
          </p:nvSpPr>
          <p:spPr>
            <a:xfrm flipH="false" flipV="false" rot="0">
              <a:off x="0" y="0"/>
              <a:ext cx="9888322" cy="762610"/>
            </a:xfrm>
            <a:custGeom>
              <a:avLst/>
              <a:gdLst/>
              <a:ahLst/>
              <a:cxnLst/>
              <a:rect r="r" b="b" t="t" l="l"/>
              <a:pathLst>
                <a:path h="762610" w="9888322">
                  <a:moveTo>
                    <a:pt x="0" y="0"/>
                  </a:moveTo>
                  <a:lnTo>
                    <a:pt x="9888322" y="0"/>
                  </a:lnTo>
                  <a:lnTo>
                    <a:pt x="9888322" y="762610"/>
                  </a:lnTo>
                  <a:lnTo>
                    <a:pt x="0" y="762610"/>
                  </a:lnTo>
                  <a:close/>
                </a:path>
              </a:pathLst>
            </a:custGeom>
            <a:blipFill>
              <a:blip r:embed="rId6">
                <a:alphaModFix amt="0"/>
              </a:blip>
              <a:stretch>
                <a:fillRect l="0" t="-202651" r="0" b="-202651"/>
              </a:stretch>
            </a:blipFill>
          </p:spPr>
          <p:txBody>
            <a:bodyPr/>
            <a:p/>
          </p:txBody>
        </p:sp>
        <p:sp>
          <p:nvSpPr>
            <p:cNvPr name="TextBox 69" id="69"/>
            <p:cNvSpPr txBox="true"/>
            <p:nvPr/>
          </p:nvSpPr>
          <p:spPr>
            <a:xfrm>
              <a:off x="0" y="-9525"/>
              <a:ext cx="9888322" cy="772135"/>
            </a:xfrm>
            <a:prstGeom prst="rect">
              <a:avLst/>
            </a:prstGeom>
          </p:spPr>
          <p:txBody>
            <a:bodyPr anchor="ctr" rtlCol="false" tIns="0" lIns="0" bIns="0" rIns="0"/>
            <a:lstStyle/>
            <a:p>
              <a:pPr algn="l">
                <a:lnSpc>
                  <a:spcPts val="1800"/>
                </a:lnSpc>
              </a:pPr>
              <a:r>
                <a:rPr lang="en-US" sz="1500">
                  <a:solidFill>
                    <a:srgbClr val="9DA2B3"/>
                  </a:solidFill>
                  <a:latin typeface="Manrope"/>
                  <a:ea typeface="Manrope"/>
                  <a:cs typeface="Manrope"/>
                  <a:sym typeface="Manrope"/>
                </a:rPr>
                <a:t>Interventions biologiques avancées et médecine régénérative (Swiss-grade safety).</a:t>
              </a:r>
            </a:p>
          </p:txBody>
        </p:sp>
      </p:grpSp>
      <p:grpSp>
        <p:nvGrpSpPr>
          <p:cNvPr name="Group 70" id="70"/>
          <p:cNvGrpSpPr/>
          <p:nvPr/>
        </p:nvGrpSpPr>
        <p:grpSpPr>
          <a:xfrm rot="0">
            <a:off x="9329623" y="2409901"/>
            <a:ext cx="685800" cy="694077"/>
            <a:chOff x="0" y="0"/>
            <a:chExt cx="914400" cy="925436"/>
          </a:xfrm>
        </p:grpSpPr>
        <p:sp>
          <p:nvSpPr>
            <p:cNvPr name="Freeform 71" id="71"/>
            <p:cNvSpPr/>
            <p:nvPr/>
          </p:nvSpPr>
          <p:spPr>
            <a:xfrm flipH="false" flipV="false" rot="0">
              <a:off x="0" y="0"/>
              <a:ext cx="914400" cy="925437"/>
            </a:xfrm>
            <a:custGeom>
              <a:avLst/>
              <a:gdLst/>
              <a:ahLst/>
              <a:cxnLst/>
              <a:rect r="r" b="b" t="t" l="l"/>
              <a:pathLst>
                <a:path h="925437" w="914400">
                  <a:moveTo>
                    <a:pt x="0" y="0"/>
                  </a:moveTo>
                  <a:lnTo>
                    <a:pt x="914400" y="0"/>
                  </a:lnTo>
                  <a:lnTo>
                    <a:pt x="914400" y="925437"/>
                  </a:lnTo>
                  <a:lnTo>
                    <a:pt x="0" y="925437"/>
                  </a:lnTo>
                  <a:close/>
                </a:path>
              </a:pathLst>
            </a:custGeom>
            <a:blipFill>
              <a:blip r:embed="rId6">
                <a:alphaModFix amt="0"/>
              </a:blip>
              <a:stretch>
                <a:fillRect l="-24929" t="0" r="-24929" b="42296"/>
              </a:stretch>
            </a:blipFill>
          </p:spPr>
          <p:txBody>
            <a:bodyPr/>
            <a:p/>
          </p:txBody>
        </p:sp>
        <p:sp>
          <p:nvSpPr>
            <p:cNvPr name="TextBox 72" id="72"/>
            <p:cNvSpPr txBox="true"/>
            <p:nvPr/>
          </p:nvSpPr>
          <p:spPr>
            <a:xfrm>
              <a:off x="0" y="0"/>
              <a:ext cx="914400" cy="925436"/>
            </a:xfrm>
            <a:prstGeom prst="rect">
              <a:avLst/>
            </a:prstGeom>
          </p:spPr>
          <p:txBody>
            <a:bodyPr anchor="ctr" rtlCol="false" tIns="0" lIns="0" bIns="0" rIns="0"/>
            <a:lstStyle/>
            <a:p>
              <a:pPr algn="l">
                <a:lnSpc>
                  <a:spcPts val="3779"/>
                </a:lnSpc>
              </a:pPr>
              <a:r>
                <a:rPr lang="en-US" sz="3150" b="true">
                  <a:solidFill>
                    <a:srgbClr val="FFFFFF"/>
                  </a:solidFill>
                  <a:latin typeface="Manrope Bold"/>
                  <a:ea typeface="Manrope Bold"/>
                  <a:cs typeface="Manrope Bold"/>
                  <a:sym typeface="Manrope Bold"/>
                </a:rPr>
                <a:t>A</a:t>
              </a:r>
            </a:p>
          </p:txBody>
        </p:sp>
      </p:grpSp>
      <p:grpSp>
        <p:nvGrpSpPr>
          <p:cNvPr name="Group 73" id="73"/>
          <p:cNvGrpSpPr/>
          <p:nvPr/>
        </p:nvGrpSpPr>
        <p:grpSpPr>
          <a:xfrm rot="0">
            <a:off x="9329623" y="4054450"/>
            <a:ext cx="685800" cy="694077"/>
            <a:chOff x="0" y="0"/>
            <a:chExt cx="914400" cy="925436"/>
          </a:xfrm>
        </p:grpSpPr>
        <p:sp>
          <p:nvSpPr>
            <p:cNvPr name="Freeform 74" id="74"/>
            <p:cNvSpPr/>
            <p:nvPr/>
          </p:nvSpPr>
          <p:spPr>
            <a:xfrm flipH="false" flipV="false" rot="0">
              <a:off x="0" y="0"/>
              <a:ext cx="914400" cy="925437"/>
            </a:xfrm>
            <a:custGeom>
              <a:avLst/>
              <a:gdLst/>
              <a:ahLst/>
              <a:cxnLst/>
              <a:rect r="r" b="b" t="t" l="l"/>
              <a:pathLst>
                <a:path h="925437" w="914400">
                  <a:moveTo>
                    <a:pt x="0" y="0"/>
                  </a:moveTo>
                  <a:lnTo>
                    <a:pt x="914400" y="0"/>
                  </a:lnTo>
                  <a:lnTo>
                    <a:pt x="914400" y="925437"/>
                  </a:lnTo>
                  <a:lnTo>
                    <a:pt x="0" y="925437"/>
                  </a:lnTo>
                  <a:close/>
                </a:path>
              </a:pathLst>
            </a:custGeom>
            <a:blipFill>
              <a:blip r:embed="rId6">
                <a:alphaModFix amt="0"/>
              </a:blip>
              <a:stretch>
                <a:fillRect l="-24929" t="0" r="-24929" b="42296"/>
              </a:stretch>
            </a:blipFill>
          </p:spPr>
          <p:txBody>
            <a:bodyPr/>
            <a:p/>
          </p:txBody>
        </p:sp>
        <p:sp>
          <p:nvSpPr>
            <p:cNvPr name="TextBox 75" id="75"/>
            <p:cNvSpPr txBox="true"/>
            <p:nvPr/>
          </p:nvSpPr>
          <p:spPr>
            <a:xfrm>
              <a:off x="0" y="0"/>
              <a:ext cx="914400" cy="925436"/>
            </a:xfrm>
            <a:prstGeom prst="rect">
              <a:avLst/>
            </a:prstGeom>
          </p:spPr>
          <p:txBody>
            <a:bodyPr anchor="ctr" rtlCol="false" tIns="0" lIns="0" bIns="0" rIns="0"/>
            <a:lstStyle/>
            <a:p>
              <a:pPr algn="l">
                <a:lnSpc>
                  <a:spcPts val="3779"/>
                </a:lnSpc>
              </a:pPr>
              <a:r>
                <a:rPr lang="en-US" sz="3150" b="true">
                  <a:solidFill>
                    <a:srgbClr val="FFFFFF"/>
                  </a:solidFill>
                  <a:latin typeface="Manrope Bold"/>
                  <a:ea typeface="Manrope Bold"/>
                  <a:cs typeface="Manrope Bold"/>
                  <a:sym typeface="Manrope Bold"/>
                </a:rPr>
                <a:t>D</a:t>
              </a:r>
            </a:p>
          </p:txBody>
        </p:sp>
      </p:grpSp>
      <p:grpSp>
        <p:nvGrpSpPr>
          <p:cNvPr name="Group 76" id="76"/>
          <p:cNvGrpSpPr/>
          <p:nvPr/>
        </p:nvGrpSpPr>
        <p:grpSpPr>
          <a:xfrm rot="0">
            <a:off x="9329623" y="5700370"/>
            <a:ext cx="685800" cy="694077"/>
            <a:chOff x="0" y="0"/>
            <a:chExt cx="914400" cy="925436"/>
          </a:xfrm>
        </p:grpSpPr>
        <p:sp>
          <p:nvSpPr>
            <p:cNvPr name="Freeform 77" id="77"/>
            <p:cNvSpPr/>
            <p:nvPr/>
          </p:nvSpPr>
          <p:spPr>
            <a:xfrm flipH="false" flipV="false" rot="0">
              <a:off x="0" y="0"/>
              <a:ext cx="914400" cy="925437"/>
            </a:xfrm>
            <a:custGeom>
              <a:avLst/>
              <a:gdLst/>
              <a:ahLst/>
              <a:cxnLst/>
              <a:rect r="r" b="b" t="t" l="l"/>
              <a:pathLst>
                <a:path h="925437" w="914400">
                  <a:moveTo>
                    <a:pt x="0" y="0"/>
                  </a:moveTo>
                  <a:lnTo>
                    <a:pt x="914400" y="0"/>
                  </a:lnTo>
                  <a:lnTo>
                    <a:pt x="914400" y="925437"/>
                  </a:lnTo>
                  <a:lnTo>
                    <a:pt x="0" y="925437"/>
                  </a:lnTo>
                  <a:close/>
                </a:path>
              </a:pathLst>
            </a:custGeom>
            <a:blipFill>
              <a:blip r:embed="rId6">
                <a:alphaModFix amt="0"/>
              </a:blip>
              <a:stretch>
                <a:fillRect l="-24929" t="0" r="-24929" b="42296"/>
              </a:stretch>
            </a:blipFill>
          </p:spPr>
          <p:txBody>
            <a:bodyPr/>
            <a:p/>
          </p:txBody>
        </p:sp>
        <p:sp>
          <p:nvSpPr>
            <p:cNvPr name="TextBox 78" id="78"/>
            <p:cNvSpPr txBox="true"/>
            <p:nvPr/>
          </p:nvSpPr>
          <p:spPr>
            <a:xfrm>
              <a:off x="0" y="0"/>
              <a:ext cx="914400" cy="925436"/>
            </a:xfrm>
            <a:prstGeom prst="rect">
              <a:avLst/>
            </a:prstGeom>
          </p:spPr>
          <p:txBody>
            <a:bodyPr anchor="ctr" rtlCol="false" tIns="0" lIns="0" bIns="0" rIns="0"/>
            <a:lstStyle/>
            <a:p>
              <a:pPr algn="l">
                <a:lnSpc>
                  <a:spcPts val="3779"/>
                </a:lnSpc>
              </a:pPr>
              <a:r>
                <a:rPr lang="en-US" sz="3150" b="true">
                  <a:solidFill>
                    <a:srgbClr val="FFFFFF"/>
                  </a:solidFill>
                  <a:latin typeface="Manrope Bold"/>
                  <a:ea typeface="Manrope Bold"/>
                  <a:cs typeface="Manrope Bold"/>
                  <a:sym typeface="Manrope Bold"/>
                </a:rPr>
                <a:t>D</a:t>
              </a:r>
            </a:p>
          </p:txBody>
        </p:sp>
      </p:grpSp>
      <p:grpSp>
        <p:nvGrpSpPr>
          <p:cNvPr name="Group 79" id="79"/>
          <p:cNvGrpSpPr/>
          <p:nvPr/>
        </p:nvGrpSpPr>
        <p:grpSpPr>
          <a:xfrm rot="0">
            <a:off x="9329623" y="7346290"/>
            <a:ext cx="685800" cy="694077"/>
            <a:chOff x="0" y="0"/>
            <a:chExt cx="914400" cy="925436"/>
          </a:xfrm>
        </p:grpSpPr>
        <p:sp>
          <p:nvSpPr>
            <p:cNvPr name="Freeform 80" id="80"/>
            <p:cNvSpPr/>
            <p:nvPr/>
          </p:nvSpPr>
          <p:spPr>
            <a:xfrm flipH="false" flipV="false" rot="0">
              <a:off x="0" y="0"/>
              <a:ext cx="914400" cy="925437"/>
            </a:xfrm>
            <a:custGeom>
              <a:avLst/>
              <a:gdLst/>
              <a:ahLst/>
              <a:cxnLst/>
              <a:rect r="r" b="b" t="t" l="l"/>
              <a:pathLst>
                <a:path h="925437" w="914400">
                  <a:moveTo>
                    <a:pt x="0" y="0"/>
                  </a:moveTo>
                  <a:lnTo>
                    <a:pt x="914400" y="0"/>
                  </a:lnTo>
                  <a:lnTo>
                    <a:pt x="914400" y="925437"/>
                  </a:lnTo>
                  <a:lnTo>
                    <a:pt x="0" y="925437"/>
                  </a:lnTo>
                  <a:close/>
                </a:path>
              </a:pathLst>
            </a:custGeom>
            <a:blipFill>
              <a:blip r:embed="rId6">
                <a:alphaModFix amt="0"/>
              </a:blip>
              <a:stretch>
                <a:fillRect l="-24929" t="0" r="-24929" b="42296"/>
              </a:stretch>
            </a:blipFill>
          </p:spPr>
          <p:txBody>
            <a:bodyPr/>
            <a:p/>
          </p:txBody>
        </p:sp>
        <p:sp>
          <p:nvSpPr>
            <p:cNvPr name="TextBox 81" id="81"/>
            <p:cNvSpPr txBox="true"/>
            <p:nvPr/>
          </p:nvSpPr>
          <p:spPr>
            <a:xfrm>
              <a:off x="0" y="0"/>
              <a:ext cx="914400" cy="925436"/>
            </a:xfrm>
            <a:prstGeom prst="rect">
              <a:avLst/>
            </a:prstGeom>
          </p:spPr>
          <p:txBody>
            <a:bodyPr anchor="ctr" rtlCol="false" tIns="0" lIns="0" bIns="0" rIns="0"/>
            <a:lstStyle/>
            <a:p>
              <a:pPr algn="l">
                <a:lnSpc>
                  <a:spcPts val="3779"/>
                </a:lnSpc>
              </a:pPr>
              <a:r>
                <a:rPr lang="en-US" sz="3150" b="true">
                  <a:solidFill>
                    <a:srgbClr val="FFFFFF"/>
                  </a:solidFill>
                  <a:latin typeface="Manrope Bold"/>
                  <a:ea typeface="Manrope Bold"/>
                  <a:cs typeface="Manrope Bold"/>
                  <a:sym typeface="Manrope Bold"/>
                </a:rPr>
                <a:t>O</a:t>
              </a:r>
            </a:p>
          </p:txBody>
        </p:sp>
      </p:grpSp>
      <p:grpSp>
        <p:nvGrpSpPr>
          <p:cNvPr name="Group 82" id="82"/>
          <p:cNvGrpSpPr/>
          <p:nvPr/>
        </p:nvGrpSpPr>
        <p:grpSpPr>
          <a:xfrm rot="0">
            <a:off x="9329623" y="8992210"/>
            <a:ext cx="685800" cy="694077"/>
            <a:chOff x="0" y="0"/>
            <a:chExt cx="914400" cy="925436"/>
          </a:xfrm>
        </p:grpSpPr>
        <p:sp>
          <p:nvSpPr>
            <p:cNvPr name="Freeform 83" id="83"/>
            <p:cNvSpPr/>
            <p:nvPr/>
          </p:nvSpPr>
          <p:spPr>
            <a:xfrm flipH="false" flipV="false" rot="0">
              <a:off x="0" y="0"/>
              <a:ext cx="914400" cy="925437"/>
            </a:xfrm>
            <a:custGeom>
              <a:avLst/>
              <a:gdLst/>
              <a:ahLst/>
              <a:cxnLst/>
              <a:rect r="r" b="b" t="t" l="l"/>
              <a:pathLst>
                <a:path h="925437" w="914400">
                  <a:moveTo>
                    <a:pt x="0" y="0"/>
                  </a:moveTo>
                  <a:lnTo>
                    <a:pt x="914400" y="0"/>
                  </a:lnTo>
                  <a:lnTo>
                    <a:pt x="914400" y="925437"/>
                  </a:lnTo>
                  <a:lnTo>
                    <a:pt x="0" y="925437"/>
                  </a:lnTo>
                  <a:close/>
                </a:path>
              </a:pathLst>
            </a:custGeom>
            <a:blipFill>
              <a:blip r:embed="rId6">
                <a:alphaModFix amt="0"/>
              </a:blip>
              <a:stretch>
                <a:fillRect l="-24929" t="0" r="-24929" b="42296"/>
              </a:stretch>
            </a:blipFill>
          </p:spPr>
          <p:txBody>
            <a:bodyPr/>
            <a:p/>
          </p:txBody>
        </p:sp>
        <p:sp>
          <p:nvSpPr>
            <p:cNvPr name="TextBox 84" id="84"/>
            <p:cNvSpPr txBox="true"/>
            <p:nvPr/>
          </p:nvSpPr>
          <p:spPr>
            <a:xfrm>
              <a:off x="0" y="0"/>
              <a:ext cx="914400" cy="925436"/>
            </a:xfrm>
            <a:prstGeom prst="rect">
              <a:avLst/>
            </a:prstGeom>
          </p:spPr>
          <p:txBody>
            <a:bodyPr anchor="ctr" rtlCol="false" tIns="0" lIns="0" bIns="0" rIns="0"/>
            <a:lstStyle/>
            <a:p>
              <a:pPr algn="l">
                <a:lnSpc>
                  <a:spcPts val="3779"/>
                </a:lnSpc>
              </a:pPr>
              <a:r>
                <a:rPr lang="en-US" sz="3150" b="true">
                  <a:solidFill>
                    <a:srgbClr val="FFFFFF"/>
                  </a:solidFill>
                  <a:latin typeface="Manrope Bold"/>
                  <a:ea typeface="Manrope Bold"/>
                  <a:cs typeface="Manrope Bold"/>
                  <a:sym typeface="Manrope Bold"/>
                </a:rPr>
                <a:t>R</a:t>
              </a:r>
            </a:p>
          </p:txBody>
        </p:sp>
      </p:grpSp>
      <p:grpSp>
        <p:nvGrpSpPr>
          <p:cNvPr name="Group 85" id="85"/>
          <p:cNvGrpSpPr/>
          <p:nvPr/>
        </p:nvGrpSpPr>
        <p:grpSpPr>
          <a:xfrm rot="0">
            <a:off x="17430293" y="9686287"/>
            <a:ext cx="729691" cy="462131"/>
            <a:chOff x="0" y="0"/>
            <a:chExt cx="972922" cy="616174"/>
          </a:xfrm>
        </p:grpSpPr>
        <p:sp>
          <p:nvSpPr>
            <p:cNvPr name="Freeform 86" id="86"/>
            <p:cNvSpPr/>
            <p:nvPr/>
          </p:nvSpPr>
          <p:spPr>
            <a:xfrm flipH="false" flipV="false" rot="0">
              <a:off x="0" y="0"/>
              <a:ext cx="972922" cy="616174"/>
            </a:xfrm>
            <a:custGeom>
              <a:avLst/>
              <a:gdLst/>
              <a:ahLst/>
              <a:cxnLst/>
              <a:rect r="r" b="b" t="t" l="l"/>
              <a:pathLst>
                <a:path h="616174" w="972922">
                  <a:moveTo>
                    <a:pt x="0" y="0"/>
                  </a:moveTo>
                  <a:lnTo>
                    <a:pt x="972922" y="0"/>
                  </a:lnTo>
                  <a:lnTo>
                    <a:pt x="972922" y="616174"/>
                  </a:lnTo>
                  <a:lnTo>
                    <a:pt x="0" y="616174"/>
                  </a:lnTo>
                  <a:close/>
                </a:path>
              </a:pathLst>
            </a:custGeom>
            <a:blipFill>
              <a:blip r:embed="rId6">
                <a:alphaModFix amt="0"/>
              </a:blip>
              <a:stretch>
                <a:fillRect l="0" t="-7467" r="0" b="45934"/>
              </a:stretch>
            </a:blipFill>
          </p:spPr>
          <p:txBody>
            <a:bodyPr/>
            <a:p/>
          </p:txBody>
        </p:sp>
        <p:sp>
          <p:nvSpPr>
            <p:cNvPr name="TextBox 87" id="87"/>
            <p:cNvSpPr txBox="true"/>
            <p:nvPr/>
          </p:nvSpPr>
          <p:spPr>
            <a:xfrm>
              <a:off x="0" y="0"/>
              <a:ext cx="972922" cy="616174"/>
            </a:xfrm>
            <a:prstGeom prst="rect">
              <a:avLst/>
            </a:prstGeom>
          </p:spPr>
          <p:txBody>
            <a:bodyPr anchor="ctr" rtlCol="false" tIns="0" lIns="0" bIns="0" rIns="0"/>
            <a:lstStyle/>
            <a:p>
              <a:pPr algn="l">
                <a:lnSpc>
                  <a:spcPts val="1439"/>
                </a:lnSpc>
              </a:pPr>
              <a:r>
                <a:rPr lang="en-US" sz="1200">
                  <a:solidFill>
                    <a:srgbClr val="FFFFFF"/>
                  </a:solidFill>
                  <a:latin typeface="Manrope"/>
                  <a:ea typeface="Manrope"/>
                  <a:cs typeface="Manrope"/>
                  <a:sym typeface="Manrope"/>
                </a:rPr>
                <a:t>06 / 14</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9525" y="35662"/>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17504740" y="9715043"/>
            <a:ext cx="843534" cy="293380"/>
            <a:chOff x="0" y="0"/>
            <a:chExt cx="1124712" cy="391173"/>
          </a:xfrm>
        </p:grpSpPr>
        <p:sp>
          <p:nvSpPr>
            <p:cNvPr name="Freeform 9" id="9"/>
            <p:cNvSpPr/>
            <p:nvPr/>
          </p:nvSpPr>
          <p:spPr>
            <a:xfrm flipH="false" flipV="false" rot="0">
              <a:off x="0" y="0"/>
              <a:ext cx="1124712" cy="391173"/>
            </a:xfrm>
            <a:custGeom>
              <a:avLst/>
              <a:gdLst/>
              <a:ahLst/>
              <a:cxnLst/>
              <a:rect r="r" b="b" t="t" l="l"/>
              <a:pathLst>
                <a:path h="391173" w="1124712">
                  <a:moveTo>
                    <a:pt x="0" y="0"/>
                  </a:moveTo>
                  <a:lnTo>
                    <a:pt x="1124712" y="0"/>
                  </a:lnTo>
                  <a:lnTo>
                    <a:pt x="1124712" y="391173"/>
                  </a:lnTo>
                  <a:lnTo>
                    <a:pt x="0" y="391173"/>
                  </a:lnTo>
                  <a:close/>
                </a:path>
              </a:pathLst>
            </a:custGeom>
            <a:blipFill>
              <a:blip r:embed="rId4">
                <a:alphaModFix amt="0"/>
              </a:blip>
              <a:stretch>
                <a:fillRect l="0" t="-16986" r="0" b="4938"/>
              </a:stretch>
            </a:blipFill>
          </p:spPr>
          <p:txBody>
            <a:bodyPr/>
            <a:p/>
          </p:txBody>
        </p:sp>
        <p:sp>
          <p:nvSpPr>
            <p:cNvPr name="TextBox 10" id="10"/>
            <p:cNvSpPr txBox="true"/>
            <p:nvPr/>
          </p:nvSpPr>
          <p:spPr>
            <a:xfrm>
              <a:off x="0" y="0"/>
              <a:ext cx="112471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07 / 14</a:t>
              </a:r>
            </a:p>
          </p:txBody>
        </p:sp>
      </p:grpSp>
      <p:grpSp>
        <p:nvGrpSpPr>
          <p:cNvPr name="Group 11" id="11"/>
          <p:cNvGrpSpPr/>
          <p:nvPr/>
        </p:nvGrpSpPr>
        <p:grpSpPr>
          <a:xfrm rot="0">
            <a:off x="857250" y="678942"/>
            <a:ext cx="456743" cy="13716"/>
            <a:chOff x="0" y="0"/>
            <a:chExt cx="608990" cy="18288"/>
          </a:xfrm>
        </p:grpSpPr>
        <p:sp>
          <p:nvSpPr>
            <p:cNvPr name="Freeform 12" id="12"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13" id="13"/>
          <p:cNvGrpSpPr/>
          <p:nvPr/>
        </p:nvGrpSpPr>
        <p:grpSpPr>
          <a:xfrm rot="0">
            <a:off x="1485443" y="571957"/>
            <a:ext cx="3076499" cy="293380"/>
            <a:chOff x="0" y="0"/>
            <a:chExt cx="4101998" cy="391173"/>
          </a:xfrm>
        </p:grpSpPr>
        <p:sp>
          <p:nvSpPr>
            <p:cNvPr name="Freeform 14" id="14"/>
            <p:cNvSpPr/>
            <p:nvPr/>
          </p:nvSpPr>
          <p:spPr>
            <a:xfrm flipH="false" flipV="false" rot="0">
              <a:off x="0" y="0"/>
              <a:ext cx="4101998" cy="391173"/>
            </a:xfrm>
            <a:custGeom>
              <a:avLst/>
              <a:gdLst/>
              <a:ahLst/>
              <a:cxnLst/>
              <a:rect r="r" b="b" t="t" l="l"/>
              <a:pathLst>
                <a:path h="391173" w="4101998">
                  <a:moveTo>
                    <a:pt x="0" y="0"/>
                  </a:moveTo>
                  <a:lnTo>
                    <a:pt x="4101998" y="0"/>
                  </a:lnTo>
                  <a:lnTo>
                    <a:pt x="4101998" y="391173"/>
                  </a:lnTo>
                  <a:lnTo>
                    <a:pt x="0" y="391173"/>
                  </a:lnTo>
                  <a:close/>
                </a:path>
              </a:pathLst>
            </a:custGeom>
            <a:blipFill>
              <a:blip r:embed="rId4">
                <a:alphaModFix amt="0"/>
              </a:blip>
              <a:stretch>
                <a:fillRect l="0" t="-165290" r="0" b="-143365"/>
              </a:stretch>
            </a:blipFill>
          </p:spPr>
          <p:txBody>
            <a:bodyPr/>
            <a:p/>
          </p:txBody>
        </p:sp>
        <p:sp>
          <p:nvSpPr>
            <p:cNvPr name="TextBox 15" id="15"/>
            <p:cNvSpPr txBox="true"/>
            <p:nvPr/>
          </p:nvSpPr>
          <p:spPr>
            <a:xfrm>
              <a:off x="0" y="0"/>
              <a:ext cx="4101998"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Architecture Complète</a:t>
              </a:r>
            </a:p>
          </p:txBody>
        </p:sp>
      </p:grpSp>
      <p:grpSp>
        <p:nvGrpSpPr>
          <p:cNvPr name="Group 16" id="16"/>
          <p:cNvGrpSpPr/>
          <p:nvPr/>
        </p:nvGrpSpPr>
        <p:grpSpPr>
          <a:xfrm rot="0">
            <a:off x="857250" y="914857"/>
            <a:ext cx="16859707" cy="889664"/>
            <a:chOff x="0" y="0"/>
            <a:chExt cx="22479610" cy="1186218"/>
          </a:xfrm>
        </p:grpSpPr>
        <p:sp>
          <p:nvSpPr>
            <p:cNvPr name="Freeform 17" id="17"/>
            <p:cNvSpPr/>
            <p:nvPr/>
          </p:nvSpPr>
          <p:spPr>
            <a:xfrm flipH="false" flipV="false" rot="0">
              <a:off x="0" y="0"/>
              <a:ext cx="22479611" cy="1186218"/>
            </a:xfrm>
            <a:custGeom>
              <a:avLst/>
              <a:gdLst/>
              <a:ahLst/>
              <a:cxnLst/>
              <a:rect r="r" b="b" t="t" l="l"/>
              <a:pathLst>
                <a:path h="1186218" w="22479611">
                  <a:moveTo>
                    <a:pt x="0" y="0"/>
                  </a:moveTo>
                  <a:lnTo>
                    <a:pt x="22479611" y="0"/>
                  </a:lnTo>
                  <a:lnTo>
                    <a:pt x="22479611" y="1186218"/>
                  </a:lnTo>
                  <a:lnTo>
                    <a:pt x="0" y="1186218"/>
                  </a:lnTo>
                  <a:close/>
                </a:path>
              </a:pathLst>
            </a:custGeom>
            <a:blipFill>
              <a:blip r:embed="rId4">
                <a:alphaModFix amt="0"/>
              </a:blip>
              <a:stretch>
                <a:fillRect l="0" t="-337109" r="0" b="-301398"/>
              </a:stretch>
            </a:blipFill>
          </p:spPr>
          <p:txBody>
            <a:bodyPr/>
            <a:p/>
          </p:txBody>
        </p:sp>
        <p:sp>
          <p:nvSpPr>
            <p:cNvPr name="TextBox 18" id="18"/>
            <p:cNvSpPr txBox="true"/>
            <p:nvPr/>
          </p:nvSpPr>
          <p:spPr>
            <a:xfrm>
              <a:off x="0" y="9525"/>
              <a:ext cx="22479610" cy="1176693"/>
            </a:xfrm>
            <a:prstGeom prst="rect">
              <a:avLst/>
            </a:prstGeom>
          </p:spPr>
          <p:txBody>
            <a:bodyPr anchor="ctr" rtlCol="false" tIns="0" lIns="0" bIns="0" rIns="0"/>
            <a:lstStyle/>
            <a:p>
              <a:pPr algn="l">
                <a:lnSpc>
                  <a:spcPts val="4860"/>
                </a:lnSpc>
              </a:pPr>
              <a:r>
                <a:rPr lang="en-US" sz="4050" b="true">
                  <a:solidFill>
                    <a:srgbClr val="FFFFFF"/>
                  </a:solidFill>
                  <a:latin typeface="Manrope Bold"/>
                  <a:ea typeface="Manrope Bold"/>
                  <a:cs typeface="Manrope Bold"/>
                  <a:sym typeface="Manrope Bold"/>
                </a:rPr>
                <a:t> DR. ADDOR </a:t>
              </a:r>
              <a:r>
                <a:rPr lang="en-US" sz="4050" b="true">
                  <a:solidFill>
                    <a:srgbClr val="6B7280"/>
                  </a:solidFill>
                  <a:latin typeface="Manrope Bold"/>
                  <a:ea typeface="Manrope Bold"/>
                  <a:cs typeface="Manrope Bold"/>
                  <a:sym typeface="Manrope Bold"/>
                </a:rPr>
                <a:t>MATRIX™</a:t>
              </a:r>
            </a:p>
          </p:txBody>
        </p:sp>
      </p:grpSp>
      <p:grpSp>
        <p:nvGrpSpPr>
          <p:cNvPr name="Group 19" id="19"/>
          <p:cNvGrpSpPr/>
          <p:nvPr/>
        </p:nvGrpSpPr>
        <p:grpSpPr>
          <a:xfrm rot="0">
            <a:off x="847725" y="2057400"/>
            <a:ext cx="4437894" cy="7951022"/>
            <a:chOff x="0" y="0"/>
            <a:chExt cx="6120790" cy="10966134"/>
          </a:xfrm>
        </p:grpSpPr>
        <p:sp>
          <p:nvSpPr>
            <p:cNvPr name="Freeform 20" id="20"/>
            <p:cNvSpPr/>
            <p:nvPr/>
          </p:nvSpPr>
          <p:spPr>
            <a:xfrm flipH="false" flipV="false" rot="0">
              <a:off x="12700" y="11785"/>
              <a:ext cx="6095365" cy="10942658"/>
            </a:xfrm>
            <a:custGeom>
              <a:avLst/>
              <a:gdLst/>
              <a:ahLst/>
              <a:cxnLst/>
              <a:rect r="r" b="b" t="t" l="l"/>
              <a:pathLst>
                <a:path h="10942658" w="6095365">
                  <a:moveTo>
                    <a:pt x="0" y="42544"/>
                  </a:moveTo>
                  <a:cubicBezTo>
                    <a:pt x="0" y="18974"/>
                    <a:pt x="20447" y="0"/>
                    <a:pt x="45720" y="0"/>
                  </a:cubicBezTo>
                  <a:lnTo>
                    <a:pt x="6049645" y="0"/>
                  </a:lnTo>
                  <a:cubicBezTo>
                    <a:pt x="6074918" y="0"/>
                    <a:pt x="6095365" y="18974"/>
                    <a:pt x="6095365" y="42544"/>
                  </a:cubicBezTo>
                  <a:lnTo>
                    <a:pt x="6095365" y="10900114"/>
                  </a:lnTo>
                  <a:cubicBezTo>
                    <a:pt x="6095365" y="10923566"/>
                    <a:pt x="6074918" y="10942658"/>
                    <a:pt x="6049645" y="10942658"/>
                  </a:cubicBezTo>
                  <a:lnTo>
                    <a:pt x="45720" y="10942658"/>
                  </a:lnTo>
                  <a:cubicBezTo>
                    <a:pt x="20447" y="10942658"/>
                    <a:pt x="0" y="10923684"/>
                    <a:pt x="0" y="10900114"/>
                  </a:cubicBezTo>
                  <a:close/>
                </a:path>
              </a:pathLst>
            </a:custGeom>
            <a:solidFill>
              <a:srgbClr val="FFFFFF">
                <a:alpha val="0"/>
              </a:srgbClr>
            </a:solidFill>
          </p:spPr>
          <p:txBody>
            <a:bodyPr/>
            <a:p/>
          </p:txBody>
        </p:sp>
        <p:sp>
          <p:nvSpPr>
            <p:cNvPr name="Freeform 21" id="21"/>
            <p:cNvSpPr/>
            <p:nvPr/>
          </p:nvSpPr>
          <p:spPr>
            <a:xfrm flipH="false" flipV="false" rot="0">
              <a:off x="0" y="0"/>
              <a:ext cx="6120765" cy="10966235"/>
            </a:xfrm>
            <a:custGeom>
              <a:avLst/>
              <a:gdLst/>
              <a:ahLst/>
              <a:cxnLst/>
              <a:rect r="r" b="b" t="t" l="l"/>
              <a:pathLst>
                <a:path h="10966235" w="6120765">
                  <a:moveTo>
                    <a:pt x="0" y="54329"/>
                  </a:moveTo>
                  <a:cubicBezTo>
                    <a:pt x="0" y="24277"/>
                    <a:pt x="26162" y="0"/>
                    <a:pt x="58420" y="0"/>
                  </a:cubicBezTo>
                  <a:lnTo>
                    <a:pt x="6062345" y="0"/>
                  </a:lnTo>
                  <a:lnTo>
                    <a:pt x="6062345" y="11785"/>
                  </a:lnTo>
                  <a:lnTo>
                    <a:pt x="6062345" y="0"/>
                  </a:lnTo>
                  <a:cubicBezTo>
                    <a:pt x="6094603" y="0"/>
                    <a:pt x="6120765" y="24277"/>
                    <a:pt x="6120765" y="54329"/>
                  </a:cubicBezTo>
                  <a:lnTo>
                    <a:pt x="6108065" y="54329"/>
                  </a:lnTo>
                  <a:lnTo>
                    <a:pt x="6120765" y="54329"/>
                  </a:lnTo>
                  <a:lnTo>
                    <a:pt x="6120765" y="10911899"/>
                  </a:lnTo>
                  <a:lnTo>
                    <a:pt x="6108065" y="10911899"/>
                  </a:lnTo>
                  <a:lnTo>
                    <a:pt x="6120765" y="10911899"/>
                  </a:lnTo>
                  <a:cubicBezTo>
                    <a:pt x="6120765" y="10941834"/>
                    <a:pt x="6094603" y="10966235"/>
                    <a:pt x="6062345" y="10966235"/>
                  </a:cubicBezTo>
                  <a:lnTo>
                    <a:pt x="6062345" y="10954443"/>
                  </a:lnTo>
                  <a:lnTo>
                    <a:pt x="6062345" y="10966235"/>
                  </a:lnTo>
                  <a:lnTo>
                    <a:pt x="58420" y="10966235"/>
                  </a:lnTo>
                  <a:lnTo>
                    <a:pt x="58420" y="10954443"/>
                  </a:lnTo>
                  <a:lnTo>
                    <a:pt x="58420" y="10966235"/>
                  </a:lnTo>
                  <a:cubicBezTo>
                    <a:pt x="26162" y="10966235"/>
                    <a:pt x="0" y="10941951"/>
                    <a:pt x="0" y="10911899"/>
                  </a:cubicBezTo>
                  <a:lnTo>
                    <a:pt x="0" y="54329"/>
                  </a:lnTo>
                  <a:lnTo>
                    <a:pt x="12700" y="54329"/>
                  </a:lnTo>
                  <a:lnTo>
                    <a:pt x="0" y="54329"/>
                  </a:lnTo>
                  <a:moveTo>
                    <a:pt x="25400" y="54329"/>
                  </a:moveTo>
                  <a:lnTo>
                    <a:pt x="25400" y="10911899"/>
                  </a:lnTo>
                  <a:lnTo>
                    <a:pt x="12700" y="10911899"/>
                  </a:lnTo>
                  <a:lnTo>
                    <a:pt x="25400" y="10911899"/>
                  </a:lnTo>
                  <a:cubicBezTo>
                    <a:pt x="25400" y="10928869"/>
                    <a:pt x="40259" y="10942658"/>
                    <a:pt x="58420" y="10942658"/>
                  </a:cubicBezTo>
                  <a:lnTo>
                    <a:pt x="6062345" y="10942658"/>
                  </a:lnTo>
                  <a:cubicBezTo>
                    <a:pt x="6080506" y="10942658"/>
                    <a:pt x="6095365" y="10928869"/>
                    <a:pt x="6095365" y="10911899"/>
                  </a:cubicBezTo>
                  <a:lnTo>
                    <a:pt x="6095365" y="54329"/>
                  </a:lnTo>
                  <a:cubicBezTo>
                    <a:pt x="6095365" y="37359"/>
                    <a:pt x="6080506" y="23570"/>
                    <a:pt x="6062345" y="23570"/>
                  </a:cubicBezTo>
                  <a:lnTo>
                    <a:pt x="58420" y="23570"/>
                  </a:lnTo>
                  <a:lnTo>
                    <a:pt x="58420" y="11785"/>
                  </a:lnTo>
                  <a:lnTo>
                    <a:pt x="58420" y="23570"/>
                  </a:lnTo>
                  <a:cubicBezTo>
                    <a:pt x="40259" y="23570"/>
                    <a:pt x="25400" y="37359"/>
                    <a:pt x="25400" y="54329"/>
                  </a:cubicBezTo>
                  <a:close/>
                </a:path>
              </a:pathLst>
            </a:custGeom>
            <a:solidFill>
              <a:srgbClr val="FFFFFF"/>
            </a:solidFill>
          </p:spPr>
          <p:txBody>
            <a:bodyPr/>
            <a:p/>
          </p:txBody>
        </p:sp>
      </p:grpSp>
      <p:grpSp>
        <p:nvGrpSpPr>
          <p:cNvPr name="Group 22" id="22"/>
          <p:cNvGrpSpPr/>
          <p:nvPr/>
        </p:nvGrpSpPr>
        <p:grpSpPr>
          <a:xfrm rot="0">
            <a:off x="1213866" y="2128723"/>
            <a:ext cx="4013302" cy="596284"/>
            <a:chOff x="0" y="0"/>
            <a:chExt cx="5351069" cy="795045"/>
          </a:xfrm>
        </p:grpSpPr>
        <p:sp>
          <p:nvSpPr>
            <p:cNvPr name="Freeform 23" id="23"/>
            <p:cNvSpPr/>
            <p:nvPr/>
          </p:nvSpPr>
          <p:spPr>
            <a:xfrm flipH="false" flipV="false" rot="0">
              <a:off x="0" y="0"/>
              <a:ext cx="5351068" cy="795045"/>
            </a:xfrm>
            <a:custGeom>
              <a:avLst/>
              <a:gdLst/>
              <a:ahLst/>
              <a:cxnLst/>
              <a:rect r="r" b="b" t="t" l="l"/>
              <a:pathLst>
                <a:path h="795045" w="5351068">
                  <a:moveTo>
                    <a:pt x="0" y="0"/>
                  </a:moveTo>
                  <a:lnTo>
                    <a:pt x="5351068" y="0"/>
                  </a:lnTo>
                  <a:lnTo>
                    <a:pt x="5351068" y="795045"/>
                  </a:lnTo>
                  <a:lnTo>
                    <a:pt x="0" y="795045"/>
                  </a:lnTo>
                  <a:close/>
                </a:path>
              </a:pathLst>
            </a:custGeom>
            <a:blipFill>
              <a:blip r:embed="rId4">
                <a:alphaModFix amt="0"/>
              </a:blip>
              <a:stretch>
                <a:fillRect l="0" t="-88014" r="0" b="-74274"/>
              </a:stretch>
            </a:blipFill>
          </p:spPr>
          <p:txBody>
            <a:bodyPr/>
            <a:p/>
          </p:txBody>
        </p:sp>
        <p:sp>
          <p:nvSpPr>
            <p:cNvPr name="TextBox 24" id="24"/>
            <p:cNvSpPr txBox="true"/>
            <p:nvPr/>
          </p:nvSpPr>
          <p:spPr>
            <a:xfrm>
              <a:off x="0" y="0"/>
              <a:ext cx="5351069"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Couche A</a:t>
              </a:r>
            </a:p>
          </p:txBody>
        </p:sp>
      </p:grpSp>
      <p:grpSp>
        <p:nvGrpSpPr>
          <p:cNvPr name="Group 25" id="25"/>
          <p:cNvGrpSpPr/>
          <p:nvPr/>
        </p:nvGrpSpPr>
        <p:grpSpPr>
          <a:xfrm rot="0">
            <a:off x="1204341" y="3120466"/>
            <a:ext cx="3877361" cy="32766"/>
            <a:chOff x="0" y="0"/>
            <a:chExt cx="5169814" cy="43688"/>
          </a:xfrm>
        </p:grpSpPr>
        <p:sp>
          <p:nvSpPr>
            <p:cNvPr name="Freeform 26" id="26"/>
            <p:cNvSpPr/>
            <p:nvPr/>
          </p:nvSpPr>
          <p:spPr>
            <a:xfrm flipH="false" flipV="false" rot="0">
              <a:off x="12700" y="12700"/>
              <a:ext cx="5144389" cy="18288"/>
            </a:xfrm>
            <a:custGeom>
              <a:avLst/>
              <a:gdLst/>
              <a:ahLst/>
              <a:cxnLst/>
              <a:rect r="r" b="b" t="t" l="l"/>
              <a:pathLst>
                <a:path h="18288" w="5144389">
                  <a:moveTo>
                    <a:pt x="0" y="0"/>
                  </a:moveTo>
                  <a:lnTo>
                    <a:pt x="5144389" y="0"/>
                  </a:lnTo>
                  <a:lnTo>
                    <a:pt x="5144389" y="18288"/>
                  </a:lnTo>
                  <a:lnTo>
                    <a:pt x="0" y="18288"/>
                  </a:lnTo>
                  <a:close/>
                </a:path>
              </a:pathLst>
            </a:custGeom>
            <a:solidFill>
              <a:srgbClr val="40424D"/>
            </a:solidFill>
          </p:spPr>
          <p:txBody>
            <a:bodyPr/>
            <a:p/>
          </p:txBody>
        </p:sp>
      </p:grpSp>
      <p:grpSp>
        <p:nvGrpSpPr>
          <p:cNvPr name="Group 27" id="27"/>
          <p:cNvGrpSpPr/>
          <p:nvPr/>
        </p:nvGrpSpPr>
        <p:grpSpPr>
          <a:xfrm rot="0">
            <a:off x="1213866" y="2700680"/>
            <a:ext cx="3972154" cy="293380"/>
            <a:chOff x="0" y="0"/>
            <a:chExt cx="5296205" cy="391173"/>
          </a:xfrm>
        </p:grpSpPr>
        <p:sp>
          <p:nvSpPr>
            <p:cNvPr name="Freeform 28" id="28"/>
            <p:cNvSpPr/>
            <p:nvPr/>
          </p:nvSpPr>
          <p:spPr>
            <a:xfrm flipH="false" flipV="false" rot="0">
              <a:off x="0" y="0"/>
              <a:ext cx="5296204" cy="391172"/>
            </a:xfrm>
            <a:custGeom>
              <a:avLst/>
              <a:gdLst/>
              <a:ahLst/>
              <a:cxnLst/>
              <a:rect r="r" b="b" t="t" l="l"/>
              <a:pathLst>
                <a:path h="391172" w="5296204">
                  <a:moveTo>
                    <a:pt x="0" y="0"/>
                  </a:moveTo>
                  <a:lnTo>
                    <a:pt x="5296204" y="0"/>
                  </a:lnTo>
                  <a:lnTo>
                    <a:pt x="5296204" y="391172"/>
                  </a:lnTo>
                  <a:lnTo>
                    <a:pt x="0" y="391172"/>
                  </a:lnTo>
                  <a:close/>
                </a:path>
              </a:pathLst>
            </a:custGeom>
            <a:blipFill>
              <a:blip r:embed="rId4">
                <a:alphaModFix amt="0"/>
              </a:blip>
              <a:stretch>
                <a:fillRect l="0" t="-219867" r="0" b="-207760"/>
              </a:stretch>
            </a:blipFill>
          </p:spPr>
          <p:txBody>
            <a:bodyPr/>
            <a:p/>
          </p:txBody>
        </p:sp>
        <p:sp>
          <p:nvSpPr>
            <p:cNvPr name="TextBox 29" id="29"/>
            <p:cNvSpPr txBox="true"/>
            <p:nvPr/>
          </p:nvSpPr>
          <p:spPr>
            <a:xfrm>
              <a:off x="0" y="0"/>
              <a:ext cx="5296205" cy="391173"/>
            </a:xfrm>
            <a:prstGeom prst="rect">
              <a:avLst/>
            </a:prstGeom>
          </p:spPr>
          <p:txBody>
            <a:bodyPr anchor="ctr" rtlCol="false" tIns="0" lIns="0" bIns="0" rIns="0"/>
            <a:lstStyle/>
            <a:p>
              <a:pPr algn="l">
                <a:lnSpc>
                  <a:spcPts val="1620"/>
                </a:lnSpc>
              </a:pPr>
              <a:r>
                <a:rPr lang="en-US" sz="1350" spc="112">
                  <a:solidFill>
                    <a:srgbClr val="9DA2B3"/>
                  </a:solidFill>
                  <a:latin typeface="Manrope"/>
                  <a:ea typeface="Manrope"/>
                  <a:cs typeface="Manrope"/>
                  <a:sym typeface="Manrope"/>
                </a:rPr>
                <a:t>Testing &amp; Stratification</a:t>
              </a:r>
            </a:p>
          </p:txBody>
        </p:sp>
      </p:grpSp>
      <p:grpSp>
        <p:nvGrpSpPr>
          <p:cNvPr name="Group 30" id="30"/>
          <p:cNvGrpSpPr/>
          <p:nvPr/>
        </p:nvGrpSpPr>
        <p:grpSpPr>
          <a:xfrm rot="0">
            <a:off x="1499159" y="3486607"/>
            <a:ext cx="3728009" cy="293380"/>
            <a:chOff x="0" y="0"/>
            <a:chExt cx="4970678" cy="391173"/>
          </a:xfrm>
        </p:grpSpPr>
        <p:sp>
          <p:nvSpPr>
            <p:cNvPr name="Freeform 31" id="31"/>
            <p:cNvSpPr/>
            <p:nvPr/>
          </p:nvSpPr>
          <p:spPr>
            <a:xfrm flipH="false" flipV="false" rot="0">
              <a:off x="0" y="0"/>
              <a:ext cx="4970678" cy="391173"/>
            </a:xfrm>
            <a:custGeom>
              <a:avLst/>
              <a:gdLst/>
              <a:ahLst/>
              <a:cxnLst/>
              <a:rect r="r" b="b" t="t" l="l"/>
              <a:pathLst>
                <a:path h="391173" w="4970678">
                  <a:moveTo>
                    <a:pt x="0" y="0"/>
                  </a:moveTo>
                  <a:lnTo>
                    <a:pt x="4970678" y="0"/>
                  </a:lnTo>
                  <a:lnTo>
                    <a:pt x="4970678" y="391173"/>
                  </a:lnTo>
                  <a:lnTo>
                    <a:pt x="0" y="391173"/>
                  </a:lnTo>
                  <a:close/>
                </a:path>
              </a:pathLst>
            </a:custGeom>
            <a:blipFill>
              <a:blip r:embed="rId4">
                <a:alphaModFix amt="0"/>
              </a:blip>
              <a:stretch>
                <a:fillRect l="0" t="-208560" r="0" b="-186636"/>
              </a:stretch>
            </a:blipFill>
          </p:spPr>
          <p:txBody>
            <a:bodyPr/>
            <a:p/>
          </p:txBody>
        </p:sp>
        <p:sp>
          <p:nvSpPr>
            <p:cNvPr name="TextBox 32" id="32"/>
            <p:cNvSpPr txBox="true"/>
            <p:nvPr/>
          </p:nvSpPr>
          <p:spPr>
            <a:xfrm>
              <a:off x="0" y="0"/>
              <a:ext cx="4970678"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Fonction</a:t>
              </a:r>
            </a:p>
          </p:txBody>
        </p:sp>
      </p:grpSp>
      <p:grpSp>
        <p:nvGrpSpPr>
          <p:cNvPr name="Group 33" id="33"/>
          <p:cNvGrpSpPr/>
          <p:nvPr/>
        </p:nvGrpSpPr>
        <p:grpSpPr>
          <a:xfrm rot="0">
            <a:off x="1213866" y="3507181"/>
            <a:ext cx="171450" cy="171450"/>
            <a:chOff x="0" y="0"/>
            <a:chExt cx="228600" cy="228600"/>
          </a:xfrm>
        </p:grpSpPr>
        <p:sp>
          <p:nvSpPr>
            <p:cNvPr name="Freeform 34" id="34" descr="preencoded.png"/>
            <p:cNvSpPr/>
            <p:nvPr/>
          </p:nvSpPr>
          <p:spPr>
            <a:xfrm flipH="false" flipV="false" rot="0">
              <a:off x="0" y="0"/>
              <a:ext cx="228600" cy="228600"/>
            </a:xfrm>
            <a:custGeom>
              <a:avLst/>
              <a:gdLst/>
              <a:ahLst/>
              <a:cxnLst/>
              <a:rect r="r" b="b" t="t" l="l"/>
              <a:pathLst>
                <a:path h="228600" w="228600">
                  <a:moveTo>
                    <a:pt x="0" y="0"/>
                  </a:moveTo>
                  <a:lnTo>
                    <a:pt x="228600" y="0"/>
                  </a:lnTo>
                  <a:lnTo>
                    <a:pt x="228600" y="228600"/>
                  </a:lnTo>
                  <a:lnTo>
                    <a:pt x="0" y="228600"/>
                  </a:lnTo>
                  <a:lnTo>
                    <a:pt x="0" y="0"/>
                  </a:lnTo>
                  <a:close/>
                </a:path>
              </a:pathLst>
            </a:custGeom>
            <a:blipFill>
              <a:blip r:embed="rId6"/>
              <a:stretch>
                <a:fillRect l="0" t="0" r="0" b="0"/>
              </a:stretch>
            </a:blipFill>
          </p:spPr>
          <p:txBody>
            <a:bodyPr/>
            <a:p/>
          </p:txBody>
        </p:sp>
      </p:grpSp>
      <p:grpSp>
        <p:nvGrpSpPr>
          <p:cNvPr name="Group 35" id="35"/>
          <p:cNvGrpSpPr/>
          <p:nvPr/>
        </p:nvGrpSpPr>
        <p:grpSpPr>
          <a:xfrm rot="0">
            <a:off x="1213866" y="3829507"/>
            <a:ext cx="3972154" cy="843534"/>
            <a:chOff x="0" y="0"/>
            <a:chExt cx="5296205" cy="1124712"/>
          </a:xfrm>
        </p:grpSpPr>
        <p:sp>
          <p:nvSpPr>
            <p:cNvPr name="Freeform 36" id="36"/>
            <p:cNvSpPr/>
            <p:nvPr/>
          </p:nvSpPr>
          <p:spPr>
            <a:xfrm flipH="false" flipV="false" rot="0">
              <a:off x="0" y="0"/>
              <a:ext cx="5296204" cy="1124712"/>
            </a:xfrm>
            <a:custGeom>
              <a:avLst/>
              <a:gdLst/>
              <a:ahLst/>
              <a:cxnLst/>
              <a:rect r="r" b="b" t="t" l="l"/>
              <a:pathLst>
                <a:path h="1124712" w="5296204">
                  <a:moveTo>
                    <a:pt x="0" y="0"/>
                  </a:moveTo>
                  <a:lnTo>
                    <a:pt x="5296204" y="0"/>
                  </a:lnTo>
                  <a:lnTo>
                    <a:pt x="5296204" y="1124712"/>
                  </a:lnTo>
                  <a:lnTo>
                    <a:pt x="0" y="1124712"/>
                  </a:lnTo>
                  <a:close/>
                </a:path>
              </a:pathLst>
            </a:custGeom>
            <a:blipFill>
              <a:blip r:embed="rId4">
                <a:alphaModFix amt="0"/>
              </a:blip>
              <a:stretch>
                <a:fillRect l="0" t="-41753" r="0" b="-41753"/>
              </a:stretch>
            </a:blipFill>
          </p:spPr>
          <p:txBody>
            <a:bodyPr/>
            <a:p/>
          </p:txBody>
        </p:sp>
        <p:sp>
          <p:nvSpPr>
            <p:cNvPr name="TextBox 37" id="37"/>
            <p:cNvSpPr txBox="true"/>
            <p:nvPr/>
          </p:nvSpPr>
          <p:spPr>
            <a:xfrm>
              <a:off x="0" y="0"/>
              <a:ext cx="5296205" cy="1124712"/>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Hiérarchiser et séquencer les interventions. Adapter dynamiquement selon la réponse biologique.</a:t>
              </a:r>
            </a:p>
          </p:txBody>
        </p:sp>
      </p:grpSp>
      <p:grpSp>
        <p:nvGrpSpPr>
          <p:cNvPr name="Group 38" id="38"/>
          <p:cNvGrpSpPr/>
          <p:nvPr/>
        </p:nvGrpSpPr>
        <p:grpSpPr>
          <a:xfrm rot="0">
            <a:off x="1213866" y="4893869"/>
            <a:ext cx="3858311" cy="843534"/>
            <a:chOff x="0" y="0"/>
            <a:chExt cx="5144414" cy="1124712"/>
          </a:xfrm>
        </p:grpSpPr>
        <p:sp>
          <p:nvSpPr>
            <p:cNvPr name="Freeform 39" id="39"/>
            <p:cNvSpPr/>
            <p:nvPr/>
          </p:nvSpPr>
          <p:spPr>
            <a:xfrm flipH="false" flipV="false" rot="0">
              <a:off x="0" y="0"/>
              <a:ext cx="5144389" cy="1124712"/>
            </a:xfrm>
            <a:custGeom>
              <a:avLst/>
              <a:gdLst/>
              <a:ahLst/>
              <a:cxnLst/>
              <a:rect r="r" b="b" t="t" l="l"/>
              <a:pathLst>
                <a:path h="1124712" w="5144389">
                  <a:moveTo>
                    <a:pt x="0" y="0"/>
                  </a:moveTo>
                  <a:lnTo>
                    <a:pt x="5144389" y="0"/>
                  </a:lnTo>
                  <a:lnTo>
                    <a:pt x="5144389" y="1124712"/>
                  </a:lnTo>
                  <a:lnTo>
                    <a:pt x="0" y="1124712"/>
                  </a:lnTo>
                  <a:close/>
                </a:path>
              </a:pathLst>
            </a:custGeom>
            <a:solidFill>
              <a:srgbClr val="000000">
                <a:alpha val="8627"/>
              </a:srgbClr>
            </a:solidFill>
          </p:spPr>
          <p:txBody>
            <a:bodyPr/>
            <a:p/>
          </p:txBody>
        </p:sp>
      </p:grpSp>
      <p:grpSp>
        <p:nvGrpSpPr>
          <p:cNvPr name="Group 40" id="40"/>
          <p:cNvGrpSpPr/>
          <p:nvPr/>
        </p:nvGrpSpPr>
        <p:grpSpPr>
          <a:xfrm rot="0">
            <a:off x="1204341" y="4884344"/>
            <a:ext cx="47854" cy="862584"/>
            <a:chOff x="0" y="0"/>
            <a:chExt cx="63805" cy="1150112"/>
          </a:xfrm>
        </p:grpSpPr>
        <p:sp>
          <p:nvSpPr>
            <p:cNvPr name="Freeform 41" id="41"/>
            <p:cNvSpPr/>
            <p:nvPr/>
          </p:nvSpPr>
          <p:spPr>
            <a:xfrm flipH="false" flipV="false" rot="0">
              <a:off x="12700" y="12700"/>
              <a:ext cx="38354" cy="1124712"/>
            </a:xfrm>
            <a:custGeom>
              <a:avLst/>
              <a:gdLst/>
              <a:ahLst/>
              <a:cxnLst/>
              <a:rect r="r" b="b" t="t" l="l"/>
              <a:pathLst>
                <a:path h="1124712" w="38354">
                  <a:moveTo>
                    <a:pt x="0" y="0"/>
                  </a:moveTo>
                  <a:lnTo>
                    <a:pt x="38354" y="0"/>
                  </a:lnTo>
                  <a:lnTo>
                    <a:pt x="38354" y="1124712"/>
                  </a:lnTo>
                  <a:lnTo>
                    <a:pt x="0" y="1124712"/>
                  </a:lnTo>
                  <a:close/>
                </a:path>
              </a:pathLst>
            </a:custGeom>
            <a:solidFill>
              <a:srgbClr val="6E7180"/>
            </a:solidFill>
          </p:spPr>
          <p:txBody>
            <a:bodyPr/>
            <a:p/>
          </p:txBody>
        </p:sp>
      </p:grpSp>
      <p:grpSp>
        <p:nvGrpSpPr>
          <p:cNvPr name="Group 42" id="42"/>
          <p:cNvGrpSpPr/>
          <p:nvPr/>
        </p:nvGrpSpPr>
        <p:grpSpPr>
          <a:xfrm rot="0">
            <a:off x="1357884" y="5007712"/>
            <a:ext cx="3744468" cy="293380"/>
            <a:chOff x="0" y="0"/>
            <a:chExt cx="4992624" cy="391173"/>
          </a:xfrm>
        </p:grpSpPr>
        <p:sp>
          <p:nvSpPr>
            <p:cNvPr name="Freeform 43" id="43"/>
            <p:cNvSpPr/>
            <p:nvPr/>
          </p:nvSpPr>
          <p:spPr>
            <a:xfrm flipH="false" flipV="false" rot="0">
              <a:off x="0" y="0"/>
              <a:ext cx="4992624" cy="391174"/>
            </a:xfrm>
            <a:custGeom>
              <a:avLst/>
              <a:gdLst/>
              <a:ahLst/>
              <a:cxnLst/>
              <a:rect r="r" b="b" t="t" l="l"/>
              <a:pathLst>
                <a:path h="391174" w="4992624">
                  <a:moveTo>
                    <a:pt x="0" y="0"/>
                  </a:moveTo>
                  <a:lnTo>
                    <a:pt x="4992624" y="0"/>
                  </a:lnTo>
                  <a:lnTo>
                    <a:pt x="4992624" y="391174"/>
                  </a:lnTo>
                  <a:lnTo>
                    <a:pt x="0" y="391174"/>
                  </a:lnTo>
                  <a:close/>
                </a:path>
              </a:pathLst>
            </a:custGeom>
            <a:blipFill>
              <a:blip r:embed="rId4">
                <a:alphaModFix amt="0"/>
              </a:blip>
              <a:stretch>
                <a:fillRect l="0" t="-199835" r="0" b="-197546"/>
              </a:stretch>
            </a:blipFill>
          </p:spPr>
          <p:txBody>
            <a:bodyPr/>
            <a:p/>
          </p:txBody>
        </p:sp>
        <p:sp>
          <p:nvSpPr>
            <p:cNvPr name="TextBox 44" id="44"/>
            <p:cNvSpPr txBox="true"/>
            <p:nvPr/>
          </p:nvSpPr>
          <p:spPr>
            <a:xfrm>
              <a:off x="0" y="0"/>
              <a:ext cx="499262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Âge Biologique</a:t>
              </a:r>
            </a:p>
          </p:txBody>
        </p:sp>
      </p:grpSp>
      <p:grpSp>
        <p:nvGrpSpPr>
          <p:cNvPr name="Group 45" id="45"/>
          <p:cNvGrpSpPr/>
          <p:nvPr/>
        </p:nvGrpSpPr>
        <p:grpSpPr>
          <a:xfrm rot="0">
            <a:off x="1357884" y="5343754"/>
            <a:ext cx="3463290" cy="293380"/>
            <a:chOff x="0" y="0"/>
            <a:chExt cx="4617720" cy="391173"/>
          </a:xfrm>
        </p:grpSpPr>
        <p:sp>
          <p:nvSpPr>
            <p:cNvPr name="Freeform 46" id="46"/>
            <p:cNvSpPr/>
            <p:nvPr/>
          </p:nvSpPr>
          <p:spPr>
            <a:xfrm flipH="false" flipV="false" rot="0">
              <a:off x="0" y="0"/>
              <a:ext cx="4617720" cy="391172"/>
            </a:xfrm>
            <a:custGeom>
              <a:avLst/>
              <a:gdLst/>
              <a:ahLst/>
              <a:cxnLst/>
              <a:rect r="r" b="b" t="t" l="l"/>
              <a:pathLst>
                <a:path h="391172" w="4617720">
                  <a:moveTo>
                    <a:pt x="0" y="0"/>
                  </a:moveTo>
                  <a:lnTo>
                    <a:pt x="4617720" y="0"/>
                  </a:lnTo>
                  <a:lnTo>
                    <a:pt x="4617720" y="391172"/>
                  </a:lnTo>
                  <a:lnTo>
                    <a:pt x="0" y="391172"/>
                  </a:lnTo>
                  <a:close/>
                </a:path>
              </a:pathLst>
            </a:custGeom>
            <a:blipFill>
              <a:blip r:embed="rId4">
                <a:alphaModFix amt="0"/>
              </a:blip>
              <a:stretch>
                <a:fillRect l="0" t="-186070" r="0" b="-173964"/>
              </a:stretch>
            </a:blipFill>
          </p:spPr>
          <p:txBody>
            <a:bodyPr/>
            <a:p/>
          </p:txBody>
        </p:sp>
        <p:sp>
          <p:nvSpPr>
            <p:cNvPr name="TextBox 47" id="47"/>
            <p:cNvSpPr txBox="true"/>
            <p:nvPr/>
          </p:nvSpPr>
          <p:spPr>
            <a:xfrm>
              <a:off x="0" y="0"/>
              <a:ext cx="4617720" cy="391173"/>
            </a:xfrm>
            <a:prstGeom prst="rect">
              <a:avLst/>
            </a:prstGeom>
          </p:spPr>
          <p:txBody>
            <a:bodyPr anchor="ctr" rtlCol="false" tIns="0" lIns="0" bIns="0" rIns="0"/>
            <a:lstStyle/>
            <a:p>
              <a:pPr algn="l">
                <a:lnSpc>
                  <a:spcPts val="1620"/>
                </a:lnSpc>
              </a:pPr>
              <a:r>
                <a:rPr lang="en-US" sz="1350">
                  <a:solidFill>
                    <a:srgbClr val="D3D6E0"/>
                  </a:solidFill>
                  <a:latin typeface="Manrope"/>
                  <a:ea typeface="Manrope"/>
                  <a:cs typeface="Manrope"/>
                  <a:sym typeface="Manrope"/>
                </a:rPr>
                <a:t>PhenoAge, GrimAge, DunedinPACE</a:t>
              </a:r>
            </a:p>
          </p:txBody>
        </p:sp>
      </p:grpSp>
      <p:grpSp>
        <p:nvGrpSpPr>
          <p:cNvPr name="Group 48" id="48"/>
          <p:cNvGrpSpPr/>
          <p:nvPr/>
        </p:nvGrpSpPr>
        <p:grpSpPr>
          <a:xfrm rot="0">
            <a:off x="1213866" y="5907481"/>
            <a:ext cx="3858311" cy="843534"/>
            <a:chOff x="0" y="0"/>
            <a:chExt cx="5144414" cy="1124712"/>
          </a:xfrm>
        </p:grpSpPr>
        <p:sp>
          <p:nvSpPr>
            <p:cNvPr name="Freeform 49" id="49"/>
            <p:cNvSpPr/>
            <p:nvPr/>
          </p:nvSpPr>
          <p:spPr>
            <a:xfrm flipH="false" flipV="false" rot="0">
              <a:off x="0" y="0"/>
              <a:ext cx="5144389" cy="1124712"/>
            </a:xfrm>
            <a:custGeom>
              <a:avLst/>
              <a:gdLst/>
              <a:ahLst/>
              <a:cxnLst/>
              <a:rect r="r" b="b" t="t" l="l"/>
              <a:pathLst>
                <a:path h="1124712" w="5144389">
                  <a:moveTo>
                    <a:pt x="0" y="0"/>
                  </a:moveTo>
                  <a:lnTo>
                    <a:pt x="5144389" y="0"/>
                  </a:lnTo>
                  <a:lnTo>
                    <a:pt x="5144389" y="1124712"/>
                  </a:lnTo>
                  <a:lnTo>
                    <a:pt x="0" y="1124712"/>
                  </a:lnTo>
                  <a:close/>
                </a:path>
              </a:pathLst>
            </a:custGeom>
            <a:solidFill>
              <a:srgbClr val="000000">
                <a:alpha val="8627"/>
              </a:srgbClr>
            </a:solidFill>
          </p:spPr>
          <p:txBody>
            <a:bodyPr/>
            <a:p/>
          </p:txBody>
        </p:sp>
      </p:grpSp>
      <p:grpSp>
        <p:nvGrpSpPr>
          <p:cNvPr name="Group 50" id="50"/>
          <p:cNvGrpSpPr/>
          <p:nvPr/>
        </p:nvGrpSpPr>
        <p:grpSpPr>
          <a:xfrm rot="0">
            <a:off x="1204341" y="5897956"/>
            <a:ext cx="47854" cy="862584"/>
            <a:chOff x="0" y="0"/>
            <a:chExt cx="63805" cy="1150112"/>
          </a:xfrm>
        </p:grpSpPr>
        <p:sp>
          <p:nvSpPr>
            <p:cNvPr name="Freeform 51" id="51"/>
            <p:cNvSpPr/>
            <p:nvPr/>
          </p:nvSpPr>
          <p:spPr>
            <a:xfrm flipH="false" flipV="false" rot="0">
              <a:off x="12700" y="12700"/>
              <a:ext cx="38354" cy="1124712"/>
            </a:xfrm>
            <a:custGeom>
              <a:avLst/>
              <a:gdLst/>
              <a:ahLst/>
              <a:cxnLst/>
              <a:rect r="r" b="b" t="t" l="l"/>
              <a:pathLst>
                <a:path h="1124712" w="38354">
                  <a:moveTo>
                    <a:pt x="0" y="0"/>
                  </a:moveTo>
                  <a:lnTo>
                    <a:pt x="38354" y="0"/>
                  </a:lnTo>
                  <a:lnTo>
                    <a:pt x="38354" y="1124712"/>
                  </a:lnTo>
                  <a:lnTo>
                    <a:pt x="0" y="1124712"/>
                  </a:lnTo>
                  <a:close/>
                </a:path>
              </a:pathLst>
            </a:custGeom>
            <a:solidFill>
              <a:srgbClr val="6E7180"/>
            </a:solidFill>
          </p:spPr>
          <p:txBody>
            <a:bodyPr/>
            <a:p/>
          </p:txBody>
        </p:sp>
      </p:grpSp>
      <p:grpSp>
        <p:nvGrpSpPr>
          <p:cNvPr name="Group 52" id="52"/>
          <p:cNvGrpSpPr/>
          <p:nvPr/>
        </p:nvGrpSpPr>
        <p:grpSpPr>
          <a:xfrm rot="0">
            <a:off x="1357884" y="6022696"/>
            <a:ext cx="3744468" cy="293380"/>
            <a:chOff x="0" y="0"/>
            <a:chExt cx="4992624" cy="391173"/>
          </a:xfrm>
        </p:grpSpPr>
        <p:sp>
          <p:nvSpPr>
            <p:cNvPr name="Freeform 53" id="53"/>
            <p:cNvSpPr/>
            <p:nvPr/>
          </p:nvSpPr>
          <p:spPr>
            <a:xfrm flipH="false" flipV="false" rot="0">
              <a:off x="0" y="0"/>
              <a:ext cx="4992624" cy="391174"/>
            </a:xfrm>
            <a:custGeom>
              <a:avLst/>
              <a:gdLst/>
              <a:ahLst/>
              <a:cxnLst/>
              <a:rect r="r" b="b" t="t" l="l"/>
              <a:pathLst>
                <a:path h="391174" w="4992624">
                  <a:moveTo>
                    <a:pt x="0" y="0"/>
                  </a:moveTo>
                  <a:lnTo>
                    <a:pt x="4992624" y="0"/>
                  </a:lnTo>
                  <a:lnTo>
                    <a:pt x="4992624" y="391174"/>
                  </a:lnTo>
                  <a:lnTo>
                    <a:pt x="0" y="391174"/>
                  </a:lnTo>
                  <a:close/>
                </a:path>
              </a:pathLst>
            </a:custGeom>
            <a:blipFill>
              <a:blip r:embed="rId4">
                <a:alphaModFix amt="0"/>
              </a:blip>
              <a:stretch>
                <a:fillRect l="0" t="-199835" r="0" b="-197546"/>
              </a:stretch>
            </a:blipFill>
          </p:spPr>
          <p:txBody>
            <a:bodyPr/>
            <a:p/>
          </p:txBody>
        </p:sp>
        <p:sp>
          <p:nvSpPr>
            <p:cNvPr name="TextBox 54" id="54"/>
            <p:cNvSpPr txBox="true"/>
            <p:nvPr/>
          </p:nvSpPr>
          <p:spPr>
            <a:xfrm>
              <a:off x="0" y="0"/>
              <a:ext cx="499262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Métabolisme</a:t>
              </a:r>
            </a:p>
          </p:txBody>
        </p:sp>
      </p:grpSp>
      <p:grpSp>
        <p:nvGrpSpPr>
          <p:cNvPr name="Group 55" id="55"/>
          <p:cNvGrpSpPr/>
          <p:nvPr/>
        </p:nvGrpSpPr>
        <p:grpSpPr>
          <a:xfrm rot="0">
            <a:off x="1357884" y="6357366"/>
            <a:ext cx="4064051" cy="293380"/>
            <a:chOff x="0" y="0"/>
            <a:chExt cx="5418734" cy="391173"/>
          </a:xfrm>
        </p:grpSpPr>
        <p:sp>
          <p:nvSpPr>
            <p:cNvPr name="Freeform 56" id="56"/>
            <p:cNvSpPr/>
            <p:nvPr/>
          </p:nvSpPr>
          <p:spPr>
            <a:xfrm flipH="false" flipV="false" rot="0">
              <a:off x="0" y="0"/>
              <a:ext cx="5418734" cy="391172"/>
            </a:xfrm>
            <a:custGeom>
              <a:avLst/>
              <a:gdLst/>
              <a:ahLst/>
              <a:cxnLst/>
              <a:rect r="r" b="b" t="t" l="l"/>
              <a:pathLst>
                <a:path h="391172" w="5418734">
                  <a:moveTo>
                    <a:pt x="0" y="0"/>
                  </a:moveTo>
                  <a:lnTo>
                    <a:pt x="5418734" y="0"/>
                  </a:lnTo>
                  <a:lnTo>
                    <a:pt x="5418734" y="391172"/>
                  </a:lnTo>
                  <a:lnTo>
                    <a:pt x="0" y="391172"/>
                  </a:lnTo>
                  <a:close/>
                </a:path>
              </a:pathLst>
            </a:custGeom>
            <a:blipFill>
              <a:blip r:embed="rId4">
                <a:alphaModFix amt="0"/>
              </a:blip>
              <a:stretch>
                <a:fillRect l="0" t="-225970" r="0" b="-213864"/>
              </a:stretch>
            </a:blipFill>
          </p:spPr>
          <p:txBody>
            <a:bodyPr/>
            <a:p/>
          </p:txBody>
        </p:sp>
        <p:sp>
          <p:nvSpPr>
            <p:cNvPr name="TextBox 57" id="57"/>
            <p:cNvSpPr txBox="true"/>
            <p:nvPr/>
          </p:nvSpPr>
          <p:spPr>
            <a:xfrm>
              <a:off x="0" y="0"/>
              <a:ext cx="5418734" cy="391173"/>
            </a:xfrm>
            <a:prstGeom prst="rect">
              <a:avLst/>
            </a:prstGeom>
          </p:spPr>
          <p:txBody>
            <a:bodyPr anchor="ctr" rtlCol="false" tIns="0" lIns="0" bIns="0" rIns="0"/>
            <a:lstStyle/>
            <a:p>
              <a:pPr algn="l">
                <a:lnSpc>
                  <a:spcPts val="1620"/>
                </a:lnSpc>
              </a:pPr>
              <a:r>
                <a:rPr lang="en-US" sz="1350">
                  <a:solidFill>
                    <a:srgbClr val="D3D6E0"/>
                  </a:solidFill>
                  <a:latin typeface="Manrope"/>
                  <a:ea typeface="Manrope"/>
                  <a:cs typeface="Manrope"/>
                  <a:sym typeface="Manrope"/>
                </a:rPr>
                <a:t>Mitochondries, Insulinorésistance, CGM</a:t>
              </a:r>
            </a:p>
          </p:txBody>
        </p:sp>
      </p:grpSp>
      <p:grpSp>
        <p:nvGrpSpPr>
          <p:cNvPr name="Group 58" id="58"/>
          <p:cNvGrpSpPr/>
          <p:nvPr/>
        </p:nvGrpSpPr>
        <p:grpSpPr>
          <a:xfrm rot="0">
            <a:off x="1213866" y="6922465"/>
            <a:ext cx="3858311" cy="843534"/>
            <a:chOff x="0" y="0"/>
            <a:chExt cx="5144414" cy="1124712"/>
          </a:xfrm>
        </p:grpSpPr>
        <p:sp>
          <p:nvSpPr>
            <p:cNvPr name="Freeform 59" id="59"/>
            <p:cNvSpPr/>
            <p:nvPr/>
          </p:nvSpPr>
          <p:spPr>
            <a:xfrm flipH="false" flipV="false" rot="0">
              <a:off x="0" y="0"/>
              <a:ext cx="5144389" cy="1124712"/>
            </a:xfrm>
            <a:custGeom>
              <a:avLst/>
              <a:gdLst/>
              <a:ahLst/>
              <a:cxnLst/>
              <a:rect r="r" b="b" t="t" l="l"/>
              <a:pathLst>
                <a:path h="1124712" w="5144389">
                  <a:moveTo>
                    <a:pt x="0" y="0"/>
                  </a:moveTo>
                  <a:lnTo>
                    <a:pt x="5144389" y="0"/>
                  </a:lnTo>
                  <a:lnTo>
                    <a:pt x="5144389" y="1124712"/>
                  </a:lnTo>
                  <a:lnTo>
                    <a:pt x="0" y="1124712"/>
                  </a:lnTo>
                  <a:close/>
                </a:path>
              </a:pathLst>
            </a:custGeom>
            <a:solidFill>
              <a:srgbClr val="000000">
                <a:alpha val="8627"/>
              </a:srgbClr>
            </a:solidFill>
          </p:spPr>
          <p:txBody>
            <a:bodyPr/>
            <a:p/>
          </p:txBody>
        </p:sp>
      </p:grpSp>
      <p:grpSp>
        <p:nvGrpSpPr>
          <p:cNvPr name="Group 60" id="60"/>
          <p:cNvGrpSpPr/>
          <p:nvPr/>
        </p:nvGrpSpPr>
        <p:grpSpPr>
          <a:xfrm rot="0">
            <a:off x="1204341" y="6912940"/>
            <a:ext cx="47854" cy="862584"/>
            <a:chOff x="0" y="0"/>
            <a:chExt cx="63805" cy="1150112"/>
          </a:xfrm>
        </p:grpSpPr>
        <p:sp>
          <p:nvSpPr>
            <p:cNvPr name="Freeform 61" id="61"/>
            <p:cNvSpPr/>
            <p:nvPr/>
          </p:nvSpPr>
          <p:spPr>
            <a:xfrm flipH="false" flipV="false" rot="0">
              <a:off x="12700" y="12700"/>
              <a:ext cx="38354" cy="1124712"/>
            </a:xfrm>
            <a:custGeom>
              <a:avLst/>
              <a:gdLst/>
              <a:ahLst/>
              <a:cxnLst/>
              <a:rect r="r" b="b" t="t" l="l"/>
              <a:pathLst>
                <a:path h="1124712" w="38354">
                  <a:moveTo>
                    <a:pt x="0" y="0"/>
                  </a:moveTo>
                  <a:lnTo>
                    <a:pt x="38354" y="0"/>
                  </a:lnTo>
                  <a:lnTo>
                    <a:pt x="38354" y="1124712"/>
                  </a:lnTo>
                  <a:lnTo>
                    <a:pt x="0" y="1124712"/>
                  </a:lnTo>
                  <a:close/>
                </a:path>
              </a:pathLst>
            </a:custGeom>
            <a:solidFill>
              <a:srgbClr val="6E7180"/>
            </a:solidFill>
          </p:spPr>
          <p:txBody>
            <a:bodyPr/>
            <a:p/>
          </p:txBody>
        </p:sp>
      </p:grpSp>
      <p:grpSp>
        <p:nvGrpSpPr>
          <p:cNvPr name="Group 62" id="62"/>
          <p:cNvGrpSpPr/>
          <p:nvPr/>
        </p:nvGrpSpPr>
        <p:grpSpPr>
          <a:xfrm rot="0">
            <a:off x="1357884" y="7036308"/>
            <a:ext cx="3744468" cy="293380"/>
            <a:chOff x="0" y="0"/>
            <a:chExt cx="4992624" cy="391173"/>
          </a:xfrm>
        </p:grpSpPr>
        <p:sp>
          <p:nvSpPr>
            <p:cNvPr name="Freeform 63" id="63"/>
            <p:cNvSpPr/>
            <p:nvPr/>
          </p:nvSpPr>
          <p:spPr>
            <a:xfrm flipH="false" flipV="false" rot="0">
              <a:off x="0" y="0"/>
              <a:ext cx="4992624" cy="391174"/>
            </a:xfrm>
            <a:custGeom>
              <a:avLst/>
              <a:gdLst/>
              <a:ahLst/>
              <a:cxnLst/>
              <a:rect r="r" b="b" t="t" l="l"/>
              <a:pathLst>
                <a:path h="391174" w="4992624">
                  <a:moveTo>
                    <a:pt x="0" y="0"/>
                  </a:moveTo>
                  <a:lnTo>
                    <a:pt x="4992624" y="0"/>
                  </a:lnTo>
                  <a:lnTo>
                    <a:pt x="4992624" y="391174"/>
                  </a:lnTo>
                  <a:lnTo>
                    <a:pt x="0" y="391174"/>
                  </a:lnTo>
                  <a:close/>
                </a:path>
              </a:pathLst>
            </a:custGeom>
            <a:blipFill>
              <a:blip r:embed="rId4">
                <a:alphaModFix amt="0"/>
              </a:blip>
              <a:stretch>
                <a:fillRect l="0" t="-199835" r="0" b="-197546"/>
              </a:stretch>
            </a:blipFill>
          </p:spPr>
          <p:txBody>
            <a:bodyPr/>
            <a:p/>
          </p:txBody>
        </p:sp>
        <p:sp>
          <p:nvSpPr>
            <p:cNvPr name="TextBox 64" id="64"/>
            <p:cNvSpPr txBox="true"/>
            <p:nvPr/>
          </p:nvSpPr>
          <p:spPr>
            <a:xfrm>
              <a:off x="0" y="0"/>
              <a:ext cx="499262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Biologie Avancée</a:t>
              </a:r>
            </a:p>
          </p:txBody>
        </p:sp>
      </p:grpSp>
      <p:grpSp>
        <p:nvGrpSpPr>
          <p:cNvPr name="Group 65" id="65"/>
          <p:cNvGrpSpPr/>
          <p:nvPr/>
        </p:nvGrpSpPr>
        <p:grpSpPr>
          <a:xfrm rot="0">
            <a:off x="1357884" y="7372350"/>
            <a:ext cx="3571646" cy="293380"/>
            <a:chOff x="0" y="0"/>
            <a:chExt cx="4762195" cy="391173"/>
          </a:xfrm>
        </p:grpSpPr>
        <p:sp>
          <p:nvSpPr>
            <p:cNvPr name="Freeform 66" id="66"/>
            <p:cNvSpPr/>
            <p:nvPr/>
          </p:nvSpPr>
          <p:spPr>
            <a:xfrm flipH="false" flipV="false" rot="0">
              <a:off x="0" y="0"/>
              <a:ext cx="4762196" cy="391172"/>
            </a:xfrm>
            <a:custGeom>
              <a:avLst/>
              <a:gdLst/>
              <a:ahLst/>
              <a:cxnLst/>
              <a:rect r="r" b="b" t="t" l="l"/>
              <a:pathLst>
                <a:path h="391172" w="4762196">
                  <a:moveTo>
                    <a:pt x="0" y="0"/>
                  </a:moveTo>
                  <a:lnTo>
                    <a:pt x="4762196" y="0"/>
                  </a:lnTo>
                  <a:lnTo>
                    <a:pt x="4762196" y="391172"/>
                  </a:lnTo>
                  <a:lnTo>
                    <a:pt x="0" y="391172"/>
                  </a:lnTo>
                  <a:close/>
                </a:path>
              </a:pathLst>
            </a:custGeom>
            <a:blipFill>
              <a:blip r:embed="rId4">
                <a:alphaModFix amt="0"/>
              </a:blip>
              <a:stretch>
                <a:fillRect l="0" t="-193267" r="0" b="-181160"/>
              </a:stretch>
            </a:blipFill>
          </p:spPr>
          <p:txBody>
            <a:bodyPr/>
            <a:p/>
          </p:txBody>
        </p:sp>
        <p:sp>
          <p:nvSpPr>
            <p:cNvPr name="TextBox 67" id="67"/>
            <p:cNvSpPr txBox="true"/>
            <p:nvPr/>
          </p:nvSpPr>
          <p:spPr>
            <a:xfrm>
              <a:off x="0" y="0"/>
              <a:ext cx="4762195" cy="391173"/>
            </a:xfrm>
            <a:prstGeom prst="rect">
              <a:avLst/>
            </a:prstGeom>
          </p:spPr>
          <p:txBody>
            <a:bodyPr anchor="ctr" rtlCol="false" tIns="0" lIns="0" bIns="0" rIns="0"/>
            <a:lstStyle/>
            <a:p>
              <a:pPr algn="l">
                <a:lnSpc>
                  <a:spcPts val="1620"/>
                </a:lnSpc>
              </a:pPr>
              <a:r>
                <a:rPr lang="en-US" sz="1350">
                  <a:solidFill>
                    <a:srgbClr val="D3D6E0"/>
                  </a:solidFill>
                  <a:latin typeface="Manrope"/>
                  <a:ea typeface="Manrope"/>
                  <a:cs typeface="Manrope"/>
                  <a:sym typeface="Manrope"/>
                </a:rPr>
                <a:t>Inflammation, Immunité, Hormones</a:t>
              </a:r>
            </a:p>
          </p:txBody>
        </p:sp>
      </p:grpSp>
      <p:grpSp>
        <p:nvGrpSpPr>
          <p:cNvPr name="Group 68" id="68"/>
          <p:cNvGrpSpPr/>
          <p:nvPr/>
        </p:nvGrpSpPr>
        <p:grpSpPr>
          <a:xfrm rot="0">
            <a:off x="1213866" y="7936078"/>
            <a:ext cx="3858311" cy="843534"/>
            <a:chOff x="0" y="0"/>
            <a:chExt cx="5144414" cy="1124712"/>
          </a:xfrm>
        </p:grpSpPr>
        <p:sp>
          <p:nvSpPr>
            <p:cNvPr name="Freeform 69" id="69"/>
            <p:cNvSpPr/>
            <p:nvPr/>
          </p:nvSpPr>
          <p:spPr>
            <a:xfrm flipH="false" flipV="false" rot="0">
              <a:off x="0" y="0"/>
              <a:ext cx="5144389" cy="1124712"/>
            </a:xfrm>
            <a:custGeom>
              <a:avLst/>
              <a:gdLst/>
              <a:ahLst/>
              <a:cxnLst/>
              <a:rect r="r" b="b" t="t" l="l"/>
              <a:pathLst>
                <a:path h="1124712" w="5144389">
                  <a:moveTo>
                    <a:pt x="0" y="0"/>
                  </a:moveTo>
                  <a:lnTo>
                    <a:pt x="5144389" y="0"/>
                  </a:lnTo>
                  <a:lnTo>
                    <a:pt x="5144389" y="1124712"/>
                  </a:lnTo>
                  <a:lnTo>
                    <a:pt x="0" y="1124712"/>
                  </a:lnTo>
                  <a:close/>
                </a:path>
              </a:pathLst>
            </a:custGeom>
            <a:solidFill>
              <a:srgbClr val="000000">
                <a:alpha val="8627"/>
              </a:srgbClr>
            </a:solidFill>
          </p:spPr>
          <p:txBody>
            <a:bodyPr/>
            <a:p/>
          </p:txBody>
        </p:sp>
      </p:grpSp>
      <p:grpSp>
        <p:nvGrpSpPr>
          <p:cNvPr name="Group 70" id="70"/>
          <p:cNvGrpSpPr/>
          <p:nvPr/>
        </p:nvGrpSpPr>
        <p:grpSpPr>
          <a:xfrm rot="0">
            <a:off x="1204341" y="7926553"/>
            <a:ext cx="47854" cy="862584"/>
            <a:chOff x="0" y="0"/>
            <a:chExt cx="63805" cy="1150112"/>
          </a:xfrm>
        </p:grpSpPr>
        <p:sp>
          <p:nvSpPr>
            <p:cNvPr name="Freeform 71" id="71"/>
            <p:cNvSpPr/>
            <p:nvPr/>
          </p:nvSpPr>
          <p:spPr>
            <a:xfrm flipH="false" flipV="false" rot="0">
              <a:off x="12700" y="12700"/>
              <a:ext cx="38354" cy="1124712"/>
            </a:xfrm>
            <a:custGeom>
              <a:avLst/>
              <a:gdLst/>
              <a:ahLst/>
              <a:cxnLst/>
              <a:rect r="r" b="b" t="t" l="l"/>
              <a:pathLst>
                <a:path h="1124712" w="38354">
                  <a:moveTo>
                    <a:pt x="0" y="0"/>
                  </a:moveTo>
                  <a:lnTo>
                    <a:pt x="38354" y="0"/>
                  </a:lnTo>
                  <a:lnTo>
                    <a:pt x="38354" y="1124712"/>
                  </a:lnTo>
                  <a:lnTo>
                    <a:pt x="0" y="1124712"/>
                  </a:lnTo>
                  <a:close/>
                </a:path>
              </a:pathLst>
            </a:custGeom>
            <a:solidFill>
              <a:srgbClr val="6E7180"/>
            </a:solidFill>
          </p:spPr>
          <p:txBody>
            <a:bodyPr/>
            <a:p/>
          </p:txBody>
        </p:sp>
      </p:grpSp>
      <p:grpSp>
        <p:nvGrpSpPr>
          <p:cNvPr name="Group 72" id="72"/>
          <p:cNvGrpSpPr/>
          <p:nvPr/>
        </p:nvGrpSpPr>
        <p:grpSpPr>
          <a:xfrm rot="0">
            <a:off x="1357884" y="8051292"/>
            <a:ext cx="3744468" cy="293380"/>
            <a:chOff x="0" y="0"/>
            <a:chExt cx="4992624" cy="391173"/>
          </a:xfrm>
        </p:grpSpPr>
        <p:sp>
          <p:nvSpPr>
            <p:cNvPr name="Freeform 73" id="73"/>
            <p:cNvSpPr/>
            <p:nvPr/>
          </p:nvSpPr>
          <p:spPr>
            <a:xfrm flipH="false" flipV="false" rot="0">
              <a:off x="0" y="0"/>
              <a:ext cx="4992624" cy="391174"/>
            </a:xfrm>
            <a:custGeom>
              <a:avLst/>
              <a:gdLst/>
              <a:ahLst/>
              <a:cxnLst/>
              <a:rect r="r" b="b" t="t" l="l"/>
              <a:pathLst>
                <a:path h="391174" w="4992624">
                  <a:moveTo>
                    <a:pt x="0" y="0"/>
                  </a:moveTo>
                  <a:lnTo>
                    <a:pt x="4992624" y="0"/>
                  </a:lnTo>
                  <a:lnTo>
                    <a:pt x="4992624" y="391174"/>
                  </a:lnTo>
                  <a:lnTo>
                    <a:pt x="0" y="391174"/>
                  </a:lnTo>
                  <a:close/>
                </a:path>
              </a:pathLst>
            </a:custGeom>
            <a:blipFill>
              <a:blip r:embed="rId4">
                <a:alphaModFix amt="0"/>
              </a:blip>
              <a:stretch>
                <a:fillRect l="0" t="-199835" r="0" b="-197546"/>
              </a:stretch>
            </a:blipFill>
          </p:spPr>
          <p:txBody>
            <a:bodyPr/>
            <a:p/>
          </p:txBody>
        </p:sp>
        <p:sp>
          <p:nvSpPr>
            <p:cNvPr name="TextBox 74" id="74"/>
            <p:cNvSpPr txBox="true"/>
            <p:nvPr/>
          </p:nvSpPr>
          <p:spPr>
            <a:xfrm>
              <a:off x="0" y="0"/>
              <a:ext cx="499262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Physiologie</a:t>
              </a:r>
            </a:p>
          </p:txBody>
        </p:sp>
      </p:grpSp>
      <p:grpSp>
        <p:nvGrpSpPr>
          <p:cNvPr name="Group 75" id="75"/>
          <p:cNvGrpSpPr/>
          <p:nvPr/>
        </p:nvGrpSpPr>
        <p:grpSpPr>
          <a:xfrm rot="0">
            <a:off x="1357884" y="8387334"/>
            <a:ext cx="2958541" cy="293380"/>
            <a:chOff x="0" y="0"/>
            <a:chExt cx="3944722" cy="391173"/>
          </a:xfrm>
        </p:grpSpPr>
        <p:sp>
          <p:nvSpPr>
            <p:cNvPr name="Freeform 76" id="76"/>
            <p:cNvSpPr/>
            <p:nvPr/>
          </p:nvSpPr>
          <p:spPr>
            <a:xfrm flipH="false" flipV="false" rot="0">
              <a:off x="0" y="0"/>
              <a:ext cx="3944722" cy="391172"/>
            </a:xfrm>
            <a:custGeom>
              <a:avLst/>
              <a:gdLst/>
              <a:ahLst/>
              <a:cxnLst/>
              <a:rect r="r" b="b" t="t" l="l"/>
              <a:pathLst>
                <a:path h="391172" w="3944722">
                  <a:moveTo>
                    <a:pt x="0" y="0"/>
                  </a:moveTo>
                  <a:lnTo>
                    <a:pt x="3944722" y="0"/>
                  </a:lnTo>
                  <a:lnTo>
                    <a:pt x="3944722" y="391172"/>
                  </a:lnTo>
                  <a:lnTo>
                    <a:pt x="0" y="391172"/>
                  </a:lnTo>
                  <a:close/>
                </a:path>
              </a:pathLst>
            </a:custGeom>
            <a:blipFill>
              <a:blip r:embed="rId4">
                <a:alphaModFix amt="0"/>
              </a:blip>
              <a:stretch>
                <a:fillRect l="0" t="-152547" r="0" b="-140440"/>
              </a:stretch>
            </a:blipFill>
          </p:spPr>
          <p:txBody>
            <a:bodyPr/>
            <a:p/>
          </p:txBody>
        </p:sp>
        <p:sp>
          <p:nvSpPr>
            <p:cNvPr name="TextBox 77" id="77"/>
            <p:cNvSpPr txBox="true"/>
            <p:nvPr/>
          </p:nvSpPr>
          <p:spPr>
            <a:xfrm>
              <a:off x="0" y="0"/>
              <a:ext cx="3944722" cy="391173"/>
            </a:xfrm>
            <a:prstGeom prst="rect">
              <a:avLst/>
            </a:prstGeom>
          </p:spPr>
          <p:txBody>
            <a:bodyPr anchor="ctr" rtlCol="false" tIns="0" lIns="0" bIns="0" rIns="0"/>
            <a:lstStyle/>
            <a:p>
              <a:pPr algn="l">
                <a:lnSpc>
                  <a:spcPts val="1620"/>
                </a:lnSpc>
              </a:pPr>
              <a:r>
                <a:rPr lang="en-US" sz="1350">
                  <a:solidFill>
                    <a:srgbClr val="D3D6E0"/>
                  </a:solidFill>
                  <a:latin typeface="Manrope"/>
                  <a:ea typeface="Manrope"/>
                  <a:cs typeface="Manrope"/>
                  <a:sym typeface="Manrope"/>
                </a:rPr>
                <a:t>VO₂max, DEXA, HRV, Sommeil</a:t>
              </a:r>
            </a:p>
          </p:txBody>
        </p:sp>
      </p:grpSp>
      <p:grpSp>
        <p:nvGrpSpPr>
          <p:cNvPr name="Group 78" id="78"/>
          <p:cNvGrpSpPr/>
          <p:nvPr/>
        </p:nvGrpSpPr>
        <p:grpSpPr>
          <a:xfrm rot="0">
            <a:off x="1213866" y="8951062"/>
            <a:ext cx="3858311" cy="843534"/>
            <a:chOff x="0" y="0"/>
            <a:chExt cx="5144414" cy="1124712"/>
          </a:xfrm>
        </p:grpSpPr>
        <p:sp>
          <p:nvSpPr>
            <p:cNvPr name="Freeform 79" id="79"/>
            <p:cNvSpPr/>
            <p:nvPr/>
          </p:nvSpPr>
          <p:spPr>
            <a:xfrm flipH="false" flipV="false" rot="0">
              <a:off x="0" y="0"/>
              <a:ext cx="5144389" cy="1124712"/>
            </a:xfrm>
            <a:custGeom>
              <a:avLst/>
              <a:gdLst/>
              <a:ahLst/>
              <a:cxnLst/>
              <a:rect r="r" b="b" t="t" l="l"/>
              <a:pathLst>
                <a:path h="1124712" w="5144389">
                  <a:moveTo>
                    <a:pt x="0" y="0"/>
                  </a:moveTo>
                  <a:lnTo>
                    <a:pt x="5144389" y="0"/>
                  </a:lnTo>
                  <a:lnTo>
                    <a:pt x="5144389" y="1124712"/>
                  </a:lnTo>
                  <a:lnTo>
                    <a:pt x="0" y="1124712"/>
                  </a:lnTo>
                  <a:close/>
                </a:path>
              </a:pathLst>
            </a:custGeom>
            <a:solidFill>
              <a:srgbClr val="000000">
                <a:alpha val="8627"/>
              </a:srgbClr>
            </a:solidFill>
          </p:spPr>
          <p:txBody>
            <a:bodyPr/>
            <a:p/>
          </p:txBody>
        </p:sp>
      </p:grpSp>
      <p:grpSp>
        <p:nvGrpSpPr>
          <p:cNvPr name="Group 80" id="80"/>
          <p:cNvGrpSpPr/>
          <p:nvPr/>
        </p:nvGrpSpPr>
        <p:grpSpPr>
          <a:xfrm rot="0">
            <a:off x="1204341" y="8941537"/>
            <a:ext cx="47854" cy="862584"/>
            <a:chOff x="0" y="0"/>
            <a:chExt cx="63805" cy="1150112"/>
          </a:xfrm>
        </p:grpSpPr>
        <p:sp>
          <p:nvSpPr>
            <p:cNvPr name="Freeform 81" id="81"/>
            <p:cNvSpPr/>
            <p:nvPr/>
          </p:nvSpPr>
          <p:spPr>
            <a:xfrm flipH="false" flipV="false" rot="0">
              <a:off x="12700" y="12700"/>
              <a:ext cx="38354" cy="1124712"/>
            </a:xfrm>
            <a:custGeom>
              <a:avLst/>
              <a:gdLst/>
              <a:ahLst/>
              <a:cxnLst/>
              <a:rect r="r" b="b" t="t" l="l"/>
              <a:pathLst>
                <a:path h="1124712" w="38354">
                  <a:moveTo>
                    <a:pt x="0" y="0"/>
                  </a:moveTo>
                  <a:lnTo>
                    <a:pt x="38354" y="0"/>
                  </a:lnTo>
                  <a:lnTo>
                    <a:pt x="38354" y="1124712"/>
                  </a:lnTo>
                  <a:lnTo>
                    <a:pt x="0" y="1124712"/>
                  </a:lnTo>
                  <a:close/>
                </a:path>
              </a:pathLst>
            </a:custGeom>
            <a:solidFill>
              <a:srgbClr val="6E7180"/>
            </a:solidFill>
          </p:spPr>
          <p:txBody>
            <a:bodyPr/>
            <a:p/>
          </p:txBody>
        </p:sp>
      </p:grpSp>
      <p:grpSp>
        <p:nvGrpSpPr>
          <p:cNvPr name="Group 82" id="82"/>
          <p:cNvGrpSpPr/>
          <p:nvPr/>
        </p:nvGrpSpPr>
        <p:grpSpPr>
          <a:xfrm rot="0">
            <a:off x="1357884" y="9064904"/>
            <a:ext cx="3744468" cy="293380"/>
            <a:chOff x="0" y="0"/>
            <a:chExt cx="4992624" cy="391173"/>
          </a:xfrm>
        </p:grpSpPr>
        <p:sp>
          <p:nvSpPr>
            <p:cNvPr name="Freeform 83" id="83"/>
            <p:cNvSpPr/>
            <p:nvPr/>
          </p:nvSpPr>
          <p:spPr>
            <a:xfrm flipH="false" flipV="false" rot="0">
              <a:off x="0" y="0"/>
              <a:ext cx="4992624" cy="391174"/>
            </a:xfrm>
            <a:custGeom>
              <a:avLst/>
              <a:gdLst/>
              <a:ahLst/>
              <a:cxnLst/>
              <a:rect r="r" b="b" t="t" l="l"/>
              <a:pathLst>
                <a:path h="391174" w="4992624">
                  <a:moveTo>
                    <a:pt x="0" y="0"/>
                  </a:moveTo>
                  <a:lnTo>
                    <a:pt x="4992624" y="0"/>
                  </a:lnTo>
                  <a:lnTo>
                    <a:pt x="4992624" y="391174"/>
                  </a:lnTo>
                  <a:lnTo>
                    <a:pt x="0" y="391174"/>
                  </a:lnTo>
                  <a:close/>
                </a:path>
              </a:pathLst>
            </a:custGeom>
            <a:blipFill>
              <a:blip r:embed="rId4">
                <a:alphaModFix amt="0"/>
              </a:blip>
              <a:stretch>
                <a:fillRect l="0" t="-199835" r="0" b="-197546"/>
              </a:stretch>
            </a:blipFill>
          </p:spPr>
          <p:txBody>
            <a:bodyPr/>
            <a:p/>
          </p:txBody>
        </p:sp>
        <p:sp>
          <p:nvSpPr>
            <p:cNvPr name="TextBox 84" id="84"/>
            <p:cNvSpPr txBox="true"/>
            <p:nvPr/>
          </p:nvSpPr>
          <p:spPr>
            <a:xfrm>
              <a:off x="0" y="0"/>
              <a:ext cx="499262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Génomique</a:t>
              </a:r>
            </a:p>
          </p:txBody>
        </p:sp>
      </p:grpSp>
      <p:grpSp>
        <p:nvGrpSpPr>
          <p:cNvPr name="Group 85" id="85"/>
          <p:cNvGrpSpPr/>
          <p:nvPr/>
        </p:nvGrpSpPr>
        <p:grpSpPr>
          <a:xfrm rot="0">
            <a:off x="1357884" y="9400946"/>
            <a:ext cx="2755544" cy="293380"/>
            <a:chOff x="0" y="0"/>
            <a:chExt cx="3674059" cy="391173"/>
          </a:xfrm>
        </p:grpSpPr>
        <p:sp>
          <p:nvSpPr>
            <p:cNvPr name="Freeform 86" id="86"/>
            <p:cNvSpPr/>
            <p:nvPr/>
          </p:nvSpPr>
          <p:spPr>
            <a:xfrm flipH="false" flipV="false" rot="0">
              <a:off x="0" y="0"/>
              <a:ext cx="3674060" cy="391172"/>
            </a:xfrm>
            <a:custGeom>
              <a:avLst/>
              <a:gdLst/>
              <a:ahLst/>
              <a:cxnLst/>
              <a:rect r="r" b="b" t="t" l="l"/>
              <a:pathLst>
                <a:path h="391172" w="3674060">
                  <a:moveTo>
                    <a:pt x="0" y="0"/>
                  </a:moveTo>
                  <a:lnTo>
                    <a:pt x="3674060" y="0"/>
                  </a:lnTo>
                  <a:lnTo>
                    <a:pt x="3674060" y="391172"/>
                  </a:lnTo>
                  <a:lnTo>
                    <a:pt x="0" y="391172"/>
                  </a:lnTo>
                  <a:close/>
                </a:path>
              </a:pathLst>
            </a:custGeom>
            <a:blipFill>
              <a:blip r:embed="rId4">
                <a:alphaModFix amt="0"/>
              </a:blip>
              <a:stretch>
                <a:fillRect l="0" t="-139065" r="0" b="-126958"/>
              </a:stretch>
            </a:blipFill>
          </p:spPr>
          <p:txBody>
            <a:bodyPr/>
            <a:p/>
          </p:txBody>
        </p:sp>
        <p:sp>
          <p:nvSpPr>
            <p:cNvPr name="TextBox 87" id="87"/>
            <p:cNvSpPr txBox="true"/>
            <p:nvPr/>
          </p:nvSpPr>
          <p:spPr>
            <a:xfrm>
              <a:off x="0" y="0"/>
              <a:ext cx="3674059" cy="391173"/>
            </a:xfrm>
            <a:prstGeom prst="rect">
              <a:avLst/>
            </a:prstGeom>
          </p:spPr>
          <p:txBody>
            <a:bodyPr anchor="ctr" rtlCol="false" tIns="0" lIns="0" bIns="0" rIns="0"/>
            <a:lstStyle/>
            <a:p>
              <a:pPr algn="l">
                <a:lnSpc>
                  <a:spcPts val="1620"/>
                </a:lnSpc>
              </a:pPr>
              <a:r>
                <a:rPr lang="en-US" sz="1350">
                  <a:solidFill>
                    <a:srgbClr val="D3D6E0"/>
                  </a:solidFill>
                  <a:latin typeface="Manrope"/>
                  <a:ea typeface="Manrope"/>
                  <a:cs typeface="Manrope"/>
                  <a:sym typeface="Manrope"/>
                </a:rPr>
                <a:t>Épigénomique, Microbiome</a:t>
              </a:r>
            </a:p>
          </p:txBody>
        </p:sp>
      </p:grpSp>
      <p:grpSp>
        <p:nvGrpSpPr>
          <p:cNvPr name="Group 88" id="88"/>
          <p:cNvGrpSpPr/>
          <p:nvPr/>
        </p:nvGrpSpPr>
        <p:grpSpPr>
          <a:xfrm rot="0">
            <a:off x="1204341" y="9785071"/>
            <a:ext cx="3877361" cy="32766"/>
            <a:chOff x="0" y="0"/>
            <a:chExt cx="5169814" cy="43688"/>
          </a:xfrm>
        </p:grpSpPr>
        <p:sp>
          <p:nvSpPr>
            <p:cNvPr name="Freeform 89" id="89"/>
            <p:cNvSpPr/>
            <p:nvPr/>
          </p:nvSpPr>
          <p:spPr>
            <a:xfrm flipH="false" flipV="false" rot="0">
              <a:off x="12700" y="12700"/>
              <a:ext cx="5144389" cy="18288"/>
            </a:xfrm>
            <a:custGeom>
              <a:avLst/>
              <a:gdLst/>
              <a:ahLst/>
              <a:cxnLst/>
              <a:rect r="r" b="b" t="t" l="l"/>
              <a:pathLst>
                <a:path h="18288" w="5144389">
                  <a:moveTo>
                    <a:pt x="0" y="0"/>
                  </a:moveTo>
                  <a:lnTo>
                    <a:pt x="5144389" y="0"/>
                  </a:lnTo>
                  <a:lnTo>
                    <a:pt x="5144389" y="18288"/>
                  </a:lnTo>
                  <a:lnTo>
                    <a:pt x="0" y="18288"/>
                  </a:lnTo>
                  <a:close/>
                </a:path>
              </a:pathLst>
            </a:custGeom>
            <a:solidFill>
              <a:srgbClr val="E5E7EB"/>
            </a:solidFill>
          </p:spPr>
          <p:txBody>
            <a:bodyPr/>
            <a:p/>
          </p:txBody>
        </p:sp>
      </p:grpSp>
      <p:grpSp>
        <p:nvGrpSpPr>
          <p:cNvPr name="Group 90" id="90"/>
          <p:cNvGrpSpPr/>
          <p:nvPr/>
        </p:nvGrpSpPr>
        <p:grpSpPr>
          <a:xfrm rot="0">
            <a:off x="5600243" y="2057400"/>
            <a:ext cx="13716" cy="8265262"/>
            <a:chOff x="0" y="0"/>
            <a:chExt cx="18288" cy="11020349"/>
          </a:xfrm>
        </p:grpSpPr>
        <p:sp>
          <p:nvSpPr>
            <p:cNvPr name="Freeform 91" id="91" descr="preencoded.png"/>
            <p:cNvSpPr/>
            <p:nvPr/>
          </p:nvSpPr>
          <p:spPr>
            <a:xfrm flipH="false" flipV="false" rot="0">
              <a:off x="0" y="0"/>
              <a:ext cx="18288" cy="11020298"/>
            </a:xfrm>
            <a:custGeom>
              <a:avLst/>
              <a:gdLst/>
              <a:ahLst/>
              <a:cxnLst/>
              <a:rect r="r" b="b" t="t" l="l"/>
              <a:pathLst>
                <a:path h="11020298" w="18288">
                  <a:moveTo>
                    <a:pt x="0" y="0"/>
                  </a:moveTo>
                  <a:lnTo>
                    <a:pt x="18288" y="0"/>
                  </a:lnTo>
                  <a:lnTo>
                    <a:pt x="18288" y="11020298"/>
                  </a:lnTo>
                  <a:lnTo>
                    <a:pt x="0" y="11020298"/>
                  </a:lnTo>
                  <a:lnTo>
                    <a:pt x="0" y="0"/>
                  </a:lnTo>
                  <a:close/>
                </a:path>
              </a:pathLst>
            </a:custGeom>
            <a:blipFill>
              <a:blip r:embed="rId7"/>
              <a:stretch>
                <a:fillRect l="0" t="2000" r="0" b="1970"/>
              </a:stretch>
            </a:blipFill>
          </p:spPr>
          <p:txBody>
            <a:bodyPr/>
            <a:p/>
          </p:txBody>
        </p:sp>
      </p:grpSp>
      <p:grpSp>
        <p:nvGrpSpPr>
          <p:cNvPr name="Group 92" id="92"/>
          <p:cNvGrpSpPr/>
          <p:nvPr/>
        </p:nvGrpSpPr>
        <p:grpSpPr>
          <a:xfrm rot="0">
            <a:off x="5762168" y="1762582"/>
            <a:ext cx="11677650" cy="1648511"/>
            <a:chOff x="0" y="0"/>
            <a:chExt cx="15570200" cy="2198014"/>
          </a:xfrm>
        </p:grpSpPr>
        <p:sp>
          <p:nvSpPr>
            <p:cNvPr name="Freeform 93" id="93"/>
            <p:cNvSpPr/>
            <p:nvPr/>
          </p:nvSpPr>
          <p:spPr>
            <a:xfrm flipH="false" flipV="false" rot="0">
              <a:off x="12700" y="12700"/>
              <a:ext cx="15544800" cy="2172589"/>
            </a:xfrm>
            <a:custGeom>
              <a:avLst/>
              <a:gdLst/>
              <a:ahLst/>
              <a:cxnLst/>
              <a:rect r="r" b="b" t="t" l="l"/>
              <a:pathLst>
                <a:path h="2172589" w="15544800">
                  <a:moveTo>
                    <a:pt x="0" y="0"/>
                  </a:moveTo>
                  <a:lnTo>
                    <a:pt x="15544800" y="0"/>
                  </a:lnTo>
                  <a:lnTo>
                    <a:pt x="15544800" y="2172589"/>
                  </a:lnTo>
                  <a:lnTo>
                    <a:pt x="0" y="2172589"/>
                  </a:lnTo>
                  <a:close/>
                </a:path>
              </a:pathLst>
            </a:custGeom>
            <a:solidFill>
              <a:srgbClr val="1E1E24">
                <a:alpha val="48627"/>
              </a:srgbClr>
            </a:solidFill>
          </p:spPr>
          <p:txBody>
            <a:bodyPr/>
            <a:p/>
          </p:txBody>
        </p:sp>
        <p:sp>
          <p:nvSpPr>
            <p:cNvPr name="Freeform 94" id="94"/>
            <p:cNvSpPr/>
            <p:nvPr/>
          </p:nvSpPr>
          <p:spPr>
            <a:xfrm flipH="false" flipV="false" rot="0">
              <a:off x="0" y="0"/>
              <a:ext cx="15570200" cy="2197989"/>
            </a:xfrm>
            <a:custGeom>
              <a:avLst/>
              <a:gdLst/>
              <a:ahLst/>
              <a:cxnLst/>
              <a:rect r="r" b="b" t="t" l="l"/>
              <a:pathLst>
                <a:path h="2197989" w="15570200">
                  <a:moveTo>
                    <a:pt x="12700" y="0"/>
                  </a:moveTo>
                  <a:lnTo>
                    <a:pt x="15557500" y="0"/>
                  </a:lnTo>
                  <a:cubicBezTo>
                    <a:pt x="15564486" y="0"/>
                    <a:pt x="15570200" y="5715"/>
                    <a:pt x="15570200" y="12700"/>
                  </a:cubicBezTo>
                  <a:lnTo>
                    <a:pt x="15570200" y="2185289"/>
                  </a:lnTo>
                  <a:cubicBezTo>
                    <a:pt x="15570200" y="2192274"/>
                    <a:pt x="15564486" y="2197989"/>
                    <a:pt x="15557500" y="2197989"/>
                  </a:cubicBezTo>
                  <a:lnTo>
                    <a:pt x="12700" y="2197989"/>
                  </a:lnTo>
                  <a:cubicBezTo>
                    <a:pt x="5715" y="2197989"/>
                    <a:pt x="0" y="2192274"/>
                    <a:pt x="0" y="2185289"/>
                  </a:cubicBezTo>
                  <a:lnTo>
                    <a:pt x="0" y="12700"/>
                  </a:lnTo>
                  <a:cubicBezTo>
                    <a:pt x="0" y="5715"/>
                    <a:pt x="5715" y="0"/>
                    <a:pt x="12700" y="0"/>
                  </a:cubicBezTo>
                  <a:moveTo>
                    <a:pt x="12700" y="25400"/>
                  </a:moveTo>
                  <a:lnTo>
                    <a:pt x="12700" y="12700"/>
                  </a:lnTo>
                  <a:lnTo>
                    <a:pt x="25400" y="12700"/>
                  </a:lnTo>
                  <a:lnTo>
                    <a:pt x="25400" y="2185289"/>
                  </a:lnTo>
                  <a:lnTo>
                    <a:pt x="12700" y="2185289"/>
                  </a:lnTo>
                  <a:lnTo>
                    <a:pt x="12700" y="2172589"/>
                  </a:lnTo>
                  <a:lnTo>
                    <a:pt x="15557500" y="2172589"/>
                  </a:lnTo>
                  <a:lnTo>
                    <a:pt x="15557500" y="2185289"/>
                  </a:lnTo>
                  <a:lnTo>
                    <a:pt x="15544800" y="2185289"/>
                  </a:lnTo>
                  <a:lnTo>
                    <a:pt x="15544800" y="12700"/>
                  </a:lnTo>
                  <a:lnTo>
                    <a:pt x="15557500" y="12700"/>
                  </a:lnTo>
                  <a:lnTo>
                    <a:pt x="15557500" y="25400"/>
                  </a:lnTo>
                  <a:lnTo>
                    <a:pt x="12700" y="25400"/>
                  </a:lnTo>
                  <a:close/>
                </a:path>
              </a:pathLst>
            </a:custGeom>
            <a:solidFill>
              <a:srgbClr val="40424D"/>
            </a:solidFill>
          </p:spPr>
          <p:txBody>
            <a:bodyPr/>
            <a:p/>
          </p:txBody>
        </p:sp>
      </p:grpSp>
      <p:grpSp>
        <p:nvGrpSpPr>
          <p:cNvPr name="Group 95" id="95"/>
          <p:cNvGrpSpPr/>
          <p:nvPr/>
        </p:nvGrpSpPr>
        <p:grpSpPr>
          <a:xfrm rot="0">
            <a:off x="5762168" y="1762582"/>
            <a:ext cx="11677650" cy="47854"/>
            <a:chOff x="0" y="0"/>
            <a:chExt cx="15570200" cy="63805"/>
          </a:xfrm>
        </p:grpSpPr>
        <p:sp>
          <p:nvSpPr>
            <p:cNvPr name="Freeform 96" id="96"/>
            <p:cNvSpPr/>
            <p:nvPr/>
          </p:nvSpPr>
          <p:spPr>
            <a:xfrm flipH="false" flipV="false" rot="0">
              <a:off x="12700" y="12700"/>
              <a:ext cx="15544800" cy="38354"/>
            </a:xfrm>
            <a:custGeom>
              <a:avLst/>
              <a:gdLst/>
              <a:ahLst/>
              <a:cxnLst/>
              <a:rect r="r" b="b" t="t" l="l"/>
              <a:pathLst>
                <a:path h="38354" w="15544800">
                  <a:moveTo>
                    <a:pt x="0" y="0"/>
                  </a:moveTo>
                  <a:lnTo>
                    <a:pt x="15544800" y="0"/>
                  </a:lnTo>
                  <a:lnTo>
                    <a:pt x="15544800" y="38354"/>
                  </a:lnTo>
                  <a:lnTo>
                    <a:pt x="0" y="38354"/>
                  </a:lnTo>
                  <a:close/>
                </a:path>
              </a:pathLst>
            </a:custGeom>
            <a:solidFill>
              <a:srgbClr val="6E7180"/>
            </a:solidFill>
          </p:spPr>
          <p:txBody>
            <a:bodyPr/>
            <a:p/>
          </p:txBody>
        </p:sp>
      </p:grpSp>
      <p:grpSp>
        <p:nvGrpSpPr>
          <p:cNvPr name="Group 97" id="97"/>
          <p:cNvGrpSpPr/>
          <p:nvPr/>
        </p:nvGrpSpPr>
        <p:grpSpPr>
          <a:xfrm rot="0">
            <a:off x="6129680" y="2438705"/>
            <a:ext cx="685800" cy="332327"/>
            <a:chOff x="0" y="0"/>
            <a:chExt cx="914400" cy="443103"/>
          </a:xfrm>
        </p:grpSpPr>
        <p:sp>
          <p:nvSpPr>
            <p:cNvPr name="Freeform 98" id="98"/>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99" id="99"/>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9DA2B3"/>
                  </a:solidFill>
                  <a:latin typeface="Manrope Bold"/>
                  <a:ea typeface="Manrope Bold"/>
                  <a:cs typeface="Manrope Bold"/>
                  <a:sym typeface="Manrope Bold"/>
                </a:rPr>
                <a:t>C5</a:t>
              </a:r>
            </a:p>
          </p:txBody>
        </p:sp>
      </p:grpSp>
      <p:grpSp>
        <p:nvGrpSpPr>
          <p:cNvPr name="Group 100" id="100"/>
          <p:cNvGrpSpPr/>
          <p:nvPr/>
        </p:nvGrpSpPr>
        <p:grpSpPr>
          <a:xfrm rot="0">
            <a:off x="6700266" y="2259025"/>
            <a:ext cx="3080614" cy="391173"/>
            <a:chOff x="0" y="0"/>
            <a:chExt cx="4107485" cy="521564"/>
          </a:xfrm>
        </p:grpSpPr>
        <p:sp>
          <p:nvSpPr>
            <p:cNvPr name="Freeform 101" id="101"/>
            <p:cNvSpPr/>
            <p:nvPr/>
          </p:nvSpPr>
          <p:spPr>
            <a:xfrm flipH="false" flipV="false" rot="0">
              <a:off x="0" y="0"/>
              <a:ext cx="4107484" cy="521564"/>
            </a:xfrm>
            <a:custGeom>
              <a:avLst/>
              <a:gdLst/>
              <a:ahLst/>
              <a:cxnLst/>
              <a:rect r="r" b="b" t="t" l="l"/>
              <a:pathLst>
                <a:path h="521564" w="4107484">
                  <a:moveTo>
                    <a:pt x="0" y="0"/>
                  </a:moveTo>
                  <a:lnTo>
                    <a:pt x="4107484" y="0"/>
                  </a:lnTo>
                  <a:lnTo>
                    <a:pt x="4107484" y="521564"/>
                  </a:lnTo>
                  <a:lnTo>
                    <a:pt x="0" y="521564"/>
                  </a:lnTo>
                  <a:close/>
                </a:path>
              </a:pathLst>
            </a:custGeom>
            <a:blipFill>
              <a:blip r:embed="rId4">
                <a:alphaModFix amt="0"/>
              </a:blip>
              <a:stretch>
                <a:fillRect l="0" t="-109621" r="0" b="-97280"/>
              </a:stretch>
            </a:blipFill>
          </p:spPr>
          <p:txBody>
            <a:bodyPr/>
            <a:p/>
          </p:txBody>
        </p:sp>
        <p:sp>
          <p:nvSpPr>
            <p:cNvPr name="TextBox 102" id="102"/>
            <p:cNvSpPr txBox="true"/>
            <p:nvPr/>
          </p:nvSpPr>
          <p:spPr>
            <a:xfrm>
              <a:off x="0" y="9525"/>
              <a:ext cx="4107485" cy="512039"/>
            </a:xfrm>
            <a:prstGeom prst="rect">
              <a:avLst/>
            </a:prstGeom>
          </p:spPr>
          <p:txBody>
            <a:bodyPr anchor="ctr" rtlCol="false" tIns="0" lIns="0" bIns="0" rIns="0"/>
            <a:lstStyle/>
            <a:p>
              <a:pPr algn="l">
                <a:lnSpc>
                  <a:spcPts val="2160"/>
                </a:lnSpc>
              </a:pPr>
              <a:r>
                <a:rPr lang="en-US" b="true" sz="1800" spc="57">
                  <a:solidFill>
                    <a:srgbClr val="FFFFFF"/>
                  </a:solidFill>
                  <a:latin typeface="Manrope Bold"/>
                  <a:ea typeface="Manrope Bold"/>
                  <a:cs typeface="Manrope Bold"/>
                  <a:sym typeface="Manrope Bold"/>
                </a:rPr>
                <a:t>Pipeline &amp; Recherche</a:t>
              </a:r>
            </a:p>
          </p:txBody>
        </p:sp>
      </p:grpSp>
      <p:grpSp>
        <p:nvGrpSpPr>
          <p:cNvPr name="Group 103" id="103"/>
          <p:cNvGrpSpPr/>
          <p:nvPr/>
        </p:nvGrpSpPr>
        <p:grpSpPr>
          <a:xfrm rot="0">
            <a:off x="9591599" y="2359152"/>
            <a:ext cx="785927" cy="263957"/>
            <a:chOff x="0" y="0"/>
            <a:chExt cx="1047902" cy="351942"/>
          </a:xfrm>
        </p:grpSpPr>
        <p:sp>
          <p:nvSpPr>
            <p:cNvPr name="Freeform 104" id="104"/>
            <p:cNvSpPr/>
            <p:nvPr/>
          </p:nvSpPr>
          <p:spPr>
            <a:xfrm flipH="false" flipV="false" rot="0">
              <a:off x="0" y="0"/>
              <a:ext cx="1047902" cy="351943"/>
            </a:xfrm>
            <a:custGeom>
              <a:avLst/>
              <a:gdLst/>
              <a:ahLst/>
              <a:cxnLst/>
              <a:rect r="r" b="b" t="t" l="l"/>
              <a:pathLst>
                <a:path h="351943" w="1047902">
                  <a:moveTo>
                    <a:pt x="0" y="0"/>
                  </a:moveTo>
                  <a:lnTo>
                    <a:pt x="1047902" y="0"/>
                  </a:lnTo>
                  <a:lnTo>
                    <a:pt x="1047902" y="351943"/>
                  </a:lnTo>
                  <a:lnTo>
                    <a:pt x="0" y="351943"/>
                  </a:lnTo>
                  <a:close/>
                </a:path>
              </a:pathLst>
            </a:custGeom>
            <a:blipFill>
              <a:blip r:embed="rId4">
                <a:alphaModFix amt="0"/>
              </a:blip>
              <a:stretch>
                <a:fillRect l="0" t="-17225" r="0" b="1192"/>
              </a:stretch>
            </a:blipFill>
          </p:spPr>
          <p:txBody>
            <a:bodyPr/>
            <a:p/>
          </p:txBody>
        </p:sp>
        <p:sp>
          <p:nvSpPr>
            <p:cNvPr name="TextBox 105" id="105"/>
            <p:cNvSpPr txBox="true"/>
            <p:nvPr/>
          </p:nvSpPr>
          <p:spPr>
            <a:xfrm>
              <a:off x="0" y="0"/>
              <a:ext cx="1047902" cy="351942"/>
            </a:xfrm>
            <a:prstGeom prst="rect">
              <a:avLst/>
            </a:prstGeom>
          </p:spPr>
          <p:txBody>
            <a:bodyPr anchor="ctr" rtlCol="false" tIns="0" lIns="0" bIns="0" rIns="0"/>
            <a:lstStyle/>
            <a:p>
              <a:pPr algn="l">
                <a:lnSpc>
                  <a:spcPts val="1439"/>
                </a:lnSpc>
              </a:pPr>
              <a:r>
                <a:rPr lang="en-US" sz="1200">
                  <a:solidFill>
                    <a:srgbClr val="FFFFFF"/>
                  </a:solidFill>
                  <a:latin typeface="Manrope"/>
                  <a:ea typeface="Manrope"/>
                  <a:cs typeface="Manrope"/>
                  <a:sym typeface="Manrope"/>
                </a:rPr>
                <a:t>5-10 ans</a:t>
              </a:r>
            </a:p>
          </p:txBody>
        </p:sp>
      </p:grpSp>
      <p:grpSp>
        <p:nvGrpSpPr>
          <p:cNvPr name="Group 106" id="106"/>
          <p:cNvGrpSpPr/>
          <p:nvPr/>
        </p:nvGrpSpPr>
        <p:grpSpPr>
          <a:xfrm rot="0">
            <a:off x="6700266" y="2659532"/>
            <a:ext cx="11402111" cy="293380"/>
            <a:chOff x="0" y="0"/>
            <a:chExt cx="15202814" cy="391173"/>
          </a:xfrm>
        </p:grpSpPr>
        <p:sp>
          <p:nvSpPr>
            <p:cNvPr name="Freeform 107" id="107"/>
            <p:cNvSpPr/>
            <p:nvPr/>
          </p:nvSpPr>
          <p:spPr>
            <a:xfrm flipH="false" flipV="false" rot="0">
              <a:off x="0" y="0"/>
              <a:ext cx="15202815" cy="391172"/>
            </a:xfrm>
            <a:custGeom>
              <a:avLst/>
              <a:gdLst/>
              <a:ahLst/>
              <a:cxnLst/>
              <a:rect r="r" b="b" t="t" l="l"/>
              <a:pathLst>
                <a:path h="391172" w="15202815">
                  <a:moveTo>
                    <a:pt x="0" y="0"/>
                  </a:moveTo>
                  <a:lnTo>
                    <a:pt x="15202815" y="0"/>
                  </a:lnTo>
                  <a:lnTo>
                    <a:pt x="15202815" y="391172"/>
                  </a:lnTo>
                  <a:lnTo>
                    <a:pt x="0" y="391172"/>
                  </a:lnTo>
                  <a:close/>
                </a:path>
              </a:pathLst>
            </a:custGeom>
            <a:blipFill>
              <a:blip r:embed="rId4">
                <a:alphaModFix amt="0"/>
              </a:blip>
              <a:stretch>
                <a:fillRect l="0" t="-710996" r="0" b="-703565"/>
              </a:stretch>
            </a:blipFill>
          </p:spPr>
          <p:txBody>
            <a:bodyPr/>
            <a:p/>
          </p:txBody>
        </p:sp>
        <p:sp>
          <p:nvSpPr>
            <p:cNvPr name="TextBox 108" id="108"/>
            <p:cNvSpPr txBox="true"/>
            <p:nvPr/>
          </p:nvSpPr>
          <p:spPr>
            <a:xfrm>
              <a:off x="0" y="0"/>
              <a:ext cx="15202814"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Sénolytiques NextGen, Mitophagie, ARNm, Reprogrammation partielle (OSK), Édition génique, Organoïdes.</a:t>
              </a:r>
            </a:p>
          </p:txBody>
        </p:sp>
      </p:grpSp>
      <p:grpSp>
        <p:nvGrpSpPr>
          <p:cNvPr name="Group 109" id="109"/>
          <p:cNvGrpSpPr/>
          <p:nvPr/>
        </p:nvGrpSpPr>
        <p:grpSpPr>
          <a:xfrm rot="0">
            <a:off x="5563286" y="2580056"/>
            <a:ext cx="119177" cy="119177"/>
            <a:chOff x="0" y="0"/>
            <a:chExt cx="158902" cy="158902"/>
          </a:xfrm>
        </p:grpSpPr>
        <p:sp>
          <p:nvSpPr>
            <p:cNvPr name="Freeform 110" id="110"/>
            <p:cNvSpPr/>
            <p:nvPr/>
          </p:nvSpPr>
          <p:spPr>
            <a:xfrm flipH="false" flipV="false" rot="0">
              <a:off x="12700" y="12700"/>
              <a:ext cx="133604" cy="133604"/>
            </a:xfrm>
            <a:custGeom>
              <a:avLst/>
              <a:gdLst/>
              <a:ahLst/>
              <a:cxnLst/>
              <a:rect r="r" b="b" t="t" l="l"/>
              <a:pathLst>
                <a:path h="133604" w="133604">
                  <a:moveTo>
                    <a:pt x="0" y="66802"/>
                  </a:moveTo>
                  <a:cubicBezTo>
                    <a:pt x="0" y="29845"/>
                    <a:pt x="29845" y="0"/>
                    <a:pt x="66802" y="0"/>
                  </a:cubicBezTo>
                  <a:cubicBezTo>
                    <a:pt x="103759" y="0"/>
                    <a:pt x="133604" y="29845"/>
                    <a:pt x="133604" y="66802"/>
                  </a:cubicBezTo>
                  <a:cubicBezTo>
                    <a:pt x="133604" y="103759"/>
                    <a:pt x="103759" y="133604"/>
                    <a:pt x="66802" y="133604"/>
                  </a:cubicBezTo>
                  <a:cubicBezTo>
                    <a:pt x="29845" y="133604"/>
                    <a:pt x="0" y="103632"/>
                    <a:pt x="0" y="66802"/>
                  </a:cubicBezTo>
                  <a:close/>
                </a:path>
              </a:pathLst>
            </a:custGeom>
            <a:solidFill>
              <a:srgbClr val="9DA2B3">
                <a:alpha val="48627"/>
              </a:srgbClr>
            </a:solidFill>
          </p:spPr>
          <p:txBody>
            <a:bodyPr/>
            <a:p/>
          </p:txBody>
        </p:sp>
      </p:grpSp>
      <p:grpSp>
        <p:nvGrpSpPr>
          <p:cNvPr name="Group 111" id="111"/>
          <p:cNvGrpSpPr/>
          <p:nvPr/>
        </p:nvGrpSpPr>
        <p:grpSpPr>
          <a:xfrm rot="0">
            <a:off x="5762168" y="3497656"/>
            <a:ext cx="11677650" cy="1633423"/>
            <a:chOff x="0" y="0"/>
            <a:chExt cx="15570200" cy="2177898"/>
          </a:xfrm>
        </p:grpSpPr>
        <p:sp>
          <p:nvSpPr>
            <p:cNvPr name="Freeform 112" id="112"/>
            <p:cNvSpPr/>
            <p:nvPr/>
          </p:nvSpPr>
          <p:spPr>
            <a:xfrm flipH="false" flipV="false" rot="0">
              <a:off x="12700" y="12700"/>
              <a:ext cx="15544800" cy="2152523"/>
            </a:xfrm>
            <a:custGeom>
              <a:avLst/>
              <a:gdLst/>
              <a:ahLst/>
              <a:cxnLst/>
              <a:rect r="r" b="b" t="t" l="l"/>
              <a:pathLst>
                <a:path h="2152523" w="15544800">
                  <a:moveTo>
                    <a:pt x="0" y="0"/>
                  </a:moveTo>
                  <a:lnTo>
                    <a:pt x="15544800" y="0"/>
                  </a:lnTo>
                  <a:lnTo>
                    <a:pt x="15544800" y="2152523"/>
                  </a:lnTo>
                  <a:lnTo>
                    <a:pt x="0" y="2152523"/>
                  </a:lnTo>
                  <a:close/>
                </a:path>
              </a:pathLst>
            </a:custGeom>
            <a:solidFill>
              <a:srgbClr val="1E1E24"/>
            </a:solidFill>
          </p:spPr>
          <p:txBody>
            <a:bodyPr/>
            <a:p/>
          </p:txBody>
        </p:sp>
        <p:sp>
          <p:nvSpPr>
            <p:cNvPr name="Freeform 113" id="113"/>
            <p:cNvSpPr/>
            <p:nvPr/>
          </p:nvSpPr>
          <p:spPr>
            <a:xfrm flipH="false" flipV="false" rot="0">
              <a:off x="0" y="0"/>
              <a:ext cx="15570200" cy="2177923"/>
            </a:xfrm>
            <a:custGeom>
              <a:avLst/>
              <a:gdLst/>
              <a:ahLst/>
              <a:cxnLst/>
              <a:rect r="r" b="b" t="t" l="l"/>
              <a:pathLst>
                <a:path h="2177923" w="15570200">
                  <a:moveTo>
                    <a:pt x="12700" y="0"/>
                  </a:moveTo>
                  <a:lnTo>
                    <a:pt x="15557500" y="0"/>
                  </a:lnTo>
                  <a:cubicBezTo>
                    <a:pt x="15564486" y="0"/>
                    <a:pt x="15570200" y="5715"/>
                    <a:pt x="15570200" y="12700"/>
                  </a:cubicBezTo>
                  <a:lnTo>
                    <a:pt x="15570200" y="2165223"/>
                  </a:lnTo>
                  <a:cubicBezTo>
                    <a:pt x="15570200" y="2172208"/>
                    <a:pt x="15564486" y="2177923"/>
                    <a:pt x="15557500" y="2177923"/>
                  </a:cubicBezTo>
                  <a:lnTo>
                    <a:pt x="12700" y="2177923"/>
                  </a:lnTo>
                  <a:cubicBezTo>
                    <a:pt x="5715" y="2177923"/>
                    <a:pt x="0" y="2172208"/>
                    <a:pt x="0" y="2165223"/>
                  </a:cubicBezTo>
                  <a:lnTo>
                    <a:pt x="0" y="12700"/>
                  </a:lnTo>
                  <a:cubicBezTo>
                    <a:pt x="0" y="5715"/>
                    <a:pt x="5715" y="0"/>
                    <a:pt x="12700" y="0"/>
                  </a:cubicBezTo>
                  <a:moveTo>
                    <a:pt x="12700" y="25400"/>
                  </a:moveTo>
                  <a:lnTo>
                    <a:pt x="12700" y="12700"/>
                  </a:lnTo>
                  <a:lnTo>
                    <a:pt x="25400" y="12700"/>
                  </a:lnTo>
                  <a:lnTo>
                    <a:pt x="25400" y="2165223"/>
                  </a:lnTo>
                  <a:lnTo>
                    <a:pt x="12700" y="2165223"/>
                  </a:lnTo>
                  <a:lnTo>
                    <a:pt x="12700" y="2152523"/>
                  </a:lnTo>
                  <a:lnTo>
                    <a:pt x="15557500" y="2152523"/>
                  </a:lnTo>
                  <a:lnTo>
                    <a:pt x="15557500" y="2165223"/>
                  </a:lnTo>
                  <a:lnTo>
                    <a:pt x="15544800" y="2165223"/>
                  </a:lnTo>
                  <a:lnTo>
                    <a:pt x="15544800" y="12700"/>
                  </a:lnTo>
                  <a:lnTo>
                    <a:pt x="15557500" y="12700"/>
                  </a:lnTo>
                  <a:lnTo>
                    <a:pt x="15557500" y="25400"/>
                  </a:lnTo>
                  <a:lnTo>
                    <a:pt x="12700" y="25400"/>
                  </a:lnTo>
                  <a:close/>
                </a:path>
              </a:pathLst>
            </a:custGeom>
            <a:solidFill>
              <a:srgbClr val="40424D"/>
            </a:solidFill>
          </p:spPr>
          <p:txBody>
            <a:bodyPr/>
            <a:p/>
          </p:txBody>
        </p:sp>
      </p:grpSp>
      <p:grpSp>
        <p:nvGrpSpPr>
          <p:cNvPr name="Group 114" id="114"/>
          <p:cNvGrpSpPr/>
          <p:nvPr/>
        </p:nvGrpSpPr>
        <p:grpSpPr>
          <a:xfrm rot="0">
            <a:off x="5563286" y="4301414"/>
            <a:ext cx="119177" cy="119177"/>
            <a:chOff x="0" y="0"/>
            <a:chExt cx="158902" cy="158902"/>
          </a:xfrm>
        </p:grpSpPr>
        <p:sp>
          <p:nvSpPr>
            <p:cNvPr name="Freeform 115" id="115"/>
            <p:cNvSpPr/>
            <p:nvPr/>
          </p:nvSpPr>
          <p:spPr>
            <a:xfrm flipH="false" flipV="false" rot="0">
              <a:off x="12700" y="12700"/>
              <a:ext cx="133604" cy="133604"/>
            </a:xfrm>
            <a:custGeom>
              <a:avLst/>
              <a:gdLst/>
              <a:ahLst/>
              <a:cxnLst/>
              <a:rect r="r" b="b" t="t" l="l"/>
              <a:pathLst>
                <a:path h="133604" w="133604">
                  <a:moveTo>
                    <a:pt x="0" y="66802"/>
                  </a:moveTo>
                  <a:cubicBezTo>
                    <a:pt x="0" y="29845"/>
                    <a:pt x="29845" y="0"/>
                    <a:pt x="66802" y="0"/>
                  </a:cubicBezTo>
                  <a:cubicBezTo>
                    <a:pt x="103759" y="0"/>
                    <a:pt x="133604" y="29845"/>
                    <a:pt x="133604" y="66802"/>
                  </a:cubicBezTo>
                  <a:cubicBezTo>
                    <a:pt x="133604" y="103759"/>
                    <a:pt x="103759" y="133604"/>
                    <a:pt x="66802" y="133604"/>
                  </a:cubicBezTo>
                  <a:cubicBezTo>
                    <a:pt x="29845" y="133604"/>
                    <a:pt x="0" y="103632"/>
                    <a:pt x="0" y="66802"/>
                  </a:cubicBezTo>
                  <a:close/>
                </a:path>
              </a:pathLst>
            </a:custGeom>
            <a:solidFill>
              <a:srgbClr val="9DA2B3"/>
            </a:solidFill>
          </p:spPr>
          <p:txBody>
            <a:bodyPr/>
            <a:p/>
          </p:txBody>
        </p:sp>
      </p:grpSp>
      <p:grpSp>
        <p:nvGrpSpPr>
          <p:cNvPr name="Group 116" id="116"/>
          <p:cNvGrpSpPr/>
          <p:nvPr/>
        </p:nvGrpSpPr>
        <p:grpSpPr>
          <a:xfrm rot="0">
            <a:off x="6129680" y="4160063"/>
            <a:ext cx="685800" cy="332327"/>
            <a:chOff x="0" y="0"/>
            <a:chExt cx="914400" cy="443103"/>
          </a:xfrm>
        </p:grpSpPr>
        <p:sp>
          <p:nvSpPr>
            <p:cNvPr name="Freeform 117" id="117"/>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118" id="118"/>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9DA2B3"/>
                  </a:solidFill>
                  <a:latin typeface="Manrope Bold"/>
                  <a:ea typeface="Manrope Bold"/>
                  <a:cs typeface="Manrope Bold"/>
                  <a:sym typeface="Manrope Bold"/>
                </a:rPr>
                <a:t>C4</a:t>
              </a:r>
            </a:p>
          </p:txBody>
        </p:sp>
      </p:grpSp>
      <p:grpSp>
        <p:nvGrpSpPr>
          <p:cNvPr name="Group 119" id="119"/>
          <p:cNvGrpSpPr/>
          <p:nvPr/>
        </p:nvGrpSpPr>
        <p:grpSpPr>
          <a:xfrm rot="0">
            <a:off x="6700266" y="3980383"/>
            <a:ext cx="3238348" cy="391173"/>
            <a:chOff x="0" y="0"/>
            <a:chExt cx="4317797" cy="521564"/>
          </a:xfrm>
        </p:grpSpPr>
        <p:sp>
          <p:nvSpPr>
            <p:cNvPr name="Freeform 120" id="120"/>
            <p:cNvSpPr/>
            <p:nvPr/>
          </p:nvSpPr>
          <p:spPr>
            <a:xfrm flipH="false" flipV="false" rot="0">
              <a:off x="0" y="0"/>
              <a:ext cx="4317796" cy="521564"/>
            </a:xfrm>
            <a:custGeom>
              <a:avLst/>
              <a:gdLst/>
              <a:ahLst/>
              <a:cxnLst/>
              <a:rect r="r" b="b" t="t" l="l"/>
              <a:pathLst>
                <a:path h="521564" w="4317796">
                  <a:moveTo>
                    <a:pt x="0" y="0"/>
                  </a:moveTo>
                  <a:lnTo>
                    <a:pt x="4317796" y="0"/>
                  </a:lnTo>
                  <a:lnTo>
                    <a:pt x="4317796" y="521564"/>
                  </a:lnTo>
                  <a:lnTo>
                    <a:pt x="0" y="521564"/>
                  </a:lnTo>
                  <a:close/>
                </a:path>
              </a:pathLst>
            </a:custGeom>
            <a:blipFill>
              <a:blip r:embed="rId4">
                <a:alphaModFix amt="0"/>
              </a:blip>
              <a:stretch>
                <a:fillRect l="0" t="-117478" r="0" b="-105137"/>
              </a:stretch>
            </a:blipFill>
          </p:spPr>
          <p:txBody>
            <a:bodyPr/>
            <a:p/>
          </p:txBody>
        </p:sp>
        <p:sp>
          <p:nvSpPr>
            <p:cNvPr name="TextBox 121" id="121"/>
            <p:cNvSpPr txBox="true"/>
            <p:nvPr/>
          </p:nvSpPr>
          <p:spPr>
            <a:xfrm>
              <a:off x="0" y="9525"/>
              <a:ext cx="4317797" cy="512039"/>
            </a:xfrm>
            <a:prstGeom prst="rect">
              <a:avLst/>
            </a:prstGeom>
          </p:spPr>
          <p:txBody>
            <a:bodyPr anchor="ctr" rtlCol="false" tIns="0" lIns="0" bIns="0" rIns="0"/>
            <a:lstStyle/>
            <a:p>
              <a:pPr algn="l">
                <a:lnSpc>
                  <a:spcPts val="2160"/>
                </a:lnSpc>
              </a:pPr>
              <a:r>
                <a:rPr lang="en-US" b="true" sz="1800" spc="57">
                  <a:solidFill>
                    <a:srgbClr val="FFFFFF"/>
                  </a:solidFill>
                  <a:latin typeface="Manrope Bold"/>
                  <a:ea typeface="Manrope Bold"/>
                  <a:cs typeface="Manrope Bold"/>
                  <a:sym typeface="Manrope Bold"/>
                </a:rPr>
                <a:t>Thérapies Biologiques</a:t>
              </a:r>
            </a:p>
          </p:txBody>
        </p:sp>
      </p:grpSp>
      <p:grpSp>
        <p:nvGrpSpPr>
          <p:cNvPr name="Group 122" id="122"/>
          <p:cNvGrpSpPr/>
          <p:nvPr/>
        </p:nvGrpSpPr>
        <p:grpSpPr>
          <a:xfrm rot="0">
            <a:off x="9820656" y="4080510"/>
            <a:ext cx="772211" cy="263957"/>
            <a:chOff x="0" y="0"/>
            <a:chExt cx="1029614" cy="351942"/>
          </a:xfrm>
        </p:grpSpPr>
        <p:sp>
          <p:nvSpPr>
            <p:cNvPr name="Freeform 123" id="123"/>
            <p:cNvSpPr/>
            <p:nvPr/>
          </p:nvSpPr>
          <p:spPr>
            <a:xfrm flipH="false" flipV="false" rot="0">
              <a:off x="0" y="0"/>
              <a:ext cx="1029614" cy="351943"/>
            </a:xfrm>
            <a:custGeom>
              <a:avLst/>
              <a:gdLst/>
              <a:ahLst/>
              <a:cxnLst/>
              <a:rect r="r" b="b" t="t" l="l"/>
              <a:pathLst>
                <a:path h="351943" w="1029614">
                  <a:moveTo>
                    <a:pt x="0" y="0"/>
                  </a:moveTo>
                  <a:lnTo>
                    <a:pt x="1029614" y="0"/>
                  </a:lnTo>
                  <a:lnTo>
                    <a:pt x="1029614" y="351943"/>
                  </a:lnTo>
                  <a:lnTo>
                    <a:pt x="0" y="351943"/>
                  </a:lnTo>
                  <a:close/>
                </a:path>
              </a:pathLst>
            </a:custGeom>
            <a:blipFill>
              <a:blip r:embed="rId4">
                <a:alphaModFix amt="0"/>
              </a:blip>
              <a:stretch>
                <a:fillRect l="0" t="-16212" r="0" b="2205"/>
              </a:stretch>
            </a:blipFill>
          </p:spPr>
          <p:txBody>
            <a:bodyPr/>
            <a:p/>
          </p:txBody>
        </p:sp>
        <p:sp>
          <p:nvSpPr>
            <p:cNvPr name="TextBox 124" id="124"/>
            <p:cNvSpPr txBox="true"/>
            <p:nvPr/>
          </p:nvSpPr>
          <p:spPr>
            <a:xfrm>
              <a:off x="0" y="0"/>
              <a:ext cx="1029614" cy="351942"/>
            </a:xfrm>
            <a:prstGeom prst="rect">
              <a:avLst/>
            </a:prstGeom>
          </p:spPr>
          <p:txBody>
            <a:bodyPr anchor="ctr" rtlCol="false" tIns="0" lIns="0" bIns="0" rIns="0"/>
            <a:lstStyle/>
            <a:p>
              <a:pPr algn="l">
                <a:lnSpc>
                  <a:spcPts val="1439"/>
                </a:lnSpc>
              </a:pPr>
              <a:r>
                <a:rPr lang="en-US" sz="1200">
                  <a:solidFill>
                    <a:srgbClr val="FFFFFF"/>
                  </a:solidFill>
                  <a:latin typeface="Manrope"/>
                  <a:ea typeface="Manrope"/>
                  <a:cs typeface="Manrope"/>
                  <a:sym typeface="Manrope"/>
                </a:rPr>
                <a:t>Clinique</a:t>
              </a:r>
            </a:p>
          </p:txBody>
        </p:sp>
      </p:grpSp>
      <p:grpSp>
        <p:nvGrpSpPr>
          <p:cNvPr name="Group 125" id="125"/>
          <p:cNvGrpSpPr/>
          <p:nvPr/>
        </p:nvGrpSpPr>
        <p:grpSpPr>
          <a:xfrm rot="0">
            <a:off x="6700266" y="4380890"/>
            <a:ext cx="10544861" cy="293380"/>
            <a:chOff x="0" y="0"/>
            <a:chExt cx="14059814" cy="391173"/>
          </a:xfrm>
        </p:grpSpPr>
        <p:sp>
          <p:nvSpPr>
            <p:cNvPr name="Freeform 126" id="126"/>
            <p:cNvSpPr/>
            <p:nvPr/>
          </p:nvSpPr>
          <p:spPr>
            <a:xfrm flipH="false" flipV="false" rot="0">
              <a:off x="0" y="0"/>
              <a:ext cx="14059815" cy="391172"/>
            </a:xfrm>
            <a:custGeom>
              <a:avLst/>
              <a:gdLst/>
              <a:ahLst/>
              <a:cxnLst/>
              <a:rect r="r" b="b" t="t" l="l"/>
              <a:pathLst>
                <a:path h="391172" w="14059815">
                  <a:moveTo>
                    <a:pt x="0" y="0"/>
                  </a:moveTo>
                  <a:lnTo>
                    <a:pt x="14059815" y="0"/>
                  </a:lnTo>
                  <a:lnTo>
                    <a:pt x="14059815" y="391172"/>
                  </a:lnTo>
                  <a:lnTo>
                    <a:pt x="0" y="391172"/>
                  </a:lnTo>
                  <a:close/>
                </a:path>
              </a:pathLst>
            </a:custGeom>
            <a:blipFill>
              <a:blip r:embed="rId4">
                <a:alphaModFix amt="0"/>
              </a:blip>
              <a:stretch>
                <a:fillRect l="0" t="-654061" r="0" b="-646630"/>
              </a:stretch>
            </a:blipFill>
          </p:spPr>
          <p:txBody>
            <a:bodyPr/>
            <a:p/>
          </p:txBody>
        </p:sp>
        <p:sp>
          <p:nvSpPr>
            <p:cNvPr name="TextBox 127" id="127"/>
            <p:cNvSpPr txBox="true"/>
            <p:nvPr/>
          </p:nvSpPr>
          <p:spPr>
            <a:xfrm>
              <a:off x="0" y="0"/>
              <a:ext cx="14059814"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Plasmaphérèse, Exosomes, Cellules Souches (MSC), Peptides régénératifs, Immunomodulation.</a:t>
              </a:r>
            </a:p>
          </p:txBody>
        </p:sp>
      </p:grpSp>
      <p:grpSp>
        <p:nvGrpSpPr>
          <p:cNvPr name="Group 128" id="128"/>
          <p:cNvGrpSpPr/>
          <p:nvPr/>
        </p:nvGrpSpPr>
        <p:grpSpPr>
          <a:xfrm rot="0">
            <a:off x="5762168" y="5219014"/>
            <a:ext cx="11677650" cy="1633423"/>
            <a:chOff x="0" y="0"/>
            <a:chExt cx="15570200" cy="2177898"/>
          </a:xfrm>
        </p:grpSpPr>
        <p:sp>
          <p:nvSpPr>
            <p:cNvPr name="Freeform 129" id="129"/>
            <p:cNvSpPr/>
            <p:nvPr/>
          </p:nvSpPr>
          <p:spPr>
            <a:xfrm flipH="false" flipV="false" rot="0">
              <a:off x="12700" y="12700"/>
              <a:ext cx="15544800" cy="2152523"/>
            </a:xfrm>
            <a:custGeom>
              <a:avLst/>
              <a:gdLst/>
              <a:ahLst/>
              <a:cxnLst/>
              <a:rect r="r" b="b" t="t" l="l"/>
              <a:pathLst>
                <a:path h="2152523" w="15544800">
                  <a:moveTo>
                    <a:pt x="0" y="0"/>
                  </a:moveTo>
                  <a:lnTo>
                    <a:pt x="15544800" y="0"/>
                  </a:lnTo>
                  <a:lnTo>
                    <a:pt x="15544800" y="2152523"/>
                  </a:lnTo>
                  <a:lnTo>
                    <a:pt x="0" y="2152523"/>
                  </a:lnTo>
                  <a:close/>
                </a:path>
              </a:pathLst>
            </a:custGeom>
            <a:solidFill>
              <a:srgbClr val="1E1E24"/>
            </a:solidFill>
          </p:spPr>
          <p:txBody>
            <a:bodyPr/>
            <a:p/>
          </p:txBody>
        </p:sp>
        <p:sp>
          <p:nvSpPr>
            <p:cNvPr name="Freeform 130" id="130"/>
            <p:cNvSpPr/>
            <p:nvPr/>
          </p:nvSpPr>
          <p:spPr>
            <a:xfrm flipH="false" flipV="false" rot="0">
              <a:off x="0" y="0"/>
              <a:ext cx="15570200" cy="2177923"/>
            </a:xfrm>
            <a:custGeom>
              <a:avLst/>
              <a:gdLst/>
              <a:ahLst/>
              <a:cxnLst/>
              <a:rect r="r" b="b" t="t" l="l"/>
              <a:pathLst>
                <a:path h="2177923" w="15570200">
                  <a:moveTo>
                    <a:pt x="12700" y="0"/>
                  </a:moveTo>
                  <a:lnTo>
                    <a:pt x="15557500" y="0"/>
                  </a:lnTo>
                  <a:cubicBezTo>
                    <a:pt x="15564486" y="0"/>
                    <a:pt x="15570200" y="5715"/>
                    <a:pt x="15570200" y="12700"/>
                  </a:cubicBezTo>
                  <a:lnTo>
                    <a:pt x="15570200" y="2165223"/>
                  </a:lnTo>
                  <a:cubicBezTo>
                    <a:pt x="15570200" y="2172208"/>
                    <a:pt x="15564486" y="2177923"/>
                    <a:pt x="15557500" y="2177923"/>
                  </a:cubicBezTo>
                  <a:lnTo>
                    <a:pt x="12700" y="2177923"/>
                  </a:lnTo>
                  <a:cubicBezTo>
                    <a:pt x="5715" y="2177923"/>
                    <a:pt x="0" y="2172208"/>
                    <a:pt x="0" y="2165223"/>
                  </a:cubicBezTo>
                  <a:lnTo>
                    <a:pt x="0" y="12700"/>
                  </a:lnTo>
                  <a:cubicBezTo>
                    <a:pt x="0" y="5715"/>
                    <a:pt x="5715" y="0"/>
                    <a:pt x="12700" y="0"/>
                  </a:cubicBezTo>
                  <a:moveTo>
                    <a:pt x="12700" y="25400"/>
                  </a:moveTo>
                  <a:lnTo>
                    <a:pt x="12700" y="12700"/>
                  </a:lnTo>
                  <a:lnTo>
                    <a:pt x="25400" y="12700"/>
                  </a:lnTo>
                  <a:lnTo>
                    <a:pt x="25400" y="2165223"/>
                  </a:lnTo>
                  <a:lnTo>
                    <a:pt x="12700" y="2165223"/>
                  </a:lnTo>
                  <a:lnTo>
                    <a:pt x="12700" y="2152523"/>
                  </a:lnTo>
                  <a:lnTo>
                    <a:pt x="15557500" y="2152523"/>
                  </a:lnTo>
                  <a:lnTo>
                    <a:pt x="15557500" y="2165223"/>
                  </a:lnTo>
                  <a:lnTo>
                    <a:pt x="15544800" y="2165223"/>
                  </a:lnTo>
                  <a:lnTo>
                    <a:pt x="15544800" y="12700"/>
                  </a:lnTo>
                  <a:lnTo>
                    <a:pt x="15557500" y="12700"/>
                  </a:lnTo>
                  <a:lnTo>
                    <a:pt x="15557500" y="25400"/>
                  </a:lnTo>
                  <a:lnTo>
                    <a:pt x="12700" y="25400"/>
                  </a:lnTo>
                  <a:close/>
                </a:path>
              </a:pathLst>
            </a:custGeom>
            <a:solidFill>
              <a:srgbClr val="40424D"/>
            </a:solidFill>
          </p:spPr>
          <p:txBody>
            <a:bodyPr/>
            <a:p/>
          </p:txBody>
        </p:sp>
      </p:grpSp>
      <p:grpSp>
        <p:nvGrpSpPr>
          <p:cNvPr name="Group 131" id="131"/>
          <p:cNvGrpSpPr/>
          <p:nvPr/>
        </p:nvGrpSpPr>
        <p:grpSpPr>
          <a:xfrm rot="0">
            <a:off x="5563286" y="6022772"/>
            <a:ext cx="119177" cy="119177"/>
            <a:chOff x="0" y="0"/>
            <a:chExt cx="158902" cy="158902"/>
          </a:xfrm>
        </p:grpSpPr>
        <p:sp>
          <p:nvSpPr>
            <p:cNvPr name="Freeform 132" id="132"/>
            <p:cNvSpPr/>
            <p:nvPr/>
          </p:nvSpPr>
          <p:spPr>
            <a:xfrm flipH="false" flipV="false" rot="0">
              <a:off x="12700" y="12700"/>
              <a:ext cx="133604" cy="133604"/>
            </a:xfrm>
            <a:custGeom>
              <a:avLst/>
              <a:gdLst/>
              <a:ahLst/>
              <a:cxnLst/>
              <a:rect r="r" b="b" t="t" l="l"/>
              <a:pathLst>
                <a:path h="133604" w="133604">
                  <a:moveTo>
                    <a:pt x="0" y="66802"/>
                  </a:moveTo>
                  <a:cubicBezTo>
                    <a:pt x="0" y="29845"/>
                    <a:pt x="29845" y="0"/>
                    <a:pt x="66802" y="0"/>
                  </a:cubicBezTo>
                  <a:cubicBezTo>
                    <a:pt x="103759" y="0"/>
                    <a:pt x="133604" y="29845"/>
                    <a:pt x="133604" y="66802"/>
                  </a:cubicBezTo>
                  <a:cubicBezTo>
                    <a:pt x="133604" y="103759"/>
                    <a:pt x="103759" y="133604"/>
                    <a:pt x="66802" y="133604"/>
                  </a:cubicBezTo>
                  <a:cubicBezTo>
                    <a:pt x="29845" y="133604"/>
                    <a:pt x="0" y="103632"/>
                    <a:pt x="0" y="66802"/>
                  </a:cubicBezTo>
                  <a:close/>
                </a:path>
              </a:pathLst>
            </a:custGeom>
            <a:solidFill>
              <a:srgbClr val="9DA2B3"/>
            </a:solidFill>
          </p:spPr>
          <p:txBody>
            <a:bodyPr/>
            <a:p/>
          </p:txBody>
        </p:sp>
      </p:grpSp>
      <p:grpSp>
        <p:nvGrpSpPr>
          <p:cNvPr name="Group 133" id="133"/>
          <p:cNvGrpSpPr/>
          <p:nvPr/>
        </p:nvGrpSpPr>
        <p:grpSpPr>
          <a:xfrm rot="0">
            <a:off x="6129680" y="5881421"/>
            <a:ext cx="685800" cy="332327"/>
            <a:chOff x="0" y="0"/>
            <a:chExt cx="914400" cy="443103"/>
          </a:xfrm>
        </p:grpSpPr>
        <p:sp>
          <p:nvSpPr>
            <p:cNvPr name="Freeform 134" id="134"/>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135" id="135"/>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9DA2B3"/>
                  </a:solidFill>
                  <a:latin typeface="Manrope Bold"/>
                  <a:ea typeface="Manrope Bold"/>
                  <a:cs typeface="Manrope Bold"/>
                  <a:sym typeface="Manrope Bold"/>
                </a:rPr>
                <a:t>C3</a:t>
              </a:r>
            </a:p>
          </p:txBody>
        </p:sp>
      </p:grpSp>
      <p:grpSp>
        <p:nvGrpSpPr>
          <p:cNvPr name="Group 136" id="136"/>
          <p:cNvGrpSpPr/>
          <p:nvPr/>
        </p:nvGrpSpPr>
        <p:grpSpPr>
          <a:xfrm rot="0">
            <a:off x="6700266" y="5691188"/>
            <a:ext cx="3284296" cy="391173"/>
            <a:chOff x="0" y="0"/>
            <a:chExt cx="4379062" cy="521564"/>
          </a:xfrm>
        </p:grpSpPr>
        <p:sp>
          <p:nvSpPr>
            <p:cNvPr name="Freeform 137" id="137"/>
            <p:cNvSpPr/>
            <p:nvPr/>
          </p:nvSpPr>
          <p:spPr>
            <a:xfrm flipH="false" flipV="false" rot="0">
              <a:off x="0" y="0"/>
              <a:ext cx="4379062" cy="521564"/>
            </a:xfrm>
            <a:custGeom>
              <a:avLst/>
              <a:gdLst/>
              <a:ahLst/>
              <a:cxnLst/>
              <a:rect r="r" b="b" t="t" l="l"/>
              <a:pathLst>
                <a:path h="521564" w="4379062">
                  <a:moveTo>
                    <a:pt x="0" y="0"/>
                  </a:moveTo>
                  <a:lnTo>
                    <a:pt x="4379062" y="0"/>
                  </a:lnTo>
                  <a:lnTo>
                    <a:pt x="4379062" y="521564"/>
                  </a:lnTo>
                  <a:lnTo>
                    <a:pt x="0" y="521564"/>
                  </a:lnTo>
                  <a:close/>
                </a:path>
              </a:pathLst>
            </a:custGeom>
            <a:blipFill>
              <a:blip r:embed="rId4">
                <a:alphaModFix amt="0"/>
              </a:blip>
              <a:stretch>
                <a:fillRect l="0" t="-101969" r="10879" b="-89628"/>
              </a:stretch>
            </a:blipFill>
          </p:spPr>
          <p:txBody>
            <a:bodyPr/>
            <a:p/>
          </p:txBody>
        </p:sp>
        <p:sp>
          <p:nvSpPr>
            <p:cNvPr name="TextBox 138" id="138"/>
            <p:cNvSpPr txBox="true"/>
            <p:nvPr/>
          </p:nvSpPr>
          <p:spPr>
            <a:xfrm>
              <a:off x="0" y="9525"/>
              <a:ext cx="4379062" cy="512039"/>
            </a:xfrm>
            <a:prstGeom prst="rect">
              <a:avLst/>
            </a:prstGeom>
          </p:spPr>
          <p:txBody>
            <a:bodyPr anchor="ctr" rtlCol="false" tIns="0" lIns="0" bIns="0" rIns="0"/>
            <a:lstStyle/>
            <a:p>
              <a:pPr algn="l">
                <a:lnSpc>
                  <a:spcPts val="2160"/>
                </a:lnSpc>
              </a:pPr>
              <a:r>
                <a:rPr lang="en-US" b="true" sz="1800" spc="57">
                  <a:solidFill>
                    <a:srgbClr val="FFFFFF"/>
                  </a:solidFill>
                  <a:latin typeface="Manrope Bold"/>
                  <a:ea typeface="Manrope Bold"/>
                  <a:cs typeface="Manrope Bold"/>
                  <a:sym typeface="Manrope Bold"/>
                </a:rPr>
                <a:t>Technologies </a:t>
              </a:r>
              <a:r>
                <a:rPr lang="en-US" b="true" sz="1800" spc="57">
                  <a:solidFill>
                    <a:srgbClr val="FFFFFF"/>
                  </a:solidFill>
                  <a:latin typeface="Manrope Bold"/>
                  <a:ea typeface="Manrope Bold"/>
                  <a:cs typeface="Manrope Bold"/>
                  <a:sym typeface="Manrope Bold"/>
                </a:rPr>
                <a:t>&amp; Biohacking</a:t>
              </a:r>
            </a:p>
          </p:txBody>
        </p:sp>
      </p:grpSp>
      <p:grpSp>
        <p:nvGrpSpPr>
          <p:cNvPr name="Group 139" id="139"/>
          <p:cNvGrpSpPr/>
          <p:nvPr/>
        </p:nvGrpSpPr>
        <p:grpSpPr>
          <a:xfrm rot="0">
            <a:off x="6700266" y="6102248"/>
            <a:ext cx="11402111" cy="293380"/>
            <a:chOff x="0" y="0"/>
            <a:chExt cx="15202814" cy="391173"/>
          </a:xfrm>
        </p:grpSpPr>
        <p:sp>
          <p:nvSpPr>
            <p:cNvPr name="Freeform 140" id="140"/>
            <p:cNvSpPr/>
            <p:nvPr/>
          </p:nvSpPr>
          <p:spPr>
            <a:xfrm flipH="false" flipV="false" rot="0">
              <a:off x="0" y="0"/>
              <a:ext cx="15202815" cy="391172"/>
            </a:xfrm>
            <a:custGeom>
              <a:avLst/>
              <a:gdLst/>
              <a:ahLst/>
              <a:cxnLst/>
              <a:rect r="r" b="b" t="t" l="l"/>
              <a:pathLst>
                <a:path h="391172" w="15202815">
                  <a:moveTo>
                    <a:pt x="0" y="0"/>
                  </a:moveTo>
                  <a:lnTo>
                    <a:pt x="15202815" y="0"/>
                  </a:lnTo>
                  <a:lnTo>
                    <a:pt x="15202815" y="391172"/>
                  </a:lnTo>
                  <a:lnTo>
                    <a:pt x="0" y="391172"/>
                  </a:lnTo>
                  <a:close/>
                </a:path>
              </a:pathLst>
            </a:custGeom>
            <a:blipFill>
              <a:blip r:embed="rId4">
                <a:alphaModFix amt="0"/>
              </a:blip>
              <a:stretch>
                <a:fillRect l="0" t="-710996" r="0" b="-703565"/>
              </a:stretch>
            </a:blipFill>
          </p:spPr>
          <p:txBody>
            <a:bodyPr/>
            <a:p/>
          </p:txBody>
        </p:sp>
        <p:sp>
          <p:nvSpPr>
            <p:cNvPr name="TextBox 141" id="141"/>
            <p:cNvSpPr txBox="true"/>
            <p:nvPr/>
          </p:nvSpPr>
          <p:spPr>
            <a:xfrm>
              <a:off x="0" y="0"/>
              <a:ext cx="15202814"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Sauna, Froid, HBOT (Hyperbare), IHHT (Hypoxie), Photobiomodulation (PBM), PEMF, Exposition lumineuse.</a:t>
              </a:r>
            </a:p>
          </p:txBody>
        </p:sp>
      </p:grpSp>
      <p:grpSp>
        <p:nvGrpSpPr>
          <p:cNvPr name="Group 142" id="142"/>
          <p:cNvGrpSpPr/>
          <p:nvPr/>
        </p:nvGrpSpPr>
        <p:grpSpPr>
          <a:xfrm rot="0">
            <a:off x="5762168" y="6940372"/>
            <a:ext cx="11677650" cy="1633423"/>
            <a:chOff x="0" y="0"/>
            <a:chExt cx="15570200" cy="2177898"/>
          </a:xfrm>
        </p:grpSpPr>
        <p:sp>
          <p:nvSpPr>
            <p:cNvPr name="Freeform 143" id="143"/>
            <p:cNvSpPr/>
            <p:nvPr/>
          </p:nvSpPr>
          <p:spPr>
            <a:xfrm flipH="false" flipV="false" rot="0">
              <a:off x="12700" y="12700"/>
              <a:ext cx="15544800" cy="2152523"/>
            </a:xfrm>
            <a:custGeom>
              <a:avLst/>
              <a:gdLst/>
              <a:ahLst/>
              <a:cxnLst/>
              <a:rect r="r" b="b" t="t" l="l"/>
              <a:pathLst>
                <a:path h="2152523" w="15544800">
                  <a:moveTo>
                    <a:pt x="0" y="0"/>
                  </a:moveTo>
                  <a:lnTo>
                    <a:pt x="15544800" y="0"/>
                  </a:lnTo>
                  <a:lnTo>
                    <a:pt x="15544800" y="2152523"/>
                  </a:lnTo>
                  <a:lnTo>
                    <a:pt x="0" y="2152523"/>
                  </a:lnTo>
                  <a:close/>
                </a:path>
              </a:pathLst>
            </a:custGeom>
            <a:solidFill>
              <a:srgbClr val="1E1E24"/>
            </a:solidFill>
          </p:spPr>
          <p:txBody>
            <a:bodyPr/>
            <a:p/>
          </p:txBody>
        </p:sp>
        <p:sp>
          <p:nvSpPr>
            <p:cNvPr name="Freeform 144" id="144"/>
            <p:cNvSpPr/>
            <p:nvPr/>
          </p:nvSpPr>
          <p:spPr>
            <a:xfrm flipH="false" flipV="false" rot="0">
              <a:off x="0" y="0"/>
              <a:ext cx="15570200" cy="2177923"/>
            </a:xfrm>
            <a:custGeom>
              <a:avLst/>
              <a:gdLst/>
              <a:ahLst/>
              <a:cxnLst/>
              <a:rect r="r" b="b" t="t" l="l"/>
              <a:pathLst>
                <a:path h="2177923" w="15570200">
                  <a:moveTo>
                    <a:pt x="12700" y="0"/>
                  </a:moveTo>
                  <a:lnTo>
                    <a:pt x="15557500" y="0"/>
                  </a:lnTo>
                  <a:cubicBezTo>
                    <a:pt x="15564486" y="0"/>
                    <a:pt x="15570200" y="5715"/>
                    <a:pt x="15570200" y="12700"/>
                  </a:cubicBezTo>
                  <a:lnTo>
                    <a:pt x="15570200" y="2165223"/>
                  </a:lnTo>
                  <a:cubicBezTo>
                    <a:pt x="15570200" y="2172208"/>
                    <a:pt x="15564486" y="2177923"/>
                    <a:pt x="15557500" y="2177923"/>
                  </a:cubicBezTo>
                  <a:lnTo>
                    <a:pt x="12700" y="2177923"/>
                  </a:lnTo>
                  <a:cubicBezTo>
                    <a:pt x="5715" y="2177923"/>
                    <a:pt x="0" y="2172208"/>
                    <a:pt x="0" y="2165223"/>
                  </a:cubicBezTo>
                  <a:lnTo>
                    <a:pt x="0" y="12700"/>
                  </a:lnTo>
                  <a:cubicBezTo>
                    <a:pt x="0" y="5715"/>
                    <a:pt x="5715" y="0"/>
                    <a:pt x="12700" y="0"/>
                  </a:cubicBezTo>
                  <a:moveTo>
                    <a:pt x="12700" y="25400"/>
                  </a:moveTo>
                  <a:lnTo>
                    <a:pt x="12700" y="12700"/>
                  </a:lnTo>
                  <a:lnTo>
                    <a:pt x="25400" y="12700"/>
                  </a:lnTo>
                  <a:lnTo>
                    <a:pt x="25400" y="2165223"/>
                  </a:lnTo>
                  <a:lnTo>
                    <a:pt x="12700" y="2165223"/>
                  </a:lnTo>
                  <a:lnTo>
                    <a:pt x="12700" y="2152523"/>
                  </a:lnTo>
                  <a:lnTo>
                    <a:pt x="15557500" y="2152523"/>
                  </a:lnTo>
                  <a:lnTo>
                    <a:pt x="15557500" y="2165223"/>
                  </a:lnTo>
                  <a:lnTo>
                    <a:pt x="15544800" y="2165223"/>
                  </a:lnTo>
                  <a:lnTo>
                    <a:pt x="15544800" y="12700"/>
                  </a:lnTo>
                  <a:lnTo>
                    <a:pt x="15557500" y="12700"/>
                  </a:lnTo>
                  <a:lnTo>
                    <a:pt x="15557500" y="25400"/>
                  </a:lnTo>
                  <a:lnTo>
                    <a:pt x="12700" y="25400"/>
                  </a:lnTo>
                  <a:close/>
                </a:path>
              </a:pathLst>
            </a:custGeom>
            <a:solidFill>
              <a:srgbClr val="40424D"/>
            </a:solidFill>
          </p:spPr>
          <p:txBody>
            <a:bodyPr/>
            <a:p/>
          </p:txBody>
        </p:sp>
      </p:grpSp>
      <p:grpSp>
        <p:nvGrpSpPr>
          <p:cNvPr name="Group 145" id="145"/>
          <p:cNvGrpSpPr/>
          <p:nvPr/>
        </p:nvGrpSpPr>
        <p:grpSpPr>
          <a:xfrm rot="0">
            <a:off x="5563286" y="7744130"/>
            <a:ext cx="119177" cy="119177"/>
            <a:chOff x="0" y="0"/>
            <a:chExt cx="158902" cy="158902"/>
          </a:xfrm>
        </p:grpSpPr>
        <p:sp>
          <p:nvSpPr>
            <p:cNvPr name="Freeform 146" id="146"/>
            <p:cNvSpPr/>
            <p:nvPr/>
          </p:nvSpPr>
          <p:spPr>
            <a:xfrm flipH="false" flipV="false" rot="0">
              <a:off x="12700" y="12700"/>
              <a:ext cx="133604" cy="133604"/>
            </a:xfrm>
            <a:custGeom>
              <a:avLst/>
              <a:gdLst/>
              <a:ahLst/>
              <a:cxnLst/>
              <a:rect r="r" b="b" t="t" l="l"/>
              <a:pathLst>
                <a:path h="133604" w="133604">
                  <a:moveTo>
                    <a:pt x="0" y="66802"/>
                  </a:moveTo>
                  <a:cubicBezTo>
                    <a:pt x="0" y="29845"/>
                    <a:pt x="29845" y="0"/>
                    <a:pt x="66802" y="0"/>
                  </a:cubicBezTo>
                  <a:cubicBezTo>
                    <a:pt x="103759" y="0"/>
                    <a:pt x="133604" y="29845"/>
                    <a:pt x="133604" y="66802"/>
                  </a:cubicBezTo>
                  <a:cubicBezTo>
                    <a:pt x="133604" y="103759"/>
                    <a:pt x="103759" y="133604"/>
                    <a:pt x="66802" y="133604"/>
                  </a:cubicBezTo>
                  <a:cubicBezTo>
                    <a:pt x="29845" y="133604"/>
                    <a:pt x="0" y="103632"/>
                    <a:pt x="0" y="66802"/>
                  </a:cubicBezTo>
                  <a:close/>
                </a:path>
              </a:pathLst>
            </a:custGeom>
            <a:solidFill>
              <a:srgbClr val="9DA2B3"/>
            </a:solidFill>
          </p:spPr>
          <p:txBody>
            <a:bodyPr/>
            <a:p/>
          </p:txBody>
        </p:sp>
      </p:grpSp>
      <p:grpSp>
        <p:nvGrpSpPr>
          <p:cNvPr name="Group 147" id="147"/>
          <p:cNvGrpSpPr/>
          <p:nvPr/>
        </p:nvGrpSpPr>
        <p:grpSpPr>
          <a:xfrm rot="0">
            <a:off x="6129680" y="7602779"/>
            <a:ext cx="685800" cy="332327"/>
            <a:chOff x="0" y="0"/>
            <a:chExt cx="914400" cy="443103"/>
          </a:xfrm>
        </p:grpSpPr>
        <p:sp>
          <p:nvSpPr>
            <p:cNvPr name="Freeform 148" id="148"/>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149" id="149"/>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9DA2B3"/>
                  </a:solidFill>
                  <a:latin typeface="Manrope Bold"/>
                  <a:ea typeface="Manrope Bold"/>
                  <a:cs typeface="Manrope Bold"/>
                  <a:sym typeface="Manrope Bold"/>
                </a:rPr>
                <a:t>C2</a:t>
              </a:r>
            </a:p>
          </p:txBody>
        </p:sp>
      </p:grpSp>
      <p:grpSp>
        <p:nvGrpSpPr>
          <p:cNvPr name="Group 150" id="150"/>
          <p:cNvGrpSpPr/>
          <p:nvPr/>
        </p:nvGrpSpPr>
        <p:grpSpPr>
          <a:xfrm rot="0">
            <a:off x="6700266" y="7423099"/>
            <a:ext cx="3708806" cy="391173"/>
            <a:chOff x="0" y="0"/>
            <a:chExt cx="4945075" cy="521564"/>
          </a:xfrm>
        </p:grpSpPr>
        <p:sp>
          <p:nvSpPr>
            <p:cNvPr name="Freeform 151" id="151"/>
            <p:cNvSpPr/>
            <p:nvPr/>
          </p:nvSpPr>
          <p:spPr>
            <a:xfrm flipH="false" flipV="false" rot="0">
              <a:off x="0" y="0"/>
              <a:ext cx="4945076" cy="521564"/>
            </a:xfrm>
            <a:custGeom>
              <a:avLst/>
              <a:gdLst/>
              <a:ahLst/>
              <a:cxnLst/>
              <a:rect r="r" b="b" t="t" l="l"/>
              <a:pathLst>
                <a:path h="521564" w="4945076">
                  <a:moveTo>
                    <a:pt x="0" y="0"/>
                  </a:moveTo>
                  <a:lnTo>
                    <a:pt x="4945076" y="0"/>
                  </a:lnTo>
                  <a:lnTo>
                    <a:pt x="4945076" y="521564"/>
                  </a:lnTo>
                  <a:lnTo>
                    <a:pt x="0" y="521564"/>
                  </a:lnTo>
                  <a:close/>
                </a:path>
              </a:pathLst>
            </a:custGeom>
            <a:blipFill>
              <a:blip r:embed="rId4">
                <a:alphaModFix amt="0"/>
              </a:blip>
              <a:stretch>
                <a:fillRect l="0" t="-140912" r="0" b="-128572"/>
              </a:stretch>
            </a:blipFill>
          </p:spPr>
          <p:txBody>
            <a:bodyPr/>
            <a:p/>
          </p:txBody>
        </p:sp>
        <p:sp>
          <p:nvSpPr>
            <p:cNvPr name="TextBox 152" id="152"/>
            <p:cNvSpPr txBox="true"/>
            <p:nvPr/>
          </p:nvSpPr>
          <p:spPr>
            <a:xfrm>
              <a:off x="0" y="9525"/>
              <a:ext cx="4945075" cy="512039"/>
            </a:xfrm>
            <a:prstGeom prst="rect">
              <a:avLst/>
            </a:prstGeom>
          </p:spPr>
          <p:txBody>
            <a:bodyPr anchor="ctr" rtlCol="false" tIns="0" lIns="0" bIns="0" rIns="0"/>
            <a:lstStyle/>
            <a:p>
              <a:pPr algn="l">
                <a:lnSpc>
                  <a:spcPts val="2160"/>
                </a:lnSpc>
              </a:pPr>
              <a:r>
                <a:rPr lang="en-US" b="true" sz="1800" spc="57">
                  <a:solidFill>
                    <a:srgbClr val="FFFFFF"/>
                  </a:solidFill>
                  <a:latin typeface="Manrope Bold"/>
                  <a:ea typeface="Manrope Bold"/>
                  <a:cs typeface="Manrope Bold"/>
                  <a:sym typeface="Manrope Bold"/>
                </a:rPr>
                <a:t>Supplémentation &amp; Pharma</a:t>
              </a:r>
            </a:p>
          </p:txBody>
        </p:sp>
      </p:grpSp>
      <p:grpSp>
        <p:nvGrpSpPr>
          <p:cNvPr name="Group 153" id="153"/>
          <p:cNvGrpSpPr/>
          <p:nvPr/>
        </p:nvGrpSpPr>
        <p:grpSpPr>
          <a:xfrm rot="0">
            <a:off x="6700266" y="7823606"/>
            <a:ext cx="11402111" cy="293380"/>
            <a:chOff x="0" y="0"/>
            <a:chExt cx="15202814" cy="391173"/>
          </a:xfrm>
        </p:grpSpPr>
        <p:sp>
          <p:nvSpPr>
            <p:cNvPr name="Freeform 154" id="154"/>
            <p:cNvSpPr/>
            <p:nvPr/>
          </p:nvSpPr>
          <p:spPr>
            <a:xfrm flipH="false" flipV="false" rot="0">
              <a:off x="0" y="0"/>
              <a:ext cx="15202815" cy="391172"/>
            </a:xfrm>
            <a:custGeom>
              <a:avLst/>
              <a:gdLst/>
              <a:ahLst/>
              <a:cxnLst/>
              <a:rect r="r" b="b" t="t" l="l"/>
              <a:pathLst>
                <a:path h="391172" w="15202815">
                  <a:moveTo>
                    <a:pt x="0" y="0"/>
                  </a:moveTo>
                  <a:lnTo>
                    <a:pt x="15202815" y="0"/>
                  </a:lnTo>
                  <a:lnTo>
                    <a:pt x="15202815" y="391172"/>
                  </a:lnTo>
                  <a:lnTo>
                    <a:pt x="0" y="391172"/>
                  </a:lnTo>
                  <a:close/>
                </a:path>
              </a:pathLst>
            </a:custGeom>
            <a:blipFill>
              <a:blip r:embed="rId4">
                <a:alphaModFix amt="0"/>
              </a:blip>
              <a:stretch>
                <a:fillRect l="0" t="-710996" r="0" b="-703565"/>
              </a:stretch>
            </a:blipFill>
          </p:spPr>
          <p:txBody>
            <a:bodyPr/>
            <a:p/>
          </p:txBody>
        </p:sp>
        <p:sp>
          <p:nvSpPr>
            <p:cNvPr name="TextBox 155" id="155"/>
            <p:cNvSpPr txBox="true"/>
            <p:nvPr/>
          </p:nvSpPr>
          <p:spPr>
            <a:xfrm>
              <a:off x="0" y="0"/>
              <a:ext cx="15202814"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Nutraceutiques ciblés, Metformine, Rapalogues, GLP-1, Acarbose, Inhibiteurs SGLT2, Perfusions IV (NAD+).</a:t>
              </a:r>
            </a:p>
          </p:txBody>
        </p:sp>
      </p:grpSp>
      <p:grpSp>
        <p:nvGrpSpPr>
          <p:cNvPr name="Group 156" id="156"/>
          <p:cNvGrpSpPr/>
          <p:nvPr/>
        </p:nvGrpSpPr>
        <p:grpSpPr>
          <a:xfrm rot="0">
            <a:off x="5762168" y="8661730"/>
            <a:ext cx="11677650" cy="1440103"/>
            <a:chOff x="0" y="0"/>
            <a:chExt cx="15570200" cy="1920138"/>
          </a:xfrm>
        </p:grpSpPr>
        <p:sp>
          <p:nvSpPr>
            <p:cNvPr name="Freeform 157" id="157"/>
            <p:cNvSpPr/>
            <p:nvPr/>
          </p:nvSpPr>
          <p:spPr>
            <a:xfrm flipH="false" flipV="false" rot="0">
              <a:off x="12700" y="9319"/>
              <a:ext cx="15544800" cy="1901519"/>
            </a:xfrm>
            <a:custGeom>
              <a:avLst/>
              <a:gdLst/>
              <a:ahLst/>
              <a:cxnLst/>
              <a:rect r="r" b="b" t="t" l="l"/>
              <a:pathLst>
                <a:path h="1901519" w="15544800">
                  <a:moveTo>
                    <a:pt x="0" y="0"/>
                  </a:moveTo>
                  <a:lnTo>
                    <a:pt x="15544800" y="0"/>
                  </a:lnTo>
                  <a:lnTo>
                    <a:pt x="15544800" y="1901518"/>
                  </a:lnTo>
                  <a:lnTo>
                    <a:pt x="0" y="1901518"/>
                  </a:lnTo>
                  <a:close/>
                </a:path>
              </a:pathLst>
            </a:custGeom>
            <a:solidFill>
              <a:srgbClr val="FFFFFF">
                <a:alpha val="392"/>
              </a:srgbClr>
            </a:solidFill>
          </p:spPr>
          <p:txBody>
            <a:bodyPr/>
            <a:p/>
          </p:txBody>
        </p:sp>
        <p:sp>
          <p:nvSpPr>
            <p:cNvPr name="Freeform 158" id="158"/>
            <p:cNvSpPr/>
            <p:nvPr/>
          </p:nvSpPr>
          <p:spPr>
            <a:xfrm flipH="false" flipV="false" rot="0">
              <a:off x="0" y="0"/>
              <a:ext cx="15570200" cy="1920163"/>
            </a:xfrm>
            <a:custGeom>
              <a:avLst/>
              <a:gdLst/>
              <a:ahLst/>
              <a:cxnLst/>
              <a:rect r="r" b="b" t="t" l="l"/>
              <a:pathLst>
                <a:path h="1920163" w="15570200">
                  <a:moveTo>
                    <a:pt x="12700" y="0"/>
                  </a:moveTo>
                  <a:lnTo>
                    <a:pt x="15557500" y="0"/>
                  </a:lnTo>
                  <a:cubicBezTo>
                    <a:pt x="15564486" y="0"/>
                    <a:pt x="15570200" y="4193"/>
                    <a:pt x="15570200" y="9319"/>
                  </a:cubicBezTo>
                  <a:lnTo>
                    <a:pt x="15570200" y="1910837"/>
                  </a:lnTo>
                  <a:cubicBezTo>
                    <a:pt x="15570200" y="1915963"/>
                    <a:pt x="15564486" y="1920163"/>
                    <a:pt x="15557500" y="1920163"/>
                  </a:cubicBezTo>
                  <a:lnTo>
                    <a:pt x="12700" y="1920163"/>
                  </a:lnTo>
                  <a:cubicBezTo>
                    <a:pt x="5715" y="1920163"/>
                    <a:pt x="0" y="1915963"/>
                    <a:pt x="0" y="1910837"/>
                  </a:cubicBezTo>
                  <a:lnTo>
                    <a:pt x="0" y="9319"/>
                  </a:lnTo>
                  <a:cubicBezTo>
                    <a:pt x="0" y="4193"/>
                    <a:pt x="5715" y="0"/>
                    <a:pt x="12700" y="0"/>
                  </a:cubicBezTo>
                  <a:moveTo>
                    <a:pt x="12700" y="18638"/>
                  </a:moveTo>
                  <a:lnTo>
                    <a:pt x="12700" y="9319"/>
                  </a:lnTo>
                  <a:lnTo>
                    <a:pt x="25400" y="9319"/>
                  </a:lnTo>
                  <a:lnTo>
                    <a:pt x="25400" y="1910837"/>
                  </a:lnTo>
                  <a:lnTo>
                    <a:pt x="12700" y="1910837"/>
                  </a:lnTo>
                  <a:lnTo>
                    <a:pt x="12700" y="1901518"/>
                  </a:lnTo>
                  <a:lnTo>
                    <a:pt x="15557500" y="1901518"/>
                  </a:lnTo>
                  <a:lnTo>
                    <a:pt x="15557500" y="1910837"/>
                  </a:lnTo>
                  <a:lnTo>
                    <a:pt x="15544800" y="1910837"/>
                  </a:lnTo>
                  <a:lnTo>
                    <a:pt x="15544800" y="9319"/>
                  </a:lnTo>
                  <a:lnTo>
                    <a:pt x="15557500" y="9319"/>
                  </a:lnTo>
                  <a:lnTo>
                    <a:pt x="15557500" y="18638"/>
                  </a:lnTo>
                  <a:lnTo>
                    <a:pt x="12700" y="18638"/>
                  </a:lnTo>
                  <a:close/>
                </a:path>
              </a:pathLst>
            </a:custGeom>
            <a:solidFill>
              <a:srgbClr val="40424D"/>
            </a:solidFill>
          </p:spPr>
          <p:txBody>
            <a:bodyPr/>
            <a:p/>
          </p:txBody>
        </p:sp>
      </p:grpSp>
      <p:grpSp>
        <p:nvGrpSpPr>
          <p:cNvPr name="Group 159" id="159"/>
          <p:cNvGrpSpPr/>
          <p:nvPr/>
        </p:nvGrpSpPr>
        <p:grpSpPr>
          <a:xfrm rot="0">
            <a:off x="5762168" y="10576484"/>
            <a:ext cx="11677650" cy="47854"/>
            <a:chOff x="0" y="0"/>
            <a:chExt cx="15570200" cy="63805"/>
          </a:xfrm>
        </p:grpSpPr>
        <p:sp>
          <p:nvSpPr>
            <p:cNvPr name="Freeform 160" id="160"/>
            <p:cNvSpPr/>
            <p:nvPr/>
          </p:nvSpPr>
          <p:spPr>
            <a:xfrm flipH="false" flipV="false" rot="0">
              <a:off x="12700" y="12700"/>
              <a:ext cx="15544800" cy="38354"/>
            </a:xfrm>
            <a:custGeom>
              <a:avLst/>
              <a:gdLst/>
              <a:ahLst/>
              <a:cxnLst/>
              <a:rect r="r" b="b" t="t" l="l"/>
              <a:pathLst>
                <a:path h="38354" w="15544800">
                  <a:moveTo>
                    <a:pt x="0" y="0"/>
                  </a:moveTo>
                  <a:lnTo>
                    <a:pt x="15544800" y="0"/>
                  </a:lnTo>
                  <a:lnTo>
                    <a:pt x="15544800" y="38354"/>
                  </a:lnTo>
                  <a:lnTo>
                    <a:pt x="0" y="38354"/>
                  </a:lnTo>
                  <a:close/>
                </a:path>
              </a:pathLst>
            </a:custGeom>
            <a:solidFill>
              <a:srgbClr val="FFFFFF"/>
            </a:solidFill>
          </p:spPr>
          <p:txBody>
            <a:bodyPr/>
            <a:p/>
          </p:txBody>
        </p:sp>
      </p:grpSp>
      <p:grpSp>
        <p:nvGrpSpPr>
          <p:cNvPr name="Group 161" id="161"/>
          <p:cNvGrpSpPr/>
          <p:nvPr/>
        </p:nvGrpSpPr>
        <p:grpSpPr>
          <a:xfrm rot="0">
            <a:off x="5563286" y="9623222"/>
            <a:ext cx="119177" cy="119177"/>
            <a:chOff x="0" y="0"/>
            <a:chExt cx="158902" cy="158902"/>
          </a:xfrm>
        </p:grpSpPr>
        <p:sp>
          <p:nvSpPr>
            <p:cNvPr name="Freeform 162" id="162"/>
            <p:cNvSpPr/>
            <p:nvPr/>
          </p:nvSpPr>
          <p:spPr>
            <a:xfrm flipH="false" flipV="false" rot="0">
              <a:off x="12700" y="12700"/>
              <a:ext cx="133604" cy="133604"/>
            </a:xfrm>
            <a:custGeom>
              <a:avLst/>
              <a:gdLst/>
              <a:ahLst/>
              <a:cxnLst/>
              <a:rect r="r" b="b" t="t" l="l"/>
              <a:pathLst>
                <a:path h="133604" w="133604">
                  <a:moveTo>
                    <a:pt x="0" y="66802"/>
                  </a:moveTo>
                  <a:cubicBezTo>
                    <a:pt x="0" y="29845"/>
                    <a:pt x="29845" y="0"/>
                    <a:pt x="66802" y="0"/>
                  </a:cubicBezTo>
                  <a:cubicBezTo>
                    <a:pt x="103759" y="0"/>
                    <a:pt x="133604" y="29845"/>
                    <a:pt x="133604" y="66802"/>
                  </a:cubicBezTo>
                  <a:cubicBezTo>
                    <a:pt x="133604" y="103759"/>
                    <a:pt x="103759" y="133604"/>
                    <a:pt x="66802" y="133604"/>
                  </a:cubicBezTo>
                  <a:cubicBezTo>
                    <a:pt x="29845" y="133604"/>
                    <a:pt x="0" y="103632"/>
                    <a:pt x="0" y="66802"/>
                  </a:cubicBezTo>
                  <a:close/>
                </a:path>
              </a:pathLst>
            </a:custGeom>
            <a:solidFill>
              <a:srgbClr val="FFFFFF"/>
            </a:solidFill>
          </p:spPr>
          <p:txBody>
            <a:bodyPr/>
            <a:p/>
          </p:txBody>
        </p:sp>
      </p:grpSp>
      <p:grpSp>
        <p:nvGrpSpPr>
          <p:cNvPr name="Group 163" id="163"/>
          <p:cNvGrpSpPr/>
          <p:nvPr/>
        </p:nvGrpSpPr>
        <p:grpSpPr>
          <a:xfrm rot="0">
            <a:off x="6129680" y="9483242"/>
            <a:ext cx="685800" cy="332327"/>
            <a:chOff x="0" y="0"/>
            <a:chExt cx="914400" cy="443103"/>
          </a:xfrm>
        </p:grpSpPr>
        <p:sp>
          <p:nvSpPr>
            <p:cNvPr name="Freeform 164" id="164"/>
            <p:cNvSpPr/>
            <p:nvPr/>
          </p:nvSpPr>
          <p:spPr>
            <a:xfrm flipH="false" flipV="false" rot="0">
              <a:off x="0" y="0"/>
              <a:ext cx="914400" cy="443104"/>
            </a:xfrm>
            <a:custGeom>
              <a:avLst/>
              <a:gdLst/>
              <a:ahLst/>
              <a:cxnLst/>
              <a:rect r="r" b="b" t="t" l="l"/>
              <a:pathLst>
                <a:path h="443104" w="914400">
                  <a:moveTo>
                    <a:pt x="0" y="0"/>
                  </a:moveTo>
                  <a:lnTo>
                    <a:pt x="914400" y="0"/>
                  </a:lnTo>
                  <a:lnTo>
                    <a:pt x="914400" y="443104"/>
                  </a:lnTo>
                  <a:lnTo>
                    <a:pt x="0" y="443104"/>
                  </a:lnTo>
                  <a:close/>
                </a:path>
              </a:pathLst>
            </a:custGeom>
            <a:blipFill>
              <a:blip r:embed="rId4">
                <a:alphaModFix amt="0"/>
              </a:blip>
              <a:stretch>
                <a:fillRect l="-6196" t="0" r="-6196" b="9613"/>
              </a:stretch>
            </a:blipFill>
          </p:spPr>
          <p:txBody>
            <a:bodyPr/>
            <a:p/>
          </p:txBody>
        </p:sp>
        <p:sp>
          <p:nvSpPr>
            <p:cNvPr name="TextBox 165" id="165"/>
            <p:cNvSpPr txBox="true"/>
            <p:nvPr/>
          </p:nvSpPr>
          <p:spPr>
            <a:xfrm>
              <a:off x="0" y="-9525"/>
              <a:ext cx="914400" cy="452628"/>
            </a:xfrm>
            <a:prstGeom prst="rect">
              <a:avLst/>
            </a:prstGeom>
          </p:spPr>
          <p:txBody>
            <a:bodyPr anchor="ctr" rtlCol="false" tIns="0" lIns="0" bIns="0" rIns="0"/>
            <a:lstStyle/>
            <a:p>
              <a:pPr algn="l">
                <a:lnSpc>
                  <a:spcPts val="1800"/>
                </a:lnSpc>
              </a:pPr>
              <a:r>
                <a:rPr lang="en-US" sz="1500" b="true">
                  <a:solidFill>
                    <a:srgbClr val="FFFFFF"/>
                  </a:solidFill>
                  <a:latin typeface="Manrope Bold"/>
                  <a:ea typeface="Manrope Bold"/>
                  <a:cs typeface="Manrope Bold"/>
                  <a:sym typeface="Manrope Bold"/>
                </a:rPr>
                <a:t>C1</a:t>
              </a:r>
            </a:p>
          </p:txBody>
        </p:sp>
      </p:grpSp>
      <p:grpSp>
        <p:nvGrpSpPr>
          <p:cNvPr name="Group 166" id="166"/>
          <p:cNvGrpSpPr/>
          <p:nvPr/>
        </p:nvGrpSpPr>
        <p:grpSpPr>
          <a:xfrm rot="0">
            <a:off x="6700266" y="9173261"/>
            <a:ext cx="1381201" cy="391173"/>
            <a:chOff x="0" y="0"/>
            <a:chExt cx="1841602" cy="521564"/>
          </a:xfrm>
        </p:grpSpPr>
        <p:sp>
          <p:nvSpPr>
            <p:cNvPr name="Freeform 167" id="167"/>
            <p:cNvSpPr/>
            <p:nvPr/>
          </p:nvSpPr>
          <p:spPr>
            <a:xfrm flipH="false" flipV="false" rot="0">
              <a:off x="0" y="0"/>
              <a:ext cx="1841602" cy="521564"/>
            </a:xfrm>
            <a:custGeom>
              <a:avLst/>
              <a:gdLst/>
              <a:ahLst/>
              <a:cxnLst/>
              <a:rect r="r" b="b" t="t" l="l"/>
              <a:pathLst>
                <a:path h="521564" w="1841602">
                  <a:moveTo>
                    <a:pt x="0" y="0"/>
                  </a:moveTo>
                  <a:lnTo>
                    <a:pt x="1841602" y="0"/>
                  </a:lnTo>
                  <a:lnTo>
                    <a:pt x="1841602" y="521564"/>
                  </a:lnTo>
                  <a:lnTo>
                    <a:pt x="0" y="521564"/>
                  </a:lnTo>
                  <a:close/>
                </a:path>
              </a:pathLst>
            </a:custGeom>
            <a:blipFill>
              <a:blip r:embed="rId4">
                <a:alphaModFix amt="0"/>
              </a:blip>
              <a:stretch>
                <a:fillRect l="0" t="-24970" r="0" b="-12629"/>
              </a:stretch>
            </a:blipFill>
          </p:spPr>
          <p:txBody>
            <a:bodyPr/>
            <a:p/>
          </p:txBody>
        </p:sp>
        <p:sp>
          <p:nvSpPr>
            <p:cNvPr name="TextBox 168" id="168"/>
            <p:cNvSpPr txBox="true"/>
            <p:nvPr/>
          </p:nvSpPr>
          <p:spPr>
            <a:xfrm>
              <a:off x="0" y="9525"/>
              <a:ext cx="1841602" cy="512039"/>
            </a:xfrm>
            <a:prstGeom prst="rect">
              <a:avLst/>
            </a:prstGeom>
          </p:spPr>
          <p:txBody>
            <a:bodyPr anchor="ctr" rtlCol="false" tIns="0" lIns="0" bIns="0" rIns="0"/>
            <a:lstStyle/>
            <a:p>
              <a:pPr algn="l">
                <a:lnSpc>
                  <a:spcPts val="2160"/>
                </a:lnSpc>
              </a:pPr>
              <a:r>
                <a:rPr lang="en-US" b="true" sz="1800" spc="57">
                  <a:solidFill>
                    <a:srgbClr val="FFFFFF"/>
                  </a:solidFill>
                  <a:latin typeface="Manrope Bold"/>
                  <a:ea typeface="Manrope Bold"/>
                  <a:cs typeface="Manrope Bold"/>
                  <a:sym typeface="Manrope Bold"/>
                </a:rPr>
                <a:t>Lifestyle</a:t>
              </a:r>
            </a:p>
          </p:txBody>
        </p:sp>
      </p:grpSp>
      <p:grpSp>
        <p:nvGrpSpPr>
          <p:cNvPr name="Group 169" id="169"/>
          <p:cNvGrpSpPr/>
          <p:nvPr/>
        </p:nvGrpSpPr>
        <p:grpSpPr>
          <a:xfrm rot="0">
            <a:off x="7981701" y="9284437"/>
            <a:ext cx="1648303" cy="233020"/>
            <a:chOff x="0" y="0"/>
            <a:chExt cx="2197737" cy="310693"/>
          </a:xfrm>
        </p:grpSpPr>
        <p:sp>
          <p:nvSpPr>
            <p:cNvPr name="Freeform 170" id="170"/>
            <p:cNvSpPr/>
            <p:nvPr/>
          </p:nvSpPr>
          <p:spPr>
            <a:xfrm flipH="false" flipV="false" rot="0">
              <a:off x="14319" y="12700"/>
              <a:ext cx="2169129" cy="285242"/>
            </a:xfrm>
            <a:custGeom>
              <a:avLst/>
              <a:gdLst/>
              <a:ahLst/>
              <a:cxnLst/>
              <a:rect r="r" b="b" t="t" l="l"/>
              <a:pathLst>
                <a:path h="285242" w="2169129">
                  <a:moveTo>
                    <a:pt x="0" y="142621"/>
                  </a:moveTo>
                  <a:cubicBezTo>
                    <a:pt x="0" y="63881"/>
                    <a:pt x="77463" y="0"/>
                    <a:pt x="172825" y="0"/>
                  </a:cubicBezTo>
                  <a:lnTo>
                    <a:pt x="1996302" y="0"/>
                  </a:lnTo>
                  <a:cubicBezTo>
                    <a:pt x="2091807" y="0"/>
                    <a:pt x="2169128" y="63881"/>
                    <a:pt x="2169128" y="142621"/>
                  </a:cubicBezTo>
                  <a:cubicBezTo>
                    <a:pt x="2169128" y="221361"/>
                    <a:pt x="2091664" y="285242"/>
                    <a:pt x="1996302" y="285242"/>
                  </a:cubicBezTo>
                  <a:lnTo>
                    <a:pt x="172825" y="285242"/>
                  </a:lnTo>
                  <a:cubicBezTo>
                    <a:pt x="77463" y="285242"/>
                    <a:pt x="0" y="221488"/>
                    <a:pt x="0" y="142621"/>
                  </a:cubicBezTo>
                  <a:close/>
                </a:path>
              </a:pathLst>
            </a:custGeom>
            <a:solidFill>
              <a:srgbClr val="FFFFFF"/>
            </a:solidFill>
          </p:spPr>
          <p:txBody>
            <a:bodyPr/>
            <a:p/>
          </p:txBody>
        </p:sp>
      </p:grpSp>
      <p:grpSp>
        <p:nvGrpSpPr>
          <p:cNvPr name="Group 171" id="171"/>
          <p:cNvGrpSpPr/>
          <p:nvPr/>
        </p:nvGrpSpPr>
        <p:grpSpPr>
          <a:xfrm rot="0">
            <a:off x="8066380" y="9272016"/>
            <a:ext cx="1563624" cy="263957"/>
            <a:chOff x="0" y="0"/>
            <a:chExt cx="2084832" cy="351942"/>
          </a:xfrm>
        </p:grpSpPr>
        <p:sp>
          <p:nvSpPr>
            <p:cNvPr name="Freeform 172" id="172"/>
            <p:cNvSpPr/>
            <p:nvPr/>
          </p:nvSpPr>
          <p:spPr>
            <a:xfrm flipH="false" flipV="false" rot="0">
              <a:off x="0" y="0"/>
              <a:ext cx="2084832" cy="351943"/>
            </a:xfrm>
            <a:custGeom>
              <a:avLst/>
              <a:gdLst/>
              <a:ahLst/>
              <a:cxnLst/>
              <a:rect r="r" b="b" t="t" l="l"/>
              <a:pathLst>
                <a:path h="351943" w="2084832">
                  <a:moveTo>
                    <a:pt x="0" y="0"/>
                  </a:moveTo>
                  <a:lnTo>
                    <a:pt x="2084832" y="0"/>
                  </a:lnTo>
                  <a:lnTo>
                    <a:pt x="2084832" y="351943"/>
                  </a:lnTo>
                  <a:lnTo>
                    <a:pt x="0" y="351943"/>
                  </a:lnTo>
                  <a:close/>
                </a:path>
              </a:pathLst>
            </a:custGeom>
            <a:blipFill>
              <a:blip r:embed="rId4">
                <a:alphaModFix amt="0"/>
              </a:blip>
              <a:stretch>
                <a:fillRect l="0" t="-74634" r="0" b="-56216"/>
              </a:stretch>
            </a:blipFill>
          </p:spPr>
          <p:txBody>
            <a:bodyPr/>
            <a:p/>
          </p:txBody>
        </p:sp>
        <p:sp>
          <p:nvSpPr>
            <p:cNvPr name="TextBox 173" id="173"/>
            <p:cNvSpPr txBox="true"/>
            <p:nvPr/>
          </p:nvSpPr>
          <p:spPr>
            <a:xfrm>
              <a:off x="0" y="0"/>
              <a:ext cx="2084832" cy="351942"/>
            </a:xfrm>
            <a:prstGeom prst="rect">
              <a:avLst/>
            </a:prstGeom>
          </p:spPr>
          <p:txBody>
            <a:bodyPr anchor="ctr" rtlCol="false" tIns="0" lIns="0" bIns="0" rIns="0"/>
            <a:lstStyle/>
            <a:p>
              <a:pPr algn="l">
                <a:lnSpc>
                  <a:spcPts val="1439"/>
                </a:lnSpc>
              </a:pPr>
              <a:r>
                <a:rPr lang="en-US" sz="1200" b="true">
                  <a:solidFill>
                    <a:srgbClr val="000000"/>
                  </a:solidFill>
                  <a:latin typeface="Manrope Bold"/>
                  <a:ea typeface="Manrope Bold"/>
                  <a:cs typeface="Manrope Bold"/>
                  <a:sym typeface="Manrope Bold"/>
                </a:rPr>
                <a:t>Socle Fondamental</a:t>
              </a:r>
            </a:p>
          </p:txBody>
        </p:sp>
      </p:grpSp>
      <p:grpSp>
        <p:nvGrpSpPr>
          <p:cNvPr name="Group 174" id="174"/>
          <p:cNvGrpSpPr/>
          <p:nvPr/>
        </p:nvGrpSpPr>
        <p:grpSpPr>
          <a:xfrm rot="0">
            <a:off x="6700266" y="9572396"/>
            <a:ext cx="10487254" cy="529437"/>
            <a:chOff x="0" y="0"/>
            <a:chExt cx="13983005" cy="705916"/>
          </a:xfrm>
        </p:grpSpPr>
        <p:sp>
          <p:nvSpPr>
            <p:cNvPr name="Freeform 175" id="175"/>
            <p:cNvSpPr/>
            <p:nvPr/>
          </p:nvSpPr>
          <p:spPr>
            <a:xfrm flipH="false" flipV="false" rot="0">
              <a:off x="0" y="0"/>
              <a:ext cx="13983004" cy="705915"/>
            </a:xfrm>
            <a:custGeom>
              <a:avLst/>
              <a:gdLst/>
              <a:ahLst/>
              <a:cxnLst/>
              <a:rect r="r" b="b" t="t" l="l"/>
              <a:pathLst>
                <a:path h="705915" w="13983004">
                  <a:moveTo>
                    <a:pt x="0" y="0"/>
                  </a:moveTo>
                  <a:lnTo>
                    <a:pt x="13983004" y="0"/>
                  </a:lnTo>
                  <a:lnTo>
                    <a:pt x="13983004" y="705915"/>
                  </a:lnTo>
                  <a:lnTo>
                    <a:pt x="0" y="705915"/>
                  </a:lnTo>
                  <a:close/>
                </a:path>
              </a:pathLst>
            </a:custGeom>
            <a:blipFill>
              <a:blip r:embed="rId4">
                <a:alphaModFix amt="0"/>
              </a:blip>
              <a:stretch>
                <a:fillRect l="0" t="-335966" r="0" b="-335966"/>
              </a:stretch>
            </a:blipFill>
          </p:spPr>
          <p:txBody>
            <a:bodyPr/>
            <a:p/>
          </p:txBody>
        </p:sp>
        <p:sp>
          <p:nvSpPr>
            <p:cNvPr name="TextBox 176" id="176"/>
            <p:cNvSpPr txBox="true"/>
            <p:nvPr/>
          </p:nvSpPr>
          <p:spPr>
            <a:xfrm>
              <a:off x="0" y="0"/>
              <a:ext cx="13983005" cy="705916"/>
            </a:xfrm>
            <a:prstGeom prst="rect">
              <a:avLst/>
            </a:prstGeom>
          </p:spPr>
          <p:txBody>
            <a:bodyPr anchor="ctr" rtlCol="false" tIns="0" lIns="0" bIns="0" rIns="0"/>
            <a:lstStyle/>
            <a:p>
              <a:pPr algn="l">
                <a:lnSpc>
                  <a:spcPts val="1620"/>
                </a:lnSpc>
              </a:pPr>
              <a:r>
                <a:rPr lang="en-US" sz="1350">
                  <a:solidFill>
                    <a:srgbClr val="D1D5DB"/>
                  </a:solidFill>
                  <a:latin typeface="Manrope"/>
                  <a:ea typeface="Manrope"/>
                  <a:cs typeface="Manrope"/>
                  <a:sym typeface="Manrope"/>
                </a:rPr>
                <a:t>Nutrition anti-inflammatoire, Mouvement (Zone 2, Force, HIIT), Sommeil &amp; Récupération, Environnement (Air, Eau, Lumière).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571957" y="9715043"/>
            <a:ext cx="2386584" cy="337843"/>
            <a:chOff x="0" y="0"/>
            <a:chExt cx="2763317" cy="391173"/>
          </a:xfrm>
        </p:grpSpPr>
        <p:sp>
          <p:nvSpPr>
            <p:cNvPr name="Freeform 9" id="9"/>
            <p:cNvSpPr/>
            <p:nvPr/>
          </p:nvSpPr>
          <p:spPr>
            <a:xfrm flipH="false" flipV="false" rot="0">
              <a:off x="0" y="0"/>
              <a:ext cx="2763316" cy="391173"/>
            </a:xfrm>
            <a:custGeom>
              <a:avLst/>
              <a:gdLst/>
              <a:ahLst/>
              <a:cxnLst/>
              <a:rect r="r" b="b" t="t" l="l"/>
              <a:pathLst>
                <a:path h="391173" w="2763316">
                  <a:moveTo>
                    <a:pt x="0" y="0"/>
                  </a:moveTo>
                  <a:lnTo>
                    <a:pt x="2763316" y="0"/>
                  </a:lnTo>
                  <a:lnTo>
                    <a:pt x="2763316" y="391173"/>
                  </a:lnTo>
                  <a:lnTo>
                    <a:pt x="0" y="391173"/>
                  </a:lnTo>
                  <a:close/>
                </a:path>
              </a:pathLst>
            </a:custGeom>
            <a:blipFill>
              <a:blip r:embed="rId4">
                <a:alphaModFix amt="0"/>
              </a:blip>
              <a:stretch>
                <a:fillRect l="0" t="-98608" r="0" b="-76683"/>
              </a:stretch>
            </a:blipFill>
          </p:spPr>
          <p:txBody>
            <a:bodyPr/>
            <a:p/>
          </p:txBody>
        </p:sp>
        <p:sp>
          <p:nvSpPr>
            <p:cNvPr name="TextBox 10" id="10"/>
            <p:cNvSpPr txBox="true"/>
            <p:nvPr/>
          </p:nvSpPr>
          <p:spPr>
            <a:xfrm>
              <a:off x="0" y="0"/>
              <a:ext cx="2763317"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DR. ADDOR - ROADMAP</a:t>
              </a:r>
            </a:p>
          </p:txBody>
        </p:sp>
      </p:grpSp>
      <p:grpSp>
        <p:nvGrpSpPr>
          <p:cNvPr name="Group 11" id="11"/>
          <p:cNvGrpSpPr/>
          <p:nvPr/>
        </p:nvGrpSpPr>
        <p:grpSpPr>
          <a:xfrm rot="0">
            <a:off x="16995496" y="9715043"/>
            <a:ext cx="843534" cy="293380"/>
            <a:chOff x="0" y="0"/>
            <a:chExt cx="1124712" cy="391173"/>
          </a:xfrm>
        </p:grpSpPr>
        <p:sp>
          <p:nvSpPr>
            <p:cNvPr name="Freeform 12" id="12"/>
            <p:cNvSpPr/>
            <p:nvPr/>
          </p:nvSpPr>
          <p:spPr>
            <a:xfrm flipH="false" flipV="false" rot="0">
              <a:off x="0" y="0"/>
              <a:ext cx="1124712" cy="391173"/>
            </a:xfrm>
            <a:custGeom>
              <a:avLst/>
              <a:gdLst/>
              <a:ahLst/>
              <a:cxnLst/>
              <a:rect r="r" b="b" t="t" l="l"/>
              <a:pathLst>
                <a:path h="391173" w="1124712">
                  <a:moveTo>
                    <a:pt x="0" y="0"/>
                  </a:moveTo>
                  <a:lnTo>
                    <a:pt x="1124712" y="0"/>
                  </a:lnTo>
                  <a:lnTo>
                    <a:pt x="1124712" y="391173"/>
                  </a:lnTo>
                  <a:lnTo>
                    <a:pt x="0" y="391173"/>
                  </a:lnTo>
                  <a:close/>
                </a:path>
              </a:pathLst>
            </a:custGeom>
            <a:blipFill>
              <a:blip r:embed="rId4">
                <a:alphaModFix amt="0"/>
              </a:blip>
              <a:stretch>
                <a:fillRect l="0" t="-16986" r="0" b="4938"/>
              </a:stretch>
            </a:blipFill>
          </p:spPr>
          <p:txBody>
            <a:bodyPr/>
            <a:p/>
          </p:txBody>
        </p:sp>
        <p:sp>
          <p:nvSpPr>
            <p:cNvPr name="TextBox 13" id="13"/>
            <p:cNvSpPr txBox="true"/>
            <p:nvPr/>
          </p:nvSpPr>
          <p:spPr>
            <a:xfrm>
              <a:off x="0" y="0"/>
              <a:ext cx="112471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08 / 14</a:t>
              </a:r>
            </a:p>
          </p:txBody>
        </p:sp>
      </p:grpSp>
      <p:grpSp>
        <p:nvGrpSpPr>
          <p:cNvPr name="Group 14" id="14"/>
          <p:cNvGrpSpPr/>
          <p:nvPr/>
        </p:nvGrpSpPr>
        <p:grpSpPr>
          <a:xfrm rot="0">
            <a:off x="857250" y="678942"/>
            <a:ext cx="456743" cy="13716"/>
            <a:chOff x="0" y="0"/>
            <a:chExt cx="608990" cy="18288"/>
          </a:xfrm>
        </p:grpSpPr>
        <p:sp>
          <p:nvSpPr>
            <p:cNvPr name="Freeform 15" id="15"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16" id="16"/>
          <p:cNvGrpSpPr/>
          <p:nvPr/>
        </p:nvGrpSpPr>
        <p:grpSpPr>
          <a:xfrm rot="0">
            <a:off x="1485443" y="571957"/>
            <a:ext cx="2733599" cy="293380"/>
            <a:chOff x="0" y="0"/>
            <a:chExt cx="3644798" cy="391173"/>
          </a:xfrm>
        </p:grpSpPr>
        <p:sp>
          <p:nvSpPr>
            <p:cNvPr name="Freeform 17" id="17"/>
            <p:cNvSpPr/>
            <p:nvPr/>
          </p:nvSpPr>
          <p:spPr>
            <a:xfrm flipH="false" flipV="false" rot="0">
              <a:off x="0" y="0"/>
              <a:ext cx="3644798" cy="391173"/>
            </a:xfrm>
            <a:custGeom>
              <a:avLst/>
              <a:gdLst/>
              <a:ahLst/>
              <a:cxnLst/>
              <a:rect r="r" b="b" t="t" l="l"/>
              <a:pathLst>
                <a:path h="391173" w="3644798">
                  <a:moveTo>
                    <a:pt x="0" y="0"/>
                  </a:moveTo>
                  <a:lnTo>
                    <a:pt x="3644798" y="0"/>
                  </a:lnTo>
                  <a:lnTo>
                    <a:pt x="3644798" y="391173"/>
                  </a:lnTo>
                  <a:lnTo>
                    <a:pt x="0" y="391173"/>
                  </a:lnTo>
                  <a:close/>
                </a:path>
              </a:pathLst>
            </a:custGeom>
            <a:blipFill>
              <a:blip r:embed="rId4">
                <a:alphaModFix amt="0"/>
              </a:blip>
              <a:stretch>
                <a:fillRect l="0" t="-142516" r="0" b="-120591"/>
              </a:stretch>
            </a:blipFill>
          </p:spPr>
          <p:txBody>
            <a:bodyPr/>
            <a:p/>
          </p:txBody>
        </p:sp>
        <p:sp>
          <p:nvSpPr>
            <p:cNvPr name="TextBox 18" id="18"/>
            <p:cNvSpPr txBox="true"/>
            <p:nvPr/>
          </p:nvSpPr>
          <p:spPr>
            <a:xfrm>
              <a:off x="0" y="0"/>
              <a:ext cx="3644798"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La Feuille de Route</a:t>
              </a:r>
            </a:p>
          </p:txBody>
        </p:sp>
      </p:grpSp>
      <p:grpSp>
        <p:nvGrpSpPr>
          <p:cNvPr name="Group 19" id="19"/>
          <p:cNvGrpSpPr/>
          <p:nvPr/>
        </p:nvGrpSpPr>
        <p:grpSpPr>
          <a:xfrm rot="0">
            <a:off x="857250" y="914857"/>
            <a:ext cx="16859707" cy="889664"/>
            <a:chOff x="0" y="0"/>
            <a:chExt cx="22479610" cy="1186218"/>
          </a:xfrm>
        </p:grpSpPr>
        <p:sp>
          <p:nvSpPr>
            <p:cNvPr name="Freeform 20" id="20"/>
            <p:cNvSpPr/>
            <p:nvPr/>
          </p:nvSpPr>
          <p:spPr>
            <a:xfrm flipH="false" flipV="false" rot="0">
              <a:off x="0" y="0"/>
              <a:ext cx="22479611" cy="1186218"/>
            </a:xfrm>
            <a:custGeom>
              <a:avLst/>
              <a:gdLst/>
              <a:ahLst/>
              <a:cxnLst/>
              <a:rect r="r" b="b" t="t" l="l"/>
              <a:pathLst>
                <a:path h="1186218" w="22479611">
                  <a:moveTo>
                    <a:pt x="0" y="0"/>
                  </a:moveTo>
                  <a:lnTo>
                    <a:pt x="22479611" y="0"/>
                  </a:lnTo>
                  <a:lnTo>
                    <a:pt x="22479611" y="1186218"/>
                  </a:lnTo>
                  <a:lnTo>
                    <a:pt x="0" y="1186218"/>
                  </a:lnTo>
                  <a:close/>
                </a:path>
              </a:pathLst>
            </a:custGeom>
            <a:blipFill>
              <a:blip r:embed="rId4">
                <a:alphaModFix amt="0"/>
              </a:blip>
              <a:stretch>
                <a:fillRect l="0" t="-337109" r="0" b="-301398"/>
              </a:stretch>
            </a:blipFill>
          </p:spPr>
          <p:txBody>
            <a:bodyPr/>
            <a:p/>
          </p:txBody>
        </p:sp>
        <p:sp>
          <p:nvSpPr>
            <p:cNvPr name="TextBox 21" id="21"/>
            <p:cNvSpPr txBox="true"/>
            <p:nvPr/>
          </p:nvSpPr>
          <p:spPr>
            <a:xfrm>
              <a:off x="0" y="9525"/>
              <a:ext cx="22479610" cy="1176693"/>
            </a:xfrm>
            <a:prstGeom prst="rect">
              <a:avLst/>
            </a:prstGeom>
          </p:spPr>
          <p:txBody>
            <a:bodyPr anchor="ctr" rtlCol="false" tIns="0" lIns="0" bIns="0" rIns="0"/>
            <a:lstStyle/>
            <a:p>
              <a:pPr algn="l">
                <a:lnSpc>
                  <a:spcPts val="4860"/>
                </a:lnSpc>
              </a:pPr>
              <a:r>
                <a:rPr lang="en-US" sz="4050" b="true">
                  <a:solidFill>
                    <a:srgbClr val="FFFFFF"/>
                  </a:solidFill>
                  <a:latin typeface="Manrope Bold"/>
                  <a:ea typeface="Manrope Bold"/>
                  <a:cs typeface="Manrope Bold"/>
                  <a:sym typeface="Manrope Bold"/>
                </a:rPr>
                <a:t> Les 10 Piliers de la </a:t>
              </a:r>
              <a:r>
                <a:rPr lang="en-US" sz="4050" b="true">
                  <a:solidFill>
                    <a:srgbClr val="6B7280"/>
                  </a:solidFill>
                  <a:latin typeface="Manrope Bold"/>
                  <a:ea typeface="Manrope Bold"/>
                  <a:cs typeface="Manrope Bold"/>
                  <a:sym typeface="Manrope Bold"/>
                </a:rPr>
                <a:t>Longévité</a:t>
              </a:r>
            </a:p>
          </p:txBody>
        </p:sp>
      </p:grpSp>
      <p:grpSp>
        <p:nvGrpSpPr>
          <p:cNvPr name="Group 22" id="22"/>
          <p:cNvGrpSpPr/>
          <p:nvPr/>
        </p:nvGrpSpPr>
        <p:grpSpPr>
          <a:xfrm rot="0">
            <a:off x="847725" y="2178177"/>
            <a:ext cx="5977280" cy="32766"/>
            <a:chOff x="0" y="0"/>
            <a:chExt cx="7969707" cy="43688"/>
          </a:xfrm>
        </p:grpSpPr>
        <p:sp>
          <p:nvSpPr>
            <p:cNvPr name="Freeform 23" id="23"/>
            <p:cNvSpPr/>
            <p:nvPr/>
          </p:nvSpPr>
          <p:spPr>
            <a:xfrm flipH="false" flipV="false" rot="0">
              <a:off x="12700" y="12700"/>
              <a:ext cx="7944358" cy="18288"/>
            </a:xfrm>
            <a:custGeom>
              <a:avLst/>
              <a:gdLst/>
              <a:ahLst/>
              <a:cxnLst/>
              <a:rect r="r" b="b" t="t" l="l"/>
              <a:pathLst>
                <a:path h="18288" w="7944358">
                  <a:moveTo>
                    <a:pt x="0" y="0"/>
                  </a:moveTo>
                  <a:lnTo>
                    <a:pt x="7944358" y="0"/>
                  </a:lnTo>
                  <a:lnTo>
                    <a:pt x="7944358" y="18288"/>
                  </a:lnTo>
                  <a:lnTo>
                    <a:pt x="0" y="18288"/>
                  </a:lnTo>
                  <a:close/>
                </a:path>
              </a:pathLst>
            </a:custGeom>
            <a:solidFill>
              <a:srgbClr val="40424D"/>
            </a:solidFill>
          </p:spPr>
          <p:txBody>
            <a:bodyPr/>
            <a:p/>
          </p:txBody>
        </p:sp>
      </p:grpSp>
      <p:grpSp>
        <p:nvGrpSpPr>
          <p:cNvPr name="Group 24" id="24"/>
          <p:cNvGrpSpPr/>
          <p:nvPr/>
        </p:nvGrpSpPr>
        <p:grpSpPr>
          <a:xfrm rot="0">
            <a:off x="847725" y="1769440"/>
            <a:ext cx="304343" cy="304343"/>
            <a:chOff x="0" y="0"/>
            <a:chExt cx="405790" cy="405790"/>
          </a:xfrm>
        </p:grpSpPr>
        <p:sp>
          <p:nvSpPr>
            <p:cNvPr name="Freeform 25" id="25"/>
            <p:cNvSpPr/>
            <p:nvPr/>
          </p:nvSpPr>
          <p:spPr>
            <a:xfrm flipH="false" flipV="false" rot="0">
              <a:off x="12700" y="12700"/>
              <a:ext cx="380365" cy="380492"/>
            </a:xfrm>
            <a:custGeom>
              <a:avLst/>
              <a:gdLst/>
              <a:ahLst/>
              <a:cxnLst/>
              <a:rect r="r" b="b" t="t" l="l"/>
              <a:pathLst>
                <a:path h="380492" w="380365">
                  <a:moveTo>
                    <a:pt x="0" y="190246"/>
                  </a:moveTo>
                  <a:cubicBezTo>
                    <a:pt x="0" y="85090"/>
                    <a:pt x="85090" y="0"/>
                    <a:pt x="190246" y="0"/>
                  </a:cubicBezTo>
                  <a:cubicBezTo>
                    <a:pt x="295402" y="0"/>
                    <a:pt x="380365" y="85090"/>
                    <a:pt x="380365" y="190246"/>
                  </a:cubicBezTo>
                  <a:cubicBezTo>
                    <a:pt x="380365" y="295402"/>
                    <a:pt x="295275" y="380492"/>
                    <a:pt x="190119" y="380492"/>
                  </a:cubicBezTo>
                  <a:cubicBezTo>
                    <a:pt x="84963" y="380492"/>
                    <a:pt x="0" y="295275"/>
                    <a:pt x="0" y="190246"/>
                  </a:cubicBezTo>
                  <a:close/>
                </a:path>
              </a:pathLst>
            </a:custGeom>
            <a:solidFill>
              <a:srgbClr val="BCBFCC"/>
            </a:solidFill>
          </p:spPr>
          <p:txBody>
            <a:bodyPr/>
            <a:p/>
          </p:txBody>
        </p:sp>
      </p:grpSp>
      <p:grpSp>
        <p:nvGrpSpPr>
          <p:cNvPr name="Group 26" id="26"/>
          <p:cNvGrpSpPr/>
          <p:nvPr/>
        </p:nvGrpSpPr>
        <p:grpSpPr>
          <a:xfrm rot="0">
            <a:off x="799643" y="1778965"/>
            <a:ext cx="400507" cy="286665"/>
            <a:chOff x="0" y="0"/>
            <a:chExt cx="534010" cy="382220"/>
          </a:xfrm>
        </p:grpSpPr>
        <p:sp>
          <p:nvSpPr>
            <p:cNvPr name="Freeform 27" id="27"/>
            <p:cNvSpPr/>
            <p:nvPr/>
          </p:nvSpPr>
          <p:spPr>
            <a:xfrm flipH="false" flipV="false" rot="0">
              <a:off x="0" y="0"/>
              <a:ext cx="534010" cy="382221"/>
            </a:xfrm>
            <a:custGeom>
              <a:avLst/>
              <a:gdLst/>
              <a:ahLst/>
              <a:cxnLst/>
              <a:rect r="r" b="b" t="t" l="l"/>
              <a:pathLst>
                <a:path h="382221" w="534010">
                  <a:moveTo>
                    <a:pt x="0" y="0"/>
                  </a:moveTo>
                  <a:lnTo>
                    <a:pt x="534010" y="0"/>
                  </a:lnTo>
                  <a:lnTo>
                    <a:pt x="534010" y="382221"/>
                  </a:lnTo>
                  <a:lnTo>
                    <a:pt x="0" y="382221"/>
                  </a:lnTo>
                  <a:close/>
                </a:path>
              </a:pathLst>
            </a:custGeom>
            <a:blipFill>
              <a:blip r:embed="rId4">
                <a:alphaModFix amt="0"/>
              </a:blip>
              <a:stretch>
                <a:fillRect l="-41833" t="0" r="-41833" b="0"/>
              </a:stretch>
            </a:blipFill>
          </p:spPr>
          <p:txBody>
            <a:bodyPr/>
            <a:p/>
          </p:txBody>
        </p:sp>
        <p:sp>
          <p:nvSpPr>
            <p:cNvPr name="TextBox 28" id="28"/>
            <p:cNvSpPr txBox="true"/>
            <p:nvPr/>
          </p:nvSpPr>
          <p:spPr>
            <a:xfrm>
              <a:off x="0" y="0"/>
              <a:ext cx="534010" cy="382220"/>
            </a:xfrm>
            <a:prstGeom prst="rect">
              <a:avLst/>
            </a:prstGeom>
          </p:spPr>
          <p:txBody>
            <a:bodyPr anchor="ctr" rtlCol="false" tIns="0" lIns="0" bIns="0" rIns="0"/>
            <a:lstStyle/>
            <a:p>
              <a:pPr algn="ctr">
                <a:lnSpc>
                  <a:spcPts val="1439"/>
                </a:lnSpc>
              </a:pPr>
              <a:r>
                <a:rPr lang="en-US" sz="1200" b="true">
                  <a:solidFill>
                    <a:srgbClr val="000000"/>
                  </a:solidFill>
                  <a:latin typeface="Manrope Bold"/>
                  <a:ea typeface="Manrope Bold"/>
                  <a:cs typeface="Manrope Bold"/>
                  <a:sym typeface="Manrope Bold"/>
                </a:rPr>
                <a:t>1</a:t>
              </a:r>
            </a:p>
          </p:txBody>
        </p:sp>
      </p:grpSp>
      <p:grpSp>
        <p:nvGrpSpPr>
          <p:cNvPr name="Group 29" id="29"/>
          <p:cNvGrpSpPr/>
          <p:nvPr/>
        </p:nvGrpSpPr>
        <p:grpSpPr>
          <a:xfrm rot="0">
            <a:off x="1286561" y="1772107"/>
            <a:ext cx="1671980" cy="332327"/>
            <a:chOff x="0" y="0"/>
            <a:chExt cx="2229307" cy="443103"/>
          </a:xfrm>
        </p:grpSpPr>
        <p:sp>
          <p:nvSpPr>
            <p:cNvPr name="Freeform 30" id="30"/>
            <p:cNvSpPr/>
            <p:nvPr/>
          </p:nvSpPr>
          <p:spPr>
            <a:xfrm flipH="false" flipV="false" rot="0">
              <a:off x="0" y="0"/>
              <a:ext cx="2229308" cy="443104"/>
            </a:xfrm>
            <a:custGeom>
              <a:avLst/>
              <a:gdLst/>
              <a:ahLst/>
              <a:cxnLst/>
              <a:rect r="r" b="b" t="t" l="l"/>
              <a:pathLst>
                <a:path h="443104" w="2229308">
                  <a:moveTo>
                    <a:pt x="0" y="0"/>
                  </a:moveTo>
                  <a:lnTo>
                    <a:pt x="2229308" y="0"/>
                  </a:lnTo>
                  <a:lnTo>
                    <a:pt x="2229308" y="443104"/>
                  </a:lnTo>
                  <a:lnTo>
                    <a:pt x="0" y="443104"/>
                  </a:lnTo>
                  <a:close/>
                </a:path>
              </a:pathLst>
            </a:custGeom>
            <a:blipFill>
              <a:blip r:embed="rId4">
                <a:alphaModFix amt="0"/>
              </a:blip>
              <a:stretch>
                <a:fillRect l="0" t="-52838" r="0" b="-43224"/>
              </a:stretch>
            </a:blipFill>
          </p:spPr>
          <p:txBody>
            <a:bodyPr/>
            <a:p/>
          </p:txBody>
        </p:sp>
        <p:sp>
          <p:nvSpPr>
            <p:cNvPr name="TextBox 31" id="31"/>
            <p:cNvSpPr txBox="true"/>
            <p:nvPr/>
          </p:nvSpPr>
          <p:spPr>
            <a:xfrm>
              <a:off x="0" y="-9525"/>
              <a:ext cx="2229307" cy="452628"/>
            </a:xfrm>
            <a:prstGeom prst="rect">
              <a:avLst/>
            </a:prstGeom>
          </p:spPr>
          <p:txBody>
            <a:bodyPr anchor="ctr" rtlCol="false" tIns="0" lIns="0" bIns="0" rIns="0"/>
            <a:lstStyle/>
            <a:p>
              <a:pPr algn="l">
                <a:lnSpc>
                  <a:spcPts val="1800"/>
                </a:lnSpc>
              </a:pPr>
              <a:r>
                <a:rPr lang="en-US" b="true" sz="1500" spc="225">
                  <a:solidFill>
                    <a:srgbClr val="9DA2B3"/>
                  </a:solidFill>
                  <a:latin typeface="Manrope Bold"/>
                  <a:ea typeface="Manrope Bold"/>
                  <a:cs typeface="Manrope Bold"/>
                  <a:sym typeface="Manrope Bold"/>
                </a:rPr>
                <a:t>Fondations</a:t>
              </a:r>
            </a:p>
          </p:txBody>
        </p:sp>
      </p:grpSp>
      <p:grpSp>
        <p:nvGrpSpPr>
          <p:cNvPr name="Group 32" id="32"/>
          <p:cNvGrpSpPr/>
          <p:nvPr/>
        </p:nvGrpSpPr>
        <p:grpSpPr>
          <a:xfrm rot="0">
            <a:off x="7148855" y="2178177"/>
            <a:ext cx="4991100" cy="32766"/>
            <a:chOff x="0" y="0"/>
            <a:chExt cx="6654800" cy="43688"/>
          </a:xfrm>
        </p:grpSpPr>
        <p:sp>
          <p:nvSpPr>
            <p:cNvPr name="Freeform 33" id="33"/>
            <p:cNvSpPr/>
            <p:nvPr/>
          </p:nvSpPr>
          <p:spPr>
            <a:xfrm flipH="false" flipV="false" rot="0">
              <a:off x="12700" y="12700"/>
              <a:ext cx="6629400" cy="18288"/>
            </a:xfrm>
            <a:custGeom>
              <a:avLst/>
              <a:gdLst/>
              <a:ahLst/>
              <a:cxnLst/>
              <a:rect r="r" b="b" t="t" l="l"/>
              <a:pathLst>
                <a:path h="18288" w="6629400">
                  <a:moveTo>
                    <a:pt x="0" y="0"/>
                  </a:moveTo>
                  <a:lnTo>
                    <a:pt x="6629400" y="0"/>
                  </a:lnTo>
                  <a:lnTo>
                    <a:pt x="6629400" y="18288"/>
                  </a:lnTo>
                  <a:lnTo>
                    <a:pt x="0" y="18288"/>
                  </a:lnTo>
                  <a:close/>
                </a:path>
              </a:pathLst>
            </a:custGeom>
            <a:solidFill>
              <a:srgbClr val="40424D"/>
            </a:solidFill>
          </p:spPr>
          <p:txBody>
            <a:bodyPr/>
            <a:p/>
          </p:txBody>
        </p:sp>
      </p:grpSp>
      <p:grpSp>
        <p:nvGrpSpPr>
          <p:cNvPr name="Group 34" id="34"/>
          <p:cNvGrpSpPr/>
          <p:nvPr/>
        </p:nvGrpSpPr>
        <p:grpSpPr>
          <a:xfrm rot="0">
            <a:off x="7148855" y="1769440"/>
            <a:ext cx="304343" cy="304343"/>
            <a:chOff x="0" y="0"/>
            <a:chExt cx="405790" cy="405790"/>
          </a:xfrm>
        </p:grpSpPr>
        <p:sp>
          <p:nvSpPr>
            <p:cNvPr name="Freeform 35" id="35"/>
            <p:cNvSpPr/>
            <p:nvPr/>
          </p:nvSpPr>
          <p:spPr>
            <a:xfrm flipH="false" flipV="false" rot="0">
              <a:off x="12700" y="12700"/>
              <a:ext cx="380365" cy="380492"/>
            </a:xfrm>
            <a:custGeom>
              <a:avLst/>
              <a:gdLst/>
              <a:ahLst/>
              <a:cxnLst/>
              <a:rect r="r" b="b" t="t" l="l"/>
              <a:pathLst>
                <a:path h="380492" w="380365">
                  <a:moveTo>
                    <a:pt x="0" y="190246"/>
                  </a:moveTo>
                  <a:cubicBezTo>
                    <a:pt x="0" y="85090"/>
                    <a:pt x="85090" y="0"/>
                    <a:pt x="190246" y="0"/>
                  </a:cubicBezTo>
                  <a:cubicBezTo>
                    <a:pt x="295402" y="0"/>
                    <a:pt x="380365" y="85090"/>
                    <a:pt x="380365" y="190246"/>
                  </a:cubicBezTo>
                  <a:cubicBezTo>
                    <a:pt x="380365" y="295402"/>
                    <a:pt x="295275" y="380492"/>
                    <a:pt x="190119" y="380492"/>
                  </a:cubicBezTo>
                  <a:cubicBezTo>
                    <a:pt x="84963" y="380492"/>
                    <a:pt x="0" y="295275"/>
                    <a:pt x="0" y="190246"/>
                  </a:cubicBezTo>
                  <a:close/>
                </a:path>
              </a:pathLst>
            </a:custGeom>
            <a:solidFill>
              <a:srgbClr val="BCBFCC"/>
            </a:solidFill>
          </p:spPr>
          <p:txBody>
            <a:bodyPr/>
            <a:p/>
          </p:txBody>
        </p:sp>
      </p:grpSp>
      <p:grpSp>
        <p:nvGrpSpPr>
          <p:cNvPr name="Group 36" id="36"/>
          <p:cNvGrpSpPr/>
          <p:nvPr/>
        </p:nvGrpSpPr>
        <p:grpSpPr>
          <a:xfrm rot="0">
            <a:off x="7100773" y="1778965"/>
            <a:ext cx="400507" cy="286665"/>
            <a:chOff x="0" y="0"/>
            <a:chExt cx="534010" cy="382220"/>
          </a:xfrm>
        </p:grpSpPr>
        <p:sp>
          <p:nvSpPr>
            <p:cNvPr name="Freeform 37" id="37"/>
            <p:cNvSpPr/>
            <p:nvPr/>
          </p:nvSpPr>
          <p:spPr>
            <a:xfrm flipH="false" flipV="false" rot="0">
              <a:off x="0" y="0"/>
              <a:ext cx="534010" cy="382221"/>
            </a:xfrm>
            <a:custGeom>
              <a:avLst/>
              <a:gdLst/>
              <a:ahLst/>
              <a:cxnLst/>
              <a:rect r="r" b="b" t="t" l="l"/>
              <a:pathLst>
                <a:path h="382221" w="534010">
                  <a:moveTo>
                    <a:pt x="0" y="0"/>
                  </a:moveTo>
                  <a:lnTo>
                    <a:pt x="534010" y="0"/>
                  </a:lnTo>
                  <a:lnTo>
                    <a:pt x="534010" y="382221"/>
                  </a:lnTo>
                  <a:lnTo>
                    <a:pt x="0" y="382221"/>
                  </a:lnTo>
                  <a:close/>
                </a:path>
              </a:pathLst>
            </a:custGeom>
            <a:blipFill>
              <a:blip r:embed="rId4">
                <a:alphaModFix amt="0"/>
              </a:blip>
              <a:stretch>
                <a:fillRect l="-41833" t="0" r="-41833" b="0"/>
              </a:stretch>
            </a:blipFill>
          </p:spPr>
          <p:txBody>
            <a:bodyPr/>
            <a:p/>
          </p:txBody>
        </p:sp>
        <p:sp>
          <p:nvSpPr>
            <p:cNvPr name="TextBox 38" id="38"/>
            <p:cNvSpPr txBox="true"/>
            <p:nvPr/>
          </p:nvSpPr>
          <p:spPr>
            <a:xfrm>
              <a:off x="0" y="0"/>
              <a:ext cx="534010" cy="382220"/>
            </a:xfrm>
            <a:prstGeom prst="rect">
              <a:avLst/>
            </a:prstGeom>
          </p:spPr>
          <p:txBody>
            <a:bodyPr anchor="ctr" rtlCol="false" tIns="0" lIns="0" bIns="0" rIns="0"/>
            <a:lstStyle/>
            <a:p>
              <a:pPr algn="ctr">
                <a:lnSpc>
                  <a:spcPts val="1439"/>
                </a:lnSpc>
              </a:pPr>
              <a:r>
                <a:rPr lang="en-US" sz="1200" b="true">
                  <a:solidFill>
                    <a:srgbClr val="000000"/>
                  </a:solidFill>
                  <a:latin typeface="Manrope Bold"/>
                  <a:ea typeface="Manrope Bold"/>
                  <a:cs typeface="Manrope Bold"/>
                  <a:sym typeface="Manrope Bold"/>
                </a:rPr>
                <a:t>2</a:t>
              </a:r>
            </a:p>
          </p:txBody>
        </p:sp>
      </p:grpSp>
      <p:grpSp>
        <p:nvGrpSpPr>
          <p:cNvPr name="Group 39" id="39"/>
          <p:cNvGrpSpPr/>
          <p:nvPr/>
        </p:nvGrpSpPr>
        <p:grpSpPr>
          <a:xfrm rot="0">
            <a:off x="7586320" y="1772107"/>
            <a:ext cx="1814627" cy="332327"/>
            <a:chOff x="0" y="0"/>
            <a:chExt cx="2419502" cy="443103"/>
          </a:xfrm>
        </p:grpSpPr>
        <p:sp>
          <p:nvSpPr>
            <p:cNvPr name="Freeform 40" id="40"/>
            <p:cNvSpPr/>
            <p:nvPr/>
          </p:nvSpPr>
          <p:spPr>
            <a:xfrm flipH="false" flipV="false" rot="0">
              <a:off x="0" y="0"/>
              <a:ext cx="2419502" cy="443104"/>
            </a:xfrm>
            <a:custGeom>
              <a:avLst/>
              <a:gdLst/>
              <a:ahLst/>
              <a:cxnLst/>
              <a:rect r="r" b="b" t="t" l="l"/>
              <a:pathLst>
                <a:path h="443104" w="2419502">
                  <a:moveTo>
                    <a:pt x="0" y="0"/>
                  </a:moveTo>
                  <a:lnTo>
                    <a:pt x="2419502" y="0"/>
                  </a:lnTo>
                  <a:lnTo>
                    <a:pt x="2419502" y="443104"/>
                  </a:lnTo>
                  <a:lnTo>
                    <a:pt x="0" y="443104"/>
                  </a:lnTo>
                  <a:close/>
                </a:path>
              </a:pathLst>
            </a:custGeom>
            <a:blipFill>
              <a:blip r:embed="rId4">
                <a:alphaModFix amt="0"/>
              </a:blip>
              <a:stretch>
                <a:fillRect l="0" t="-61201" r="0" b="-51588"/>
              </a:stretch>
            </a:blipFill>
          </p:spPr>
          <p:txBody>
            <a:bodyPr/>
            <a:p/>
          </p:txBody>
        </p:sp>
        <p:sp>
          <p:nvSpPr>
            <p:cNvPr name="TextBox 41" id="41"/>
            <p:cNvSpPr txBox="true"/>
            <p:nvPr/>
          </p:nvSpPr>
          <p:spPr>
            <a:xfrm>
              <a:off x="0" y="-9525"/>
              <a:ext cx="2419502" cy="452628"/>
            </a:xfrm>
            <a:prstGeom prst="rect">
              <a:avLst/>
            </a:prstGeom>
          </p:spPr>
          <p:txBody>
            <a:bodyPr anchor="ctr" rtlCol="false" tIns="0" lIns="0" bIns="0" rIns="0"/>
            <a:lstStyle/>
            <a:p>
              <a:pPr algn="l">
                <a:lnSpc>
                  <a:spcPts val="1800"/>
                </a:lnSpc>
              </a:pPr>
              <a:r>
                <a:rPr lang="en-US" b="true" sz="1500" spc="225">
                  <a:solidFill>
                    <a:srgbClr val="9DA2B3"/>
                  </a:solidFill>
                  <a:latin typeface="Manrope Bold"/>
                  <a:ea typeface="Manrope Bold"/>
                  <a:cs typeface="Manrope Bold"/>
                  <a:sym typeface="Manrope Bold"/>
                </a:rPr>
                <a:t>Catalyseurs</a:t>
              </a:r>
            </a:p>
          </p:txBody>
        </p:sp>
      </p:grpSp>
      <p:grpSp>
        <p:nvGrpSpPr>
          <p:cNvPr name="Group 42" id="42"/>
          <p:cNvGrpSpPr/>
          <p:nvPr/>
        </p:nvGrpSpPr>
        <p:grpSpPr>
          <a:xfrm rot="0">
            <a:off x="12456947" y="2178177"/>
            <a:ext cx="4991100" cy="32766"/>
            <a:chOff x="0" y="0"/>
            <a:chExt cx="6654800" cy="43688"/>
          </a:xfrm>
        </p:grpSpPr>
        <p:sp>
          <p:nvSpPr>
            <p:cNvPr name="Freeform 43" id="43"/>
            <p:cNvSpPr/>
            <p:nvPr/>
          </p:nvSpPr>
          <p:spPr>
            <a:xfrm flipH="false" flipV="false" rot="0">
              <a:off x="12700" y="12700"/>
              <a:ext cx="6629400" cy="18288"/>
            </a:xfrm>
            <a:custGeom>
              <a:avLst/>
              <a:gdLst/>
              <a:ahLst/>
              <a:cxnLst/>
              <a:rect r="r" b="b" t="t" l="l"/>
              <a:pathLst>
                <a:path h="18288" w="6629400">
                  <a:moveTo>
                    <a:pt x="0" y="0"/>
                  </a:moveTo>
                  <a:lnTo>
                    <a:pt x="6629400" y="0"/>
                  </a:lnTo>
                  <a:lnTo>
                    <a:pt x="6629400" y="18288"/>
                  </a:lnTo>
                  <a:lnTo>
                    <a:pt x="0" y="18288"/>
                  </a:lnTo>
                  <a:close/>
                </a:path>
              </a:pathLst>
            </a:custGeom>
            <a:solidFill>
              <a:srgbClr val="40424D"/>
            </a:solidFill>
          </p:spPr>
          <p:txBody>
            <a:bodyPr/>
            <a:p/>
          </p:txBody>
        </p:sp>
      </p:grpSp>
      <p:grpSp>
        <p:nvGrpSpPr>
          <p:cNvPr name="Group 44" id="44"/>
          <p:cNvGrpSpPr/>
          <p:nvPr/>
        </p:nvGrpSpPr>
        <p:grpSpPr>
          <a:xfrm rot="0">
            <a:off x="12456947" y="1769440"/>
            <a:ext cx="304343" cy="304343"/>
            <a:chOff x="0" y="0"/>
            <a:chExt cx="405790" cy="405790"/>
          </a:xfrm>
        </p:grpSpPr>
        <p:sp>
          <p:nvSpPr>
            <p:cNvPr name="Freeform 45" id="45"/>
            <p:cNvSpPr/>
            <p:nvPr/>
          </p:nvSpPr>
          <p:spPr>
            <a:xfrm flipH="false" flipV="false" rot="0">
              <a:off x="12700" y="12700"/>
              <a:ext cx="380365" cy="380492"/>
            </a:xfrm>
            <a:custGeom>
              <a:avLst/>
              <a:gdLst/>
              <a:ahLst/>
              <a:cxnLst/>
              <a:rect r="r" b="b" t="t" l="l"/>
              <a:pathLst>
                <a:path h="380492" w="380365">
                  <a:moveTo>
                    <a:pt x="0" y="190246"/>
                  </a:moveTo>
                  <a:cubicBezTo>
                    <a:pt x="0" y="85090"/>
                    <a:pt x="85090" y="0"/>
                    <a:pt x="190246" y="0"/>
                  </a:cubicBezTo>
                  <a:cubicBezTo>
                    <a:pt x="295402" y="0"/>
                    <a:pt x="380365" y="85090"/>
                    <a:pt x="380365" y="190246"/>
                  </a:cubicBezTo>
                  <a:cubicBezTo>
                    <a:pt x="380365" y="295402"/>
                    <a:pt x="295275" y="380492"/>
                    <a:pt x="190119" y="380492"/>
                  </a:cubicBezTo>
                  <a:cubicBezTo>
                    <a:pt x="84963" y="380492"/>
                    <a:pt x="0" y="295275"/>
                    <a:pt x="0" y="190246"/>
                  </a:cubicBezTo>
                  <a:close/>
                </a:path>
              </a:pathLst>
            </a:custGeom>
            <a:solidFill>
              <a:srgbClr val="BCBFCC"/>
            </a:solidFill>
          </p:spPr>
          <p:txBody>
            <a:bodyPr/>
            <a:p/>
          </p:txBody>
        </p:sp>
      </p:grpSp>
      <p:grpSp>
        <p:nvGrpSpPr>
          <p:cNvPr name="Group 46" id="46"/>
          <p:cNvGrpSpPr/>
          <p:nvPr/>
        </p:nvGrpSpPr>
        <p:grpSpPr>
          <a:xfrm rot="0">
            <a:off x="12408865" y="1778965"/>
            <a:ext cx="400507" cy="286665"/>
            <a:chOff x="0" y="0"/>
            <a:chExt cx="534010" cy="382220"/>
          </a:xfrm>
        </p:grpSpPr>
        <p:sp>
          <p:nvSpPr>
            <p:cNvPr name="Freeform 47" id="47"/>
            <p:cNvSpPr/>
            <p:nvPr/>
          </p:nvSpPr>
          <p:spPr>
            <a:xfrm flipH="false" flipV="false" rot="0">
              <a:off x="0" y="0"/>
              <a:ext cx="534010" cy="382221"/>
            </a:xfrm>
            <a:custGeom>
              <a:avLst/>
              <a:gdLst/>
              <a:ahLst/>
              <a:cxnLst/>
              <a:rect r="r" b="b" t="t" l="l"/>
              <a:pathLst>
                <a:path h="382221" w="534010">
                  <a:moveTo>
                    <a:pt x="0" y="0"/>
                  </a:moveTo>
                  <a:lnTo>
                    <a:pt x="534010" y="0"/>
                  </a:lnTo>
                  <a:lnTo>
                    <a:pt x="534010" y="382221"/>
                  </a:lnTo>
                  <a:lnTo>
                    <a:pt x="0" y="382221"/>
                  </a:lnTo>
                  <a:close/>
                </a:path>
              </a:pathLst>
            </a:custGeom>
            <a:blipFill>
              <a:blip r:embed="rId4">
                <a:alphaModFix amt="0"/>
              </a:blip>
              <a:stretch>
                <a:fillRect l="-41833" t="0" r="-41833" b="0"/>
              </a:stretch>
            </a:blipFill>
          </p:spPr>
          <p:txBody>
            <a:bodyPr/>
            <a:p/>
          </p:txBody>
        </p:sp>
        <p:sp>
          <p:nvSpPr>
            <p:cNvPr name="TextBox 48" id="48"/>
            <p:cNvSpPr txBox="true"/>
            <p:nvPr/>
          </p:nvSpPr>
          <p:spPr>
            <a:xfrm>
              <a:off x="0" y="0"/>
              <a:ext cx="534010" cy="382220"/>
            </a:xfrm>
            <a:prstGeom prst="rect">
              <a:avLst/>
            </a:prstGeom>
          </p:spPr>
          <p:txBody>
            <a:bodyPr anchor="ctr" rtlCol="false" tIns="0" lIns="0" bIns="0" rIns="0"/>
            <a:lstStyle/>
            <a:p>
              <a:pPr algn="ctr">
                <a:lnSpc>
                  <a:spcPts val="1439"/>
                </a:lnSpc>
              </a:pPr>
              <a:r>
                <a:rPr lang="en-US" sz="1200" b="true">
                  <a:solidFill>
                    <a:srgbClr val="000000"/>
                  </a:solidFill>
                  <a:latin typeface="Manrope Bold"/>
                  <a:ea typeface="Manrope Bold"/>
                  <a:cs typeface="Manrope Bold"/>
                  <a:sym typeface="Manrope Bold"/>
                </a:rPr>
                <a:t>3</a:t>
              </a:r>
            </a:p>
          </p:txBody>
        </p:sp>
      </p:grpSp>
      <p:grpSp>
        <p:nvGrpSpPr>
          <p:cNvPr name="Group 49" id="49"/>
          <p:cNvGrpSpPr/>
          <p:nvPr/>
        </p:nvGrpSpPr>
        <p:grpSpPr>
          <a:xfrm rot="0">
            <a:off x="12894412" y="1772107"/>
            <a:ext cx="1228954" cy="332327"/>
            <a:chOff x="0" y="0"/>
            <a:chExt cx="1638605" cy="443103"/>
          </a:xfrm>
        </p:grpSpPr>
        <p:sp>
          <p:nvSpPr>
            <p:cNvPr name="Freeform 50" id="50"/>
            <p:cNvSpPr/>
            <p:nvPr/>
          </p:nvSpPr>
          <p:spPr>
            <a:xfrm flipH="false" flipV="false" rot="0">
              <a:off x="0" y="0"/>
              <a:ext cx="1638604" cy="443104"/>
            </a:xfrm>
            <a:custGeom>
              <a:avLst/>
              <a:gdLst/>
              <a:ahLst/>
              <a:cxnLst/>
              <a:rect r="r" b="b" t="t" l="l"/>
              <a:pathLst>
                <a:path h="443104" w="1638604">
                  <a:moveTo>
                    <a:pt x="0" y="0"/>
                  </a:moveTo>
                  <a:lnTo>
                    <a:pt x="1638604" y="0"/>
                  </a:lnTo>
                  <a:lnTo>
                    <a:pt x="1638604" y="443104"/>
                  </a:lnTo>
                  <a:lnTo>
                    <a:pt x="0" y="443104"/>
                  </a:lnTo>
                  <a:close/>
                </a:path>
              </a:pathLst>
            </a:custGeom>
            <a:blipFill>
              <a:blip r:embed="rId4">
                <a:alphaModFix amt="0"/>
              </a:blip>
              <a:stretch>
                <a:fillRect l="0" t="-26862" r="0" b="-17249"/>
              </a:stretch>
            </a:blipFill>
          </p:spPr>
          <p:txBody>
            <a:bodyPr/>
            <a:p/>
          </p:txBody>
        </p:sp>
        <p:sp>
          <p:nvSpPr>
            <p:cNvPr name="TextBox 51" id="51"/>
            <p:cNvSpPr txBox="true"/>
            <p:nvPr/>
          </p:nvSpPr>
          <p:spPr>
            <a:xfrm>
              <a:off x="0" y="-9525"/>
              <a:ext cx="1638605" cy="452628"/>
            </a:xfrm>
            <a:prstGeom prst="rect">
              <a:avLst/>
            </a:prstGeom>
          </p:spPr>
          <p:txBody>
            <a:bodyPr anchor="ctr" rtlCol="false" tIns="0" lIns="0" bIns="0" rIns="0"/>
            <a:lstStyle/>
            <a:p>
              <a:pPr algn="l">
                <a:lnSpc>
                  <a:spcPts val="1800"/>
                </a:lnSpc>
              </a:pPr>
              <a:r>
                <a:rPr lang="en-US" b="true" sz="1500" spc="225">
                  <a:solidFill>
                    <a:srgbClr val="9DA2B3"/>
                  </a:solidFill>
                  <a:latin typeface="Manrope Bold"/>
                  <a:ea typeface="Manrope Bold"/>
                  <a:cs typeface="Manrope Bold"/>
                  <a:sym typeface="Manrope Bold"/>
                </a:rPr>
                <a:t>Essence</a:t>
              </a:r>
            </a:p>
          </p:txBody>
        </p:sp>
      </p:grpSp>
      <p:grpSp>
        <p:nvGrpSpPr>
          <p:cNvPr name="Group 52" id="52"/>
          <p:cNvGrpSpPr/>
          <p:nvPr/>
        </p:nvGrpSpPr>
        <p:grpSpPr>
          <a:xfrm rot="0">
            <a:off x="847725" y="2419579"/>
            <a:ext cx="2919984" cy="3576980"/>
            <a:chOff x="0" y="0"/>
            <a:chExt cx="3893312" cy="4769307"/>
          </a:xfrm>
        </p:grpSpPr>
        <p:sp>
          <p:nvSpPr>
            <p:cNvPr name="Freeform 53" id="53"/>
            <p:cNvSpPr/>
            <p:nvPr/>
          </p:nvSpPr>
          <p:spPr>
            <a:xfrm flipH="false" flipV="false" rot="0">
              <a:off x="12700" y="12700"/>
              <a:ext cx="3867912" cy="4743958"/>
            </a:xfrm>
            <a:custGeom>
              <a:avLst/>
              <a:gdLst/>
              <a:ahLst/>
              <a:cxnLst/>
              <a:rect r="r" b="b" t="t" l="l"/>
              <a:pathLst>
                <a:path h="4743958" w="3867912">
                  <a:moveTo>
                    <a:pt x="0" y="0"/>
                  </a:moveTo>
                  <a:lnTo>
                    <a:pt x="3867912" y="0"/>
                  </a:lnTo>
                  <a:lnTo>
                    <a:pt x="3867912" y="4743958"/>
                  </a:lnTo>
                  <a:lnTo>
                    <a:pt x="0" y="4743958"/>
                  </a:lnTo>
                  <a:close/>
                </a:path>
              </a:pathLst>
            </a:custGeom>
            <a:solidFill>
              <a:srgbClr val="1E1E24"/>
            </a:solidFill>
          </p:spPr>
          <p:txBody>
            <a:bodyPr/>
            <a:p/>
          </p:txBody>
        </p:sp>
        <p:sp>
          <p:nvSpPr>
            <p:cNvPr name="Freeform 54" id="54"/>
            <p:cNvSpPr/>
            <p:nvPr/>
          </p:nvSpPr>
          <p:spPr>
            <a:xfrm flipH="false" flipV="false" rot="0">
              <a:off x="0" y="0"/>
              <a:ext cx="3893312" cy="4769358"/>
            </a:xfrm>
            <a:custGeom>
              <a:avLst/>
              <a:gdLst/>
              <a:ahLst/>
              <a:cxnLst/>
              <a:rect r="r" b="b" t="t" l="l"/>
              <a:pathLst>
                <a:path h="4769358" w="3893312">
                  <a:moveTo>
                    <a:pt x="12700" y="0"/>
                  </a:moveTo>
                  <a:lnTo>
                    <a:pt x="3880612" y="0"/>
                  </a:lnTo>
                  <a:cubicBezTo>
                    <a:pt x="3887597" y="0"/>
                    <a:pt x="3893312" y="5715"/>
                    <a:pt x="3893312" y="12700"/>
                  </a:cubicBezTo>
                  <a:lnTo>
                    <a:pt x="3893312" y="4756658"/>
                  </a:lnTo>
                  <a:cubicBezTo>
                    <a:pt x="3893312" y="4763643"/>
                    <a:pt x="3887597" y="4769358"/>
                    <a:pt x="3880612" y="4769358"/>
                  </a:cubicBezTo>
                  <a:lnTo>
                    <a:pt x="12700" y="4769358"/>
                  </a:lnTo>
                  <a:cubicBezTo>
                    <a:pt x="5715" y="4769358"/>
                    <a:pt x="0" y="4763643"/>
                    <a:pt x="0" y="4756658"/>
                  </a:cubicBezTo>
                  <a:lnTo>
                    <a:pt x="0" y="12700"/>
                  </a:lnTo>
                  <a:cubicBezTo>
                    <a:pt x="0" y="5715"/>
                    <a:pt x="5715" y="0"/>
                    <a:pt x="12700" y="0"/>
                  </a:cubicBezTo>
                  <a:moveTo>
                    <a:pt x="12700" y="25400"/>
                  </a:moveTo>
                  <a:lnTo>
                    <a:pt x="12700" y="12700"/>
                  </a:lnTo>
                  <a:lnTo>
                    <a:pt x="25400" y="12700"/>
                  </a:lnTo>
                  <a:lnTo>
                    <a:pt x="25400" y="4756658"/>
                  </a:lnTo>
                  <a:lnTo>
                    <a:pt x="12700" y="4756658"/>
                  </a:lnTo>
                  <a:lnTo>
                    <a:pt x="12700" y="4743958"/>
                  </a:lnTo>
                  <a:lnTo>
                    <a:pt x="3880612" y="4743958"/>
                  </a:lnTo>
                  <a:lnTo>
                    <a:pt x="3880612" y="4756658"/>
                  </a:lnTo>
                  <a:lnTo>
                    <a:pt x="3867912" y="4756658"/>
                  </a:lnTo>
                  <a:lnTo>
                    <a:pt x="3867912" y="12700"/>
                  </a:lnTo>
                  <a:lnTo>
                    <a:pt x="3880612" y="12700"/>
                  </a:lnTo>
                  <a:lnTo>
                    <a:pt x="3880612" y="25400"/>
                  </a:lnTo>
                  <a:lnTo>
                    <a:pt x="12700" y="25400"/>
                  </a:lnTo>
                  <a:close/>
                </a:path>
              </a:pathLst>
            </a:custGeom>
            <a:solidFill>
              <a:srgbClr val="40424D"/>
            </a:solidFill>
          </p:spPr>
          <p:txBody>
            <a:bodyPr/>
            <a:p/>
          </p:txBody>
        </p:sp>
      </p:grpSp>
      <p:grpSp>
        <p:nvGrpSpPr>
          <p:cNvPr name="Group 55" id="55"/>
          <p:cNvGrpSpPr/>
          <p:nvPr/>
        </p:nvGrpSpPr>
        <p:grpSpPr>
          <a:xfrm rot="0">
            <a:off x="1148105" y="2719959"/>
            <a:ext cx="533400" cy="533400"/>
            <a:chOff x="0" y="0"/>
            <a:chExt cx="711200" cy="711200"/>
          </a:xfrm>
        </p:grpSpPr>
        <p:sp>
          <p:nvSpPr>
            <p:cNvPr name="Freeform 56" id="56"/>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57" id="57"/>
          <p:cNvGrpSpPr/>
          <p:nvPr/>
        </p:nvGrpSpPr>
        <p:grpSpPr>
          <a:xfrm rot="0">
            <a:off x="1235812" y="2843327"/>
            <a:ext cx="356616" cy="285293"/>
            <a:chOff x="0" y="0"/>
            <a:chExt cx="475488" cy="380390"/>
          </a:xfrm>
        </p:grpSpPr>
        <p:sp>
          <p:nvSpPr>
            <p:cNvPr name="Freeform 58" id="58" descr="preencoded.png"/>
            <p:cNvSpPr/>
            <p:nvPr/>
          </p:nvSpPr>
          <p:spPr>
            <a:xfrm flipH="false" flipV="false" rot="0">
              <a:off x="0" y="0"/>
              <a:ext cx="475488" cy="380365"/>
            </a:xfrm>
            <a:custGeom>
              <a:avLst/>
              <a:gdLst/>
              <a:ahLst/>
              <a:cxnLst/>
              <a:rect r="r" b="b" t="t" l="l"/>
              <a:pathLst>
                <a:path h="380365" w="475488">
                  <a:moveTo>
                    <a:pt x="0" y="0"/>
                  </a:moveTo>
                  <a:lnTo>
                    <a:pt x="475488" y="0"/>
                  </a:lnTo>
                  <a:lnTo>
                    <a:pt x="475488" y="380365"/>
                  </a:lnTo>
                  <a:lnTo>
                    <a:pt x="0" y="380365"/>
                  </a:lnTo>
                  <a:lnTo>
                    <a:pt x="0" y="0"/>
                  </a:lnTo>
                  <a:close/>
                </a:path>
              </a:pathLst>
            </a:custGeom>
            <a:blipFill>
              <a:blip r:embed="rId6"/>
              <a:stretch>
                <a:fillRect l="0" t="0" r="-646" b="-6"/>
              </a:stretch>
            </a:blipFill>
          </p:spPr>
          <p:txBody>
            <a:bodyPr/>
            <a:p/>
          </p:txBody>
        </p:sp>
      </p:grpSp>
      <p:grpSp>
        <p:nvGrpSpPr>
          <p:cNvPr name="Group 59" id="59"/>
          <p:cNvGrpSpPr/>
          <p:nvPr/>
        </p:nvGrpSpPr>
        <p:grpSpPr>
          <a:xfrm rot="0">
            <a:off x="1157630" y="4597603"/>
            <a:ext cx="2415388" cy="391173"/>
            <a:chOff x="0" y="0"/>
            <a:chExt cx="3220517" cy="521564"/>
          </a:xfrm>
        </p:grpSpPr>
        <p:sp>
          <p:nvSpPr>
            <p:cNvPr name="Freeform 60" id="60"/>
            <p:cNvSpPr/>
            <p:nvPr/>
          </p:nvSpPr>
          <p:spPr>
            <a:xfrm flipH="false" flipV="false" rot="0">
              <a:off x="0" y="0"/>
              <a:ext cx="3220516" cy="521564"/>
            </a:xfrm>
            <a:custGeom>
              <a:avLst/>
              <a:gdLst/>
              <a:ahLst/>
              <a:cxnLst/>
              <a:rect r="r" b="b" t="t" l="l"/>
              <a:pathLst>
                <a:path h="521564" w="3220516">
                  <a:moveTo>
                    <a:pt x="0" y="0"/>
                  </a:moveTo>
                  <a:lnTo>
                    <a:pt x="3220516" y="0"/>
                  </a:lnTo>
                  <a:lnTo>
                    <a:pt x="3220516" y="521564"/>
                  </a:lnTo>
                  <a:lnTo>
                    <a:pt x="0" y="521564"/>
                  </a:lnTo>
                  <a:close/>
                </a:path>
              </a:pathLst>
            </a:custGeom>
            <a:blipFill>
              <a:blip r:embed="rId4">
                <a:alphaModFix amt="0"/>
              </a:blip>
              <a:stretch>
                <a:fillRect l="0" t="-76485" r="0" b="-64144"/>
              </a:stretch>
            </a:blipFill>
          </p:spPr>
          <p:txBody>
            <a:bodyPr/>
            <a:p/>
          </p:txBody>
        </p:sp>
        <p:sp>
          <p:nvSpPr>
            <p:cNvPr name="TextBox 61" id="61"/>
            <p:cNvSpPr txBox="true"/>
            <p:nvPr/>
          </p:nvSpPr>
          <p:spPr>
            <a:xfrm>
              <a:off x="0" y="9525"/>
              <a:ext cx="3220517"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Sommeil</a:t>
              </a:r>
            </a:p>
          </p:txBody>
        </p:sp>
      </p:grpSp>
      <p:grpSp>
        <p:nvGrpSpPr>
          <p:cNvPr name="Group 62" id="62"/>
          <p:cNvGrpSpPr/>
          <p:nvPr/>
        </p:nvGrpSpPr>
        <p:grpSpPr>
          <a:xfrm rot="0">
            <a:off x="1157630" y="5025542"/>
            <a:ext cx="2393442" cy="672084"/>
            <a:chOff x="0" y="0"/>
            <a:chExt cx="3191256" cy="896112"/>
          </a:xfrm>
        </p:grpSpPr>
        <p:sp>
          <p:nvSpPr>
            <p:cNvPr name="Freeform 63" id="63"/>
            <p:cNvSpPr/>
            <p:nvPr/>
          </p:nvSpPr>
          <p:spPr>
            <a:xfrm flipH="false" flipV="false" rot="0">
              <a:off x="0" y="0"/>
              <a:ext cx="3191256" cy="896112"/>
            </a:xfrm>
            <a:custGeom>
              <a:avLst/>
              <a:gdLst/>
              <a:ahLst/>
              <a:cxnLst/>
              <a:rect r="r" b="b" t="t" l="l"/>
              <a:pathLst>
                <a:path h="896112" w="3191256">
                  <a:moveTo>
                    <a:pt x="0" y="0"/>
                  </a:moveTo>
                  <a:lnTo>
                    <a:pt x="3191256" y="0"/>
                  </a:lnTo>
                  <a:lnTo>
                    <a:pt x="3191256" y="896112"/>
                  </a:lnTo>
                  <a:lnTo>
                    <a:pt x="0" y="896112"/>
                  </a:lnTo>
                  <a:close/>
                </a:path>
              </a:pathLst>
            </a:custGeom>
            <a:blipFill>
              <a:blip r:embed="rId4">
                <a:alphaModFix amt="0"/>
              </a:blip>
              <a:stretch>
                <a:fillRect l="0" t="-19390" r="0" b="-19390"/>
              </a:stretch>
            </a:blipFill>
          </p:spPr>
          <p:txBody>
            <a:bodyPr/>
            <a:p/>
          </p:txBody>
        </p:sp>
        <p:sp>
          <p:nvSpPr>
            <p:cNvPr name="TextBox 64" id="64"/>
            <p:cNvSpPr txBox="true"/>
            <p:nvPr/>
          </p:nvSpPr>
          <p:spPr>
            <a:xfrm>
              <a:off x="0" y="0"/>
              <a:ext cx="3191256" cy="89611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Le 1er médicament. 7-8h pour le nettoyage glymphatique et hormonal.</a:t>
              </a:r>
            </a:p>
          </p:txBody>
        </p:sp>
      </p:grpSp>
      <p:grpSp>
        <p:nvGrpSpPr>
          <p:cNvPr name="Group 65" id="65"/>
          <p:cNvGrpSpPr/>
          <p:nvPr/>
        </p:nvGrpSpPr>
        <p:grpSpPr>
          <a:xfrm rot="0">
            <a:off x="3911879" y="2419579"/>
            <a:ext cx="2919984" cy="3576980"/>
            <a:chOff x="0" y="0"/>
            <a:chExt cx="3893312" cy="4769307"/>
          </a:xfrm>
        </p:grpSpPr>
        <p:sp>
          <p:nvSpPr>
            <p:cNvPr name="Freeform 66" id="66"/>
            <p:cNvSpPr/>
            <p:nvPr/>
          </p:nvSpPr>
          <p:spPr>
            <a:xfrm flipH="false" flipV="false" rot="0">
              <a:off x="12700" y="12700"/>
              <a:ext cx="3867912" cy="4743958"/>
            </a:xfrm>
            <a:custGeom>
              <a:avLst/>
              <a:gdLst/>
              <a:ahLst/>
              <a:cxnLst/>
              <a:rect r="r" b="b" t="t" l="l"/>
              <a:pathLst>
                <a:path h="4743958" w="3867912">
                  <a:moveTo>
                    <a:pt x="0" y="0"/>
                  </a:moveTo>
                  <a:lnTo>
                    <a:pt x="3867912" y="0"/>
                  </a:lnTo>
                  <a:lnTo>
                    <a:pt x="3867912" y="4743958"/>
                  </a:lnTo>
                  <a:lnTo>
                    <a:pt x="0" y="4743958"/>
                  </a:lnTo>
                  <a:close/>
                </a:path>
              </a:pathLst>
            </a:custGeom>
            <a:solidFill>
              <a:srgbClr val="1E1E24"/>
            </a:solidFill>
          </p:spPr>
          <p:txBody>
            <a:bodyPr/>
            <a:p/>
          </p:txBody>
        </p:sp>
        <p:sp>
          <p:nvSpPr>
            <p:cNvPr name="Freeform 67" id="67"/>
            <p:cNvSpPr/>
            <p:nvPr/>
          </p:nvSpPr>
          <p:spPr>
            <a:xfrm flipH="false" flipV="false" rot="0">
              <a:off x="0" y="0"/>
              <a:ext cx="3893312" cy="4769358"/>
            </a:xfrm>
            <a:custGeom>
              <a:avLst/>
              <a:gdLst/>
              <a:ahLst/>
              <a:cxnLst/>
              <a:rect r="r" b="b" t="t" l="l"/>
              <a:pathLst>
                <a:path h="4769358" w="3893312">
                  <a:moveTo>
                    <a:pt x="12700" y="0"/>
                  </a:moveTo>
                  <a:lnTo>
                    <a:pt x="3880612" y="0"/>
                  </a:lnTo>
                  <a:cubicBezTo>
                    <a:pt x="3887597" y="0"/>
                    <a:pt x="3893312" y="5715"/>
                    <a:pt x="3893312" y="12700"/>
                  </a:cubicBezTo>
                  <a:lnTo>
                    <a:pt x="3893312" y="4756658"/>
                  </a:lnTo>
                  <a:cubicBezTo>
                    <a:pt x="3893312" y="4763643"/>
                    <a:pt x="3887597" y="4769358"/>
                    <a:pt x="3880612" y="4769358"/>
                  </a:cubicBezTo>
                  <a:lnTo>
                    <a:pt x="12700" y="4769358"/>
                  </a:lnTo>
                  <a:cubicBezTo>
                    <a:pt x="5715" y="4769358"/>
                    <a:pt x="0" y="4763643"/>
                    <a:pt x="0" y="4756658"/>
                  </a:cubicBezTo>
                  <a:lnTo>
                    <a:pt x="0" y="12700"/>
                  </a:lnTo>
                  <a:cubicBezTo>
                    <a:pt x="0" y="5715"/>
                    <a:pt x="5715" y="0"/>
                    <a:pt x="12700" y="0"/>
                  </a:cubicBezTo>
                  <a:moveTo>
                    <a:pt x="12700" y="25400"/>
                  </a:moveTo>
                  <a:lnTo>
                    <a:pt x="12700" y="12700"/>
                  </a:lnTo>
                  <a:lnTo>
                    <a:pt x="25400" y="12700"/>
                  </a:lnTo>
                  <a:lnTo>
                    <a:pt x="25400" y="4756658"/>
                  </a:lnTo>
                  <a:lnTo>
                    <a:pt x="12700" y="4756658"/>
                  </a:lnTo>
                  <a:lnTo>
                    <a:pt x="12700" y="4743958"/>
                  </a:lnTo>
                  <a:lnTo>
                    <a:pt x="3880612" y="4743958"/>
                  </a:lnTo>
                  <a:lnTo>
                    <a:pt x="3880612" y="4756658"/>
                  </a:lnTo>
                  <a:lnTo>
                    <a:pt x="3867912" y="4756658"/>
                  </a:lnTo>
                  <a:lnTo>
                    <a:pt x="3867912" y="12700"/>
                  </a:lnTo>
                  <a:lnTo>
                    <a:pt x="3880612" y="12700"/>
                  </a:lnTo>
                  <a:lnTo>
                    <a:pt x="3880612" y="25400"/>
                  </a:lnTo>
                  <a:lnTo>
                    <a:pt x="12700" y="25400"/>
                  </a:lnTo>
                  <a:close/>
                </a:path>
              </a:pathLst>
            </a:custGeom>
            <a:solidFill>
              <a:srgbClr val="40424D"/>
            </a:solidFill>
          </p:spPr>
          <p:txBody>
            <a:bodyPr/>
            <a:p/>
          </p:txBody>
        </p:sp>
      </p:grpSp>
      <p:grpSp>
        <p:nvGrpSpPr>
          <p:cNvPr name="Group 68" id="68"/>
          <p:cNvGrpSpPr/>
          <p:nvPr/>
        </p:nvGrpSpPr>
        <p:grpSpPr>
          <a:xfrm rot="0">
            <a:off x="4212260" y="2719959"/>
            <a:ext cx="533400" cy="533400"/>
            <a:chOff x="0" y="0"/>
            <a:chExt cx="711200" cy="711200"/>
          </a:xfrm>
        </p:grpSpPr>
        <p:sp>
          <p:nvSpPr>
            <p:cNvPr name="Freeform 69" id="69"/>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70" id="70"/>
          <p:cNvGrpSpPr/>
          <p:nvPr/>
        </p:nvGrpSpPr>
        <p:grpSpPr>
          <a:xfrm rot="0">
            <a:off x="4335628" y="2843327"/>
            <a:ext cx="285293" cy="285293"/>
            <a:chOff x="0" y="0"/>
            <a:chExt cx="380390" cy="380390"/>
          </a:xfrm>
        </p:grpSpPr>
        <p:sp>
          <p:nvSpPr>
            <p:cNvPr name="Freeform 71" id="71"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7"/>
              <a:stretch>
                <a:fillRect l="0" t="0" r="-6" b="-6"/>
              </a:stretch>
            </a:blipFill>
          </p:spPr>
          <p:txBody>
            <a:bodyPr/>
            <a:p/>
          </p:txBody>
        </p:sp>
      </p:grpSp>
      <p:grpSp>
        <p:nvGrpSpPr>
          <p:cNvPr name="Group 72" id="72"/>
          <p:cNvGrpSpPr/>
          <p:nvPr/>
        </p:nvGrpSpPr>
        <p:grpSpPr>
          <a:xfrm rot="0">
            <a:off x="4221785" y="4597603"/>
            <a:ext cx="2415388" cy="391173"/>
            <a:chOff x="0" y="0"/>
            <a:chExt cx="3220517" cy="521564"/>
          </a:xfrm>
        </p:grpSpPr>
        <p:sp>
          <p:nvSpPr>
            <p:cNvPr name="Freeform 73" id="73"/>
            <p:cNvSpPr/>
            <p:nvPr/>
          </p:nvSpPr>
          <p:spPr>
            <a:xfrm flipH="false" flipV="false" rot="0">
              <a:off x="0" y="0"/>
              <a:ext cx="3220516" cy="521564"/>
            </a:xfrm>
            <a:custGeom>
              <a:avLst/>
              <a:gdLst/>
              <a:ahLst/>
              <a:cxnLst/>
              <a:rect r="r" b="b" t="t" l="l"/>
              <a:pathLst>
                <a:path h="521564" w="3220516">
                  <a:moveTo>
                    <a:pt x="0" y="0"/>
                  </a:moveTo>
                  <a:lnTo>
                    <a:pt x="3220516" y="0"/>
                  </a:lnTo>
                  <a:lnTo>
                    <a:pt x="3220516" y="521564"/>
                  </a:lnTo>
                  <a:lnTo>
                    <a:pt x="0" y="521564"/>
                  </a:lnTo>
                  <a:close/>
                </a:path>
              </a:pathLst>
            </a:custGeom>
            <a:blipFill>
              <a:blip r:embed="rId4">
                <a:alphaModFix amt="0"/>
              </a:blip>
              <a:stretch>
                <a:fillRect l="0" t="-76485" r="0" b="-64144"/>
              </a:stretch>
            </a:blipFill>
          </p:spPr>
          <p:txBody>
            <a:bodyPr/>
            <a:p/>
          </p:txBody>
        </p:sp>
        <p:sp>
          <p:nvSpPr>
            <p:cNvPr name="TextBox 74" id="74"/>
            <p:cNvSpPr txBox="true"/>
            <p:nvPr/>
          </p:nvSpPr>
          <p:spPr>
            <a:xfrm>
              <a:off x="0" y="9525"/>
              <a:ext cx="3220517"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Rythme Circadien</a:t>
              </a:r>
            </a:p>
          </p:txBody>
        </p:sp>
      </p:grpSp>
      <p:grpSp>
        <p:nvGrpSpPr>
          <p:cNvPr name="Group 75" id="75"/>
          <p:cNvGrpSpPr/>
          <p:nvPr/>
        </p:nvGrpSpPr>
        <p:grpSpPr>
          <a:xfrm rot="0">
            <a:off x="4221785" y="5025542"/>
            <a:ext cx="2393442" cy="672084"/>
            <a:chOff x="0" y="0"/>
            <a:chExt cx="3191256" cy="896112"/>
          </a:xfrm>
        </p:grpSpPr>
        <p:sp>
          <p:nvSpPr>
            <p:cNvPr name="Freeform 76" id="76"/>
            <p:cNvSpPr/>
            <p:nvPr/>
          </p:nvSpPr>
          <p:spPr>
            <a:xfrm flipH="false" flipV="false" rot="0">
              <a:off x="0" y="0"/>
              <a:ext cx="3191256" cy="896112"/>
            </a:xfrm>
            <a:custGeom>
              <a:avLst/>
              <a:gdLst/>
              <a:ahLst/>
              <a:cxnLst/>
              <a:rect r="r" b="b" t="t" l="l"/>
              <a:pathLst>
                <a:path h="896112" w="3191256">
                  <a:moveTo>
                    <a:pt x="0" y="0"/>
                  </a:moveTo>
                  <a:lnTo>
                    <a:pt x="3191256" y="0"/>
                  </a:lnTo>
                  <a:lnTo>
                    <a:pt x="3191256" y="896112"/>
                  </a:lnTo>
                  <a:lnTo>
                    <a:pt x="0" y="896112"/>
                  </a:lnTo>
                  <a:close/>
                </a:path>
              </a:pathLst>
            </a:custGeom>
            <a:blipFill>
              <a:blip r:embed="rId4">
                <a:alphaModFix amt="0"/>
              </a:blip>
              <a:stretch>
                <a:fillRect l="0" t="-19390" r="0" b="-19390"/>
              </a:stretch>
            </a:blipFill>
          </p:spPr>
          <p:txBody>
            <a:bodyPr/>
            <a:p/>
          </p:txBody>
        </p:sp>
        <p:sp>
          <p:nvSpPr>
            <p:cNvPr name="TextBox 77" id="77"/>
            <p:cNvSpPr txBox="true"/>
            <p:nvPr/>
          </p:nvSpPr>
          <p:spPr>
            <a:xfrm>
              <a:off x="0" y="0"/>
              <a:ext cx="3191256" cy="89611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Reconnexion fondamentale. Lumière matinale pour synchroniser l'horloge.</a:t>
              </a:r>
            </a:p>
          </p:txBody>
        </p:sp>
      </p:grpSp>
      <p:grpSp>
        <p:nvGrpSpPr>
          <p:cNvPr name="Group 78" id="78"/>
          <p:cNvGrpSpPr/>
          <p:nvPr/>
        </p:nvGrpSpPr>
        <p:grpSpPr>
          <a:xfrm rot="0">
            <a:off x="847725" y="6148959"/>
            <a:ext cx="2919984" cy="3576980"/>
            <a:chOff x="0" y="0"/>
            <a:chExt cx="3893312" cy="4769307"/>
          </a:xfrm>
        </p:grpSpPr>
        <p:sp>
          <p:nvSpPr>
            <p:cNvPr name="Freeform 79" id="79"/>
            <p:cNvSpPr/>
            <p:nvPr/>
          </p:nvSpPr>
          <p:spPr>
            <a:xfrm flipH="false" flipV="false" rot="0">
              <a:off x="12700" y="12700"/>
              <a:ext cx="3867912" cy="4743958"/>
            </a:xfrm>
            <a:custGeom>
              <a:avLst/>
              <a:gdLst/>
              <a:ahLst/>
              <a:cxnLst/>
              <a:rect r="r" b="b" t="t" l="l"/>
              <a:pathLst>
                <a:path h="4743958" w="3867912">
                  <a:moveTo>
                    <a:pt x="0" y="0"/>
                  </a:moveTo>
                  <a:lnTo>
                    <a:pt x="3867912" y="0"/>
                  </a:lnTo>
                  <a:lnTo>
                    <a:pt x="3867912" y="4743958"/>
                  </a:lnTo>
                  <a:lnTo>
                    <a:pt x="0" y="4743958"/>
                  </a:lnTo>
                  <a:close/>
                </a:path>
              </a:pathLst>
            </a:custGeom>
            <a:solidFill>
              <a:srgbClr val="1E1E24"/>
            </a:solidFill>
          </p:spPr>
          <p:txBody>
            <a:bodyPr/>
            <a:p/>
          </p:txBody>
        </p:sp>
        <p:sp>
          <p:nvSpPr>
            <p:cNvPr name="Freeform 80" id="80"/>
            <p:cNvSpPr/>
            <p:nvPr/>
          </p:nvSpPr>
          <p:spPr>
            <a:xfrm flipH="false" flipV="false" rot="0">
              <a:off x="0" y="0"/>
              <a:ext cx="3893312" cy="4769358"/>
            </a:xfrm>
            <a:custGeom>
              <a:avLst/>
              <a:gdLst/>
              <a:ahLst/>
              <a:cxnLst/>
              <a:rect r="r" b="b" t="t" l="l"/>
              <a:pathLst>
                <a:path h="4769358" w="3893312">
                  <a:moveTo>
                    <a:pt x="12700" y="0"/>
                  </a:moveTo>
                  <a:lnTo>
                    <a:pt x="3880612" y="0"/>
                  </a:lnTo>
                  <a:cubicBezTo>
                    <a:pt x="3887597" y="0"/>
                    <a:pt x="3893312" y="5715"/>
                    <a:pt x="3893312" y="12700"/>
                  </a:cubicBezTo>
                  <a:lnTo>
                    <a:pt x="3893312" y="4756658"/>
                  </a:lnTo>
                  <a:cubicBezTo>
                    <a:pt x="3893312" y="4763643"/>
                    <a:pt x="3887597" y="4769358"/>
                    <a:pt x="3880612" y="4769358"/>
                  </a:cubicBezTo>
                  <a:lnTo>
                    <a:pt x="12700" y="4769358"/>
                  </a:lnTo>
                  <a:cubicBezTo>
                    <a:pt x="5715" y="4769358"/>
                    <a:pt x="0" y="4763643"/>
                    <a:pt x="0" y="4756658"/>
                  </a:cubicBezTo>
                  <a:lnTo>
                    <a:pt x="0" y="12700"/>
                  </a:lnTo>
                  <a:cubicBezTo>
                    <a:pt x="0" y="5715"/>
                    <a:pt x="5715" y="0"/>
                    <a:pt x="12700" y="0"/>
                  </a:cubicBezTo>
                  <a:moveTo>
                    <a:pt x="12700" y="25400"/>
                  </a:moveTo>
                  <a:lnTo>
                    <a:pt x="12700" y="12700"/>
                  </a:lnTo>
                  <a:lnTo>
                    <a:pt x="25400" y="12700"/>
                  </a:lnTo>
                  <a:lnTo>
                    <a:pt x="25400" y="4756658"/>
                  </a:lnTo>
                  <a:lnTo>
                    <a:pt x="12700" y="4756658"/>
                  </a:lnTo>
                  <a:lnTo>
                    <a:pt x="12700" y="4743958"/>
                  </a:lnTo>
                  <a:lnTo>
                    <a:pt x="3880612" y="4743958"/>
                  </a:lnTo>
                  <a:lnTo>
                    <a:pt x="3880612" y="4756658"/>
                  </a:lnTo>
                  <a:lnTo>
                    <a:pt x="3867912" y="4756658"/>
                  </a:lnTo>
                  <a:lnTo>
                    <a:pt x="3867912" y="12700"/>
                  </a:lnTo>
                  <a:lnTo>
                    <a:pt x="3880612" y="12700"/>
                  </a:lnTo>
                  <a:lnTo>
                    <a:pt x="3880612" y="25400"/>
                  </a:lnTo>
                  <a:lnTo>
                    <a:pt x="12700" y="25400"/>
                  </a:lnTo>
                  <a:close/>
                </a:path>
              </a:pathLst>
            </a:custGeom>
            <a:solidFill>
              <a:srgbClr val="40424D"/>
            </a:solidFill>
          </p:spPr>
          <p:txBody>
            <a:bodyPr/>
            <a:p/>
          </p:txBody>
        </p:sp>
      </p:grpSp>
      <p:grpSp>
        <p:nvGrpSpPr>
          <p:cNvPr name="Group 81" id="81"/>
          <p:cNvGrpSpPr/>
          <p:nvPr/>
        </p:nvGrpSpPr>
        <p:grpSpPr>
          <a:xfrm rot="0">
            <a:off x="1148105" y="6447968"/>
            <a:ext cx="533400" cy="533400"/>
            <a:chOff x="0" y="0"/>
            <a:chExt cx="711200" cy="711200"/>
          </a:xfrm>
        </p:grpSpPr>
        <p:sp>
          <p:nvSpPr>
            <p:cNvPr name="Freeform 82" id="82"/>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83" id="83"/>
          <p:cNvGrpSpPr/>
          <p:nvPr/>
        </p:nvGrpSpPr>
        <p:grpSpPr>
          <a:xfrm rot="0">
            <a:off x="1286561" y="6572707"/>
            <a:ext cx="257861" cy="285293"/>
            <a:chOff x="0" y="0"/>
            <a:chExt cx="343814" cy="380390"/>
          </a:xfrm>
        </p:grpSpPr>
        <p:sp>
          <p:nvSpPr>
            <p:cNvPr name="Freeform 84" id="84"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8"/>
              <a:stretch>
                <a:fillRect l="1595" t="0" r="1588" b="-6"/>
              </a:stretch>
            </a:blipFill>
          </p:spPr>
          <p:txBody>
            <a:bodyPr/>
            <a:p/>
          </p:txBody>
        </p:sp>
      </p:grpSp>
      <p:grpSp>
        <p:nvGrpSpPr>
          <p:cNvPr name="Group 85" id="85"/>
          <p:cNvGrpSpPr/>
          <p:nvPr/>
        </p:nvGrpSpPr>
        <p:grpSpPr>
          <a:xfrm rot="0">
            <a:off x="1157630" y="8326984"/>
            <a:ext cx="2415388" cy="391173"/>
            <a:chOff x="0" y="0"/>
            <a:chExt cx="3220517" cy="521564"/>
          </a:xfrm>
        </p:grpSpPr>
        <p:sp>
          <p:nvSpPr>
            <p:cNvPr name="Freeform 86" id="86"/>
            <p:cNvSpPr/>
            <p:nvPr/>
          </p:nvSpPr>
          <p:spPr>
            <a:xfrm flipH="false" flipV="false" rot="0">
              <a:off x="0" y="0"/>
              <a:ext cx="3220516" cy="521564"/>
            </a:xfrm>
            <a:custGeom>
              <a:avLst/>
              <a:gdLst/>
              <a:ahLst/>
              <a:cxnLst/>
              <a:rect r="r" b="b" t="t" l="l"/>
              <a:pathLst>
                <a:path h="521564" w="3220516">
                  <a:moveTo>
                    <a:pt x="0" y="0"/>
                  </a:moveTo>
                  <a:lnTo>
                    <a:pt x="3220516" y="0"/>
                  </a:lnTo>
                  <a:lnTo>
                    <a:pt x="3220516" y="521564"/>
                  </a:lnTo>
                  <a:lnTo>
                    <a:pt x="0" y="521564"/>
                  </a:lnTo>
                  <a:close/>
                </a:path>
              </a:pathLst>
            </a:custGeom>
            <a:blipFill>
              <a:blip r:embed="rId4">
                <a:alphaModFix amt="0"/>
              </a:blip>
              <a:stretch>
                <a:fillRect l="0" t="-76485" r="0" b="-64144"/>
              </a:stretch>
            </a:blipFill>
          </p:spPr>
          <p:txBody>
            <a:bodyPr/>
            <a:p/>
          </p:txBody>
        </p:sp>
        <p:sp>
          <p:nvSpPr>
            <p:cNvPr name="TextBox 87" id="87"/>
            <p:cNvSpPr txBox="true"/>
            <p:nvPr/>
          </p:nvSpPr>
          <p:spPr>
            <a:xfrm>
              <a:off x="0" y="9525"/>
              <a:ext cx="3220517"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Nutrition</a:t>
              </a:r>
            </a:p>
          </p:txBody>
        </p:sp>
      </p:grpSp>
      <p:grpSp>
        <p:nvGrpSpPr>
          <p:cNvPr name="Group 88" id="88"/>
          <p:cNvGrpSpPr/>
          <p:nvPr/>
        </p:nvGrpSpPr>
        <p:grpSpPr>
          <a:xfrm rot="0">
            <a:off x="1157630" y="8754923"/>
            <a:ext cx="2393442" cy="672084"/>
            <a:chOff x="0" y="0"/>
            <a:chExt cx="3191256" cy="896112"/>
          </a:xfrm>
        </p:grpSpPr>
        <p:sp>
          <p:nvSpPr>
            <p:cNvPr name="Freeform 89" id="89"/>
            <p:cNvSpPr/>
            <p:nvPr/>
          </p:nvSpPr>
          <p:spPr>
            <a:xfrm flipH="false" flipV="false" rot="0">
              <a:off x="0" y="0"/>
              <a:ext cx="3191256" cy="896112"/>
            </a:xfrm>
            <a:custGeom>
              <a:avLst/>
              <a:gdLst/>
              <a:ahLst/>
              <a:cxnLst/>
              <a:rect r="r" b="b" t="t" l="l"/>
              <a:pathLst>
                <a:path h="896112" w="3191256">
                  <a:moveTo>
                    <a:pt x="0" y="0"/>
                  </a:moveTo>
                  <a:lnTo>
                    <a:pt x="3191256" y="0"/>
                  </a:lnTo>
                  <a:lnTo>
                    <a:pt x="3191256" y="896112"/>
                  </a:lnTo>
                  <a:lnTo>
                    <a:pt x="0" y="896112"/>
                  </a:lnTo>
                  <a:close/>
                </a:path>
              </a:pathLst>
            </a:custGeom>
            <a:blipFill>
              <a:blip r:embed="rId4">
                <a:alphaModFix amt="0"/>
              </a:blip>
              <a:stretch>
                <a:fillRect l="0" t="-19390" r="0" b="-19390"/>
              </a:stretch>
            </a:blipFill>
          </p:spPr>
          <p:txBody>
            <a:bodyPr/>
            <a:p/>
          </p:txBody>
        </p:sp>
        <p:sp>
          <p:nvSpPr>
            <p:cNvPr name="TextBox 90" id="90"/>
            <p:cNvSpPr txBox="true"/>
            <p:nvPr/>
          </p:nvSpPr>
          <p:spPr>
            <a:xfrm>
              <a:off x="0" y="0"/>
              <a:ext cx="3191256" cy="89611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Stratégique, locale, cyclique. Carburant et information cellulaire.</a:t>
              </a:r>
            </a:p>
          </p:txBody>
        </p:sp>
      </p:grpSp>
      <p:grpSp>
        <p:nvGrpSpPr>
          <p:cNvPr name="Group 91" id="91"/>
          <p:cNvGrpSpPr/>
          <p:nvPr/>
        </p:nvGrpSpPr>
        <p:grpSpPr>
          <a:xfrm rot="0">
            <a:off x="3911879" y="6148959"/>
            <a:ext cx="2919984" cy="3576980"/>
            <a:chOff x="0" y="0"/>
            <a:chExt cx="3893312" cy="4769307"/>
          </a:xfrm>
        </p:grpSpPr>
        <p:sp>
          <p:nvSpPr>
            <p:cNvPr name="Freeform 92" id="92"/>
            <p:cNvSpPr/>
            <p:nvPr/>
          </p:nvSpPr>
          <p:spPr>
            <a:xfrm flipH="false" flipV="false" rot="0">
              <a:off x="12700" y="12700"/>
              <a:ext cx="3867912" cy="4743958"/>
            </a:xfrm>
            <a:custGeom>
              <a:avLst/>
              <a:gdLst/>
              <a:ahLst/>
              <a:cxnLst/>
              <a:rect r="r" b="b" t="t" l="l"/>
              <a:pathLst>
                <a:path h="4743958" w="3867912">
                  <a:moveTo>
                    <a:pt x="0" y="0"/>
                  </a:moveTo>
                  <a:lnTo>
                    <a:pt x="3867912" y="0"/>
                  </a:lnTo>
                  <a:lnTo>
                    <a:pt x="3867912" y="4743958"/>
                  </a:lnTo>
                  <a:lnTo>
                    <a:pt x="0" y="4743958"/>
                  </a:lnTo>
                  <a:close/>
                </a:path>
              </a:pathLst>
            </a:custGeom>
            <a:solidFill>
              <a:srgbClr val="1E1E24"/>
            </a:solidFill>
          </p:spPr>
          <p:txBody>
            <a:bodyPr/>
            <a:p/>
          </p:txBody>
        </p:sp>
        <p:sp>
          <p:nvSpPr>
            <p:cNvPr name="Freeform 93" id="93"/>
            <p:cNvSpPr/>
            <p:nvPr/>
          </p:nvSpPr>
          <p:spPr>
            <a:xfrm flipH="false" flipV="false" rot="0">
              <a:off x="0" y="0"/>
              <a:ext cx="3893312" cy="4769358"/>
            </a:xfrm>
            <a:custGeom>
              <a:avLst/>
              <a:gdLst/>
              <a:ahLst/>
              <a:cxnLst/>
              <a:rect r="r" b="b" t="t" l="l"/>
              <a:pathLst>
                <a:path h="4769358" w="3893312">
                  <a:moveTo>
                    <a:pt x="12700" y="0"/>
                  </a:moveTo>
                  <a:lnTo>
                    <a:pt x="3880612" y="0"/>
                  </a:lnTo>
                  <a:cubicBezTo>
                    <a:pt x="3887597" y="0"/>
                    <a:pt x="3893312" y="5715"/>
                    <a:pt x="3893312" y="12700"/>
                  </a:cubicBezTo>
                  <a:lnTo>
                    <a:pt x="3893312" y="4756658"/>
                  </a:lnTo>
                  <a:cubicBezTo>
                    <a:pt x="3893312" y="4763643"/>
                    <a:pt x="3887597" y="4769358"/>
                    <a:pt x="3880612" y="4769358"/>
                  </a:cubicBezTo>
                  <a:lnTo>
                    <a:pt x="12700" y="4769358"/>
                  </a:lnTo>
                  <a:cubicBezTo>
                    <a:pt x="5715" y="4769358"/>
                    <a:pt x="0" y="4763643"/>
                    <a:pt x="0" y="4756658"/>
                  </a:cubicBezTo>
                  <a:lnTo>
                    <a:pt x="0" y="12700"/>
                  </a:lnTo>
                  <a:cubicBezTo>
                    <a:pt x="0" y="5715"/>
                    <a:pt x="5715" y="0"/>
                    <a:pt x="12700" y="0"/>
                  </a:cubicBezTo>
                  <a:moveTo>
                    <a:pt x="12700" y="25400"/>
                  </a:moveTo>
                  <a:lnTo>
                    <a:pt x="12700" y="12700"/>
                  </a:lnTo>
                  <a:lnTo>
                    <a:pt x="25400" y="12700"/>
                  </a:lnTo>
                  <a:lnTo>
                    <a:pt x="25400" y="4756658"/>
                  </a:lnTo>
                  <a:lnTo>
                    <a:pt x="12700" y="4756658"/>
                  </a:lnTo>
                  <a:lnTo>
                    <a:pt x="12700" y="4743958"/>
                  </a:lnTo>
                  <a:lnTo>
                    <a:pt x="3880612" y="4743958"/>
                  </a:lnTo>
                  <a:lnTo>
                    <a:pt x="3880612" y="4756658"/>
                  </a:lnTo>
                  <a:lnTo>
                    <a:pt x="3867912" y="4756658"/>
                  </a:lnTo>
                  <a:lnTo>
                    <a:pt x="3867912" y="12700"/>
                  </a:lnTo>
                  <a:lnTo>
                    <a:pt x="3880612" y="12700"/>
                  </a:lnTo>
                  <a:lnTo>
                    <a:pt x="3880612" y="25400"/>
                  </a:lnTo>
                  <a:lnTo>
                    <a:pt x="12700" y="25400"/>
                  </a:lnTo>
                  <a:close/>
                </a:path>
              </a:pathLst>
            </a:custGeom>
            <a:solidFill>
              <a:srgbClr val="40424D"/>
            </a:solidFill>
          </p:spPr>
          <p:txBody>
            <a:bodyPr/>
            <a:p/>
          </p:txBody>
        </p:sp>
      </p:grpSp>
      <p:grpSp>
        <p:nvGrpSpPr>
          <p:cNvPr name="Group 94" id="94"/>
          <p:cNvGrpSpPr/>
          <p:nvPr/>
        </p:nvGrpSpPr>
        <p:grpSpPr>
          <a:xfrm rot="0">
            <a:off x="4212260" y="6447968"/>
            <a:ext cx="533400" cy="533400"/>
            <a:chOff x="0" y="0"/>
            <a:chExt cx="711200" cy="711200"/>
          </a:xfrm>
        </p:grpSpPr>
        <p:sp>
          <p:nvSpPr>
            <p:cNvPr name="Freeform 95" id="95"/>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96" id="96"/>
          <p:cNvGrpSpPr/>
          <p:nvPr/>
        </p:nvGrpSpPr>
        <p:grpSpPr>
          <a:xfrm rot="0">
            <a:off x="4350715" y="6572707"/>
            <a:ext cx="257861" cy="285293"/>
            <a:chOff x="0" y="0"/>
            <a:chExt cx="343814" cy="380390"/>
          </a:xfrm>
        </p:grpSpPr>
        <p:sp>
          <p:nvSpPr>
            <p:cNvPr name="Freeform 97" id="97"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9"/>
              <a:stretch>
                <a:fillRect l="1595" t="0" r="1588" b="-6"/>
              </a:stretch>
            </a:blipFill>
          </p:spPr>
          <p:txBody>
            <a:bodyPr/>
            <a:p/>
          </p:txBody>
        </p:sp>
      </p:grpSp>
      <p:grpSp>
        <p:nvGrpSpPr>
          <p:cNvPr name="Group 98" id="98"/>
          <p:cNvGrpSpPr/>
          <p:nvPr/>
        </p:nvGrpSpPr>
        <p:grpSpPr>
          <a:xfrm rot="0">
            <a:off x="4221785" y="8326984"/>
            <a:ext cx="2415388" cy="391173"/>
            <a:chOff x="0" y="0"/>
            <a:chExt cx="3220517" cy="521564"/>
          </a:xfrm>
        </p:grpSpPr>
        <p:sp>
          <p:nvSpPr>
            <p:cNvPr name="Freeform 99" id="99"/>
            <p:cNvSpPr/>
            <p:nvPr/>
          </p:nvSpPr>
          <p:spPr>
            <a:xfrm flipH="false" flipV="false" rot="0">
              <a:off x="0" y="0"/>
              <a:ext cx="3220516" cy="521564"/>
            </a:xfrm>
            <a:custGeom>
              <a:avLst/>
              <a:gdLst/>
              <a:ahLst/>
              <a:cxnLst/>
              <a:rect r="r" b="b" t="t" l="l"/>
              <a:pathLst>
                <a:path h="521564" w="3220516">
                  <a:moveTo>
                    <a:pt x="0" y="0"/>
                  </a:moveTo>
                  <a:lnTo>
                    <a:pt x="3220516" y="0"/>
                  </a:lnTo>
                  <a:lnTo>
                    <a:pt x="3220516" y="521564"/>
                  </a:lnTo>
                  <a:lnTo>
                    <a:pt x="0" y="521564"/>
                  </a:lnTo>
                  <a:close/>
                </a:path>
              </a:pathLst>
            </a:custGeom>
            <a:blipFill>
              <a:blip r:embed="rId4">
                <a:alphaModFix amt="0"/>
              </a:blip>
              <a:stretch>
                <a:fillRect l="0" t="-76485" r="0" b="-64144"/>
              </a:stretch>
            </a:blipFill>
          </p:spPr>
          <p:txBody>
            <a:bodyPr/>
            <a:p/>
          </p:txBody>
        </p:sp>
        <p:sp>
          <p:nvSpPr>
            <p:cNvPr name="TextBox 100" id="100"/>
            <p:cNvSpPr txBox="true"/>
            <p:nvPr/>
          </p:nvSpPr>
          <p:spPr>
            <a:xfrm>
              <a:off x="0" y="9525"/>
              <a:ext cx="3220517"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Mouvement</a:t>
              </a:r>
            </a:p>
          </p:txBody>
        </p:sp>
      </p:grpSp>
      <p:grpSp>
        <p:nvGrpSpPr>
          <p:cNvPr name="Group 101" id="101"/>
          <p:cNvGrpSpPr/>
          <p:nvPr/>
        </p:nvGrpSpPr>
        <p:grpSpPr>
          <a:xfrm rot="0">
            <a:off x="4221785" y="8754923"/>
            <a:ext cx="2393442" cy="672084"/>
            <a:chOff x="0" y="0"/>
            <a:chExt cx="3191256" cy="896112"/>
          </a:xfrm>
        </p:grpSpPr>
        <p:sp>
          <p:nvSpPr>
            <p:cNvPr name="Freeform 102" id="102"/>
            <p:cNvSpPr/>
            <p:nvPr/>
          </p:nvSpPr>
          <p:spPr>
            <a:xfrm flipH="false" flipV="false" rot="0">
              <a:off x="0" y="0"/>
              <a:ext cx="3191256" cy="896112"/>
            </a:xfrm>
            <a:custGeom>
              <a:avLst/>
              <a:gdLst/>
              <a:ahLst/>
              <a:cxnLst/>
              <a:rect r="r" b="b" t="t" l="l"/>
              <a:pathLst>
                <a:path h="896112" w="3191256">
                  <a:moveTo>
                    <a:pt x="0" y="0"/>
                  </a:moveTo>
                  <a:lnTo>
                    <a:pt x="3191256" y="0"/>
                  </a:lnTo>
                  <a:lnTo>
                    <a:pt x="3191256" y="896112"/>
                  </a:lnTo>
                  <a:lnTo>
                    <a:pt x="0" y="896112"/>
                  </a:lnTo>
                  <a:close/>
                </a:path>
              </a:pathLst>
            </a:custGeom>
            <a:blipFill>
              <a:blip r:embed="rId4">
                <a:alphaModFix amt="0"/>
              </a:blip>
              <a:stretch>
                <a:fillRect l="0" t="-19390" r="0" b="-19390"/>
              </a:stretch>
            </a:blipFill>
          </p:spPr>
          <p:txBody>
            <a:bodyPr/>
            <a:p/>
          </p:txBody>
        </p:sp>
        <p:sp>
          <p:nvSpPr>
            <p:cNvPr name="TextBox 103" id="103"/>
            <p:cNvSpPr txBox="true"/>
            <p:nvPr/>
          </p:nvSpPr>
          <p:spPr>
            <a:xfrm>
              <a:off x="0" y="0"/>
              <a:ext cx="3191256" cy="89611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Le muscle est l'organe de la longévité. Force, Zone 2 et Mobilité.</a:t>
              </a:r>
            </a:p>
          </p:txBody>
        </p:sp>
      </p:grpSp>
      <p:grpSp>
        <p:nvGrpSpPr>
          <p:cNvPr name="Group 104" id="104"/>
          <p:cNvGrpSpPr/>
          <p:nvPr/>
        </p:nvGrpSpPr>
        <p:grpSpPr>
          <a:xfrm rot="0">
            <a:off x="7148855" y="2419579"/>
            <a:ext cx="4991100" cy="2334311"/>
            <a:chOff x="0" y="0"/>
            <a:chExt cx="6654800" cy="3112414"/>
          </a:xfrm>
        </p:grpSpPr>
        <p:sp>
          <p:nvSpPr>
            <p:cNvPr name="Freeform 105" id="105"/>
            <p:cNvSpPr/>
            <p:nvPr/>
          </p:nvSpPr>
          <p:spPr>
            <a:xfrm flipH="false" flipV="false" rot="0">
              <a:off x="12700" y="12700"/>
              <a:ext cx="6629400" cy="3086989"/>
            </a:xfrm>
            <a:custGeom>
              <a:avLst/>
              <a:gdLst/>
              <a:ahLst/>
              <a:cxnLst/>
              <a:rect r="r" b="b" t="t" l="l"/>
              <a:pathLst>
                <a:path h="3086989" w="6629400">
                  <a:moveTo>
                    <a:pt x="0" y="0"/>
                  </a:moveTo>
                  <a:lnTo>
                    <a:pt x="6629400" y="0"/>
                  </a:lnTo>
                  <a:lnTo>
                    <a:pt x="6629400" y="3086989"/>
                  </a:lnTo>
                  <a:lnTo>
                    <a:pt x="0" y="3086989"/>
                  </a:lnTo>
                  <a:close/>
                </a:path>
              </a:pathLst>
            </a:custGeom>
            <a:solidFill>
              <a:srgbClr val="1E1E24"/>
            </a:solidFill>
          </p:spPr>
          <p:txBody>
            <a:bodyPr/>
            <a:p/>
          </p:txBody>
        </p:sp>
        <p:sp>
          <p:nvSpPr>
            <p:cNvPr name="Freeform 106" id="106"/>
            <p:cNvSpPr/>
            <p:nvPr/>
          </p:nvSpPr>
          <p:spPr>
            <a:xfrm flipH="false" flipV="false" rot="0">
              <a:off x="0" y="0"/>
              <a:ext cx="6654800" cy="3112389"/>
            </a:xfrm>
            <a:custGeom>
              <a:avLst/>
              <a:gdLst/>
              <a:ahLst/>
              <a:cxnLst/>
              <a:rect r="r" b="b" t="t" l="l"/>
              <a:pathLst>
                <a:path h="3112389" w="6654800">
                  <a:moveTo>
                    <a:pt x="12700" y="0"/>
                  </a:moveTo>
                  <a:lnTo>
                    <a:pt x="6642100" y="0"/>
                  </a:lnTo>
                  <a:cubicBezTo>
                    <a:pt x="6649085" y="0"/>
                    <a:pt x="6654800" y="5715"/>
                    <a:pt x="6654800" y="12700"/>
                  </a:cubicBezTo>
                  <a:lnTo>
                    <a:pt x="6654800" y="3099689"/>
                  </a:lnTo>
                  <a:cubicBezTo>
                    <a:pt x="6654800" y="3106674"/>
                    <a:pt x="6649085" y="3112389"/>
                    <a:pt x="6642100" y="3112389"/>
                  </a:cubicBezTo>
                  <a:lnTo>
                    <a:pt x="12700" y="3112389"/>
                  </a:lnTo>
                  <a:cubicBezTo>
                    <a:pt x="5715" y="3112389"/>
                    <a:pt x="0" y="3106674"/>
                    <a:pt x="0" y="3099689"/>
                  </a:cubicBezTo>
                  <a:lnTo>
                    <a:pt x="0" y="12700"/>
                  </a:lnTo>
                  <a:cubicBezTo>
                    <a:pt x="0" y="5715"/>
                    <a:pt x="5715" y="0"/>
                    <a:pt x="12700" y="0"/>
                  </a:cubicBezTo>
                  <a:moveTo>
                    <a:pt x="12700" y="25400"/>
                  </a:moveTo>
                  <a:lnTo>
                    <a:pt x="12700" y="12700"/>
                  </a:lnTo>
                  <a:lnTo>
                    <a:pt x="25400" y="12700"/>
                  </a:lnTo>
                  <a:lnTo>
                    <a:pt x="25400" y="3099689"/>
                  </a:lnTo>
                  <a:lnTo>
                    <a:pt x="12700" y="3099689"/>
                  </a:lnTo>
                  <a:lnTo>
                    <a:pt x="12700" y="3086989"/>
                  </a:lnTo>
                  <a:lnTo>
                    <a:pt x="6642100" y="3086989"/>
                  </a:lnTo>
                  <a:lnTo>
                    <a:pt x="6642100" y="3099689"/>
                  </a:lnTo>
                  <a:lnTo>
                    <a:pt x="6629400" y="3099689"/>
                  </a:lnTo>
                  <a:lnTo>
                    <a:pt x="6629400" y="12700"/>
                  </a:lnTo>
                  <a:lnTo>
                    <a:pt x="6642100" y="12700"/>
                  </a:lnTo>
                  <a:lnTo>
                    <a:pt x="6642100" y="25400"/>
                  </a:lnTo>
                  <a:lnTo>
                    <a:pt x="12700" y="25400"/>
                  </a:lnTo>
                  <a:close/>
                </a:path>
              </a:pathLst>
            </a:custGeom>
            <a:solidFill>
              <a:srgbClr val="40424D"/>
            </a:solidFill>
          </p:spPr>
          <p:txBody>
            <a:bodyPr/>
            <a:p/>
          </p:txBody>
        </p:sp>
      </p:grpSp>
      <p:grpSp>
        <p:nvGrpSpPr>
          <p:cNvPr name="Group 107" id="107"/>
          <p:cNvGrpSpPr/>
          <p:nvPr/>
        </p:nvGrpSpPr>
        <p:grpSpPr>
          <a:xfrm rot="0">
            <a:off x="7449236" y="3319348"/>
            <a:ext cx="533400" cy="533400"/>
            <a:chOff x="0" y="0"/>
            <a:chExt cx="711200" cy="711200"/>
          </a:xfrm>
        </p:grpSpPr>
        <p:sp>
          <p:nvSpPr>
            <p:cNvPr name="Freeform 108" id="108"/>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109" id="109"/>
          <p:cNvGrpSpPr/>
          <p:nvPr/>
        </p:nvGrpSpPr>
        <p:grpSpPr>
          <a:xfrm rot="0">
            <a:off x="7550658" y="3442716"/>
            <a:ext cx="329184" cy="285293"/>
            <a:chOff x="0" y="0"/>
            <a:chExt cx="438912" cy="380390"/>
          </a:xfrm>
        </p:grpSpPr>
        <p:sp>
          <p:nvSpPr>
            <p:cNvPr name="Freeform 110" id="110" descr="preencoded.png"/>
            <p:cNvSpPr/>
            <p:nvPr/>
          </p:nvSpPr>
          <p:spPr>
            <a:xfrm flipH="false" flipV="false" rot="0">
              <a:off x="0" y="0"/>
              <a:ext cx="438912" cy="380365"/>
            </a:xfrm>
            <a:custGeom>
              <a:avLst/>
              <a:gdLst/>
              <a:ahLst/>
              <a:cxnLst/>
              <a:rect r="r" b="b" t="t" l="l"/>
              <a:pathLst>
                <a:path h="380365" w="438912">
                  <a:moveTo>
                    <a:pt x="0" y="0"/>
                  </a:moveTo>
                  <a:lnTo>
                    <a:pt x="438912" y="0"/>
                  </a:lnTo>
                  <a:lnTo>
                    <a:pt x="438912" y="380365"/>
                  </a:lnTo>
                  <a:lnTo>
                    <a:pt x="0" y="380365"/>
                  </a:lnTo>
                  <a:lnTo>
                    <a:pt x="0" y="0"/>
                  </a:lnTo>
                  <a:close/>
                </a:path>
              </a:pathLst>
            </a:custGeom>
            <a:blipFill>
              <a:blip r:embed="rId10"/>
              <a:stretch>
                <a:fillRect l="1249" t="0" r="1250" b="-6"/>
              </a:stretch>
            </a:blipFill>
          </p:spPr>
          <p:txBody>
            <a:bodyPr/>
            <a:p/>
          </p:txBody>
        </p:sp>
      </p:grpSp>
      <p:grpSp>
        <p:nvGrpSpPr>
          <p:cNvPr name="Group 111" id="111"/>
          <p:cNvGrpSpPr/>
          <p:nvPr/>
        </p:nvGrpSpPr>
        <p:grpSpPr>
          <a:xfrm rot="0">
            <a:off x="8200796" y="3261665"/>
            <a:ext cx="3774643" cy="391173"/>
            <a:chOff x="0" y="0"/>
            <a:chExt cx="5032858" cy="521564"/>
          </a:xfrm>
        </p:grpSpPr>
        <p:sp>
          <p:nvSpPr>
            <p:cNvPr name="Freeform 112" id="112"/>
            <p:cNvSpPr/>
            <p:nvPr/>
          </p:nvSpPr>
          <p:spPr>
            <a:xfrm flipH="false" flipV="false" rot="0">
              <a:off x="0" y="0"/>
              <a:ext cx="5032858" cy="521564"/>
            </a:xfrm>
            <a:custGeom>
              <a:avLst/>
              <a:gdLst/>
              <a:ahLst/>
              <a:cxnLst/>
              <a:rect r="r" b="b" t="t" l="l"/>
              <a:pathLst>
                <a:path h="521564" w="5032858">
                  <a:moveTo>
                    <a:pt x="0" y="0"/>
                  </a:moveTo>
                  <a:lnTo>
                    <a:pt x="5032858" y="0"/>
                  </a:lnTo>
                  <a:lnTo>
                    <a:pt x="5032858" y="521564"/>
                  </a:lnTo>
                  <a:lnTo>
                    <a:pt x="0" y="521564"/>
                  </a:lnTo>
                  <a:close/>
                </a:path>
              </a:pathLst>
            </a:custGeom>
            <a:blipFill>
              <a:blip r:embed="rId4">
                <a:alphaModFix amt="0"/>
              </a:blip>
              <a:stretch>
                <a:fillRect l="0" t="-144192" r="0" b="-131851"/>
              </a:stretch>
            </a:blipFill>
          </p:spPr>
          <p:txBody>
            <a:bodyPr/>
            <a:p/>
          </p:txBody>
        </p:sp>
        <p:sp>
          <p:nvSpPr>
            <p:cNvPr name="TextBox 113" id="113"/>
            <p:cNvSpPr txBox="true"/>
            <p:nvPr/>
          </p:nvSpPr>
          <p:spPr>
            <a:xfrm>
              <a:off x="0" y="9525"/>
              <a:ext cx="5032858"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Hormèse</a:t>
              </a:r>
            </a:p>
          </p:txBody>
        </p:sp>
      </p:grpSp>
      <p:grpSp>
        <p:nvGrpSpPr>
          <p:cNvPr name="Group 114" id="114"/>
          <p:cNvGrpSpPr/>
          <p:nvPr/>
        </p:nvGrpSpPr>
        <p:grpSpPr>
          <a:xfrm rot="0">
            <a:off x="8200796" y="3690976"/>
            <a:ext cx="4319168" cy="263957"/>
            <a:chOff x="0" y="0"/>
            <a:chExt cx="5758891" cy="351942"/>
          </a:xfrm>
        </p:grpSpPr>
        <p:sp>
          <p:nvSpPr>
            <p:cNvPr name="Freeform 115" id="115"/>
            <p:cNvSpPr/>
            <p:nvPr/>
          </p:nvSpPr>
          <p:spPr>
            <a:xfrm flipH="false" flipV="false" rot="0">
              <a:off x="0" y="0"/>
              <a:ext cx="5758892" cy="351943"/>
            </a:xfrm>
            <a:custGeom>
              <a:avLst/>
              <a:gdLst/>
              <a:ahLst/>
              <a:cxnLst/>
              <a:rect r="r" b="b" t="t" l="l"/>
              <a:pathLst>
                <a:path h="351943" w="5758892">
                  <a:moveTo>
                    <a:pt x="0" y="0"/>
                  </a:moveTo>
                  <a:lnTo>
                    <a:pt x="5758892" y="0"/>
                  </a:lnTo>
                  <a:lnTo>
                    <a:pt x="5758892" y="351943"/>
                  </a:lnTo>
                  <a:lnTo>
                    <a:pt x="0" y="351943"/>
                  </a:lnTo>
                  <a:close/>
                </a:path>
              </a:pathLst>
            </a:custGeom>
            <a:blipFill>
              <a:blip r:embed="rId4">
                <a:alphaModFix amt="0"/>
              </a:blip>
              <a:stretch>
                <a:fillRect l="0" t="-275447" r="0" b="-262225"/>
              </a:stretch>
            </a:blipFill>
          </p:spPr>
          <p:txBody>
            <a:bodyPr/>
            <a:p/>
          </p:txBody>
        </p:sp>
        <p:sp>
          <p:nvSpPr>
            <p:cNvPr name="TextBox 116" id="116"/>
            <p:cNvSpPr txBox="true"/>
            <p:nvPr/>
          </p:nvSpPr>
          <p:spPr>
            <a:xfrm>
              <a:off x="0" y="0"/>
              <a:ext cx="5758891" cy="3519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Le stress qui renforce. Chaud, Froid, Hypoxie.</a:t>
              </a:r>
            </a:p>
          </p:txBody>
        </p:sp>
      </p:grpSp>
      <p:grpSp>
        <p:nvGrpSpPr>
          <p:cNvPr name="Group 117" id="117"/>
          <p:cNvGrpSpPr/>
          <p:nvPr/>
        </p:nvGrpSpPr>
        <p:grpSpPr>
          <a:xfrm rot="0">
            <a:off x="7148855" y="4904918"/>
            <a:ext cx="4991100" cy="2334311"/>
            <a:chOff x="0" y="0"/>
            <a:chExt cx="6654800" cy="3112414"/>
          </a:xfrm>
        </p:grpSpPr>
        <p:sp>
          <p:nvSpPr>
            <p:cNvPr name="Freeform 118" id="118"/>
            <p:cNvSpPr/>
            <p:nvPr/>
          </p:nvSpPr>
          <p:spPr>
            <a:xfrm flipH="false" flipV="false" rot="0">
              <a:off x="12700" y="12700"/>
              <a:ext cx="6629400" cy="3086989"/>
            </a:xfrm>
            <a:custGeom>
              <a:avLst/>
              <a:gdLst/>
              <a:ahLst/>
              <a:cxnLst/>
              <a:rect r="r" b="b" t="t" l="l"/>
              <a:pathLst>
                <a:path h="3086989" w="6629400">
                  <a:moveTo>
                    <a:pt x="0" y="0"/>
                  </a:moveTo>
                  <a:lnTo>
                    <a:pt x="6629400" y="0"/>
                  </a:lnTo>
                  <a:lnTo>
                    <a:pt x="6629400" y="3086989"/>
                  </a:lnTo>
                  <a:lnTo>
                    <a:pt x="0" y="3086989"/>
                  </a:lnTo>
                  <a:close/>
                </a:path>
              </a:pathLst>
            </a:custGeom>
            <a:solidFill>
              <a:srgbClr val="1E1E24"/>
            </a:solidFill>
          </p:spPr>
          <p:txBody>
            <a:bodyPr/>
            <a:p/>
          </p:txBody>
        </p:sp>
        <p:sp>
          <p:nvSpPr>
            <p:cNvPr name="Freeform 119" id="119"/>
            <p:cNvSpPr/>
            <p:nvPr/>
          </p:nvSpPr>
          <p:spPr>
            <a:xfrm flipH="false" flipV="false" rot="0">
              <a:off x="0" y="0"/>
              <a:ext cx="6654800" cy="3112389"/>
            </a:xfrm>
            <a:custGeom>
              <a:avLst/>
              <a:gdLst/>
              <a:ahLst/>
              <a:cxnLst/>
              <a:rect r="r" b="b" t="t" l="l"/>
              <a:pathLst>
                <a:path h="3112389" w="6654800">
                  <a:moveTo>
                    <a:pt x="12700" y="0"/>
                  </a:moveTo>
                  <a:lnTo>
                    <a:pt x="6642100" y="0"/>
                  </a:lnTo>
                  <a:cubicBezTo>
                    <a:pt x="6649085" y="0"/>
                    <a:pt x="6654800" y="5715"/>
                    <a:pt x="6654800" y="12700"/>
                  </a:cubicBezTo>
                  <a:lnTo>
                    <a:pt x="6654800" y="3099689"/>
                  </a:lnTo>
                  <a:cubicBezTo>
                    <a:pt x="6654800" y="3106674"/>
                    <a:pt x="6649085" y="3112389"/>
                    <a:pt x="6642100" y="3112389"/>
                  </a:cubicBezTo>
                  <a:lnTo>
                    <a:pt x="12700" y="3112389"/>
                  </a:lnTo>
                  <a:cubicBezTo>
                    <a:pt x="5715" y="3112389"/>
                    <a:pt x="0" y="3106674"/>
                    <a:pt x="0" y="3099689"/>
                  </a:cubicBezTo>
                  <a:lnTo>
                    <a:pt x="0" y="12700"/>
                  </a:lnTo>
                  <a:cubicBezTo>
                    <a:pt x="0" y="5715"/>
                    <a:pt x="5715" y="0"/>
                    <a:pt x="12700" y="0"/>
                  </a:cubicBezTo>
                  <a:moveTo>
                    <a:pt x="12700" y="25400"/>
                  </a:moveTo>
                  <a:lnTo>
                    <a:pt x="12700" y="12700"/>
                  </a:lnTo>
                  <a:lnTo>
                    <a:pt x="25400" y="12700"/>
                  </a:lnTo>
                  <a:lnTo>
                    <a:pt x="25400" y="3099689"/>
                  </a:lnTo>
                  <a:lnTo>
                    <a:pt x="12700" y="3099689"/>
                  </a:lnTo>
                  <a:lnTo>
                    <a:pt x="12700" y="3086989"/>
                  </a:lnTo>
                  <a:lnTo>
                    <a:pt x="6642100" y="3086989"/>
                  </a:lnTo>
                  <a:lnTo>
                    <a:pt x="6642100" y="3099689"/>
                  </a:lnTo>
                  <a:lnTo>
                    <a:pt x="6629400" y="3099689"/>
                  </a:lnTo>
                  <a:lnTo>
                    <a:pt x="6629400" y="12700"/>
                  </a:lnTo>
                  <a:lnTo>
                    <a:pt x="6642100" y="12700"/>
                  </a:lnTo>
                  <a:lnTo>
                    <a:pt x="6642100" y="25400"/>
                  </a:lnTo>
                  <a:lnTo>
                    <a:pt x="12700" y="25400"/>
                  </a:lnTo>
                  <a:close/>
                </a:path>
              </a:pathLst>
            </a:custGeom>
            <a:solidFill>
              <a:srgbClr val="40424D"/>
            </a:solidFill>
          </p:spPr>
          <p:txBody>
            <a:bodyPr/>
            <a:p/>
          </p:txBody>
        </p:sp>
      </p:grpSp>
      <p:grpSp>
        <p:nvGrpSpPr>
          <p:cNvPr name="Group 120" id="120"/>
          <p:cNvGrpSpPr/>
          <p:nvPr/>
        </p:nvGrpSpPr>
        <p:grpSpPr>
          <a:xfrm rot="0">
            <a:off x="7449236" y="5806059"/>
            <a:ext cx="533400" cy="533400"/>
            <a:chOff x="0" y="0"/>
            <a:chExt cx="711200" cy="711200"/>
          </a:xfrm>
        </p:grpSpPr>
        <p:sp>
          <p:nvSpPr>
            <p:cNvPr name="Freeform 121" id="121"/>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122" id="122"/>
          <p:cNvGrpSpPr/>
          <p:nvPr/>
        </p:nvGrpSpPr>
        <p:grpSpPr>
          <a:xfrm rot="0">
            <a:off x="7550658" y="5929427"/>
            <a:ext cx="329184" cy="285293"/>
            <a:chOff x="0" y="0"/>
            <a:chExt cx="438912" cy="380390"/>
          </a:xfrm>
        </p:grpSpPr>
        <p:sp>
          <p:nvSpPr>
            <p:cNvPr name="Freeform 123" id="123" descr="preencoded.png"/>
            <p:cNvSpPr/>
            <p:nvPr/>
          </p:nvSpPr>
          <p:spPr>
            <a:xfrm flipH="false" flipV="false" rot="0">
              <a:off x="0" y="0"/>
              <a:ext cx="438912" cy="380365"/>
            </a:xfrm>
            <a:custGeom>
              <a:avLst/>
              <a:gdLst/>
              <a:ahLst/>
              <a:cxnLst/>
              <a:rect r="r" b="b" t="t" l="l"/>
              <a:pathLst>
                <a:path h="380365" w="438912">
                  <a:moveTo>
                    <a:pt x="0" y="0"/>
                  </a:moveTo>
                  <a:lnTo>
                    <a:pt x="438912" y="0"/>
                  </a:lnTo>
                  <a:lnTo>
                    <a:pt x="438912" y="380365"/>
                  </a:lnTo>
                  <a:lnTo>
                    <a:pt x="0" y="380365"/>
                  </a:lnTo>
                  <a:lnTo>
                    <a:pt x="0" y="0"/>
                  </a:lnTo>
                  <a:close/>
                </a:path>
              </a:pathLst>
            </a:custGeom>
            <a:blipFill>
              <a:blip r:embed="rId11"/>
              <a:stretch>
                <a:fillRect l="1249" t="0" r="1250" b="-6"/>
              </a:stretch>
            </a:blipFill>
          </p:spPr>
          <p:txBody>
            <a:bodyPr/>
            <a:p/>
          </p:txBody>
        </p:sp>
      </p:grpSp>
      <p:grpSp>
        <p:nvGrpSpPr>
          <p:cNvPr name="Group 124" id="124"/>
          <p:cNvGrpSpPr/>
          <p:nvPr/>
        </p:nvGrpSpPr>
        <p:grpSpPr>
          <a:xfrm rot="0">
            <a:off x="8200796" y="5637276"/>
            <a:ext cx="3774643" cy="391173"/>
            <a:chOff x="0" y="0"/>
            <a:chExt cx="5032858" cy="521564"/>
          </a:xfrm>
        </p:grpSpPr>
        <p:sp>
          <p:nvSpPr>
            <p:cNvPr name="Freeform 125" id="125"/>
            <p:cNvSpPr/>
            <p:nvPr/>
          </p:nvSpPr>
          <p:spPr>
            <a:xfrm flipH="false" flipV="false" rot="0">
              <a:off x="0" y="0"/>
              <a:ext cx="5032858" cy="521564"/>
            </a:xfrm>
            <a:custGeom>
              <a:avLst/>
              <a:gdLst/>
              <a:ahLst/>
              <a:cxnLst/>
              <a:rect r="r" b="b" t="t" l="l"/>
              <a:pathLst>
                <a:path h="521564" w="5032858">
                  <a:moveTo>
                    <a:pt x="0" y="0"/>
                  </a:moveTo>
                  <a:lnTo>
                    <a:pt x="5032858" y="0"/>
                  </a:lnTo>
                  <a:lnTo>
                    <a:pt x="5032858" y="521564"/>
                  </a:lnTo>
                  <a:lnTo>
                    <a:pt x="0" y="521564"/>
                  </a:lnTo>
                  <a:close/>
                </a:path>
              </a:pathLst>
            </a:custGeom>
            <a:blipFill>
              <a:blip r:embed="rId4">
                <a:alphaModFix amt="0"/>
              </a:blip>
              <a:stretch>
                <a:fillRect l="0" t="-144192" r="0" b="-131851"/>
              </a:stretch>
            </a:blipFill>
          </p:spPr>
          <p:txBody>
            <a:bodyPr/>
            <a:p/>
          </p:txBody>
        </p:sp>
        <p:sp>
          <p:nvSpPr>
            <p:cNvPr name="TextBox 126" id="126"/>
            <p:cNvSpPr txBox="true"/>
            <p:nvPr/>
          </p:nvSpPr>
          <p:spPr>
            <a:xfrm>
              <a:off x="0" y="9525"/>
              <a:ext cx="5032858"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Interventions</a:t>
              </a:r>
            </a:p>
          </p:txBody>
        </p:sp>
      </p:grpSp>
      <p:grpSp>
        <p:nvGrpSpPr>
          <p:cNvPr name="Group 127" id="127"/>
          <p:cNvGrpSpPr/>
          <p:nvPr/>
        </p:nvGrpSpPr>
        <p:grpSpPr>
          <a:xfrm rot="0">
            <a:off x="8200796" y="6066587"/>
            <a:ext cx="3744468" cy="444932"/>
            <a:chOff x="0" y="0"/>
            <a:chExt cx="4992624" cy="593242"/>
          </a:xfrm>
        </p:grpSpPr>
        <p:sp>
          <p:nvSpPr>
            <p:cNvPr name="Freeform 128" id="128"/>
            <p:cNvSpPr/>
            <p:nvPr/>
          </p:nvSpPr>
          <p:spPr>
            <a:xfrm flipH="false" flipV="false" rot="0">
              <a:off x="0" y="0"/>
              <a:ext cx="4992624" cy="593242"/>
            </a:xfrm>
            <a:custGeom>
              <a:avLst/>
              <a:gdLst/>
              <a:ahLst/>
              <a:cxnLst/>
              <a:rect r="r" b="b" t="t" l="l"/>
              <a:pathLst>
                <a:path h="593242" w="4992624">
                  <a:moveTo>
                    <a:pt x="0" y="0"/>
                  </a:moveTo>
                  <a:lnTo>
                    <a:pt x="4992624" y="0"/>
                  </a:lnTo>
                  <a:lnTo>
                    <a:pt x="4992624" y="593242"/>
                  </a:lnTo>
                  <a:lnTo>
                    <a:pt x="0" y="593242"/>
                  </a:lnTo>
                  <a:close/>
                </a:path>
              </a:pathLst>
            </a:custGeom>
            <a:blipFill>
              <a:blip r:embed="rId4">
                <a:alphaModFix amt="0"/>
              </a:blip>
              <a:stretch>
                <a:fillRect l="0" t="-114196" r="0" b="-113768"/>
              </a:stretch>
            </a:blipFill>
          </p:spPr>
          <p:txBody>
            <a:bodyPr/>
            <a:p/>
          </p:txBody>
        </p:sp>
        <p:sp>
          <p:nvSpPr>
            <p:cNvPr name="TextBox 129" id="129"/>
            <p:cNvSpPr txBox="true"/>
            <p:nvPr/>
          </p:nvSpPr>
          <p:spPr>
            <a:xfrm>
              <a:off x="0" y="0"/>
              <a:ext cx="4992624" cy="5932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Précision moléculaire. Suppléments et pharmacologie.</a:t>
              </a:r>
            </a:p>
          </p:txBody>
        </p:sp>
      </p:grpSp>
      <p:grpSp>
        <p:nvGrpSpPr>
          <p:cNvPr name="Group 130" id="130"/>
          <p:cNvGrpSpPr/>
          <p:nvPr/>
        </p:nvGrpSpPr>
        <p:grpSpPr>
          <a:xfrm rot="0">
            <a:off x="7148855" y="7391629"/>
            <a:ext cx="4991100" cy="2334311"/>
            <a:chOff x="0" y="0"/>
            <a:chExt cx="6654800" cy="3112414"/>
          </a:xfrm>
        </p:grpSpPr>
        <p:sp>
          <p:nvSpPr>
            <p:cNvPr name="Freeform 131" id="131"/>
            <p:cNvSpPr/>
            <p:nvPr/>
          </p:nvSpPr>
          <p:spPr>
            <a:xfrm flipH="false" flipV="false" rot="0">
              <a:off x="12700" y="12700"/>
              <a:ext cx="6629400" cy="3086989"/>
            </a:xfrm>
            <a:custGeom>
              <a:avLst/>
              <a:gdLst/>
              <a:ahLst/>
              <a:cxnLst/>
              <a:rect r="r" b="b" t="t" l="l"/>
              <a:pathLst>
                <a:path h="3086989" w="6629400">
                  <a:moveTo>
                    <a:pt x="0" y="0"/>
                  </a:moveTo>
                  <a:lnTo>
                    <a:pt x="6629400" y="0"/>
                  </a:lnTo>
                  <a:lnTo>
                    <a:pt x="6629400" y="3086989"/>
                  </a:lnTo>
                  <a:lnTo>
                    <a:pt x="0" y="3086989"/>
                  </a:lnTo>
                  <a:close/>
                </a:path>
              </a:pathLst>
            </a:custGeom>
            <a:solidFill>
              <a:srgbClr val="1E1E24"/>
            </a:solidFill>
          </p:spPr>
          <p:txBody>
            <a:bodyPr/>
            <a:p/>
          </p:txBody>
        </p:sp>
        <p:sp>
          <p:nvSpPr>
            <p:cNvPr name="Freeform 132" id="132"/>
            <p:cNvSpPr/>
            <p:nvPr/>
          </p:nvSpPr>
          <p:spPr>
            <a:xfrm flipH="false" flipV="false" rot="0">
              <a:off x="0" y="0"/>
              <a:ext cx="6654800" cy="3112389"/>
            </a:xfrm>
            <a:custGeom>
              <a:avLst/>
              <a:gdLst/>
              <a:ahLst/>
              <a:cxnLst/>
              <a:rect r="r" b="b" t="t" l="l"/>
              <a:pathLst>
                <a:path h="3112389" w="6654800">
                  <a:moveTo>
                    <a:pt x="12700" y="0"/>
                  </a:moveTo>
                  <a:lnTo>
                    <a:pt x="6642100" y="0"/>
                  </a:lnTo>
                  <a:cubicBezTo>
                    <a:pt x="6649085" y="0"/>
                    <a:pt x="6654800" y="5715"/>
                    <a:pt x="6654800" y="12700"/>
                  </a:cubicBezTo>
                  <a:lnTo>
                    <a:pt x="6654800" y="3099689"/>
                  </a:lnTo>
                  <a:cubicBezTo>
                    <a:pt x="6654800" y="3106674"/>
                    <a:pt x="6649085" y="3112389"/>
                    <a:pt x="6642100" y="3112389"/>
                  </a:cubicBezTo>
                  <a:lnTo>
                    <a:pt x="12700" y="3112389"/>
                  </a:lnTo>
                  <a:cubicBezTo>
                    <a:pt x="5715" y="3112389"/>
                    <a:pt x="0" y="3106674"/>
                    <a:pt x="0" y="3099689"/>
                  </a:cubicBezTo>
                  <a:lnTo>
                    <a:pt x="0" y="12700"/>
                  </a:lnTo>
                  <a:cubicBezTo>
                    <a:pt x="0" y="5715"/>
                    <a:pt x="5715" y="0"/>
                    <a:pt x="12700" y="0"/>
                  </a:cubicBezTo>
                  <a:moveTo>
                    <a:pt x="12700" y="25400"/>
                  </a:moveTo>
                  <a:lnTo>
                    <a:pt x="12700" y="12700"/>
                  </a:lnTo>
                  <a:lnTo>
                    <a:pt x="25400" y="12700"/>
                  </a:lnTo>
                  <a:lnTo>
                    <a:pt x="25400" y="3099689"/>
                  </a:lnTo>
                  <a:lnTo>
                    <a:pt x="12700" y="3099689"/>
                  </a:lnTo>
                  <a:lnTo>
                    <a:pt x="12700" y="3086989"/>
                  </a:lnTo>
                  <a:lnTo>
                    <a:pt x="6642100" y="3086989"/>
                  </a:lnTo>
                  <a:lnTo>
                    <a:pt x="6642100" y="3099689"/>
                  </a:lnTo>
                  <a:lnTo>
                    <a:pt x="6629400" y="3099689"/>
                  </a:lnTo>
                  <a:lnTo>
                    <a:pt x="6629400" y="12700"/>
                  </a:lnTo>
                  <a:lnTo>
                    <a:pt x="6642100" y="12700"/>
                  </a:lnTo>
                  <a:lnTo>
                    <a:pt x="6642100" y="25400"/>
                  </a:lnTo>
                  <a:lnTo>
                    <a:pt x="12700" y="25400"/>
                  </a:lnTo>
                  <a:close/>
                </a:path>
              </a:pathLst>
            </a:custGeom>
            <a:solidFill>
              <a:srgbClr val="40424D"/>
            </a:solidFill>
          </p:spPr>
          <p:txBody>
            <a:bodyPr/>
            <a:p/>
          </p:txBody>
        </p:sp>
      </p:grpSp>
      <p:grpSp>
        <p:nvGrpSpPr>
          <p:cNvPr name="Group 133" id="133"/>
          <p:cNvGrpSpPr/>
          <p:nvPr/>
        </p:nvGrpSpPr>
        <p:grpSpPr>
          <a:xfrm rot="0">
            <a:off x="7449236" y="8291398"/>
            <a:ext cx="533400" cy="533400"/>
            <a:chOff x="0" y="0"/>
            <a:chExt cx="711200" cy="711200"/>
          </a:xfrm>
        </p:grpSpPr>
        <p:sp>
          <p:nvSpPr>
            <p:cNvPr name="Freeform 134" id="134"/>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135" id="135"/>
          <p:cNvGrpSpPr/>
          <p:nvPr/>
        </p:nvGrpSpPr>
        <p:grpSpPr>
          <a:xfrm rot="0">
            <a:off x="7586320" y="8414766"/>
            <a:ext cx="257861" cy="285293"/>
            <a:chOff x="0" y="0"/>
            <a:chExt cx="343814" cy="380390"/>
          </a:xfrm>
        </p:grpSpPr>
        <p:sp>
          <p:nvSpPr>
            <p:cNvPr name="Freeform 136" id="136"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12"/>
              <a:stretch>
                <a:fillRect l="1595" t="0" r="1588" b="-6"/>
              </a:stretch>
            </a:blipFill>
          </p:spPr>
          <p:txBody>
            <a:bodyPr/>
            <a:p/>
          </p:txBody>
        </p:sp>
      </p:grpSp>
      <p:grpSp>
        <p:nvGrpSpPr>
          <p:cNvPr name="Group 137" id="137"/>
          <p:cNvGrpSpPr/>
          <p:nvPr/>
        </p:nvGrpSpPr>
        <p:grpSpPr>
          <a:xfrm rot="0">
            <a:off x="8200796" y="8233715"/>
            <a:ext cx="3774643" cy="391173"/>
            <a:chOff x="0" y="0"/>
            <a:chExt cx="5032858" cy="521564"/>
          </a:xfrm>
        </p:grpSpPr>
        <p:sp>
          <p:nvSpPr>
            <p:cNvPr name="Freeform 138" id="138"/>
            <p:cNvSpPr/>
            <p:nvPr/>
          </p:nvSpPr>
          <p:spPr>
            <a:xfrm flipH="false" flipV="false" rot="0">
              <a:off x="0" y="0"/>
              <a:ext cx="5032858" cy="521564"/>
            </a:xfrm>
            <a:custGeom>
              <a:avLst/>
              <a:gdLst/>
              <a:ahLst/>
              <a:cxnLst/>
              <a:rect r="r" b="b" t="t" l="l"/>
              <a:pathLst>
                <a:path h="521564" w="5032858">
                  <a:moveTo>
                    <a:pt x="0" y="0"/>
                  </a:moveTo>
                  <a:lnTo>
                    <a:pt x="5032858" y="0"/>
                  </a:lnTo>
                  <a:lnTo>
                    <a:pt x="5032858" y="521564"/>
                  </a:lnTo>
                  <a:lnTo>
                    <a:pt x="0" y="521564"/>
                  </a:lnTo>
                  <a:close/>
                </a:path>
              </a:pathLst>
            </a:custGeom>
            <a:blipFill>
              <a:blip r:embed="rId4">
                <a:alphaModFix amt="0"/>
              </a:blip>
              <a:stretch>
                <a:fillRect l="0" t="-144192" r="0" b="-131851"/>
              </a:stretch>
            </a:blipFill>
          </p:spPr>
          <p:txBody>
            <a:bodyPr/>
            <a:p/>
          </p:txBody>
        </p:sp>
        <p:sp>
          <p:nvSpPr>
            <p:cNvPr name="TextBox 139" id="139"/>
            <p:cNvSpPr txBox="true"/>
            <p:nvPr/>
          </p:nvSpPr>
          <p:spPr>
            <a:xfrm>
              <a:off x="0" y="9525"/>
              <a:ext cx="5032858"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Régénération</a:t>
              </a:r>
            </a:p>
          </p:txBody>
        </p:sp>
      </p:grpSp>
      <p:grpSp>
        <p:nvGrpSpPr>
          <p:cNvPr name="Group 140" id="140"/>
          <p:cNvGrpSpPr/>
          <p:nvPr/>
        </p:nvGrpSpPr>
        <p:grpSpPr>
          <a:xfrm rot="0">
            <a:off x="8200796" y="8663026"/>
            <a:ext cx="4319168" cy="263957"/>
            <a:chOff x="0" y="0"/>
            <a:chExt cx="5758891" cy="351942"/>
          </a:xfrm>
        </p:grpSpPr>
        <p:sp>
          <p:nvSpPr>
            <p:cNvPr name="Freeform 141" id="141"/>
            <p:cNvSpPr/>
            <p:nvPr/>
          </p:nvSpPr>
          <p:spPr>
            <a:xfrm flipH="false" flipV="false" rot="0">
              <a:off x="0" y="0"/>
              <a:ext cx="5758892" cy="351943"/>
            </a:xfrm>
            <a:custGeom>
              <a:avLst/>
              <a:gdLst/>
              <a:ahLst/>
              <a:cxnLst/>
              <a:rect r="r" b="b" t="t" l="l"/>
              <a:pathLst>
                <a:path h="351943" w="5758892">
                  <a:moveTo>
                    <a:pt x="0" y="0"/>
                  </a:moveTo>
                  <a:lnTo>
                    <a:pt x="5758892" y="0"/>
                  </a:lnTo>
                  <a:lnTo>
                    <a:pt x="5758892" y="351943"/>
                  </a:lnTo>
                  <a:lnTo>
                    <a:pt x="0" y="351943"/>
                  </a:lnTo>
                  <a:close/>
                </a:path>
              </a:pathLst>
            </a:custGeom>
            <a:blipFill>
              <a:blip r:embed="rId4">
                <a:alphaModFix amt="0"/>
              </a:blip>
              <a:stretch>
                <a:fillRect l="0" t="-275447" r="0" b="-262225"/>
              </a:stretch>
            </a:blipFill>
          </p:spPr>
          <p:txBody>
            <a:bodyPr/>
            <a:p/>
          </p:txBody>
        </p:sp>
        <p:sp>
          <p:nvSpPr>
            <p:cNvPr name="TextBox 142" id="142"/>
            <p:cNvSpPr txBox="true"/>
            <p:nvPr/>
          </p:nvSpPr>
          <p:spPr>
            <a:xfrm>
              <a:off x="0" y="0"/>
              <a:ext cx="5758891" cy="3519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Réalignement structurel. Thérapies cellulaires.</a:t>
              </a:r>
            </a:p>
          </p:txBody>
        </p:sp>
      </p:grpSp>
      <p:grpSp>
        <p:nvGrpSpPr>
          <p:cNvPr name="Group 143" id="143"/>
          <p:cNvGrpSpPr/>
          <p:nvPr/>
        </p:nvGrpSpPr>
        <p:grpSpPr>
          <a:xfrm rot="0">
            <a:off x="12456947" y="2419579"/>
            <a:ext cx="4991100" cy="2334311"/>
            <a:chOff x="0" y="0"/>
            <a:chExt cx="6654800" cy="3112414"/>
          </a:xfrm>
        </p:grpSpPr>
        <p:sp>
          <p:nvSpPr>
            <p:cNvPr name="Freeform 144" id="144"/>
            <p:cNvSpPr/>
            <p:nvPr/>
          </p:nvSpPr>
          <p:spPr>
            <a:xfrm flipH="false" flipV="false" rot="0">
              <a:off x="12700" y="12700"/>
              <a:ext cx="6629400" cy="3086989"/>
            </a:xfrm>
            <a:custGeom>
              <a:avLst/>
              <a:gdLst/>
              <a:ahLst/>
              <a:cxnLst/>
              <a:rect r="r" b="b" t="t" l="l"/>
              <a:pathLst>
                <a:path h="3086989" w="6629400">
                  <a:moveTo>
                    <a:pt x="0" y="0"/>
                  </a:moveTo>
                  <a:lnTo>
                    <a:pt x="6629400" y="0"/>
                  </a:lnTo>
                  <a:lnTo>
                    <a:pt x="6629400" y="3086989"/>
                  </a:lnTo>
                  <a:lnTo>
                    <a:pt x="0" y="3086989"/>
                  </a:lnTo>
                  <a:close/>
                </a:path>
              </a:pathLst>
            </a:custGeom>
            <a:solidFill>
              <a:srgbClr val="1E1E24"/>
            </a:solidFill>
          </p:spPr>
          <p:txBody>
            <a:bodyPr/>
            <a:p/>
          </p:txBody>
        </p:sp>
        <p:sp>
          <p:nvSpPr>
            <p:cNvPr name="Freeform 145" id="145"/>
            <p:cNvSpPr/>
            <p:nvPr/>
          </p:nvSpPr>
          <p:spPr>
            <a:xfrm flipH="false" flipV="false" rot="0">
              <a:off x="0" y="0"/>
              <a:ext cx="6654800" cy="3112389"/>
            </a:xfrm>
            <a:custGeom>
              <a:avLst/>
              <a:gdLst/>
              <a:ahLst/>
              <a:cxnLst/>
              <a:rect r="r" b="b" t="t" l="l"/>
              <a:pathLst>
                <a:path h="3112389" w="6654800">
                  <a:moveTo>
                    <a:pt x="12700" y="0"/>
                  </a:moveTo>
                  <a:lnTo>
                    <a:pt x="6642100" y="0"/>
                  </a:lnTo>
                  <a:cubicBezTo>
                    <a:pt x="6649085" y="0"/>
                    <a:pt x="6654800" y="5715"/>
                    <a:pt x="6654800" y="12700"/>
                  </a:cubicBezTo>
                  <a:lnTo>
                    <a:pt x="6654800" y="3099689"/>
                  </a:lnTo>
                  <a:cubicBezTo>
                    <a:pt x="6654800" y="3106674"/>
                    <a:pt x="6649085" y="3112389"/>
                    <a:pt x="6642100" y="3112389"/>
                  </a:cubicBezTo>
                  <a:lnTo>
                    <a:pt x="12700" y="3112389"/>
                  </a:lnTo>
                  <a:cubicBezTo>
                    <a:pt x="5715" y="3112389"/>
                    <a:pt x="0" y="3106674"/>
                    <a:pt x="0" y="3099689"/>
                  </a:cubicBezTo>
                  <a:lnTo>
                    <a:pt x="0" y="12700"/>
                  </a:lnTo>
                  <a:cubicBezTo>
                    <a:pt x="0" y="5715"/>
                    <a:pt x="5715" y="0"/>
                    <a:pt x="12700" y="0"/>
                  </a:cubicBezTo>
                  <a:moveTo>
                    <a:pt x="12700" y="25400"/>
                  </a:moveTo>
                  <a:lnTo>
                    <a:pt x="12700" y="12700"/>
                  </a:lnTo>
                  <a:lnTo>
                    <a:pt x="25400" y="12700"/>
                  </a:lnTo>
                  <a:lnTo>
                    <a:pt x="25400" y="3099689"/>
                  </a:lnTo>
                  <a:lnTo>
                    <a:pt x="12700" y="3099689"/>
                  </a:lnTo>
                  <a:lnTo>
                    <a:pt x="12700" y="3086989"/>
                  </a:lnTo>
                  <a:lnTo>
                    <a:pt x="6642100" y="3086989"/>
                  </a:lnTo>
                  <a:lnTo>
                    <a:pt x="6642100" y="3099689"/>
                  </a:lnTo>
                  <a:lnTo>
                    <a:pt x="6629400" y="3099689"/>
                  </a:lnTo>
                  <a:lnTo>
                    <a:pt x="6629400" y="12700"/>
                  </a:lnTo>
                  <a:lnTo>
                    <a:pt x="6642100" y="12700"/>
                  </a:lnTo>
                  <a:lnTo>
                    <a:pt x="6642100" y="25400"/>
                  </a:lnTo>
                  <a:lnTo>
                    <a:pt x="12700" y="25400"/>
                  </a:lnTo>
                  <a:close/>
                </a:path>
              </a:pathLst>
            </a:custGeom>
            <a:solidFill>
              <a:srgbClr val="40424D"/>
            </a:solidFill>
          </p:spPr>
          <p:txBody>
            <a:bodyPr/>
            <a:p/>
          </p:txBody>
        </p:sp>
      </p:grpSp>
      <p:grpSp>
        <p:nvGrpSpPr>
          <p:cNvPr name="Group 146" id="146"/>
          <p:cNvGrpSpPr/>
          <p:nvPr/>
        </p:nvGrpSpPr>
        <p:grpSpPr>
          <a:xfrm rot="0">
            <a:off x="12755956" y="3319348"/>
            <a:ext cx="533400" cy="533400"/>
            <a:chOff x="0" y="0"/>
            <a:chExt cx="711200" cy="711200"/>
          </a:xfrm>
        </p:grpSpPr>
        <p:sp>
          <p:nvSpPr>
            <p:cNvPr name="Freeform 147" id="147"/>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148" id="148"/>
          <p:cNvGrpSpPr/>
          <p:nvPr/>
        </p:nvGrpSpPr>
        <p:grpSpPr>
          <a:xfrm rot="0">
            <a:off x="12880696" y="3442716"/>
            <a:ext cx="285293" cy="285293"/>
            <a:chOff x="0" y="0"/>
            <a:chExt cx="380390" cy="380390"/>
          </a:xfrm>
        </p:grpSpPr>
        <p:sp>
          <p:nvSpPr>
            <p:cNvPr name="Freeform 149" id="149"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13"/>
              <a:stretch>
                <a:fillRect l="0" t="0" r="-6" b="-6"/>
              </a:stretch>
            </a:blipFill>
          </p:spPr>
          <p:txBody>
            <a:bodyPr/>
            <a:p/>
          </p:txBody>
        </p:sp>
      </p:grpSp>
      <p:grpSp>
        <p:nvGrpSpPr>
          <p:cNvPr name="Group 150" id="150"/>
          <p:cNvGrpSpPr/>
          <p:nvPr/>
        </p:nvGrpSpPr>
        <p:grpSpPr>
          <a:xfrm rot="0">
            <a:off x="13508888" y="3261665"/>
            <a:ext cx="3774643" cy="391173"/>
            <a:chOff x="0" y="0"/>
            <a:chExt cx="5032858" cy="521564"/>
          </a:xfrm>
        </p:grpSpPr>
        <p:sp>
          <p:nvSpPr>
            <p:cNvPr name="Freeform 151" id="151"/>
            <p:cNvSpPr/>
            <p:nvPr/>
          </p:nvSpPr>
          <p:spPr>
            <a:xfrm flipH="false" flipV="false" rot="0">
              <a:off x="0" y="0"/>
              <a:ext cx="5032858" cy="521564"/>
            </a:xfrm>
            <a:custGeom>
              <a:avLst/>
              <a:gdLst/>
              <a:ahLst/>
              <a:cxnLst/>
              <a:rect r="r" b="b" t="t" l="l"/>
              <a:pathLst>
                <a:path h="521564" w="5032858">
                  <a:moveTo>
                    <a:pt x="0" y="0"/>
                  </a:moveTo>
                  <a:lnTo>
                    <a:pt x="5032858" y="0"/>
                  </a:lnTo>
                  <a:lnTo>
                    <a:pt x="5032858" y="521564"/>
                  </a:lnTo>
                  <a:lnTo>
                    <a:pt x="0" y="521564"/>
                  </a:lnTo>
                  <a:close/>
                </a:path>
              </a:pathLst>
            </a:custGeom>
            <a:blipFill>
              <a:blip r:embed="rId4">
                <a:alphaModFix amt="0"/>
              </a:blip>
              <a:stretch>
                <a:fillRect l="0" t="-144192" r="0" b="-131851"/>
              </a:stretch>
            </a:blipFill>
          </p:spPr>
          <p:txBody>
            <a:bodyPr/>
            <a:p/>
          </p:txBody>
        </p:sp>
        <p:sp>
          <p:nvSpPr>
            <p:cNvPr name="TextBox 152" id="152"/>
            <p:cNvSpPr txBox="true"/>
            <p:nvPr/>
          </p:nvSpPr>
          <p:spPr>
            <a:xfrm>
              <a:off x="0" y="9525"/>
              <a:ext cx="5032858"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Aventure</a:t>
              </a:r>
            </a:p>
          </p:txBody>
        </p:sp>
      </p:grpSp>
      <p:grpSp>
        <p:nvGrpSpPr>
          <p:cNvPr name="Group 153" id="153"/>
          <p:cNvGrpSpPr/>
          <p:nvPr/>
        </p:nvGrpSpPr>
        <p:grpSpPr>
          <a:xfrm rot="0">
            <a:off x="13508888" y="3690976"/>
            <a:ext cx="4011930" cy="263957"/>
            <a:chOff x="0" y="0"/>
            <a:chExt cx="5349240" cy="351942"/>
          </a:xfrm>
        </p:grpSpPr>
        <p:sp>
          <p:nvSpPr>
            <p:cNvPr name="Freeform 154" id="154"/>
            <p:cNvSpPr/>
            <p:nvPr/>
          </p:nvSpPr>
          <p:spPr>
            <a:xfrm flipH="false" flipV="false" rot="0">
              <a:off x="0" y="0"/>
              <a:ext cx="5349240" cy="351943"/>
            </a:xfrm>
            <a:custGeom>
              <a:avLst/>
              <a:gdLst/>
              <a:ahLst/>
              <a:cxnLst/>
              <a:rect r="r" b="b" t="t" l="l"/>
              <a:pathLst>
                <a:path h="351943" w="5349240">
                  <a:moveTo>
                    <a:pt x="0" y="0"/>
                  </a:moveTo>
                  <a:lnTo>
                    <a:pt x="5349240" y="0"/>
                  </a:lnTo>
                  <a:lnTo>
                    <a:pt x="5349240" y="351943"/>
                  </a:lnTo>
                  <a:lnTo>
                    <a:pt x="0" y="351943"/>
                  </a:lnTo>
                  <a:close/>
                </a:path>
              </a:pathLst>
            </a:custGeom>
            <a:blipFill>
              <a:blip r:embed="rId4">
                <a:alphaModFix amt="0"/>
              </a:blip>
              <a:stretch>
                <a:fillRect l="0" t="-252767" r="0" b="-239545"/>
              </a:stretch>
            </a:blipFill>
          </p:spPr>
          <p:txBody>
            <a:bodyPr/>
            <a:p/>
          </p:txBody>
        </p:sp>
        <p:sp>
          <p:nvSpPr>
            <p:cNvPr name="TextBox 155" id="155"/>
            <p:cNvSpPr txBox="true"/>
            <p:nvPr/>
          </p:nvSpPr>
          <p:spPr>
            <a:xfrm>
              <a:off x="0" y="0"/>
              <a:ext cx="5349240" cy="3519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La nature et l'inconfort comme thérapies.</a:t>
              </a:r>
            </a:p>
          </p:txBody>
        </p:sp>
      </p:grpSp>
      <p:grpSp>
        <p:nvGrpSpPr>
          <p:cNvPr name="Group 156" id="156"/>
          <p:cNvGrpSpPr/>
          <p:nvPr/>
        </p:nvGrpSpPr>
        <p:grpSpPr>
          <a:xfrm rot="0">
            <a:off x="12456947" y="4904918"/>
            <a:ext cx="4991100" cy="2334311"/>
            <a:chOff x="0" y="0"/>
            <a:chExt cx="6654800" cy="3112414"/>
          </a:xfrm>
        </p:grpSpPr>
        <p:sp>
          <p:nvSpPr>
            <p:cNvPr name="Freeform 157" id="157"/>
            <p:cNvSpPr/>
            <p:nvPr/>
          </p:nvSpPr>
          <p:spPr>
            <a:xfrm flipH="false" flipV="false" rot="0">
              <a:off x="12700" y="12700"/>
              <a:ext cx="6629400" cy="3086989"/>
            </a:xfrm>
            <a:custGeom>
              <a:avLst/>
              <a:gdLst/>
              <a:ahLst/>
              <a:cxnLst/>
              <a:rect r="r" b="b" t="t" l="l"/>
              <a:pathLst>
                <a:path h="3086989" w="6629400">
                  <a:moveTo>
                    <a:pt x="0" y="0"/>
                  </a:moveTo>
                  <a:lnTo>
                    <a:pt x="6629400" y="0"/>
                  </a:lnTo>
                  <a:lnTo>
                    <a:pt x="6629400" y="3086989"/>
                  </a:lnTo>
                  <a:lnTo>
                    <a:pt x="0" y="3086989"/>
                  </a:lnTo>
                  <a:close/>
                </a:path>
              </a:pathLst>
            </a:custGeom>
            <a:solidFill>
              <a:srgbClr val="1E1E24"/>
            </a:solidFill>
          </p:spPr>
          <p:txBody>
            <a:bodyPr/>
            <a:p/>
          </p:txBody>
        </p:sp>
        <p:sp>
          <p:nvSpPr>
            <p:cNvPr name="Freeform 158" id="158"/>
            <p:cNvSpPr/>
            <p:nvPr/>
          </p:nvSpPr>
          <p:spPr>
            <a:xfrm flipH="false" flipV="false" rot="0">
              <a:off x="0" y="0"/>
              <a:ext cx="6654800" cy="3112389"/>
            </a:xfrm>
            <a:custGeom>
              <a:avLst/>
              <a:gdLst/>
              <a:ahLst/>
              <a:cxnLst/>
              <a:rect r="r" b="b" t="t" l="l"/>
              <a:pathLst>
                <a:path h="3112389" w="6654800">
                  <a:moveTo>
                    <a:pt x="12700" y="0"/>
                  </a:moveTo>
                  <a:lnTo>
                    <a:pt x="6642100" y="0"/>
                  </a:lnTo>
                  <a:cubicBezTo>
                    <a:pt x="6649085" y="0"/>
                    <a:pt x="6654800" y="5715"/>
                    <a:pt x="6654800" y="12700"/>
                  </a:cubicBezTo>
                  <a:lnTo>
                    <a:pt x="6654800" y="3099689"/>
                  </a:lnTo>
                  <a:cubicBezTo>
                    <a:pt x="6654800" y="3106674"/>
                    <a:pt x="6649085" y="3112389"/>
                    <a:pt x="6642100" y="3112389"/>
                  </a:cubicBezTo>
                  <a:lnTo>
                    <a:pt x="12700" y="3112389"/>
                  </a:lnTo>
                  <a:cubicBezTo>
                    <a:pt x="5715" y="3112389"/>
                    <a:pt x="0" y="3106674"/>
                    <a:pt x="0" y="3099689"/>
                  </a:cubicBezTo>
                  <a:lnTo>
                    <a:pt x="0" y="12700"/>
                  </a:lnTo>
                  <a:cubicBezTo>
                    <a:pt x="0" y="5715"/>
                    <a:pt x="5715" y="0"/>
                    <a:pt x="12700" y="0"/>
                  </a:cubicBezTo>
                  <a:moveTo>
                    <a:pt x="12700" y="25400"/>
                  </a:moveTo>
                  <a:lnTo>
                    <a:pt x="12700" y="12700"/>
                  </a:lnTo>
                  <a:lnTo>
                    <a:pt x="25400" y="12700"/>
                  </a:lnTo>
                  <a:lnTo>
                    <a:pt x="25400" y="3099689"/>
                  </a:lnTo>
                  <a:lnTo>
                    <a:pt x="12700" y="3099689"/>
                  </a:lnTo>
                  <a:lnTo>
                    <a:pt x="12700" y="3086989"/>
                  </a:lnTo>
                  <a:lnTo>
                    <a:pt x="6642100" y="3086989"/>
                  </a:lnTo>
                  <a:lnTo>
                    <a:pt x="6642100" y="3099689"/>
                  </a:lnTo>
                  <a:lnTo>
                    <a:pt x="6629400" y="3099689"/>
                  </a:lnTo>
                  <a:lnTo>
                    <a:pt x="6629400" y="12700"/>
                  </a:lnTo>
                  <a:lnTo>
                    <a:pt x="6642100" y="12700"/>
                  </a:lnTo>
                  <a:lnTo>
                    <a:pt x="6642100" y="25400"/>
                  </a:lnTo>
                  <a:lnTo>
                    <a:pt x="12700" y="25400"/>
                  </a:lnTo>
                  <a:close/>
                </a:path>
              </a:pathLst>
            </a:custGeom>
            <a:solidFill>
              <a:srgbClr val="40424D"/>
            </a:solidFill>
          </p:spPr>
          <p:txBody>
            <a:bodyPr/>
            <a:p/>
          </p:txBody>
        </p:sp>
      </p:grpSp>
      <p:grpSp>
        <p:nvGrpSpPr>
          <p:cNvPr name="Group 159" id="159"/>
          <p:cNvGrpSpPr/>
          <p:nvPr/>
        </p:nvGrpSpPr>
        <p:grpSpPr>
          <a:xfrm rot="0">
            <a:off x="12755956" y="5806059"/>
            <a:ext cx="533400" cy="533400"/>
            <a:chOff x="0" y="0"/>
            <a:chExt cx="711200" cy="711200"/>
          </a:xfrm>
        </p:grpSpPr>
        <p:sp>
          <p:nvSpPr>
            <p:cNvPr name="Freeform 160" id="160"/>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161" id="161"/>
          <p:cNvGrpSpPr/>
          <p:nvPr/>
        </p:nvGrpSpPr>
        <p:grpSpPr>
          <a:xfrm rot="0">
            <a:off x="12880696" y="5929427"/>
            <a:ext cx="285293" cy="285293"/>
            <a:chOff x="0" y="0"/>
            <a:chExt cx="380390" cy="380390"/>
          </a:xfrm>
        </p:grpSpPr>
        <p:sp>
          <p:nvSpPr>
            <p:cNvPr name="Freeform 162" id="162"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14"/>
              <a:stretch>
                <a:fillRect l="0" t="0" r="-6" b="-6"/>
              </a:stretch>
            </a:blipFill>
          </p:spPr>
          <p:txBody>
            <a:bodyPr/>
            <a:p/>
          </p:txBody>
        </p:sp>
      </p:grpSp>
      <p:grpSp>
        <p:nvGrpSpPr>
          <p:cNvPr name="Group 163" id="163"/>
          <p:cNvGrpSpPr/>
          <p:nvPr/>
        </p:nvGrpSpPr>
        <p:grpSpPr>
          <a:xfrm rot="0">
            <a:off x="13508888" y="5637276"/>
            <a:ext cx="3774643" cy="391173"/>
            <a:chOff x="0" y="0"/>
            <a:chExt cx="5032858" cy="521564"/>
          </a:xfrm>
        </p:grpSpPr>
        <p:sp>
          <p:nvSpPr>
            <p:cNvPr name="Freeform 164" id="164"/>
            <p:cNvSpPr/>
            <p:nvPr/>
          </p:nvSpPr>
          <p:spPr>
            <a:xfrm flipH="false" flipV="false" rot="0">
              <a:off x="0" y="0"/>
              <a:ext cx="5032858" cy="521564"/>
            </a:xfrm>
            <a:custGeom>
              <a:avLst/>
              <a:gdLst/>
              <a:ahLst/>
              <a:cxnLst/>
              <a:rect r="r" b="b" t="t" l="l"/>
              <a:pathLst>
                <a:path h="521564" w="5032858">
                  <a:moveTo>
                    <a:pt x="0" y="0"/>
                  </a:moveTo>
                  <a:lnTo>
                    <a:pt x="5032858" y="0"/>
                  </a:lnTo>
                  <a:lnTo>
                    <a:pt x="5032858" y="521564"/>
                  </a:lnTo>
                  <a:lnTo>
                    <a:pt x="0" y="521564"/>
                  </a:lnTo>
                  <a:close/>
                </a:path>
              </a:pathLst>
            </a:custGeom>
            <a:blipFill>
              <a:blip r:embed="rId4">
                <a:alphaModFix amt="0"/>
              </a:blip>
              <a:stretch>
                <a:fillRect l="0" t="-144192" r="0" b="-131851"/>
              </a:stretch>
            </a:blipFill>
          </p:spPr>
          <p:txBody>
            <a:bodyPr/>
            <a:p/>
          </p:txBody>
        </p:sp>
        <p:sp>
          <p:nvSpPr>
            <p:cNvPr name="TextBox 165" id="165"/>
            <p:cNvSpPr txBox="true"/>
            <p:nvPr/>
          </p:nvSpPr>
          <p:spPr>
            <a:xfrm>
              <a:off x="0" y="9525"/>
              <a:ext cx="5032858"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Amour</a:t>
              </a:r>
            </a:p>
          </p:txBody>
        </p:sp>
      </p:grpSp>
      <p:grpSp>
        <p:nvGrpSpPr>
          <p:cNvPr name="Group 166" id="166"/>
          <p:cNvGrpSpPr/>
          <p:nvPr/>
        </p:nvGrpSpPr>
        <p:grpSpPr>
          <a:xfrm rot="0">
            <a:off x="13508888" y="6066587"/>
            <a:ext cx="3744468" cy="444932"/>
            <a:chOff x="0" y="0"/>
            <a:chExt cx="4992624" cy="593242"/>
          </a:xfrm>
        </p:grpSpPr>
        <p:sp>
          <p:nvSpPr>
            <p:cNvPr name="Freeform 167" id="167"/>
            <p:cNvSpPr/>
            <p:nvPr/>
          </p:nvSpPr>
          <p:spPr>
            <a:xfrm flipH="false" flipV="false" rot="0">
              <a:off x="0" y="0"/>
              <a:ext cx="4992624" cy="593242"/>
            </a:xfrm>
            <a:custGeom>
              <a:avLst/>
              <a:gdLst/>
              <a:ahLst/>
              <a:cxnLst/>
              <a:rect r="r" b="b" t="t" l="l"/>
              <a:pathLst>
                <a:path h="593242" w="4992624">
                  <a:moveTo>
                    <a:pt x="0" y="0"/>
                  </a:moveTo>
                  <a:lnTo>
                    <a:pt x="4992624" y="0"/>
                  </a:lnTo>
                  <a:lnTo>
                    <a:pt x="4992624" y="593242"/>
                  </a:lnTo>
                  <a:lnTo>
                    <a:pt x="0" y="593242"/>
                  </a:lnTo>
                  <a:close/>
                </a:path>
              </a:pathLst>
            </a:custGeom>
            <a:blipFill>
              <a:blip r:embed="rId4">
                <a:alphaModFix amt="0"/>
              </a:blip>
              <a:stretch>
                <a:fillRect l="0" t="-114196" r="0" b="-113768"/>
              </a:stretch>
            </a:blipFill>
          </p:spPr>
          <p:txBody>
            <a:bodyPr/>
            <a:p/>
          </p:txBody>
        </p:sp>
        <p:sp>
          <p:nvSpPr>
            <p:cNvPr name="TextBox 168" id="168"/>
            <p:cNvSpPr txBox="true"/>
            <p:nvPr/>
          </p:nvSpPr>
          <p:spPr>
            <a:xfrm>
              <a:off x="0" y="0"/>
              <a:ext cx="4992624" cy="5932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Le véritable sens de l'extension de la vie. Connexion sociale.</a:t>
              </a:r>
            </a:p>
          </p:txBody>
        </p:sp>
      </p:grpSp>
      <p:grpSp>
        <p:nvGrpSpPr>
          <p:cNvPr name="Group 169" id="169"/>
          <p:cNvGrpSpPr/>
          <p:nvPr/>
        </p:nvGrpSpPr>
        <p:grpSpPr>
          <a:xfrm rot="0">
            <a:off x="12456947" y="7391629"/>
            <a:ext cx="4991100" cy="2334311"/>
            <a:chOff x="0" y="0"/>
            <a:chExt cx="6654800" cy="3112414"/>
          </a:xfrm>
        </p:grpSpPr>
        <p:sp>
          <p:nvSpPr>
            <p:cNvPr name="Freeform 170" id="170"/>
            <p:cNvSpPr/>
            <p:nvPr/>
          </p:nvSpPr>
          <p:spPr>
            <a:xfrm flipH="false" flipV="false" rot="0">
              <a:off x="12700" y="12700"/>
              <a:ext cx="6629400" cy="3086989"/>
            </a:xfrm>
            <a:custGeom>
              <a:avLst/>
              <a:gdLst/>
              <a:ahLst/>
              <a:cxnLst/>
              <a:rect r="r" b="b" t="t" l="l"/>
              <a:pathLst>
                <a:path h="3086989" w="6629400">
                  <a:moveTo>
                    <a:pt x="0" y="0"/>
                  </a:moveTo>
                  <a:lnTo>
                    <a:pt x="6629400" y="0"/>
                  </a:lnTo>
                  <a:lnTo>
                    <a:pt x="6629400" y="3086989"/>
                  </a:lnTo>
                  <a:lnTo>
                    <a:pt x="0" y="3086989"/>
                  </a:lnTo>
                  <a:close/>
                </a:path>
              </a:pathLst>
            </a:custGeom>
            <a:solidFill>
              <a:srgbClr val="1E1E24"/>
            </a:solidFill>
          </p:spPr>
          <p:txBody>
            <a:bodyPr/>
            <a:p/>
          </p:txBody>
        </p:sp>
        <p:sp>
          <p:nvSpPr>
            <p:cNvPr name="Freeform 171" id="171"/>
            <p:cNvSpPr/>
            <p:nvPr/>
          </p:nvSpPr>
          <p:spPr>
            <a:xfrm flipH="false" flipV="false" rot="0">
              <a:off x="0" y="0"/>
              <a:ext cx="6654800" cy="3112389"/>
            </a:xfrm>
            <a:custGeom>
              <a:avLst/>
              <a:gdLst/>
              <a:ahLst/>
              <a:cxnLst/>
              <a:rect r="r" b="b" t="t" l="l"/>
              <a:pathLst>
                <a:path h="3112389" w="6654800">
                  <a:moveTo>
                    <a:pt x="12700" y="0"/>
                  </a:moveTo>
                  <a:lnTo>
                    <a:pt x="6642100" y="0"/>
                  </a:lnTo>
                  <a:cubicBezTo>
                    <a:pt x="6649085" y="0"/>
                    <a:pt x="6654800" y="5715"/>
                    <a:pt x="6654800" y="12700"/>
                  </a:cubicBezTo>
                  <a:lnTo>
                    <a:pt x="6654800" y="3099689"/>
                  </a:lnTo>
                  <a:cubicBezTo>
                    <a:pt x="6654800" y="3106674"/>
                    <a:pt x="6649085" y="3112389"/>
                    <a:pt x="6642100" y="3112389"/>
                  </a:cubicBezTo>
                  <a:lnTo>
                    <a:pt x="12700" y="3112389"/>
                  </a:lnTo>
                  <a:cubicBezTo>
                    <a:pt x="5715" y="3112389"/>
                    <a:pt x="0" y="3106674"/>
                    <a:pt x="0" y="3099689"/>
                  </a:cubicBezTo>
                  <a:lnTo>
                    <a:pt x="0" y="12700"/>
                  </a:lnTo>
                  <a:cubicBezTo>
                    <a:pt x="0" y="5715"/>
                    <a:pt x="5715" y="0"/>
                    <a:pt x="12700" y="0"/>
                  </a:cubicBezTo>
                  <a:moveTo>
                    <a:pt x="12700" y="25400"/>
                  </a:moveTo>
                  <a:lnTo>
                    <a:pt x="12700" y="12700"/>
                  </a:lnTo>
                  <a:lnTo>
                    <a:pt x="25400" y="12700"/>
                  </a:lnTo>
                  <a:lnTo>
                    <a:pt x="25400" y="3099689"/>
                  </a:lnTo>
                  <a:lnTo>
                    <a:pt x="12700" y="3099689"/>
                  </a:lnTo>
                  <a:lnTo>
                    <a:pt x="12700" y="3086989"/>
                  </a:lnTo>
                  <a:lnTo>
                    <a:pt x="6642100" y="3086989"/>
                  </a:lnTo>
                  <a:lnTo>
                    <a:pt x="6642100" y="3099689"/>
                  </a:lnTo>
                  <a:lnTo>
                    <a:pt x="6629400" y="3099689"/>
                  </a:lnTo>
                  <a:lnTo>
                    <a:pt x="6629400" y="12700"/>
                  </a:lnTo>
                  <a:lnTo>
                    <a:pt x="6642100" y="12700"/>
                  </a:lnTo>
                  <a:lnTo>
                    <a:pt x="6642100" y="25400"/>
                  </a:lnTo>
                  <a:lnTo>
                    <a:pt x="12700" y="25400"/>
                  </a:lnTo>
                  <a:close/>
                </a:path>
              </a:pathLst>
            </a:custGeom>
            <a:solidFill>
              <a:srgbClr val="40424D"/>
            </a:solidFill>
          </p:spPr>
          <p:txBody>
            <a:bodyPr/>
            <a:p/>
          </p:txBody>
        </p:sp>
      </p:grpSp>
      <p:grpSp>
        <p:nvGrpSpPr>
          <p:cNvPr name="Group 172" id="172"/>
          <p:cNvGrpSpPr/>
          <p:nvPr/>
        </p:nvGrpSpPr>
        <p:grpSpPr>
          <a:xfrm rot="0">
            <a:off x="12755956" y="8291398"/>
            <a:ext cx="533400" cy="533400"/>
            <a:chOff x="0" y="0"/>
            <a:chExt cx="711200" cy="711200"/>
          </a:xfrm>
        </p:grpSpPr>
        <p:sp>
          <p:nvSpPr>
            <p:cNvPr name="Freeform 173" id="173"/>
            <p:cNvSpPr/>
            <p:nvPr/>
          </p:nvSpPr>
          <p:spPr>
            <a:xfrm flipH="false" flipV="false" rot="0">
              <a:off x="12700" y="1270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FFFF">
                <a:alpha val="0"/>
              </a:srgbClr>
            </a:solidFill>
          </p:spPr>
          <p:txBody>
            <a:bodyPr/>
            <a:p/>
          </p:txBody>
        </p:sp>
      </p:grpSp>
      <p:grpSp>
        <p:nvGrpSpPr>
          <p:cNvPr name="Group 174" id="174"/>
          <p:cNvGrpSpPr/>
          <p:nvPr/>
        </p:nvGrpSpPr>
        <p:grpSpPr>
          <a:xfrm rot="0">
            <a:off x="12880696" y="8414766"/>
            <a:ext cx="285293" cy="285293"/>
            <a:chOff x="0" y="0"/>
            <a:chExt cx="380390" cy="380390"/>
          </a:xfrm>
        </p:grpSpPr>
        <p:sp>
          <p:nvSpPr>
            <p:cNvPr name="Freeform 175" id="175"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15"/>
              <a:stretch>
                <a:fillRect l="0" t="0" r="-6" b="-6"/>
              </a:stretch>
            </a:blipFill>
          </p:spPr>
          <p:txBody>
            <a:bodyPr/>
            <a:p/>
          </p:txBody>
        </p:sp>
      </p:grpSp>
      <p:grpSp>
        <p:nvGrpSpPr>
          <p:cNvPr name="Group 176" id="176"/>
          <p:cNvGrpSpPr/>
          <p:nvPr/>
        </p:nvGrpSpPr>
        <p:grpSpPr>
          <a:xfrm rot="0">
            <a:off x="13508888" y="8233715"/>
            <a:ext cx="3774643" cy="391173"/>
            <a:chOff x="0" y="0"/>
            <a:chExt cx="5032858" cy="521564"/>
          </a:xfrm>
        </p:grpSpPr>
        <p:sp>
          <p:nvSpPr>
            <p:cNvPr name="Freeform 177" id="177"/>
            <p:cNvSpPr/>
            <p:nvPr/>
          </p:nvSpPr>
          <p:spPr>
            <a:xfrm flipH="false" flipV="false" rot="0">
              <a:off x="0" y="0"/>
              <a:ext cx="5032858" cy="521564"/>
            </a:xfrm>
            <a:custGeom>
              <a:avLst/>
              <a:gdLst/>
              <a:ahLst/>
              <a:cxnLst/>
              <a:rect r="r" b="b" t="t" l="l"/>
              <a:pathLst>
                <a:path h="521564" w="5032858">
                  <a:moveTo>
                    <a:pt x="0" y="0"/>
                  </a:moveTo>
                  <a:lnTo>
                    <a:pt x="5032858" y="0"/>
                  </a:lnTo>
                  <a:lnTo>
                    <a:pt x="5032858" y="521564"/>
                  </a:lnTo>
                  <a:lnTo>
                    <a:pt x="0" y="521564"/>
                  </a:lnTo>
                  <a:close/>
                </a:path>
              </a:pathLst>
            </a:custGeom>
            <a:blipFill>
              <a:blip r:embed="rId4">
                <a:alphaModFix amt="0"/>
              </a:blip>
              <a:stretch>
                <a:fillRect l="0" t="-144192" r="0" b="-131851"/>
              </a:stretch>
            </a:blipFill>
          </p:spPr>
          <p:txBody>
            <a:bodyPr/>
            <a:p/>
          </p:txBody>
        </p:sp>
        <p:sp>
          <p:nvSpPr>
            <p:cNvPr name="TextBox 178" id="178"/>
            <p:cNvSpPr txBox="true"/>
            <p:nvPr/>
          </p:nvSpPr>
          <p:spPr>
            <a:xfrm>
              <a:off x="0" y="9525"/>
              <a:ext cx="5032858" cy="512039"/>
            </a:xfrm>
            <a:prstGeom prst="rect">
              <a:avLst/>
            </a:prstGeom>
          </p:spPr>
          <p:txBody>
            <a:bodyPr anchor="ctr" rtlCol="false" tIns="0" lIns="0" bIns="0" rIns="0"/>
            <a:lstStyle/>
            <a:p>
              <a:pPr algn="l">
                <a:lnSpc>
                  <a:spcPts val="2160"/>
                </a:lnSpc>
              </a:pPr>
              <a:r>
                <a:rPr lang="en-US" sz="1800" b="true">
                  <a:solidFill>
                    <a:srgbClr val="FFFFFF"/>
                  </a:solidFill>
                  <a:latin typeface="Manrope Bold"/>
                  <a:ea typeface="Manrope Bold"/>
                  <a:cs typeface="Manrope Bold"/>
                  <a:sym typeface="Manrope Bold"/>
                </a:rPr>
                <a:t>Testing</a:t>
              </a:r>
            </a:p>
          </p:txBody>
        </p:sp>
      </p:grpSp>
      <p:grpSp>
        <p:nvGrpSpPr>
          <p:cNvPr name="Group 179" id="179"/>
          <p:cNvGrpSpPr/>
          <p:nvPr/>
        </p:nvGrpSpPr>
        <p:grpSpPr>
          <a:xfrm rot="0">
            <a:off x="13508888" y="8663026"/>
            <a:ext cx="4319168" cy="263957"/>
            <a:chOff x="0" y="0"/>
            <a:chExt cx="5758891" cy="351942"/>
          </a:xfrm>
        </p:grpSpPr>
        <p:sp>
          <p:nvSpPr>
            <p:cNvPr name="Freeform 180" id="180"/>
            <p:cNvSpPr/>
            <p:nvPr/>
          </p:nvSpPr>
          <p:spPr>
            <a:xfrm flipH="false" flipV="false" rot="0">
              <a:off x="0" y="0"/>
              <a:ext cx="5758892" cy="351943"/>
            </a:xfrm>
            <a:custGeom>
              <a:avLst/>
              <a:gdLst/>
              <a:ahLst/>
              <a:cxnLst/>
              <a:rect r="r" b="b" t="t" l="l"/>
              <a:pathLst>
                <a:path h="351943" w="5758892">
                  <a:moveTo>
                    <a:pt x="0" y="0"/>
                  </a:moveTo>
                  <a:lnTo>
                    <a:pt x="5758892" y="0"/>
                  </a:lnTo>
                  <a:lnTo>
                    <a:pt x="5758892" y="351943"/>
                  </a:lnTo>
                  <a:lnTo>
                    <a:pt x="0" y="351943"/>
                  </a:lnTo>
                  <a:close/>
                </a:path>
              </a:pathLst>
            </a:custGeom>
            <a:blipFill>
              <a:blip r:embed="rId4">
                <a:alphaModFix amt="0"/>
              </a:blip>
              <a:stretch>
                <a:fillRect l="0" t="-275447" r="0" b="-262225"/>
              </a:stretch>
            </a:blipFill>
          </p:spPr>
          <p:txBody>
            <a:bodyPr/>
            <a:p/>
          </p:txBody>
        </p:sp>
        <p:sp>
          <p:nvSpPr>
            <p:cNvPr name="TextBox 181" id="181"/>
            <p:cNvSpPr txBox="true"/>
            <p:nvPr/>
          </p:nvSpPr>
          <p:spPr>
            <a:xfrm>
              <a:off x="0" y="0"/>
              <a:ext cx="5758891" cy="3519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La donnée scientifique couplée à l'intuition.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0" y="0"/>
            <a:ext cx="5715457" cy="10287000"/>
            <a:chOff x="0" y="0"/>
            <a:chExt cx="7620610" cy="13716000"/>
          </a:xfrm>
        </p:grpSpPr>
        <p:sp>
          <p:nvSpPr>
            <p:cNvPr name="Freeform 9" id="9"/>
            <p:cNvSpPr/>
            <p:nvPr/>
          </p:nvSpPr>
          <p:spPr>
            <a:xfrm flipH="false" flipV="false" rot="0">
              <a:off x="0" y="0"/>
              <a:ext cx="7620635" cy="13716000"/>
            </a:xfrm>
            <a:custGeom>
              <a:avLst/>
              <a:gdLst/>
              <a:ahLst/>
              <a:cxnLst/>
              <a:rect r="r" b="b" t="t" l="l"/>
              <a:pathLst>
                <a:path h="13716000" w="7620635">
                  <a:moveTo>
                    <a:pt x="0" y="0"/>
                  </a:moveTo>
                  <a:lnTo>
                    <a:pt x="7620635" y="0"/>
                  </a:lnTo>
                  <a:lnTo>
                    <a:pt x="7620635" y="13716000"/>
                  </a:lnTo>
                  <a:lnTo>
                    <a:pt x="0" y="13716000"/>
                  </a:lnTo>
                  <a:close/>
                </a:path>
              </a:pathLst>
            </a:custGeom>
            <a:solidFill>
              <a:srgbClr val="1E1E24">
                <a:alpha val="15686"/>
              </a:srgbClr>
            </a:solidFill>
          </p:spPr>
          <p:txBody>
            <a:bodyPr/>
            <a:p/>
          </p:txBody>
        </p:sp>
      </p:grpSp>
      <p:grpSp>
        <p:nvGrpSpPr>
          <p:cNvPr name="Group 10" id="10"/>
          <p:cNvGrpSpPr/>
          <p:nvPr/>
        </p:nvGrpSpPr>
        <p:grpSpPr>
          <a:xfrm rot="0">
            <a:off x="5692216" y="-9525"/>
            <a:ext cx="32766" cy="10306050"/>
            <a:chOff x="0" y="0"/>
            <a:chExt cx="43688" cy="13741400"/>
          </a:xfrm>
        </p:grpSpPr>
        <p:sp>
          <p:nvSpPr>
            <p:cNvPr name="Freeform 11" id="11"/>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2" id="12"/>
          <p:cNvGrpSpPr/>
          <p:nvPr/>
        </p:nvGrpSpPr>
        <p:grpSpPr>
          <a:xfrm rot="0">
            <a:off x="571957" y="571957"/>
            <a:ext cx="4729277" cy="332327"/>
            <a:chOff x="0" y="0"/>
            <a:chExt cx="6305702" cy="443103"/>
          </a:xfrm>
        </p:grpSpPr>
        <p:sp>
          <p:nvSpPr>
            <p:cNvPr name="Freeform 13" id="13"/>
            <p:cNvSpPr/>
            <p:nvPr/>
          </p:nvSpPr>
          <p:spPr>
            <a:xfrm flipH="false" flipV="false" rot="0">
              <a:off x="0" y="0"/>
              <a:ext cx="6305702" cy="443104"/>
            </a:xfrm>
            <a:custGeom>
              <a:avLst/>
              <a:gdLst/>
              <a:ahLst/>
              <a:cxnLst/>
              <a:rect r="r" b="b" t="t" l="l"/>
              <a:pathLst>
                <a:path h="443104" w="6305702">
                  <a:moveTo>
                    <a:pt x="0" y="0"/>
                  </a:moveTo>
                  <a:lnTo>
                    <a:pt x="6305702" y="0"/>
                  </a:lnTo>
                  <a:lnTo>
                    <a:pt x="6305702" y="443104"/>
                  </a:lnTo>
                  <a:lnTo>
                    <a:pt x="0" y="443104"/>
                  </a:lnTo>
                  <a:close/>
                </a:path>
              </a:pathLst>
            </a:custGeom>
            <a:blipFill>
              <a:blip r:embed="rId4">
                <a:alphaModFix amt="0"/>
              </a:blip>
              <a:stretch>
                <a:fillRect l="0" t="-232093" r="0" b="-222480"/>
              </a:stretch>
            </a:blipFill>
          </p:spPr>
          <p:txBody>
            <a:bodyPr/>
            <a:p/>
          </p:txBody>
        </p:sp>
        <p:sp>
          <p:nvSpPr>
            <p:cNvPr name="TextBox 14" id="14"/>
            <p:cNvSpPr txBox="true"/>
            <p:nvPr/>
          </p:nvSpPr>
          <p:spPr>
            <a:xfrm>
              <a:off x="0" y="-9525"/>
              <a:ext cx="6305702"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Fondations Pylier #1</a:t>
              </a:r>
            </a:p>
          </p:txBody>
        </p:sp>
      </p:grpSp>
      <p:grpSp>
        <p:nvGrpSpPr>
          <p:cNvPr name="Group 15" id="15"/>
          <p:cNvGrpSpPr/>
          <p:nvPr/>
        </p:nvGrpSpPr>
        <p:grpSpPr>
          <a:xfrm rot="0">
            <a:off x="562432" y="562432"/>
            <a:ext cx="304343" cy="32766"/>
            <a:chOff x="0" y="0"/>
            <a:chExt cx="405790" cy="43688"/>
          </a:xfrm>
        </p:grpSpPr>
        <p:sp>
          <p:nvSpPr>
            <p:cNvPr name="Freeform 16" id="16"/>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7" id="17"/>
          <p:cNvGrpSpPr/>
          <p:nvPr/>
        </p:nvGrpSpPr>
        <p:grpSpPr>
          <a:xfrm rot="0">
            <a:off x="571957" y="1243623"/>
            <a:ext cx="4729277" cy="485508"/>
            <a:chOff x="0" y="0"/>
            <a:chExt cx="6305702" cy="647343"/>
          </a:xfrm>
        </p:grpSpPr>
        <p:sp>
          <p:nvSpPr>
            <p:cNvPr name="Freeform 18" id="18"/>
            <p:cNvSpPr/>
            <p:nvPr/>
          </p:nvSpPr>
          <p:spPr>
            <a:xfrm flipH="false" flipV="false" rot="0">
              <a:off x="0" y="0"/>
              <a:ext cx="6305702" cy="647344"/>
            </a:xfrm>
            <a:custGeom>
              <a:avLst/>
              <a:gdLst/>
              <a:ahLst/>
              <a:cxnLst/>
              <a:rect r="r" b="b" t="t" l="l"/>
              <a:pathLst>
                <a:path h="647344" w="6305702">
                  <a:moveTo>
                    <a:pt x="0" y="0"/>
                  </a:moveTo>
                  <a:lnTo>
                    <a:pt x="6305702" y="0"/>
                  </a:lnTo>
                  <a:lnTo>
                    <a:pt x="6305702" y="647344"/>
                  </a:lnTo>
                  <a:lnTo>
                    <a:pt x="0" y="647344"/>
                  </a:lnTo>
                  <a:close/>
                </a:path>
              </a:pathLst>
            </a:custGeom>
            <a:blipFill>
              <a:blip r:embed="rId4">
                <a:alphaModFix amt="0"/>
              </a:blip>
              <a:stretch>
                <a:fillRect l="0" t="-166212" r="0" b="-113390"/>
              </a:stretch>
            </a:blipFill>
          </p:spPr>
          <p:txBody>
            <a:bodyPr/>
            <a:p/>
          </p:txBody>
        </p:sp>
        <p:sp>
          <p:nvSpPr>
            <p:cNvPr name="TextBox 19" id="19"/>
            <p:cNvSpPr txBox="true"/>
            <p:nvPr/>
          </p:nvSpPr>
          <p:spPr>
            <a:xfrm>
              <a:off x="0" y="0"/>
              <a:ext cx="6305702" cy="647343"/>
            </a:xfrm>
            <a:prstGeom prst="rect">
              <a:avLst/>
            </a:prstGeom>
          </p:spPr>
          <p:txBody>
            <a:bodyPr anchor="ctr" rtlCol="false" tIns="0" lIns="0" bIns="0" rIns="0"/>
            <a:lstStyle/>
            <a:p>
              <a:pPr algn="l">
                <a:lnSpc>
                  <a:spcPts val="2639"/>
                </a:lnSpc>
              </a:pPr>
              <a:r>
                <a:rPr lang="en-US" sz="2199" spc="-274">
                  <a:solidFill>
                    <a:srgbClr val="FFFFFF"/>
                  </a:solidFill>
                  <a:latin typeface="Manrope"/>
                  <a:ea typeface="Manrope"/>
                  <a:cs typeface="Manrope"/>
                  <a:sym typeface="Manrope"/>
                </a:rPr>
                <a:t>SOMMEIL</a:t>
              </a:r>
            </a:p>
          </p:txBody>
        </p:sp>
      </p:grpSp>
      <p:grpSp>
        <p:nvGrpSpPr>
          <p:cNvPr name="Group 20" id="20"/>
          <p:cNvGrpSpPr/>
          <p:nvPr/>
        </p:nvGrpSpPr>
        <p:grpSpPr>
          <a:xfrm rot="0">
            <a:off x="571957" y="1671980"/>
            <a:ext cx="5413705" cy="498491"/>
            <a:chOff x="0" y="0"/>
            <a:chExt cx="7218274" cy="664654"/>
          </a:xfrm>
        </p:grpSpPr>
        <p:sp>
          <p:nvSpPr>
            <p:cNvPr name="Freeform 21" id="21"/>
            <p:cNvSpPr/>
            <p:nvPr/>
          </p:nvSpPr>
          <p:spPr>
            <a:xfrm flipH="false" flipV="false" rot="0">
              <a:off x="0" y="0"/>
              <a:ext cx="7218274" cy="664655"/>
            </a:xfrm>
            <a:custGeom>
              <a:avLst/>
              <a:gdLst/>
              <a:ahLst/>
              <a:cxnLst/>
              <a:rect r="r" b="b" t="t" l="l"/>
              <a:pathLst>
                <a:path h="664655" w="7218274">
                  <a:moveTo>
                    <a:pt x="0" y="0"/>
                  </a:moveTo>
                  <a:lnTo>
                    <a:pt x="7218274" y="0"/>
                  </a:lnTo>
                  <a:lnTo>
                    <a:pt x="7218274" y="664655"/>
                  </a:lnTo>
                  <a:lnTo>
                    <a:pt x="0" y="664655"/>
                  </a:lnTo>
                  <a:close/>
                </a:path>
              </a:pathLst>
            </a:custGeom>
            <a:blipFill>
              <a:blip r:embed="rId4">
                <a:alphaModFix amt="0"/>
              </a:blip>
              <a:stretch>
                <a:fillRect l="0" t="-171439" r="0" b="-151783"/>
              </a:stretch>
            </a:blipFill>
          </p:spPr>
          <p:txBody>
            <a:bodyPr/>
            <a:p/>
          </p:txBody>
        </p:sp>
        <p:sp>
          <p:nvSpPr>
            <p:cNvPr name="TextBox 22" id="22"/>
            <p:cNvSpPr txBox="true"/>
            <p:nvPr/>
          </p:nvSpPr>
          <p:spPr>
            <a:xfrm>
              <a:off x="0" y="-9525"/>
              <a:ext cx="7218274"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Le 1er médicament de la longévité.</a:t>
              </a:r>
            </a:p>
          </p:txBody>
        </p:sp>
      </p:grpSp>
      <p:grpSp>
        <p:nvGrpSpPr>
          <p:cNvPr name="Group 23" id="23"/>
          <p:cNvGrpSpPr/>
          <p:nvPr/>
        </p:nvGrpSpPr>
        <p:grpSpPr>
          <a:xfrm rot="0">
            <a:off x="571957" y="2529230"/>
            <a:ext cx="4729277" cy="293380"/>
            <a:chOff x="0" y="0"/>
            <a:chExt cx="6305702" cy="391173"/>
          </a:xfrm>
        </p:grpSpPr>
        <p:sp>
          <p:nvSpPr>
            <p:cNvPr name="Freeform 24" id="24"/>
            <p:cNvSpPr/>
            <p:nvPr/>
          </p:nvSpPr>
          <p:spPr>
            <a:xfrm flipH="false" flipV="false" rot="0">
              <a:off x="0" y="0"/>
              <a:ext cx="6305702" cy="391173"/>
            </a:xfrm>
            <a:custGeom>
              <a:avLst/>
              <a:gdLst/>
              <a:ahLst/>
              <a:cxnLst/>
              <a:rect r="r" b="b" t="t" l="l"/>
              <a:pathLst>
                <a:path h="391173" w="6305702">
                  <a:moveTo>
                    <a:pt x="0" y="0"/>
                  </a:moveTo>
                  <a:lnTo>
                    <a:pt x="6305702" y="0"/>
                  </a:lnTo>
                  <a:lnTo>
                    <a:pt x="6305702" y="391173"/>
                  </a:lnTo>
                  <a:lnTo>
                    <a:pt x="0" y="391173"/>
                  </a:lnTo>
                  <a:close/>
                </a:path>
              </a:pathLst>
            </a:custGeom>
            <a:blipFill>
              <a:blip r:embed="rId4">
                <a:alphaModFix amt="0"/>
              </a:blip>
              <a:stretch>
                <a:fillRect l="0" t="-275060" r="0" b="-253136"/>
              </a:stretch>
            </a:blipFill>
          </p:spPr>
          <p:txBody>
            <a:bodyPr/>
            <a:p/>
          </p:txBody>
        </p:sp>
        <p:sp>
          <p:nvSpPr>
            <p:cNvPr name="TextBox 25" id="25"/>
            <p:cNvSpPr txBox="true"/>
            <p:nvPr/>
          </p:nvSpPr>
          <p:spPr>
            <a:xfrm>
              <a:off x="0" y="0"/>
              <a:ext cx="63057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Orchestre Hormonal</a:t>
              </a:r>
            </a:p>
          </p:txBody>
        </p:sp>
      </p:grpSp>
      <p:grpSp>
        <p:nvGrpSpPr>
          <p:cNvPr name="Group 26" id="26"/>
          <p:cNvGrpSpPr/>
          <p:nvPr/>
        </p:nvGrpSpPr>
        <p:grpSpPr>
          <a:xfrm rot="0">
            <a:off x="562432" y="2976448"/>
            <a:ext cx="2219096" cy="1376934"/>
            <a:chOff x="0" y="0"/>
            <a:chExt cx="2958795" cy="1835912"/>
          </a:xfrm>
        </p:grpSpPr>
        <p:sp>
          <p:nvSpPr>
            <p:cNvPr name="Freeform 27" id="27"/>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28" id="28"/>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29" id="29"/>
          <p:cNvGrpSpPr/>
          <p:nvPr/>
        </p:nvGrpSpPr>
        <p:grpSpPr>
          <a:xfrm rot="0">
            <a:off x="814730" y="3228746"/>
            <a:ext cx="1829714" cy="293380"/>
            <a:chOff x="0" y="0"/>
            <a:chExt cx="2439619" cy="391173"/>
          </a:xfrm>
        </p:grpSpPr>
        <p:sp>
          <p:nvSpPr>
            <p:cNvPr name="Freeform 30" id="30"/>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4">
                <a:alphaModFix amt="0"/>
              </a:blip>
              <a:stretch>
                <a:fillRect l="0" t="-77575" r="0" b="-65468"/>
              </a:stretch>
            </a:blipFill>
          </p:spPr>
          <p:txBody>
            <a:bodyPr/>
            <a:p/>
          </p:txBody>
        </p:sp>
        <p:sp>
          <p:nvSpPr>
            <p:cNvPr name="TextBox 31" id="31"/>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Testostérone</a:t>
              </a:r>
            </a:p>
          </p:txBody>
        </p:sp>
      </p:grpSp>
      <p:grpSp>
        <p:nvGrpSpPr>
          <p:cNvPr name="Group 32" id="32"/>
          <p:cNvGrpSpPr/>
          <p:nvPr/>
        </p:nvGrpSpPr>
        <p:grpSpPr>
          <a:xfrm rot="0">
            <a:off x="814730" y="3542843"/>
            <a:ext cx="1800911" cy="625907"/>
            <a:chOff x="0" y="0"/>
            <a:chExt cx="2401214" cy="834542"/>
          </a:xfrm>
        </p:grpSpPr>
        <p:sp>
          <p:nvSpPr>
            <p:cNvPr name="Freeform 33" id="33"/>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4">
                <a:alphaModFix amt="0"/>
              </a:blip>
              <a:stretch>
                <a:fillRect l="0" t="-11469" r="0" b="-658"/>
              </a:stretch>
            </a:blipFill>
          </p:spPr>
          <p:txBody>
            <a:bodyPr/>
            <a:p/>
          </p:txBody>
        </p:sp>
        <p:sp>
          <p:nvSpPr>
            <p:cNvPr name="TextBox 34" id="34"/>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Pic de production nocturne. Réparation musculaire &amp; vitalité.</a:t>
              </a:r>
            </a:p>
          </p:txBody>
        </p:sp>
      </p:grpSp>
      <p:grpSp>
        <p:nvGrpSpPr>
          <p:cNvPr name="Group 35" id="35"/>
          <p:cNvGrpSpPr/>
          <p:nvPr/>
        </p:nvGrpSpPr>
        <p:grpSpPr>
          <a:xfrm rot="0">
            <a:off x="2927071" y="2976448"/>
            <a:ext cx="2219096" cy="1376934"/>
            <a:chOff x="0" y="0"/>
            <a:chExt cx="2958795" cy="1835912"/>
          </a:xfrm>
        </p:grpSpPr>
        <p:sp>
          <p:nvSpPr>
            <p:cNvPr name="Freeform 36" id="36"/>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37" id="37"/>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38" id="38"/>
          <p:cNvGrpSpPr/>
          <p:nvPr/>
        </p:nvGrpSpPr>
        <p:grpSpPr>
          <a:xfrm rot="0">
            <a:off x="3179369" y="3228746"/>
            <a:ext cx="1829714" cy="293380"/>
            <a:chOff x="0" y="0"/>
            <a:chExt cx="2439619" cy="391173"/>
          </a:xfrm>
        </p:grpSpPr>
        <p:sp>
          <p:nvSpPr>
            <p:cNvPr name="Freeform 39" id="39"/>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4">
                <a:alphaModFix amt="0"/>
              </a:blip>
              <a:stretch>
                <a:fillRect l="0" t="-77575" r="0" b="-65468"/>
              </a:stretch>
            </a:blipFill>
          </p:spPr>
          <p:txBody>
            <a:bodyPr/>
            <a:p/>
          </p:txBody>
        </p:sp>
        <p:sp>
          <p:nvSpPr>
            <p:cNvPr name="TextBox 40" id="40"/>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Cortisol</a:t>
              </a:r>
            </a:p>
          </p:txBody>
        </p:sp>
      </p:grpSp>
      <p:grpSp>
        <p:nvGrpSpPr>
          <p:cNvPr name="Group 41" id="41"/>
          <p:cNvGrpSpPr/>
          <p:nvPr/>
        </p:nvGrpSpPr>
        <p:grpSpPr>
          <a:xfrm rot="0">
            <a:off x="3179369" y="3542843"/>
            <a:ext cx="1800911" cy="625907"/>
            <a:chOff x="0" y="0"/>
            <a:chExt cx="2401214" cy="834542"/>
          </a:xfrm>
        </p:grpSpPr>
        <p:sp>
          <p:nvSpPr>
            <p:cNvPr name="Freeform 42" id="42"/>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4">
                <a:alphaModFix amt="0"/>
              </a:blip>
              <a:stretch>
                <a:fillRect l="0" t="-11469" r="0" b="-658"/>
              </a:stretch>
            </a:blipFill>
          </p:spPr>
          <p:txBody>
            <a:bodyPr/>
            <a:p/>
          </p:txBody>
        </p:sp>
        <p:sp>
          <p:nvSpPr>
            <p:cNvPr name="TextBox 43" id="43"/>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Régulation du stress. Doit être bas le soir pour l'endormissement.</a:t>
              </a:r>
            </a:p>
          </p:txBody>
        </p:sp>
      </p:grpSp>
      <p:grpSp>
        <p:nvGrpSpPr>
          <p:cNvPr name="Group 44" id="44"/>
          <p:cNvGrpSpPr/>
          <p:nvPr/>
        </p:nvGrpSpPr>
        <p:grpSpPr>
          <a:xfrm rot="0">
            <a:off x="562432" y="4505782"/>
            <a:ext cx="2219096" cy="1376934"/>
            <a:chOff x="0" y="0"/>
            <a:chExt cx="2958795" cy="1835912"/>
          </a:xfrm>
        </p:grpSpPr>
        <p:sp>
          <p:nvSpPr>
            <p:cNvPr name="Freeform 45" id="45"/>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46" id="46"/>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47" id="47"/>
          <p:cNvGrpSpPr/>
          <p:nvPr/>
        </p:nvGrpSpPr>
        <p:grpSpPr>
          <a:xfrm rot="0">
            <a:off x="814730" y="4758080"/>
            <a:ext cx="1829714" cy="293380"/>
            <a:chOff x="0" y="0"/>
            <a:chExt cx="2439619" cy="391173"/>
          </a:xfrm>
        </p:grpSpPr>
        <p:sp>
          <p:nvSpPr>
            <p:cNvPr name="Freeform 48" id="48"/>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4">
                <a:alphaModFix amt="0"/>
              </a:blip>
              <a:stretch>
                <a:fillRect l="0" t="-77575" r="0" b="-65468"/>
              </a:stretch>
            </a:blipFill>
          </p:spPr>
          <p:txBody>
            <a:bodyPr/>
            <a:p/>
          </p:txBody>
        </p:sp>
        <p:sp>
          <p:nvSpPr>
            <p:cNvPr name="TextBox 49" id="49"/>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Leptine</a:t>
              </a:r>
            </a:p>
          </p:txBody>
        </p:sp>
      </p:grpSp>
      <p:grpSp>
        <p:nvGrpSpPr>
          <p:cNvPr name="Group 50" id="50"/>
          <p:cNvGrpSpPr/>
          <p:nvPr/>
        </p:nvGrpSpPr>
        <p:grpSpPr>
          <a:xfrm rot="0">
            <a:off x="814730" y="5072177"/>
            <a:ext cx="1800911" cy="625907"/>
            <a:chOff x="0" y="0"/>
            <a:chExt cx="2401214" cy="834542"/>
          </a:xfrm>
        </p:grpSpPr>
        <p:sp>
          <p:nvSpPr>
            <p:cNvPr name="Freeform 51" id="51"/>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4">
                <a:alphaModFix amt="0"/>
              </a:blip>
              <a:stretch>
                <a:fillRect l="0" t="-11469" r="0" b="-658"/>
              </a:stretch>
            </a:blipFill>
          </p:spPr>
          <p:txBody>
            <a:bodyPr/>
            <a:p/>
          </p:txBody>
        </p:sp>
        <p:sp>
          <p:nvSpPr>
            <p:cNvPr name="TextBox 52" id="52"/>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Hormone de satiété. Chute drastiquement en cas de dette.</a:t>
              </a:r>
            </a:p>
          </p:txBody>
        </p:sp>
      </p:grpSp>
      <p:grpSp>
        <p:nvGrpSpPr>
          <p:cNvPr name="Group 53" id="53"/>
          <p:cNvGrpSpPr/>
          <p:nvPr/>
        </p:nvGrpSpPr>
        <p:grpSpPr>
          <a:xfrm rot="0">
            <a:off x="2927071" y="4505782"/>
            <a:ext cx="2219096" cy="1376934"/>
            <a:chOff x="0" y="0"/>
            <a:chExt cx="2958795" cy="1835912"/>
          </a:xfrm>
        </p:grpSpPr>
        <p:sp>
          <p:nvSpPr>
            <p:cNvPr name="Freeform 54" id="54"/>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55" id="55"/>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56" id="56"/>
          <p:cNvGrpSpPr/>
          <p:nvPr/>
        </p:nvGrpSpPr>
        <p:grpSpPr>
          <a:xfrm rot="0">
            <a:off x="3179369" y="4758080"/>
            <a:ext cx="1829714" cy="293380"/>
            <a:chOff x="0" y="0"/>
            <a:chExt cx="2439619" cy="391173"/>
          </a:xfrm>
        </p:grpSpPr>
        <p:sp>
          <p:nvSpPr>
            <p:cNvPr name="Freeform 57" id="57"/>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4">
                <a:alphaModFix amt="0"/>
              </a:blip>
              <a:stretch>
                <a:fillRect l="0" t="-77575" r="0" b="-65468"/>
              </a:stretch>
            </a:blipFill>
          </p:spPr>
          <p:txBody>
            <a:bodyPr/>
            <a:p/>
          </p:txBody>
        </p:sp>
        <p:sp>
          <p:nvSpPr>
            <p:cNvPr name="TextBox 58" id="58"/>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Ghréline</a:t>
              </a:r>
            </a:p>
          </p:txBody>
        </p:sp>
      </p:grpSp>
      <p:grpSp>
        <p:nvGrpSpPr>
          <p:cNvPr name="Group 59" id="59"/>
          <p:cNvGrpSpPr/>
          <p:nvPr/>
        </p:nvGrpSpPr>
        <p:grpSpPr>
          <a:xfrm rot="0">
            <a:off x="3179369" y="5072177"/>
            <a:ext cx="1800911" cy="625907"/>
            <a:chOff x="0" y="0"/>
            <a:chExt cx="2401214" cy="834542"/>
          </a:xfrm>
        </p:grpSpPr>
        <p:sp>
          <p:nvSpPr>
            <p:cNvPr name="Freeform 60" id="60"/>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4">
                <a:alphaModFix amt="0"/>
              </a:blip>
              <a:stretch>
                <a:fillRect l="0" t="-11469" r="0" b="-658"/>
              </a:stretch>
            </a:blipFill>
          </p:spPr>
          <p:txBody>
            <a:bodyPr/>
            <a:p/>
          </p:txBody>
        </p:sp>
        <p:sp>
          <p:nvSpPr>
            <p:cNvPr name="TextBox 61" id="61"/>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Hormone de la faim. Augmente les fringales de sucre.</a:t>
              </a:r>
            </a:p>
          </p:txBody>
        </p:sp>
      </p:grpSp>
      <p:grpSp>
        <p:nvGrpSpPr>
          <p:cNvPr name="Group 62" id="62"/>
          <p:cNvGrpSpPr/>
          <p:nvPr/>
        </p:nvGrpSpPr>
        <p:grpSpPr>
          <a:xfrm rot="0">
            <a:off x="562432" y="7848371"/>
            <a:ext cx="4576877" cy="1876196"/>
            <a:chOff x="0" y="0"/>
            <a:chExt cx="6102502" cy="2501595"/>
          </a:xfrm>
        </p:grpSpPr>
        <p:sp>
          <p:nvSpPr>
            <p:cNvPr name="Freeform 63" id="63"/>
            <p:cNvSpPr/>
            <p:nvPr/>
          </p:nvSpPr>
          <p:spPr>
            <a:xfrm flipH="false" flipV="false" rot="0">
              <a:off x="12700" y="12700"/>
              <a:ext cx="6077077" cy="2476246"/>
            </a:xfrm>
            <a:custGeom>
              <a:avLst/>
              <a:gdLst/>
              <a:ahLst/>
              <a:cxnLst/>
              <a:rect r="r" b="b" t="t" l="l"/>
              <a:pathLst>
                <a:path h="2476246" w="6077077">
                  <a:moveTo>
                    <a:pt x="0" y="0"/>
                  </a:moveTo>
                  <a:lnTo>
                    <a:pt x="6077077" y="0"/>
                  </a:lnTo>
                  <a:lnTo>
                    <a:pt x="6077077" y="2476246"/>
                  </a:lnTo>
                  <a:lnTo>
                    <a:pt x="0" y="2476246"/>
                  </a:lnTo>
                  <a:close/>
                </a:path>
              </a:pathLst>
            </a:custGeom>
            <a:solidFill>
              <a:srgbClr val="40424D">
                <a:alpha val="784"/>
              </a:srgbClr>
            </a:solidFill>
          </p:spPr>
          <p:txBody>
            <a:bodyPr/>
            <a:p/>
          </p:txBody>
        </p:sp>
        <p:sp>
          <p:nvSpPr>
            <p:cNvPr name="Freeform 64" id="64"/>
            <p:cNvSpPr/>
            <p:nvPr/>
          </p:nvSpPr>
          <p:spPr>
            <a:xfrm flipH="false" flipV="false" rot="0">
              <a:off x="0" y="0"/>
              <a:ext cx="6102477" cy="2501646"/>
            </a:xfrm>
            <a:custGeom>
              <a:avLst/>
              <a:gdLst/>
              <a:ahLst/>
              <a:cxnLst/>
              <a:rect r="r" b="b" t="t" l="l"/>
              <a:pathLst>
                <a:path h="2501646" w="6102477">
                  <a:moveTo>
                    <a:pt x="12700" y="0"/>
                  </a:moveTo>
                  <a:lnTo>
                    <a:pt x="6089777" y="0"/>
                  </a:lnTo>
                  <a:cubicBezTo>
                    <a:pt x="6096762" y="0"/>
                    <a:pt x="6102477" y="5715"/>
                    <a:pt x="6102477" y="12700"/>
                  </a:cubicBezTo>
                  <a:lnTo>
                    <a:pt x="6102477" y="2488946"/>
                  </a:lnTo>
                  <a:cubicBezTo>
                    <a:pt x="6102477" y="2495931"/>
                    <a:pt x="6096762" y="2501646"/>
                    <a:pt x="6089777" y="2501646"/>
                  </a:cubicBezTo>
                  <a:lnTo>
                    <a:pt x="12700" y="2501646"/>
                  </a:lnTo>
                  <a:cubicBezTo>
                    <a:pt x="5715" y="2501646"/>
                    <a:pt x="0" y="2495931"/>
                    <a:pt x="0" y="2488946"/>
                  </a:cubicBezTo>
                  <a:lnTo>
                    <a:pt x="0" y="12700"/>
                  </a:lnTo>
                  <a:cubicBezTo>
                    <a:pt x="0" y="5715"/>
                    <a:pt x="5715" y="0"/>
                    <a:pt x="12700" y="0"/>
                  </a:cubicBezTo>
                  <a:moveTo>
                    <a:pt x="12700" y="25400"/>
                  </a:moveTo>
                  <a:lnTo>
                    <a:pt x="12700" y="12700"/>
                  </a:lnTo>
                  <a:lnTo>
                    <a:pt x="25400" y="12700"/>
                  </a:lnTo>
                  <a:lnTo>
                    <a:pt x="25400" y="2488946"/>
                  </a:lnTo>
                  <a:lnTo>
                    <a:pt x="12700" y="2488946"/>
                  </a:lnTo>
                  <a:lnTo>
                    <a:pt x="12700" y="2476246"/>
                  </a:lnTo>
                  <a:lnTo>
                    <a:pt x="6089777" y="2476246"/>
                  </a:lnTo>
                  <a:lnTo>
                    <a:pt x="6089777" y="2488946"/>
                  </a:lnTo>
                  <a:lnTo>
                    <a:pt x="6077077" y="2488946"/>
                  </a:lnTo>
                  <a:lnTo>
                    <a:pt x="6077077" y="12700"/>
                  </a:lnTo>
                  <a:lnTo>
                    <a:pt x="6089777" y="12700"/>
                  </a:lnTo>
                  <a:lnTo>
                    <a:pt x="6089777" y="25400"/>
                  </a:lnTo>
                  <a:lnTo>
                    <a:pt x="12700" y="25400"/>
                  </a:lnTo>
                  <a:close/>
                </a:path>
              </a:pathLst>
            </a:custGeom>
            <a:solidFill>
              <a:srgbClr val="40424D"/>
            </a:solidFill>
          </p:spPr>
          <p:txBody>
            <a:bodyPr/>
            <a:p/>
          </p:txBody>
        </p:sp>
      </p:grpSp>
      <p:grpSp>
        <p:nvGrpSpPr>
          <p:cNvPr name="Group 65" id="65"/>
          <p:cNvGrpSpPr/>
          <p:nvPr/>
        </p:nvGrpSpPr>
        <p:grpSpPr>
          <a:xfrm rot="0">
            <a:off x="562432" y="7848371"/>
            <a:ext cx="61570" cy="1876196"/>
            <a:chOff x="0" y="0"/>
            <a:chExt cx="82093" cy="2501595"/>
          </a:xfrm>
        </p:grpSpPr>
        <p:sp>
          <p:nvSpPr>
            <p:cNvPr name="Freeform 66" id="66"/>
            <p:cNvSpPr/>
            <p:nvPr/>
          </p:nvSpPr>
          <p:spPr>
            <a:xfrm flipH="false" flipV="false" rot="0">
              <a:off x="12700" y="12700"/>
              <a:ext cx="56642" cy="2476246"/>
            </a:xfrm>
            <a:custGeom>
              <a:avLst/>
              <a:gdLst/>
              <a:ahLst/>
              <a:cxnLst/>
              <a:rect r="r" b="b" t="t" l="l"/>
              <a:pathLst>
                <a:path h="2476246" w="56642">
                  <a:moveTo>
                    <a:pt x="0" y="0"/>
                  </a:moveTo>
                  <a:lnTo>
                    <a:pt x="56642" y="0"/>
                  </a:lnTo>
                  <a:lnTo>
                    <a:pt x="56642" y="2476246"/>
                  </a:lnTo>
                  <a:lnTo>
                    <a:pt x="0" y="2476246"/>
                  </a:lnTo>
                  <a:close/>
                </a:path>
              </a:pathLst>
            </a:custGeom>
            <a:solidFill>
              <a:srgbClr val="FFFFFF"/>
            </a:solidFill>
          </p:spPr>
          <p:txBody>
            <a:bodyPr/>
            <a:p/>
          </p:txBody>
        </p:sp>
      </p:grpSp>
      <p:grpSp>
        <p:nvGrpSpPr>
          <p:cNvPr name="Group 67" id="67"/>
          <p:cNvGrpSpPr/>
          <p:nvPr/>
        </p:nvGrpSpPr>
        <p:grpSpPr>
          <a:xfrm rot="0">
            <a:off x="899770" y="8158277"/>
            <a:ext cx="171450" cy="229057"/>
            <a:chOff x="0" y="0"/>
            <a:chExt cx="228600" cy="305410"/>
          </a:xfrm>
        </p:grpSpPr>
        <p:sp>
          <p:nvSpPr>
            <p:cNvPr name="Freeform 68" id="68" descr="preencoded.png"/>
            <p:cNvSpPr/>
            <p:nvPr/>
          </p:nvSpPr>
          <p:spPr>
            <a:xfrm flipH="false" flipV="false" rot="0">
              <a:off x="0" y="0"/>
              <a:ext cx="228600" cy="305435"/>
            </a:xfrm>
            <a:custGeom>
              <a:avLst/>
              <a:gdLst/>
              <a:ahLst/>
              <a:cxnLst/>
              <a:rect r="r" b="b" t="t" l="l"/>
              <a:pathLst>
                <a:path h="305435" w="228600">
                  <a:moveTo>
                    <a:pt x="0" y="0"/>
                  </a:moveTo>
                  <a:lnTo>
                    <a:pt x="228600" y="0"/>
                  </a:lnTo>
                  <a:lnTo>
                    <a:pt x="228600" y="305435"/>
                  </a:lnTo>
                  <a:lnTo>
                    <a:pt x="0" y="305435"/>
                  </a:lnTo>
                  <a:lnTo>
                    <a:pt x="0" y="0"/>
                  </a:lnTo>
                  <a:close/>
                </a:path>
              </a:pathLst>
            </a:custGeom>
            <a:blipFill>
              <a:blip r:embed="rId5"/>
              <a:stretch>
                <a:fillRect l="0" t="12573" r="0" b="12582"/>
              </a:stretch>
            </a:blipFill>
          </p:spPr>
          <p:txBody>
            <a:bodyPr/>
            <a:p/>
          </p:txBody>
        </p:sp>
      </p:grpSp>
      <p:grpSp>
        <p:nvGrpSpPr>
          <p:cNvPr name="Group 69" id="69"/>
          <p:cNvGrpSpPr/>
          <p:nvPr/>
        </p:nvGrpSpPr>
        <p:grpSpPr>
          <a:xfrm rot="0">
            <a:off x="1186434" y="8158277"/>
            <a:ext cx="2201418" cy="293380"/>
            <a:chOff x="0" y="0"/>
            <a:chExt cx="2935224" cy="391173"/>
          </a:xfrm>
        </p:grpSpPr>
        <p:sp>
          <p:nvSpPr>
            <p:cNvPr name="Freeform 70" id="70"/>
            <p:cNvSpPr/>
            <p:nvPr/>
          </p:nvSpPr>
          <p:spPr>
            <a:xfrm flipH="false" flipV="false" rot="0">
              <a:off x="0" y="0"/>
              <a:ext cx="2935224" cy="391173"/>
            </a:xfrm>
            <a:custGeom>
              <a:avLst/>
              <a:gdLst/>
              <a:ahLst/>
              <a:cxnLst/>
              <a:rect r="r" b="b" t="t" l="l"/>
              <a:pathLst>
                <a:path h="391173" w="2935224">
                  <a:moveTo>
                    <a:pt x="0" y="0"/>
                  </a:moveTo>
                  <a:lnTo>
                    <a:pt x="2935224" y="0"/>
                  </a:lnTo>
                  <a:lnTo>
                    <a:pt x="2935224" y="391173"/>
                  </a:lnTo>
                  <a:lnTo>
                    <a:pt x="0" y="391173"/>
                  </a:lnTo>
                  <a:close/>
                </a:path>
              </a:pathLst>
            </a:custGeom>
            <a:blipFill>
              <a:blip r:embed="rId4">
                <a:alphaModFix amt="0"/>
              </a:blip>
              <a:stretch>
                <a:fillRect l="0" t="-107171" r="0" b="-85246"/>
              </a:stretch>
            </a:blipFill>
          </p:spPr>
          <p:txBody>
            <a:bodyPr/>
            <a:p/>
          </p:txBody>
        </p:sp>
        <p:sp>
          <p:nvSpPr>
            <p:cNvPr name="TextBox 71" id="71"/>
            <p:cNvSpPr txBox="true"/>
            <p:nvPr/>
          </p:nvSpPr>
          <p:spPr>
            <a:xfrm>
              <a:off x="0" y="0"/>
              <a:ext cx="293522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Coût de la Privation</a:t>
              </a:r>
            </a:p>
          </p:txBody>
        </p:sp>
      </p:grpSp>
      <p:grpSp>
        <p:nvGrpSpPr>
          <p:cNvPr name="Group 72" id="72"/>
          <p:cNvGrpSpPr/>
          <p:nvPr/>
        </p:nvGrpSpPr>
        <p:grpSpPr>
          <a:xfrm rot="0">
            <a:off x="899770" y="8501177"/>
            <a:ext cx="4087368" cy="293380"/>
            <a:chOff x="0" y="0"/>
            <a:chExt cx="5449824" cy="391173"/>
          </a:xfrm>
        </p:grpSpPr>
        <p:sp>
          <p:nvSpPr>
            <p:cNvPr name="Freeform 73" id="73"/>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4">
                <a:alphaModFix amt="0"/>
              </a:blip>
              <a:stretch>
                <a:fillRect l="0" t="-232427" r="0" b="-210503"/>
              </a:stretch>
            </a:blipFill>
          </p:spPr>
          <p:txBody>
            <a:bodyPr/>
            <a:p/>
          </p:txBody>
        </p:sp>
        <p:sp>
          <p:nvSpPr>
            <p:cNvPr name="TextBox 74" id="74"/>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Raccourcissement des télomères</a:t>
              </a:r>
            </a:p>
          </p:txBody>
        </p:sp>
      </p:grpSp>
      <p:grpSp>
        <p:nvGrpSpPr>
          <p:cNvPr name="Group 75" id="75"/>
          <p:cNvGrpSpPr/>
          <p:nvPr/>
        </p:nvGrpSpPr>
        <p:grpSpPr>
          <a:xfrm rot="0">
            <a:off x="899770" y="8844077"/>
            <a:ext cx="4087368" cy="293380"/>
            <a:chOff x="0" y="0"/>
            <a:chExt cx="5449824" cy="391173"/>
          </a:xfrm>
        </p:grpSpPr>
        <p:sp>
          <p:nvSpPr>
            <p:cNvPr name="Freeform 76" id="76"/>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4">
                <a:alphaModFix amt="0"/>
              </a:blip>
              <a:stretch>
                <a:fillRect l="0" t="-232427" r="0" b="-210503"/>
              </a:stretch>
            </a:blipFill>
          </p:spPr>
          <p:txBody>
            <a:bodyPr/>
            <a:p/>
          </p:txBody>
        </p:sp>
        <p:sp>
          <p:nvSpPr>
            <p:cNvPr name="TextBox 77" id="77"/>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Résistance à l'insuline immédiate</a:t>
              </a:r>
            </a:p>
          </p:txBody>
        </p:sp>
      </p:grpSp>
      <p:grpSp>
        <p:nvGrpSpPr>
          <p:cNvPr name="Group 78" id="78"/>
          <p:cNvGrpSpPr/>
          <p:nvPr/>
        </p:nvGrpSpPr>
        <p:grpSpPr>
          <a:xfrm rot="0">
            <a:off x="899770" y="9186977"/>
            <a:ext cx="4272534" cy="293380"/>
            <a:chOff x="0" y="0"/>
            <a:chExt cx="5696712" cy="391173"/>
          </a:xfrm>
        </p:grpSpPr>
        <p:sp>
          <p:nvSpPr>
            <p:cNvPr name="Freeform 79" id="79"/>
            <p:cNvSpPr/>
            <p:nvPr/>
          </p:nvSpPr>
          <p:spPr>
            <a:xfrm flipH="false" flipV="false" rot="0">
              <a:off x="0" y="0"/>
              <a:ext cx="5696712" cy="391173"/>
            </a:xfrm>
            <a:custGeom>
              <a:avLst/>
              <a:gdLst/>
              <a:ahLst/>
              <a:cxnLst/>
              <a:rect r="r" b="b" t="t" l="l"/>
              <a:pathLst>
                <a:path h="391173" w="5696712">
                  <a:moveTo>
                    <a:pt x="0" y="0"/>
                  </a:moveTo>
                  <a:lnTo>
                    <a:pt x="5696712" y="0"/>
                  </a:lnTo>
                  <a:lnTo>
                    <a:pt x="5696712" y="391173"/>
                  </a:lnTo>
                  <a:lnTo>
                    <a:pt x="0" y="391173"/>
                  </a:lnTo>
                  <a:close/>
                </a:path>
              </a:pathLst>
            </a:custGeom>
            <a:blipFill>
              <a:blip r:embed="rId4">
                <a:alphaModFix amt="0"/>
              </a:blip>
              <a:stretch>
                <a:fillRect l="0" t="-244725" r="0" b="-222801"/>
              </a:stretch>
            </a:blipFill>
          </p:spPr>
          <p:txBody>
            <a:bodyPr/>
            <a:p/>
          </p:txBody>
        </p:sp>
        <p:sp>
          <p:nvSpPr>
            <p:cNvPr name="TextBox 80" id="80"/>
            <p:cNvSpPr txBox="true"/>
            <p:nvPr/>
          </p:nvSpPr>
          <p:spPr>
            <a:xfrm>
              <a:off x="0" y="0"/>
              <a:ext cx="569671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Accélération de l'horloge épigénétique</a:t>
              </a:r>
            </a:p>
          </p:txBody>
        </p:sp>
      </p:grpSp>
      <p:grpSp>
        <p:nvGrpSpPr>
          <p:cNvPr name="Group 81" id="81"/>
          <p:cNvGrpSpPr/>
          <p:nvPr/>
        </p:nvGrpSpPr>
        <p:grpSpPr>
          <a:xfrm rot="0">
            <a:off x="6572707" y="678942"/>
            <a:ext cx="456743" cy="13716"/>
            <a:chOff x="0" y="0"/>
            <a:chExt cx="608990" cy="18288"/>
          </a:xfrm>
        </p:grpSpPr>
        <p:sp>
          <p:nvSpPr>
            <p:cNvPr name="Freeform 82" id="82"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6"/>
              <a:stretch>
                <a:fillRect l="1949" t="0" r="1945" b="0"/>
              </a:stretch>
            </a:blipFill>
          </p:spPr>
          <p:txBody>
            <a:bodyPr/>
            <a:p/>
          </p:txBody>
        </p:sp>
      </p:grpSp>
      <p:grpSp>
        <p:nvGrpSpPr>
          <p:cNvPr name="Group 83" id="83"/>
          <p:cNvGrpSpPr/>
          <p:nvPr/>
        </p:nvGrpSpPr>
        <p:grpSpPr>
          <a:xfrm rot="0">
            <a:off x="7200900" y="571957"/>
            <a:ext cx="2888590" cy="293380"/>
            <a:chOff x="0" y="0"/>
            <a:chExt cx="3851453" cy="391173"/>
          </a:xfrm>
        </p:grpSpPr>
        <p:sp>
          <p:nvSpPr>
            <p:cNvPr name="Freeform 84" id="84"/>
            <p:cNvSpPr/>
            <p:nvPr/>
          </p:nvSpPr>
          <p:spPr>
            <a:xfrm flipH="false" flipV="false" rot="0">
              <a:off x="0" y="0"/>
              <a:ext cx="3851452" cy="391173"/>
            </a:xfrm>
            <a:custGeom>
              <a:avLst/>
              <a:gdLst/>
              <a:ahLst/>
              <a:cxnLst/>
              <a:rect r="r" b="b" t="t" l="l"/>
              <a:pathLst>
                <a:path h="391173" w="3851452">
                  <a:moveTo>
                    <a:pt x="0" y="0"/>
                  </a:moveTo>
                  <a:lnTo>
                    <a:pt x="3851452" y="0"/>
                  </a:lnTo>
                  <a:lnTo>
                    <a:pt x="3851452" y="391173"/>
                  </a:lnTo>
                  <a:lnTo>
                    <a:pt x="0" y="391173"/>
                  </a:lnTo>
                  <a:close/>
                </a:path>
              </a:pathLst>
            </a:custGeom>
            <a:blipFill>
              <a:blip r:embed="rId4">
                <a:alphaModFix amt="0"/>
              </a:blip>
              <a:stretch>
                <a:fillRect l="0" t="-152810" r="0" b="-130885"/>
              </a:stretch>
            </a:blipFill>
          </p:spPr>
          <p:txBody>
            <a:bodyPr/>
            <a:p/>
          </p:txBody>
        </p:sp>
        <p:sp>
          <p:nvSpPr>
            <p:cNvPr name="TextBox 85" id="85"/>
            <p:cNvSpPr txBox="true"/>
            <p:nvPr/>
          </p:nvSpPr>
          <p:spPr>
            <a:xfrm>
              <a:off x="0" y="0"/>
              <a:ext cx="3851453"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Science &amp; Protocoles</a:t>
              </a:r>
            </a:p>
          </p:txBody>
        </p:sp>
      </p:grpSp>
      <p:grpSp>
        <p:nvGrpSpPr>
          <p:cNvPr name="Group 86" id="86"/>
          <p:cNvGrpSpPr/>
          <p:nvPr/>
        </p:nvGrpSpPr>
        <p:grpSpPr>
          <a:xfrm rot="0">
            <a:off x="16590874" y="571957"/>
            <a:ext cx="957377" cy="332327"/>
            <a:chOff x="0" y="0"/>
            <a:chExt cx="1276502" cy="443103"/>
          </a:xfrm>
        </p:grpSpPr>
        <p:sp>
          <p:nvSpPr>
            <p:cNvPr name="Freeform 87" id="87"/>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4">
                <a:alphaModFix amt="0"/>
              </a:blip>
              <a:stretch>
                <a:fillRect l="0" t="-13003" r="0" b="737"/>
              </a:stretch>
            </a:blipFill>
          </p:spPr>
          <p:txBody>
            <a:bodyPr/>
            <a:p/>
          </p:txBody>
        </p:sp>
        <p:sp>
          <p:nvSpPr>
            <p:cNvPr name="TextBox 88" id="88"/>
            <p:cNvSpPr txBox="true"/>
            <p:nvPr/>
          </p:nvSpPr>
          <p:spPr>
            <a:xfrm>
              <a:off x="0" y="-9525"/>
              <a:ext cx="1276502" cy="452628"/>
            </a:xfrm>
            <a:prstGeom prst="rect">
              <a:avLst/>
            </a:prstGeom>
          </p:spPr>
          <p:txBody>
            <a:bodyPr anchor="ctr" rtlCol="false" tIns="0" lIns="0" bIns="0" rIns="0"/>
            <a:lstStyle/>
            <a:p>
              <a:pPr algn="l">
                <a:lnSpc>
                  <a:spcPts val="1800"/>
                </a:lnSpc>
              </a:pPr>
              <a:r>
                <a:rPr lang="en-US" sz="1500">
                  <a:solidFill>
                    <a:srgbClr val="6B7280"/>
                  </a:solidFill>
                  <a:latin typeface="Manrope"/>
                  <a:ea typeface="Manrope"/>
                  <a:cs typeface="Manrope"/>
                  <a:sym typeface="Manrope"/>
                </a:rPr>
                <a:t>09 / 14</a:t>
              </a:r>
            </a:p>
          </p:txBody>
        </p:sp>
      </p:grpSp>
      <p:grpSp>
        <p:nvGrpSpPr>
          <p:cNvPr name="Group 89" id="89"/>
          <p:cNvGrpSpPr/>
          <p:nvPr/>
        </p:nvGrpSpPr>
        <p:grpSpPr>
          <a:xfrm rot="0">
            <a:off x="6563182" y="3706139"/>
            <a:ext cx="10878007" cy="32766"/>
            <a:chOff x="0" y="0"/>
            <a:chExt cx="14504010" cy="43688"/>
          </a:xfrm>
        </p:grpSpPr>
        <p:sp>
          <p:nvSpPr>
            <p:cNvPr name="Freeform 90" id="90"/>
            <p:cNvSpPr/>
            <p:nvPr/>
          </p:nvSpPr>
          <p:spPr>
            <a:xfrm flipH="false" flipV="false" rot="0">
              <a:off x="12700" y="12700"/>
              <a:ext cx="14478636" cy="18288"/>
            </a:xfrm>
            <a:custGeom>
              <a:avLst/>
              <a:gdLst/>
              <a:ahLst/>
              <a:cxnLst/>
              <a:rect r="r" b="b" t="t" l="l"/>
              <a:pathLst>
                <a:path h="18288" w="14478636">
                  <a:moveTo>
                    <a:pt x="0" y="0"/>
                  </a:moveTo>
                  <a:lnTo>
                    <a:pt x="14478636" y="0"/>
                  </a:lnTo>
                  <a:lnTo>
                    <a:pt x="14478636" y="18288"/>
                  </a:lnTo>
                  <a:lnTo>
                    <a:pt x="0" y="18288"/>
                  </a:lnTo>
                  <a:close/>
                </a:path>
              </a:pathLst>
            </a:custGeom>
            <a:solidFill>
              <a:srgbClr val="40424D"/>
            </a:solidFill>
          </p:spPr>
          <p:txBody>
            <a:bodyPr/>
            <a:p/>
          </p:txBody>
        </p:sp>
      </p:grpSp>
      <p:grpSp>
        <p:nvGrpSpPr>
          <p:cNvPr name="Group 91" id="91"/>
          <p:cNvGrpSpPr/>
          <p:nvPr/>
        </p:nvGrpSpPr>
        <p:grpSpPr>
          <a:xfrm rot="0">
            <a:off x="6563182" y="1190625"/>
            <a:ext cx="876300" cy="876300"/>
            <a:chOff x="0" y="0"/>
            <a:chExt cx="1168400" cy="1168400"/>
          </a:xfrm>
        </p:grpSpPr>
        <p:sp>
          <p:nvSpPr>
            <p:cNvPr name="Freeform 92" id="92"/>
            <p:cNvSpPr/>
            <p:nvPr/>
          </p:nvSpPr>
          <p:spPr>
            <a:xfrm flipH="false" flipV="false" rot="0">
              <a:off x="12700" y="12700"/>
              <a:ext cx="1143000" cy="1143000"/>
            </a:xfrm>
            <a:custGeom>
              <a:avLst/>
              <a:gdLst/>
              <a:ahLst/>
              <a:cxnLst/>
              <a:rect r="r" b="b" t="t" l="l"/>
              <a:pathLst>
                <a:path h="1143000" w="1143000">
                  <a:moveTo>
                    <a:pt x="0" y="0"/>
                  </a:moveTo>
                  <a:lnTo>
                    <a:pt x="1143000" y="0"/>
                  </a:lnTo>
                  <a:lnTo>
                    <a:pt x="1143000" y="1143000"/>
                  </a:lnTo>
                  <a:lnTo>
                    <a:pt x="0" y="1143000"/>
                  </a:lnTo>
                  <a:close/>
                </a:path>
              </a:pathLst>
            </a:custGeom>
            <a:solidFill>
              <a:srgbClr val="FFFFFF"/>
            </a:solidFill>
          </p:spPr>
          <p:txBody>
            <a:bodyPr/>
            <a:p/>
          </p:txBody>
        </p:sp>
      </p:grpSp>
      <p:grpSp>
        <p:nvGrpSpPr>
          <p:cNvPr name="Group 93" id="93"/>
          <p:cNvGrpSpPr/>
          <p:nvPr/>
        </p:nvGrpSpPr>
        <p:grpSpPr>
          <a:xfrm rot="0">
            <a:off x="6829196" y="1458011"/>
            <a:ext cx="342900" cy="342900"/>
            <a:chOff x="0" y="0"/>
            <a:chExt cx="457200" cy="457200"/>
          </a:xfrm>
        </p:grpSpPr>
        <p:sp>
          <p:nvSpPr>
            <p:cNvPr name="Freeform 94" id="94"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7"/>
              <a:stretch>
                <a:fillRect l="0" t="0" r="0" b="0"/>
              </a:stretch>
            </a:blipFill>
          </p:spPr>
          <p:txBody>
            <a:bodyPr/>
            <a:p/>
          </p:txBody>
        </p:sp>
      </p:grpSp>
      <p:grpSp>
        <p:nvGrpSpPr>
          <p:cNvPr name="Group 95" id="95"/>
          <p:cNvGrpSpPr/>
          <p:nvPr/>
        </p:nvGrpSpPr>
        <p:grpSpPr>
          <a:xfrm rot="0">
            <a:off x="7772857" y="1656893"/>
            <a:ext cx="9830257" cy="596284"/>
            <a:chOff x="0" y="0"/>
            <a:chExt cx="13107010" cy="795045"/>
          </a:xfrm>
        </p:grpSpPr>
        <p:sp>
          <p:nvSpPr>
            <p:cNvPr name="Freeform 96" id="96"/>
            <p:cNvSpPr/>
            <p:nvPr/>
          </p:nvSpPr>
          <p:spPr>
            <a:xfrm flipH="false" flipV="false" rot="0">
              <a:off x="0" y="0"/>
              <a:ext cx="13107011" cy="795046"/>
            </a:xfrm>
            <a:custGeom>
              <a:avLst/>
              <a:gdLst/>
              <a:ahLst/>
              <a:cxnLst/>
              <a:rect r="r" b="b" t="t" l="l"/>
              <a:pathLst>
                <a:path h="795046" w="13107011">
                  <a:moveTo>
                    <a:pt x="0" y="0"/>
                  </a:moveTo>
                  <a:lnTo>
                    <a:pt x="13107011" y="0"/>
                  </a:lnTo>
                  <a:lnTo>
                    <a:pt x="13107011" y="795046"/>
                  </a:lnTo>
                  <a:lnTo>
                    <a:pt x="0" y="795046"/>
                  </a:lnTo>
                  <a:close/>
                </a:path>
              </a:pathLst>
            </a:custGeom>
            <a:blipFill>
              <a:blip r:embed="rId4">
                <a:alphaModFix amt="0"/>
              </a:blip>
              <a:stretch>
                <a:fillRect l="0" t="-282813" r="0" b="-259641"/>
              </a:stretch>
            </a:blipFill>
          </p:spPr>
          <p:txBody>
            <a:bodyPr/>
            <a:p/>
          </p:txBody>
        </p:sp>
        <p:sp>
          <p:nvSpPr>
            <p:cNvPr name="TextBox 97" id="97"/>
            <p:cNvSpPr txBox="true"/>
            <p:nvPr/>
          </p:nvSpPr>
          <p:spPr>
            <a:xfrm>
              <a:off x="0" y="0"/>
              <a:ext cx="13107010"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Le Système Glymphatique</a:t>
              </a:r>
            </a:p>
          </p:txBody>
        </p:sp>
      </p:grpSp>
      <p:grpSp>
        <p:nvGrpSpPr>
          <p:cNvPr name="Group 98" id="98"/>
          <p:cNvGrpSpPr/>
          <p:nvPr/>
        </p:nvGrpSpPr>
        <p:grpSpPr>
          <a:xfrm rot="0">
            <a:off x="7772857" y="2228850"/>
            <a:ext cx="9772650" cy="658368"/>
            <a:chOff x="0" y="0"/>
            <a:chExt cx="13030200" cy="877824"/>
          </a:xfrm>
        </p:grpSpPr>
        <p:sp>
          <p:nvSpPr>
            <p:cNvPr name="Freeform 99" id="99"/>
            <p:cNvSpPr/>
            <p:nvPr/>
          </p:nvSpPr>
          <p:spPr>
            <a:xfrm flipH="false" flipV="false" rot="0">
              <a:off x="0" y="0"/>
              <a:ext cx="13030200" cy="877824"/>
            </a:xfrm>
            <a:custGeom>
              <a:avLst/>
              <a:gdLst/>
              <a:ahLst/>
              <a:cxnLst/>
              <a:rect r="r" b="b" t="t" l="l"/>
              <a:pathLst>
                <a:path h="877824" w="13030200">
                  <a:moveTo>
                    <a:pt x="0" y="0"/>
                  </a:moveTo>
                  <a:lnTo>
                    <a:pt x="13030200" y="0"/>
                  </a:lnTo>
                  <a:lnTo>
                    <a:pt x="13030200" y="877824"/>
                  </a:lnTo>
                  <a:lnTo>
                    <a:pt x="0" y="877824"/>
                  </a:lnTo>
                  <a:close/>
                </a:path>
              </a:pathLst>
            </a:custGeom>
            <a:blipFill>
              <a:blip r:embed="rId4">
                <a:alphaModFix amt="0"/>
              </a:blip>
              <a:stretch>
                <a:fillRect l="0" t="-239231" r="0" b="-239231"/>
              </a:stretch>
            </a:blipFill>
          </p:spPr>
          <p:txBody>
            <a:bodyPr/>
            <a:p/>
          </p:txBody>
        </p:sp>
        <p:sp>
          <p:nvSpPr>
            <p:cNvPr name="TextBox 100" id="100"/>
            <p:cNvSpPr txBox="true"/>
            <p:nvPr/>
          </p:nvSpPr>
          <p:spPr>
            <a:xfrm>
              <a:off x="0" y="-9525"/>
              <a:ext cx="13030200" cy="887349"/>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Pendant le sommeil profond, le cerveau active son propre système de "nettoyage". Il évacue les déchets métaboliques neurotoxiques (bêta-amyloïdes, tau) accumulés durant la journée.</a:t>
              </a:r>
            </a:p>
          </p:txBody>
        </p:sp>
      </p:grpSp>
      <p:grpSp>
        <p:nvGrpSpPr>
          <p:cNvPr name="Group 101" id="101"/>
          <p:cNvGrpSpPr/>
          <p:nvPr/>
        </p:nvGrpSpPr>
        <p:grpSpPr>
          <a:xfrm rot="0">
            <a:off x="7763332" y="2983306"/>
            <a:ext cx="1047750" cy="405842"/>
            <a:chOff x="0" y="0"/>
            <a:chExt cx="1397000" cy="541122"/>
          </a:xfrm>
        </p:grpSpPr>
        <p:sp>
          <p:nvSpPr>
            <p:cNvPr name="Freeform 102" id="102"/>
            <p:cNvSpPr/>
            <p:nvPr/>
          </p:nvSpPr>
          <p:spPr>
            <a:xfrm flipH="false" flipV="false" rot="0">
              <a:off x="0" y="0"/>
              <a:ext cx="1397000" cy="541147"/>
            </a:xfrm>
            <a:custGeom>
              <a:avLst/>
              <a:gdLst/>
              <a:ahLst/>
              <a:cxnLst/>
              <a:rect r="r" b="b" t="t" l="l"/>
              <a:pathLst>
                <a:path h="541147" w="1397000">
                  <a:moveTo>
                    <a:pt x="12700" y="0"/>
                  </a:moveTo>
                  <a:lnTo>
                    <a:pt x="1384300" y="0"/>
                  </a:lnTo>
                  <a:cubicBezTo>
                    <a:pt x="1391285" y="0"/>
                    <a:pt x="1397000" y="5715"/>
                    <a:pt x="1397000" y="12700"/>
                  </a:cubicBezTo>
                  <a:lnTo>
                    <a:pt x="1397000" y="528447"/>
                  </a:lnTo>
                  <a:cubicBezTo>
                    <a:pt x="1397000" y="535432"/>
                    <a:pt x="1391285" y="541147"/>
                    <a:pt x="1384300"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384300" y="515747"/>
                  </a:lnTo>
                  <a:lnTo>
                    <a:pt x="1384300" y="528447"/>
                  </a:lnTo>
                  <a:lnTo>
                    <a:pt x="1371600" y="528447"/>
                  </a:lnTo>
                  <a:lnTo>
                    <a:pt x="1371600" y="12700"/>
                  </a:lnTo>
                  <a:lnTo>
                    <a:pt x="1384300" y="12700"/>
                  </a:lnTo>
                  <a:lnTo>
                    <a:pt x="1384300" y="25400"/>
                  </a:lnTo>
                  <a:lnTo>
                    <a:pt x="12700" y="25400"/>
                  </a:lnTo>
                  <a:close/>
                </a:path>
              </a:pathLst>
            </a:custGeom>
            <a:solidFill>
              <a:srgbClr val="40424D"/>
            </a:solidFill>
          </p:spPr>
          <p:txBody>
            <a:bodyPr/>
            <a:p/>
          </p:txBody>
        </p:sp>
        <p:sp>
          <p:nvSpPr>
            <p:cNvPr name="TextBox 103" id="103"/>
            <p:cNvSpPr txBox="true"/>
            <p:nvPr/>
          </p:nvSpPr>
          <p:spPr>
            <a:xfrm>
              <a:off x="0" y="0"/>
              <a:ext cx="1397000"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Immunité</a:t>
              </a:r>
            </a:p>
          </p:txBody>
        </p:sp>
      </p:grpSp>
      <p:grpSp>
        <p:nvGrpSpPr>
          <p:cNvPr name="Group 104" id="104"/>
          <p:cNvGrpSpPr/>
          <p:nvPr/>
        </p:nvGrpSpPr>
        <p:grpSpPr>
          <a:xfrm rot="0">
            <a:off x="8930564" y="2983306"/>
            <a:ext cx="1419454" cy="405842"/>
            <a:chOff x="0" y="0"/>
            <a:chExt cx="1892605" cy="541122"/>
          </a:xfrm>
        </p:grpSpPr>
        <p:sp>
          <p:nvSpPr>
            <p:cNvPr name="Freeform 105" id="105"/>
            <p:cNvSpPr/>
            <p:nvPr/>
          </p:nvSpPr>
          <p:spPr>
            <a:xfrm flipH="false" flipV="false" rot="0">
              <a:off x="0" y="0"/>
              <a:ext cx="1892554" cy="541147"/>
            </a:xfrm>
            <a:custGeom>
              <a:avLst/>
              <a:gdLst/>
              <a:ahLst/>
              <a:cxnLst/>
              <a:rect r="r" b="b" t="t" l="l"/>
              <a:pathLst>
                <a:path h="541147" w="1892554">
                  <a:moveTo>
                    <a:pt x="12700" y="0"/>
                  </a:moveTo>
                  <a:lnTo>
                    <a:pt x="1879854" y="0"/>
                  </a:lnTo>
                  <a:cubicBezTo>
                    <a:pt x="1886839" y="0"/>
                    <a:pt x="1892554" y="5715"/>
                    <a:pt x="1892554" y="12700"/>
                  </a:cubicBezTo>
                  <a:lnTo>
                    <a:pt x="1892554" y="528447"/>
                  </a:lnTo>
                  <a:cubicBezTo>
                    <a:pt x="1892554" y="535432"/>
                    <a:pt x="1886839" y="541147"/>
                    <a:pt x="1879854"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879854" y="515747"/>
                  </a:lnTo>
                  <a:lnTo>
                    <a:pt x="1879854" y="528447"/>
                  </a:lnTo>
                  <a:lnTo>
                    <a:pt x="1867154" y="528447"/>
                  </a:lnTo>
                  <a:lnTo>
                    <a:pt x="1867154" y="12700"/>
                  </a:lnTo>
                  <a:lnTo>
                    <a:pt x="1879854" y="12700"/>
                  </a:lnTo>
                  <a:lnTo>
                    <a:pt x="1879854" y="25400"/>
                  </a:lnTo>
                  <a:lnTo>
                    <a:pt x="12700" y="25400"/>
                  </a:lnTo>
                  <a:close/>
                </a:path>
              </a:pathLst>
            </a:custGeom>
            <a:solidFill>
              <a:srgbClr val="40424D"/>
            </a:solidFill>
          </p:spPr>
          <p:txBody>
            <a:bodyPr/>
            <a:p/>
          </p:txBody>
        </p:sp>
        <p:sp>
          <p:nvSpPr>
            <p:cNvPr name="TextBox 106" id="106"/>
            <p:cNvSpPr txBox="true"/>
            <p:nvPr/>
          </p:nvSpPr>
          <p:spPr>
            <a:xfrm>
              <a:off x="0" y="0"/>
              <a:ext cx="1892605"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Mitochondries</a:t>
              </a:r>
            </a:p>
          </p:txBody>
        </p:sp>
      </p:grpSp>
      <p:grpSp>
        <p:nvGrpSpPr>
          <p:cNvPr name="Group 107" id="107"/>
          <p:cNvGrpSpPr/>
          <p:nvPr/>
        </p:nvGrpSpPr>
        <p:grpSpPr>
          <a:xfrm rot="0">
            <a:off x="10464013" y="2983306"/>
            <a:ext cx="2486558" cy="405842"/>
            <a:chOff x="0" y="0"/>
            <a:chExt cx="3315411" cy="541122"/>
          </a:xfrm>
        </p:grpSpPr>
        <p:sp>
          <p:nvSpPr>
            <p:cNvPr name="Freeform 108" id="108"/>
            <p:cNvSpPr/>
            <p:nvPr/>
          </p:nvSpPr>
          <p:spPr>
            <a:xfrm flipH="false" flipV="false" rot="0">
              <a:off x="0" y="0"/>
              <a:ext cx="3315462" cy="541147"/>
            </a:xfrm>
            <a:custGeom>
              <a:avLst/>
              <a:gdLst/>
              <a:ahLst/>
              <a:cxnLst/>
              <a:rect r="r" b="b" t="t" l="l"/>
              <a:pathLst>
                <a:path h="541147" w="3315462">
                  <a:moveTo>
                    <a:pt x="12700" y="0"/>
                  </a:moveTo>
                  <a:lnTo>
                    <a:pt x="3302762" y="0"/>
                  </a:lnTo>
                  <a:cubicBezTo>
                    <a:pt x="3309747" y="0"/>
                    <a:pt x="3315462" y="5715"/>
                    <a:pt x="3315462" y="12700"/>
                  </a:cubicBezTo>
                  <a:lnTo>
                    <a:pt x="3315462" y="528447"/>
                  </a:lnTo>
                  <a:cubicBezTo>
                    <a:pt x="3315462" y="535432"/>
                    <a:pt x="3309747" y="541147"/>
                    <a:pt x="3302762"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3302762" y="515747"/>
                  </a:lnTo>
                  <a:lnTo>
                    <a:pt x="3302762" y="528447"/>
                  </a:lnTo>
                  <a:lnTo>
                    <a:pt x="3290062" y="528447"/>
                  </a:lnTo>
                  <a:lnTo>
                    <a:pt x="3290062" y="12700"/>
                  </a:lnTo>
                  <a:lnTo>
                    <a:pt x="3302762" y="12700"/>
                  </a:lnTo>
                  <a:lnTo>
                    <a:pt x="3302762" y="25400"/>
                  </a:lnTo>
                  <a:lnTo>
                    <a:pt x="12700" y="25400"/>
                  </a:lnTo>
                  <a:close/>
                </a:path>
              </a:pathLst>
            </a:custGeom>
            <a:solidFill>
              <a:srgbClr val="40424D"/>
            </a:solidFill>
          </p:spPr>
          <p:txBody>
            <a:bodyPr/>
            <a:p/>
          </p:txBody>
        </p:sp>
        <p:sp>
          <p:nvSpPr>
            <p:cNvPr name="TextBox 109" id="109"/>
            <p:cNvSpPr txBox="true"/>
            <p:nvPr/>
          </p:nvSpPr>
          <p:spPr>
            <a:xfrm>
              <a:off x="0" y="0"/>
              <a:ext cx="3315411"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Hormone de Croissance (GH)</a:t>
              </a:r>
            </a:p>
          </p:txBody>
        </p:sp>
      </p:grpSp>
      <p:grpSp>
        <p:nvGrpSpPr>
          <p:cNvPr name="Group 110" id="110"/>
          <p:cNvGrpSpPr/>
          <p:nvPr/>
        </p:nvGrpSpPr>
        <p:grpSpPr>
          <a:xfrm rot="0">
            <a:off x="13059080" y="2983306"/>
            <a:ext cx="1005230" cy="405842"/>
            <a:chOff x="0" y="0"/>
            <a:chExt cx="1340307" cy="541122"/>
          </a:xfrm>
        </p:grpSpPr>
        <p:sp>
          <p:nvSpPr>
            <p:cNvPr name="Freeform 111" id="111"/>
            <p:cNvSpPr/>
            <p:nvPr/>
          </p:nvSpPr>
          <p:spPr>
            <a:xfrm flipH="false" flipV="false" rot="0">
              <a:off x="0" y="0"/>
              <a:ext cx="1340358" cy="541147"/>
            </a:xfrm>
            <a:custGeom>
              <a:avLst/>
              <a:gdLst/>
              <a:ahLst/>
              <a:cxnLst/>
              <a:rect r="r" b="b" t="t" l="l"/>
              <a:pathLst>
                <a:path h="541147" w="1340358">
                  <a:moveTo>
                    <a:pt x="12700" y="0"/>
                  </a:moveTo>
                  <a:lnTo>
                    <a:pt x="1327658" y="0"/>
                  </a:lnTo>
                  <a:cubicBezTo>
                    <a:pt x="1334643" y="0"/>
                    <a:pt x="1340358" y="5715"/>
                    <a:pt x="1340358" y="12700"/>
                  </a:cubicBezTo>
                  <a:lnTo>
                    <a:pt x="1340358" y="528447"/>
                  </a:lnTo>
                  <a:cubicBezTo>
                    <a:pt x="1340358" y="535432"/>
                    <a:pt x="1334643" y="541147"/>
                    <a:pt x="1327658"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327658" y="515747"/>
                  </a:lnTo>
                  <a:lnTo>
                    <a:pt x="1327658" y="528447"/>
                  </a:lnTo>
                  <a:lnTo>
                    <a:pt x="1314958" y="528447"/>
                  </a:lnTo>
                  <a:lnTo>
                    <a:pt x="1314958" y="12700"/>
                  </a:lnTo>
                  <a:lnTo>
                    <a:pt x="1327658" y="12700"/>
                  </a:lnTo>
                  <a:lnTo>
                    <a:pt x="1327658" y="25400"/>
                  </a:lnTo>
                  <a:lnTo>
                    <a:pt x="12700" y="25400"/>
                  </a:lnTo>
                  <a:close/>
                </a:path>
              </a:pathLst>
            </a:custGeom>
            <a:solidFill>
              <a:srgbClr val="40424D"/>
            </a:solidFill>
          </p:spPr>
          <p:txBody>
            <a:bodyPr/>
            <a:p/>
          </p:txBody>
        </p:sp>
        <p:sp>
          <p:nvSpPr>
            <p:cNvPr name="TextBox 112" id="112"/>
            <p:cNvSpPr txBox="true"/>
            <p:nvPr/>
          </p:nvSpPr>
          <p:spPr>
            <a:xfrm>
              <a:off x="0" y="0"/>
              <a:ext cx="134030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Mémoire</a:t>
              </a:r>
            </a:p>
          </p:txBody>
        </p:sp>
      </p:grpSp>
      <p:grpSp>
        <p:nvGrpSpPr>
          <p:cNvPr name="Group 113" id="113"/>
          <p:cNvGrpSpPr/>
          <p:nvPr/>
        </p:nvGrpSpPr>
        <p:grpSpPr>
          <a:xfrm rot="0">
            <a:off x="6944411" y="4072280"/>
            <a:ext cx="10658704" cy="430120"/>
            <a:chOff x="0" y="0"/>
            <a:chExt cx="14211605" cy="573494"/>
          </a:xfrm>
        </p:grpSpPr>
        <p:sp>
          <p:nvSpPr>
            <p:cNvPr name="Freeform 114" id="114"/>
            <p:cNvSpPr/>
            <p:nvPr/>
          </p:nvSpPr>
          <p:spPr>
            <a:xfrm flipH="false" flipV="false" rot="0">
              <a:off x="0" y="0"/>
              <a:ext cx="14211604" cy="573494"/>
            </a:xfrm>
            <a:custGeom>
              <a:avLst/>
              <a:gdLst/>
              <a:ahLst/>
              <a:cxnLst/>
              <a:rect r="r" b="b" t="t" l="l"/>
              <a:pathLst>
                <a:path h="573494" w="14211604">
                  <a:moveTo>
                    <a:pt x="0" y="0"/>
                  </a:moveTo>
                  <a:lnTo>
                    <a:pt x="14211604" y="0"/>
                  </a:lnTo>
                  <a:lnTo>
                    <a:pt x="14211604" y="573494"/>
                  </a:lnTo>
                  <a:lnTo>
                    <a:pt x="0" y="573494"/>
                  </a:lnTo>
                  <a:close/>
                </a:path>
              </a:pathLst>
            </a:custGeom>
            <a:blipFill>
              <a:blip r:embed="rId4">
                <a:alphaModFix amt="0"/>
              </a:blip>
              <a:stretch>
                <a:fillRect l="0" t="-436295" r="0" b="-429410"/>
              </a:stretch>
            </a:blipFill>
          </p:spPr>
          <p:txBody>
            <a:bodyPr/>
            <a:p/>
          </p:txBody>
        </p:sp>
        <p:sp>
          <p:nvSpPr>
            <p:cNvPr name="TextBox 115" id="115"/>
            <p:cNvSpPr txBox="true"/>
            <p:nvPr/>
          </p:nvSpPr>
          <p:spPr>
            <a:xfrm>
              <a:off x="0" y="-9525"/>
              <a:ext cx="14211605"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Protocoles Cliniques</a:t>
              </a:r>
            </a:p>
          </p:txBody>
        </p:sp>
      </p:grpSp>
      <p:grpSp>
        <p:nvGrpSpPr>
          <p:cNvPr name="Group 116" id="116"/>
          <p:cNvGrpSpPr/>
          <p:nvPr/>
        </p:nvGrpSpPr>
        <p:grpSpPr>
          <a:xfrm rot="0">
            <a:off x="6572707" y="4529023"/>
            <a:ext cx="11030407" cy="293380"/>
            <a:chOff x="0" y="0"/>
            <a:chExt cx="14707210" cy="391173"/>
          </a:xfrm>
        </p:grpSpPr>
        <p:sp>
          <p:nvSpPr>
            <p:cNvPr name="Freeform 117" id="117"/>
            <p:cNvSpPr/>
            <p:nvPr/>
          </p:nvSpPr>
          <p:spPr>
            <a:xfrm flipH="false" flipV="false" rot="0">
              <a:off x="0" y="0"/>
              <a:ext cx="14707211" cy="391173"/>
            </a:xfrm>
            <a:custGeom>
              <a:avLst/>
              <a:gdLst/>
              <a:ahLst/>
              <a:cxnLst/>
              <a:rect r="r" b="b" t="t" l="l"/>
              <a:pathLst>
                <a:path h="391173" w="14707211">
                  <a:moveTo>
                    <a:pt x="0" y="0"/>
                  </a:moveTo>
                  <a:lnTo>
                    <a:pt x="14707211" y="0"/>
                  </a:lnTo>
                  <a:lnTo>
                    <a:pt x="14707211" y="391173"/>
                  </a:lnTo>
                  <a:lnTo>
                    <a:pt x="0" y="391173"/>
                  </a:lnTo>
                  <a:close/>
                </a:path>
              </a:pathLst>
            </a:custGeom>
            <a:blipFill>
              <a:blip r:embed="rId4">
                <a:alphaModFix amt="0"/>
              </a:blip>
              <a:stretch>
                <a:fillRect l="0" t="-693555" r="0" b="-671630"/>
              </a:stretch>
            </a:blipFill>
          </p:spPr>
          <p:txBody>
            <a:bodyPr/>
            <a:p/>
          </p:txBody>
        </p:sp>
        <p:sp>
          <p:nvSpPr>
            <p:cNvPr name="TextBox 118" id="118"/>
            <p:cNvSpPr txBox="true"/>
            <p:nvPr/>
          </p:nvSpPr>
          <p:spPr>
            <a:xfrm>
              <a:off x="0" y="0"/>
              <a:ext cx="14707210"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Checklist non négociable pour une architecture du sommeil optimale.</a:t>
              </a:r>
            </a:p>
          </p:txBody>
        </p:sp>
      </p:grpSp>
      <p:grpSp>
        <p:nvGrpSpPr>
          <p:cNvPr name="Group 119" id="119"/>
          <p:cNvGrpSpPr/>
          <p:nvPr/>
        </p:nvGrpSpPr>
        <p:grpSpPr>
          <a:xfrm rot="0">
            <a:off x="6563182" y="5205298"/>
            <a:ext cx="5334000" cy="1205484"/>
            <a:chOff x="0" y="0"/>
            <a:chExt cx="7112000" cy="1607312"/>
          </a:xfrm>
        </p:grpSpPr>
        <p:sp>
          <p:nvSpPr>
            <p:cNvPr name="Freeform 120" id="120"/>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1" id="121"/>
          <p:cNvGrpSpPr/>
          <p:nvPr/>
        </p:nvGrpSpPr>
        <p:grpSpPr>
          <a:xfrm rot="0">
            <a:off x="6757873" y="5443880"/>
            <a:ext cx="128930" cy="200254"/>
            <a:chOff x="0" y="0"/>
            <a:chExt cx="171907" cy="267005"/>
          </a:xfrm>
        </p:grpSpPr>
        <p:sp>
          <p:nvSpPr>
            <p:cNvPr name="Freeform 122" id="122" descr="preencoded.png"/>
            <p:cNvSpPr/>
            <p:nvPr/>
          </p:nvSpPr>
          <p:spPr>
            <a:xfrm flipH="false" flipV="false" rot="0">
              <a:off x="0" y="0"/>
              <a:ext cx="171958" cy="266954"/>
            </a:xfrm>
            <a:custGeom>
              <a:avLst/>
              <a:gdLst/>
              <a:ahLst/>
              <a:cxnLst/>
              <a:rect r="r" b="b" t="t" l="l"/>
              <a:pathLst>
                <a:path h="266954" w="171958">
                  <a:moveTo>
                    <a:pt x="0" y="0"/>
                  </a:moveTo>
                  <a:lnTo>
                    <a:pt x="171958" y="0"/>
                  </a:lnTo>
                  <a:lnTo>
                    <a:pt x="171958" y="266954"/>
                  </a:lnTo>
                  <a:lnTo>
                    <a:pt x="0" y="266954"/>
                  </a:lnTo>
                  <a:lnTo>
                    <a:pt x="0" y="0"/>
                  </a:lnTo>
                  <a:close/>
                </a:path>
              </a:pathLst>
            </a:custGeom>
            <a:blipFill>
              <a:blip r:embed="rId8"/>
              <a:stretch>
                <a:fillRect l="1462" t="0" r="1491" b="-466"/>
              </a:stretch>
            </a:blipFill>
          </p:spPr>
          <p:txBody>
            <a:bodyPr/>
            <a:p/>
          </p:txBody>
        </p:sp>
      </p:grpSp>
      <p:grpSp>
        <p:nvGrpSpPr>
          <p:cNvPr name="Group 123" id="123"/>
          <p:cNvGrpSpPr/>
          <p:nvPr/>
        </p:nvGrpSpPr>
        <p:grpSpPr>
          <a:xfrm rot="0">
            <a:off x="7058254" y="5401361"/>
            <a:ext cx="3172511" cy="558241"/>
            <a:chOff x="0" y="0"/>
            <a:chExt cx="4230014" cy="744322"/>
          </a:xfrm>
        </p:grpSpPr>
        <p:sp>
          <p:nvSpPr>
            <p:cNvPr name="Freeform 124" id="124"/>
            <p:cNvSpPr/>
            <p:nvPr/>
          </p:nvSpPr>
          <p:spPr>
            <a:xfrm flipH="false" flipV="false" rot="0">
              <a:off x="0" y="0"/>
              <a:ext cx="4230014" cy="744322"/>
            </a:xfrm>
            <a:custGeom>
              <a:avLst/>
              <a:gdLst/>
              <a:ahLst/>
              <a:cxnLst/>
              <a:rect r="r" b="b" t="t" l="l"/>
              <a:pathLst>
                <a:path h="744322" w="4230014">
                  <a:moveTo>
                    <a:pt x="0" y="0"/>
                  </a:moveTo>
                  <a:lnTo>
                    <a:pt x="4230014" y="0"/>
                  </a:lnTo>
                  <a:lnTo>
                    <a:pt x="4230014" y="744322"/>
                  </a:lnTo>
                  <a:lnTo>
                    <a:pt x="0" y="744322"/>
                  </a:lnTo>
                  <a:close/>
                </a:path>
              </a:pathLst>
            </a:custGeom>
            <a:blipFill>
              <a:blip r:embed="rId4">
                <a:alphaModFix amt="0"/>
              </a:blip>
              <a:stretch>
                <a:fillRect l="0" t="-60734" r="0" b="-60734"/>
              </a:stretch>
            </a:blipFill>
          </p:spPr>
          <p:txBody>
            <a:bodyPr/>
            <a:p/>
          </p:txBody>
        </p:sp>
        <p:sp>
          <p:nvSpPr>
            <p:cNvPr name="TextBox 125" id="125"/>
            <p:cNvSpPr txBox="true"/>
            <p:nvPr/>
          </p:nvSpPr>
          <p:spPr>
            <a:xfrm>
              <a:off x="0" y="0"/>
              <a:ext cx="4230014"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Thermorégulation</a:t>
              </a:r>
              <a:r>
                <a:rPr lang="en-US" sz="1350">
                  <a:solidFill>
                    <a:srgbClr val="D3D6E0"/>
                  </a:solidFill>
                  <a:latin typeface="Manrope"/>
                  <a:ea typeface="Manrope"/>
                  <a:cs typeface="Manrope"/>
                  <a:sym typeface="Manrope"/>
                </a:rPr>
                <a:t>  Chambre fraîche entre 16°C et 19°C. </a:t>
              </a:r>
            </a:p>
          </p:txBody>
        </p:sp>
      </p:grpSp>
      <p:grpSp>
        <p:nvGrpSpPr>
          <p:cNvPr name="Group 126" id="126"/>
          <p:cNvGrpSpPr/>
          <p:nvPr/>
        </p:nvGrpSpPr>
        <p:grpSpPr>
          <a:xfrm rot="0">
            <a:off x="12105818" y="5205298"/>
            <a:ext cx="5334000" cy="1205484"/>
            <a:chOff x="0" y="0"/>
            <a:chExt cx="7112000" cy="1607312"/>
          </a:xfrm>
        </p:grpSpPr>
        <p:sp>
          <p:nvSpPr>
            <p:cNvPr name="Freeform 127" id="127"/>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8" id="128"/>
          <p:cNvGrpSpPr/>
          <p:nvPr/>
        </p:nvGrpSpPr>
        <p:grpSpPr>
          <a:xfrm rot="0">
            <a:off x="12301880" y="5443880"/>
            <a:ext cx="200254" cy="200254"/>
            <a:chOff x="0" y="0"/>
            <a:chExt cx="267005" cy="267005"/>
          </a:xfrm>
        </p:grpSpPr>
        <p:sp>
          <p:nvSpPr>
            <p:cNvPr name="Freeform 129" id="129"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9"/>
              <a:stretch>
                <a:fillRect l="0" t="0" r="-19" b="-19"/>
              </a:stretch>
            </a:blipFill>
          </p:spPr>
          <p:txBody>
            <a:bodyPr/>
            <a:p/>
          </p:txBody>
        </p:sp>
      </p:grpSp>
      <p:grpSp>
        <p:nvGrpSpPr>
          <p:cNvPr name="Group 130" id="130"/>
          <p:cNvGrpSpPr/>
          <p:nvPr/>
        </p:nvGrpSpPr>
        <p:grpSpPr>
          <a:xfrm rot="0">
            <a:off x="12673584" y="5401361"/>
            <a:ext cx="4686757" cy="814731"/>
            <a:chOff x="0" y="0"/>
            <a:chExt cx="6249010" cy="1086308"/>
          </a:xfrm>
        </p:grpSpPr>
        <p:sp>
          <p:nvSpPr>
            <p:cNvPr name="Freeform 131" id="131"/>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4">
                <a:alphaModFix amt="0"/>
              </a:blip>
              <a:stretch>
                <a:fillRect l="0" t="-62088" r="0" b="-62087"/>
              </a:stretch>
            </a:blipFill>
          </p:spPr>
          <p:txBody>
            <a:bodyPr/>
            <a:p/>
          </p:txBody>
        </p:sp>
        <p:sp>
          <p:nvSpPr>
            <p:cNvPr name="TextBox 132" id="132"/>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Rythme &amp; Lumière</a:t>
              </a:r>
              <a:r>
                <a:rPr lang="en-US" sz="1350">
                  <a:solidFill>
                    <a:srgbClr val="D3D6E0"/>
                  </a:solidFill>
                  <a:latin typeface="Manrope"/>
                  <a:ea typeface="Manrope"/>
                  <a:cs typeface="Manrope"/>
                  <a:sym typeface="Manrope"/>
                </a:rPr>
                <a:t>  Horaires fixes (même le weekend). Lumière solaire matinale directe. </a:t>
              </a:r>
            </a:p>
          </p:txBody>
        </p:sp>
      </p:grpSp>
      <p:grpSp>
        <p:nvGrpSpPr>
          <p:cNvPr name="Group 133" id="133"/>
          <p:cNvGrpSpPr/>
          <p:nvPr/>
        </p:nvGrpSpPr>
        <p:grpSpPr>
          <a:xfrm rot="0">
            <a:off x="6563182" y="6613931"/>
            <a:ext cx="5334000" cy="1205484"/>
            <a:chOff x="0" y="0"/>
            <a:chExt cx="7112000" cy="1607312"/>
          </a:xfrm>
        </p:grpSpPr>
        <p:sp>
          <p:nvSpPr>
            <p:cNvPr name="Freeform 134" id="134"/>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5" id="135"/>
          <p:cNvGrpSpPr/>
          <p:nvPr/>
        </p:nvGrpSpPr>
        <p:grpSpPr>
          <a:xfrm rot="0">
            <a:off x="6757873" y="6852514"/>
            <a:ext cx="200254" cy="200254"/>
            <a:chOff x="0" y="0"/>
            <a:chExt cx="267005" cy="267005"/>
          </a:xfrm>
        </p:grpSpPr>
        <p:sp>
          <p:nvSpPr>
            <p:cNvPr name="Freeform 136" id="136"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0"/>
              <a:stretch>
                <a:fillRect l="0" t="0" r="-19" b="-19"/>
              </a:stretch>
            </a:blipFill>
          </p:spPr>
          <p:txBody>
            <a:bodyPr/>
            <a:p/>
          </p:txBody>
        </p:sp>
      </p:grpSp>
      <p:grpSp>
        <p:nvGrpSpPr>
          <p:cNvPr name="Group 137" id="137"/>
          <p:cNvGrpSpPr/>
          <p:nvPr/>
        </p:nvGrpSpPr>
        <p:grpSpPr>
          <a:xfrm rot="0">
            <a:off x="7129577" y="6809994"/>
            <a:ext cx="4686757" cy="814731"/>
            <a:chOff x="0" y="0"/>
            <a:chExt cx="6249010" cy="1086308"/>
          </a:xfrm>
        </p:grpSpPr>
        <p:sp>
          <p:nvSpPr>
            <p:cNvPr name="Freeform 138" id="138"/>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4">
                <a:alphaModFix amt="0"/>
              </a:blip>
              <a:stretch>
                <a:fillRect l="0" t="-62088" r="0" b="-62087"/>
              </a:stretch>
            </a:blipFill>
          </p:spPr>
          <p:txBody>
            <a:bodyPr/>
            <a:p/>
          </p:txBody>
        </p:sp>
        <p:sp>
          <p:nvSpPr>
            <p:cNvPr name="TextBox 139" id="139"/>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Digital Detox </a:t>
              </a:r>
              <a:r>
                <a:rPr lang="en-US" sz="1350">
                  <a:solidFill>
                    <a:srgbClr val="D3D6E0"/>
                  </a:solidFill>
                  <a:latin typeface="Manrope"/>
                  <a:ea typeface="Manrope"/>
                  <a:cs typeface="Manrope"/>
                  <a:sym typeface="Manrope"/>
                </a:rPr>
                <a:t> Pas d'écrans / lumière bleue 60-90 min avant le coucher. </a:t>
              </a:r>
            </a:p>
          </p:txBody>
        </p:sp>
      </p:grpSp>
      <p:grpSp>
        <p:nvGrpSpPr>
          <p:cNvPr name="Group 140" id="140"/>
          <p:cNvGrpSpPr/>
          <p:nvPr/>
        </p:nvGrpSpPr>
        <p:grpSpPr>
          <a:xfrm rot="0">
            <a:off x="12105818" y="6613931"/>
            <a:ext cx="5334000" cy="1205484"/>
            <a:chOff x="0" y="0"/>
            <a:chExt cx="7112000" cy="1607312"/>
          </a:xfrm>
        </p:grpSpPr>
        <p:sp>
          <p:nvSpPr>
            <p:cNvPr name="Freeform 141" id="141"/>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42" id="142"/>
          <p:cNvGrpSpPr/>
          <p:nvPr/>
        </p:nvGrpSpPr>
        <p:grpSpPr>
          <a:xfrm rot="0">
            <a:off x="12301880" y="6852514"/>
            <a:ext cx="200254" cy="200254"/>
            <a:chOff x="0" y="0"/>
            <a:chExt cx="267005" cy="267005"/>
          </a:xfrm>
        </p:grpSpPr>
        <p:sp>
          <p:nvSpPr>
            <p:cNvPr name="Freeform 143" id="143"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1"/>
              <a:stretch>
                <a:fillRect l="0" t="0" r="-19" b="-19"/>
              </a:stretch>
            </a:blipFill>
          </p:spPr>
          <p:txBody>
            <a:bodyPr/>
            <a:p/>
          </p:txBody>
        </p:sp>
      </p:grpSp>
      <p:grpSp>
        <p:nvGrpSpPr>
          <p:cNvPr name="Group 144" id="144"/>
          <p:cNvGrpSpPr/>
          <p:nvPr/>
        </p:nvGrpSpPr>
        <p:grpSpPr>
          <a:xfrm rot="0">
            <a:off x="12673584" y="6809994"/>
            <a:ext cx="4486504" cy="558241"/>
            <a:chOff x="0" y="0"/>
            <a:chExt cx="5982005" cy="744322"/>
          </a:xfrm>
        </p:grpSpPr>
        <p:sp>
          <p:nvSpPr>
            <p:cNvPr name="Freeform 145" id="145"/>
            <p:cNvSpPr/>
            <p:nvPr/>
          </p:nvSpPr>
          <p:spPr>
            <a:xfrm flipH="false" flipV="false" rot="0">
              <a:off x="0" y="0"/>
              <a:ext cx="5982004" cy="744322"/>
            </a:xfrm>
            <a:custGeom>
              <a:avLst/>
              <a:gdLst/>
              <a:ahLst/>
              <a:cxnLst/>
              <a:rect r="r" b="b" t="t" l="l"/>
              <a:pathLst>
                <a:path h="744322" w="5982004">
                  <a:moveTo>
                    <a:pt x="0" y="0"/>
                  </a:moveTo>
                  <a:lnTo>
                    <a:pt x="5982004" y="0"/>
                  </a:lnTo>
                  <a:lnTo>
                    <a:pt x="5982004" y="744322"/>
                  </a:lnTo>
                  <a:lnTo>
                    <a:pt x="0" y="744322"/>
                  </a:lnTo>
                  <a:close/>
                </a:path>
              </a:pathLst>
            </a:custGeom>
            <a:blipFill>
              <a:blip r:embed="rId4">
                <a:alphaModFix amt="0"/>
              </a:blip>
              <a:stretch>
                <a:fillRect l="0" t="-106598" r="0" b="-106598"/>
              </a:stretch>
            </a:blipFill>
          </p:spPr>
          <p:txBody>
            <a:bodyPr/>
            <a:p/>
          </p:txBody>
        </p:sp>
        <p:sp>
          <p:nvSpPr>
            <p:cNvPr name="TextBox 146" id="146"/>
            <p:cNvSpPr txBox="true"/>
            <p:nvPr/>
          </p:nvSpPr>
          <p:spPr>
            <a:xfrm>
              <a:off x="0" y="0"/>
              <a:ext cx="5982005"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Stimulants</a:t>
              </a:r>
              <a:r>
                <a:rPr lang="en-US" sz="1350">
                  <a:solidFill>
                    <a:srgbClr val="D3D6E0"/>
                  </a:solidFill>
                  <a:latin typeface="Manrope"/>
                  <a:ea typeface="Manrope"/>
                  <a:cs typeface="Manrope"/>
                  <a:sym typeface="Manrope"/>
                </a:rPr>
                <a:t>  Zéro caféine après 14h00. Dîner léger, aucun alcool. </a:t>
              </a:r>
            </a:p>
          </p:txBody>
        </p:sp>
      </p:grpSp>
      <p:grpSp>
        <p:nvGrpSpPr>
          <p:cNvPr name="Group 147" id="147"/>
          <p:cNvGrpSpPr/>
          <p:nvPr/>
        </p:nvGrpSpPr>
        <p:grpSpPr>
          <a:xfrm rot="0">
            <a:off x="6563182" y="8022565"/>
            <a:ext cx="10878007" cy="947623"/>
            <a:chOff x="0" y="0"/>
            <a:chExt cx="14504010" cy="1263498"/>
          </a:xfrm>
        </p:grpSpPr>
        <p:sp>
          <p:nvSpPr>
            <p:cNvPr name="Freeform 148" id="148"/>
            <p:cNvSpPr/>
            <p:nvPr/>
          </p:nvSpPr>
          <p:spPr>
            <a:xfrm flipH="false" flipV="false" rot="0">
              <a:off x="12700" y="12700"/>
              <a:ext cx="14478636" cy="1238123"/>
            </a:xfrm>
            <a:custGeom>
              <a:avLst/>
              <a:gdLst/>
              <a:ahLst/>
              <a:cxnLst/>
              <a:rect r="r" b="b" t="t" l="l"/>
              <a:pathLst>
                <a:path h="1238123" w="14478636">
                  <a:moveTo>
                    <a:pt x="0" y="0"/>
                  </a:moveTo>
                  <a:lnTo>
                    <a:pt x="14478636" y="0"/>
                  </a:lnTo>
                  <a:lnTo>
                    <a:pt x="14478636" y="1238123"/>
                  </a:lnTo>
                  <a:lnTo>
                    <a:pt x="0" y="1238123"/>
                  </a:lnTo>
                  <a:close/>
                </a:path>
              </a:pathLst>
            </a:custGeom>
            <a:solidFill>
              <a:srgbClr val="FFFFFF">
                <a:alpha val="0"/>
              </a:srgbClr>
            </a:solidFill>
          </p:spPr>
          <p:txBody>
            <a:bodyPr/>
            <a:p/>
          </p:txBody>
        </p:sp>
      </p:grpSp>
      <p:grpSp>
        <p:nvGrpSpPr>
          <p:cNvPr name="Group 149" id="149"/>
          <p:cNvGrpSpPr/>
          <p:nvPr/>
        </p:nvGrpSpPr>
        <p:grpSpPr>
          <a:xfrm rot="0">
            <a:off x="6757873" y="8261147"/>
            <a:ext cx="229057" cy="200254"/>
            <a:chOff x="0" y="0"/>
            <a:chExt cx="305410" cy="267005"/>
          </a:xfrm>
        </p:grpSpPr>
        <p:sp>
          <p:nvSpPr>
            <p:cNvPr name="Freeform 150" id="150" descr="preencoded.png"/>
            <p:cNvSpPr/>
            <p:nvPr/>
          </p:nvSpPr>
          <p:spPr>
            <a:xfrm flipH="false" flipV="false" rot="0">
              <a:off x="0" y="0"/>
              <a:ext cx="305435" cy="266954"/>
            </a:xfrm>
            <a:custGeom>
              <a:avLst/>
              <a:gdLst/>
              <a:ahLst/>
              <a:cxnLst/>
              <a:rect r="r" b="b" t="t" l="l"/>
              <a:pathLst>
                <a:path h="266954" w="305435">
                  <a:moveTo>
                    <a:pt x="0" y="0"/>
                  </a:moveTo>
                  <a:lnTo>
                    <a:pt x="305435" y="0"/>
                  </a:lnTo>
                  <a:lnTo>
                    <a:pt x="305435" y="266954"/>
                  </a:lnTo>
                  <a:lnTo>
                    <a:pt x="0" y="266954"/>
                  </a:lnTo>
                  <a:lnTo>
                    <a:pt x="0" y="0"/>
                  </a:lnTo>
                  <a:close/>
                </a:path>
              </a:pathLst>
            </a:custGeom>
            <a:blipFill>
              <a:blip r:embed="rId12"/>
              <a:stretch>
                <a:fillRect l="823" t="0" r="831" b="-1270"/>
              </a:stretch>
            </a:blipFill>
          </p:spPr>
          <p:txBody>
            <a:bodyPr/>
            <a:p/>
          </p:txBody>
        </p:sp>
      </p:grpSp>
      <p:grpSp>
        <p:nvGrpSpPr>
          <p:cNvPr name="Group 151" id="151"/>
          <p:cNvGrpSpPr/>
          <p:nvPr/>
        </p:nvGrpSpPr>
        <p:grpSpPr>
          <a:xfrm rot="0">
            <a:off x="7158380" y="8218627"/>
            <a:ext cx="5272430" cy="558241"/>
            <a:chOff x="0" y="0"/>
            <a:chExt cx="7029907" cy="744322"/>
          </a:xfrm>
        </p:grpSpPr>
        <p:sp>
          <p:nvSpPr>
            <p:cNvPr name="Freeform 152" id="152"/>
            <p:cNvSpPr/>
            <p:nvPr/>
          </p:nvSpPr>
          <p:spPr>
            <a:xfrm flipH="false" flipV="false" rot="0">
              <a:off x="0" y="0"/>
              <a:ext cx="7029908" cy="744322"/>
            </a:xfrm>
            <a:custGeom>
              <a:avLst/>
              <a:gdLst/>
              <a:ahLst/>
              <a:cxnLst/>
              <a:rect r="r" b="b" t="t" l="l"/>
              <a:pathLst>
                <a:path h="744322" w="7029908">
                  <a:moveTo>
                    <a:pt x="0" y="0"/>
                  </a:moveTo>
                  <a:lnTo>
                    <a:pt x="7029908" y="0"/>
                  </a:lnTo>
                  <a:lnTo>
                    <a:pt x="7029908" y="744322"/>
                  </a:lnTo>
                  <a:lnTo>
                    <a:pt x="0" y="744322"/>
                  </a:lnTo>
                  <a:close/>
                </a:path>
              </a:pathLst>
            </a:custGeom>
            <a:blipFill>
              <a:blip r:embed="rId4">
                <a:alphaModFix amt="0"/>
              </a:blip>
              <a:stretch>
                <a:fillRect l="0" t="-134030" r="0" b="-134030"/>
              </a:stretch>
            </a:blipFill>
          </p:spPr>
          <p:txBody>
            <a:bodyPr/>
            <a:p/>
          </p:txBody>
        </p:sp>
        <p:sp>
          <p:nvSpPr>
            <p:cNvPr name="TextBox 153" id="153"/>
            <p:cNvSpPr txBox="true"/>
            <p:nvPr/>
          </p:nvSpPr>
          <p:spPr>
            <a:xfrm>
              <a:off x="0" y="0"/>
              <a:ext cx="7029907"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Stack Biochimique</a:t>
              </a:r>
              <a:r>
                <a:rPr lang="en-US" sz="1350">
                  <a:solidFill>
                    <a:srgbClr val="D3D6E0"/>
                  </a:solidFill>
                  <a:latin typeface="Manrope"/>
                  <a:ea typeface="Manrope"/>
                  <a:cs typeface="Manrope"/>
                  <a:sym typeface="Manrope"/>
                </a:rPr>
                <a:t>  Bisglycinate de Magnésium + Glycine + GABA (si nécessaire). </a:t>
              </a:r>
            </a:p>
          </p:txBody>
        </p:sp>
      </p:grpSp>
      <p:grpSp>
        <p:nvGrpSpPr>
          <p:cNvPr name="Group 154" id="154"/>
          <p:cNvGrpSpPr/>
          <p:nvPr/>
        </p:nvGrpSpPr>
        <p:grpSpPr>
          <a:xfrm rot="0">
            <a:off x="7763332" y="1261948"/>
            <a:ext cx="1390650" cy="290627"/>
            <a:chOff x="0" y="0"/>
            <a:chExt cx="1854200" cy="387502"/>
          </a:xfrm>
        </p:grpSpPr>
        <p:sp>
          <p:nvSpPr>
            <p:cNvPr name="Freeform 155" id="155"/>
            <p:cNvSpPr/>
            <p:nvPr/>
          </p:nvSpPr>
          <p:spPr>
            <a:xfrm flipH="false" flipV="false" rot="0">
              <a:off x="12700" y="12700"/>
              <a:ext cx="1828800" cy="362204"/>
            </a:xfrm>
            <a:custGeom>
              <a:avLst/>
              <a:gdLst/>
              <a:ahLst/>
              <a:cxnLst/>
              <a:rect r="r" b="b" t="t" l="l"/>
              <a:pathLst>
                <a:path h="362204" w="1828800">
                  <a:moveTo>
                    <a:pt x="0" y="181102"/>
                  </a:moveTo>
                  <a:cubicBezTo>
                    <a:pt x="0" y="81026"/>
                    <a:pt x="85598" y="0"/>
                    <a:pt x="191135" y="0"/>
                  </a:cubicBezTo>
                  <a:lnTo>
                    <a:pt x="1637665" y="0"/>
                  </a:lnTo>
                  <a:cubicBezTo>
                    <a:pt x="1743202" y="0"/>
                    <a:pt x="1828800" y="81026"/>
                    <a:pt x="1828800" y="181102"/>
                  </a:cubicBezTo>
                  <a:cubicBezTo>
                    <a:pt x="1828800" y="281178"/>
                    <a:pt x="1743202" y="362204"/>
                    <a:pt x="1637665" y="362204"/>
                  </a:cubicBezTo>
                  <a:lnTo>
                    <a:pt x="191135" y="362204"/>
                  </a:lnTo>
                  <a:cubicBezTo>
                    <a:pt x="85598" y="362077"/>
                    <a:pt x="0" y="281051"/>
                    <a:pt x="0" y="181102"/>
                  </a:cubicBezTo>
                  <a:close/>
                </a:path>
              </a:pathLst>
            </a:custGeom>
            <a:solidFill>
              <a:srgbClr val="40424D"/>
            </a:solidFill>
          </p:spPr>
          <p:txBody>
            <a:bodyPr/>
            <a:p/>
          </p:txBody>
        </p:sp>
      </p:grpSp>
      <p:grpSp>
        <p:nvGrpSpPr>
          <p:cNvPr name="Group 156" id="156"/>
          <p:cNvGrpSpPr/>
          <p:nvPr/>
        </p:nvGrpSpPr>
        <p:grpSpPr>
          <a:xfrm rot="0">
            <a:off x="7887157" y="1271473"/>
            <a:ext cx="1486814" cy="271576"/>
            <a:chOff x="0" y="0"/>
            <a:chExt cx="1982419" cy="362102"/>
          </a:xfrm>
        </p:grpSpPr>
        <p:sp>
          <p:nvSpPr>
            <p:cNvPr name="Freeform 157" id="157"/>
            <p:cNvSpPr/>
            <p:nvPr/>
          </p:nvSpPr>
          <p:spPr>
            <a:xfrm flipH="false" flipV="false" rot="0">
              <a:off x="0" y="0"/>
              <a:ext cx="1982420" cy="362102"/>
            </a:xfrm>
            <a:custGeom>
              <a:avLst/>
              <a:gdLst/>
              <a:ahLst/>
              <a:cxnLst/>
              <a:rect r="r" b="b" t="t" l="l"/>
              <a:pathLst>
                <a:path h="362102" w="1982420">
                  <a:moveTo>
                    <a:pt x="0" y="0"/>
                  </a:moveTo>
                  <a:lnTo>
                    <a:pt x="1982420" y="0"/>
                  </a:lnTo>
                  <a:lnTo>
                    <a:pt x="1982420" y="362102"/>
                  </a:lnTo>
                  <a:lnTo>
                    <a:pt x="0" y="362102"/>
                  </a:lnTo>
                  <a:close/>
                </a:path>
              </a:pathLst>
            </a:custGeom>
            <a:blipFill>
              <a:blip r:embed="rId4">
                <a:alphaModFix amt="0"/>
              </a:blip>
              <a:stretch>
                <a:fillRect l="0" t="-56675" r="0" b="-56676"/>
              </a:stretch>
            </a:blipFill>
          </p:spPr>
          <p:txBody>
            <a:bodyPr/>
            <a:p/>
          </p:txBody>
        </p:sp>
        <p:sp>
          <p:nvSpPr>
            <p:cNvPr name="TextBox 158" id="158"/>
            <p:cNvSpPr txBox="true"/>
            <p:nvPr/>
          </p:nvSpPr>
          <p:spPr>
            <a:xfrm>
              <a:off x="0" y="0"/>
              <a:ext cx="1982419" cy="362102"/>
            </a:xfrm>
            <a:prstGeom prst="rect">
              <a:avLst/>
            </a:prstGeom>
          </p:spPr>
          <p:txBody>
            <a:bodyPr anchor="ctr" rtlCol="false" tIns="0" lIns="0" bIns="0" rIns="0"/>
            <a:lstStyle/>
            <a:p>
              <a:pPr algn="l">
                <a:lnSpc>
                  <a:spcPts val="1439"/>
                </a:lnSpc>
              </a:pPr>
              <a:r>
                <a:rPr lang="en-US" sz="1200" b="true">
                  <a:solidFill>
                    <a:srgbClr val="FFFFFF"/>
                  </a:solidFill>
                  <a:latin typeface="Manrope Bold"/>
                  <a:ea typeface="Manrope Bold"/>
                  <a:cs typeface="Manrope Bold"/>
                  <a:sym typeface="Manrope Bold"/>
                </a:rPr>
                <a:t>Mécanisme Clé</a:t>
              </a:r>
            </a:p>
          </p:txBody>
        </p:sp>
      </p:grpSp>
      <p:grpSp>
        <p:nvGrpSpPr>
          <p:cNvPr name="Group 159" id="159"/>
          <p:cNvGrpSpPr/>
          <p:nvPr/>
        </p:nvGrpSpPr>
        <p:grpSpPr>
          <a:xfrm rot="0">
            <a:off x="6572707" y="4146347"/>
            <a:ext cx="257861" cy="257861"/>
            <a:chOff x="0" y="0"/>
            <a:chExt cx="343814" cy="343814"/>
          </a:xfrm>
        </p:grpSpPr>
        <p:sp>
          <p:nvSpPr>
            <p:cNvPr name="Freeform 160" id="160" descr="preencoded.png"/>
            <p:cNvSpPr/>
            <p:nvPr/>
          </p:nvSpPr>
          <p:spPr>
            <a:xfrm flipH="false" flipV="false" rot="0">
              <a:off x="0" y="0"/>
              <a:ext cx="343789" cy="343789"/>
            </a:xfrm>
            <a:custGeom>
              <a:avLst/>
              <a:gdLst/>
              <a:ahLst/>
              <a:cxnLst/>
              <a:rect r="r" b="b" t="t" l="l"/>
              <a:pathLst>
                <a:path h="343789" w="343789">
                  <a:moveTo>
                    <a:pt x="0" y="0"/>
                  </a:moveTo>
                  <a:lnTo>
                    <a:pt x="343789" y="0"/>
                  </a:lnTo>
                  <a:lnTo>
                    <a:pt x="343789" y="343789"/>
                  </a:lnTo>
                  <a:lnTo>
                    <a:pt x="0" y="343789"/>
                  </a:lnTo>
                  <a:lnTo>
                    <a:pt x="0" y="0"/>
                  </a:lnTo>
                  <a:close/>
                </a:path>
              </a:pathLst>
            </a:custGeom>
            <a:blipFill>
              <a:blip r:embed="rId13"/>
              <a:stretch>
                <a:fillRect l="0" t="0" r="-7" b="-7"/>
              </a:stretch>
            </a:blipFill>
          </p:spPr>
          <p:txBody>
            <a:body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sp>
        <p:nvSpPr>
          <p:cNvPr name="Freeform 6" id="6" descr="preencoded.png"/>
          <p:cNvSpPr/>
          <p:nvPr/>
        </p:nvSpPr>
        <p:spPr>
          <a:xfrm flipH="false" flipV="false" rot="0">
            <a:off x="0" y="0"/>
            <a:ext cx="18287543" cy="10287000"/>
          </a:xfrm>
          <a:custGeom>
            <a:avLst/>
            <a:gdLst/>
            <a:ahLst/>
            <a:cxnLst/>
            <a:rect r="r" b="b" t="t" l="l"/>
            <a:pathLst>
              <a:path h="10287000" w="18287543">
                <a:moveTo>
                  <a:pt x="0" y="0"/>
                </a:moveTo>
                <a:lnTo>
                  <a:pt x="18287543" y="0"/>
                </a:lnTo>
                <a:lnTo>
                  <a:pt x="18287543"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38886" r="0" b="-38887"/>
            </a:stretch>
          </a:blipFill>
        </p:spPr>
        <p:txBody>
          <a:bodyPr/>
          <a:p/>
        </p:txBody>
      </p:sp>
      <p:grpSp>
        <p:nvGrpSpPr>
          <p:cNvPr name="Group 7" id="7"/>
          <p:cNvGrpSpPr/>
          <p:nvPr/>
        </p:nvGrpSpPr>
        <p:grpSpPr>
          <a:xfrm rot="0">
            <a:off x="0" y="0"/>
            <a:ext cx="5715457" cy="10287000"/>
            <a:chOff x="0" y="0"/>
            <a:chExt cx="7620610" cy="13716000"/>
          </a:xfrm>
        </p:grpSpPr>
        <p:sp>
          <p:nvSpPr>
            <p:cNvPr name="Freeform 8" id="8"/>
            <p:cNvSpPr/>
            <p:nvPr/>
          </p:nvSpPr>
          <p:spPr>
            <a:xfrm flipH="false" flipV="false" rot="0">
              <a:off x="0" y="0"/>
              <a:ext cx="7620635" cy="13716000"/>
            </a:xfrm>
            <a:custGeom>
              <a:avLst/>
              <a:gdLst/>
              <a:ahLst/>
              <a:cxnLst/>
              <a:rect r="r" b="b" t="t" l="l"/>
              <a:pathLst>
                <a:path h="13716000" w="7620635">
                  <a:moveTo>
                    <a:pt x="0" y="0"/>
                  </a:moveTo>
                  <a:lnTo>
                    <a:pt x="7620635" y="0"/>
                  </a:lnTo>
                  <a:lnTo>
                    <a:pt x="7620635" y="13716000"/>
                  </a:lnTo>
                  <a:lnTo>
                    <a:pt x="0" y="13716000"/>
                  </a:lnTo>
                  <a:close/>
                </a:path>
              </a:pathLst>
            </a:custGeom>
            <a:solidFill>
              <a:srgbClr val="1E1E24">
                <a:alpha val="15686"/>
              </a:srgbClr>
            </a:solidFill>
          </p:spPr>
          <p:txBody>
            <a:bodyPr/>
            <a:p/>
          </p:txBody>
        </p:sp>
      </p:grpSp>
      <p:grpSp>
        <p:nvGrpSpPr>
          <p:cNvPr name="Group 9" id="9"/>
          <p:cNvGrpSpPr/>
          <p:nvPr/>
        </p:nvGrpSpPr>
        <p:grpSpPr>
          <a:xfrm rot="0">
            <a:off x="5692216" y="-9525"/>
            <a:ext cx="32766" cy="10306050"/>
            <a:chOff x="0" y="0"/>
            <a:chExt cx="43688" cy="13741400"/>
          </a:xfrm>
        </p:grpSpPr>
        <p:sp>
          <p:nvSpPr>
            <p:cNvPr name="Freeform 10" id="10"/>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1" id="11"/>
          <p:cNvGrpSpPr/>
          <p:nvPr/>
        </p:nvGrpSpPr>
        <p:grpSpPr>
          <a:xfrm rot="0">
            <a:off x="571957" y="571957"/>
            <a:ext cx="4729277" cy="332327"/>
            <a:chOff x="0" y="0"/>
            <a:chExt cx="6305702" cy="443103"/>
          </a:xfrm>
        </p:grpSpPr>
        <p:sp>
          <p:nvSpPr>
            <p:cNvPr name="Freeform 12" id="12"/>
            <p:cNvSpPr/>
            <p:nvPr/>
          </p:nvSpPr>
          <p:spPr>
            <a:xfrm flipH="false" flipV="false" rot="0">
              <a:off x="0" y="0"/>
              <a:ext cx="6305702" cy="443104"/>
            </a:xfrm>
            <a:custGeom>
              <a:avLst/>
              <a:gdLst/>
              <a:ahLst/>
              <a:cxnLst/>
              <a:rect r="r" b="b" t="t" l="l"/>
              <a:pathLst>
                <a:path h="443104" w="6305702">
                  <a:moveTo>
                    <a:pt x="0" y="0"/>
                  </a:moveTo>
                  <a:lnTo>
                    <a:pt x="6305702" y="0"/>
                  </a:lnTo>
                  <a:lnTo>
                    <a:pt x="6305702" y="443104"/>
                  </a:lnTo>
                  <a:lnTo>
                    <a:pt x="0" y="443104"/>
                  </a:lnTo>
                  <a:close/>
                </a:path>
              </a:pathLst>
            </a:custGeom>
            <a:blipFill>
              <a:blip r:embed="rId5">
                <a:alphaModFix amt="0"/>
              </a:blip>
              <a:stretch>
                <a:fillRect l="0" t="-232093" r="0" b="-222480"/>
              </a:stretch>
            </a:blipFill>
          </p:spPr>
          <p:txBody>
            <a:bodyPr/>
            <a:p/>
          </p:txBody>
        </p:sp>
        <p:sp>
          <p:nvSpPr>
            <p:cNvPr name="TextBox 13" id="13"/>
            <p:cNvSpPr txBox="true"/>
            <p:nvPr/>
          </p:nvSpPr>
          <p:spPr>
            <a:xfrm>
              <a:off x="0" y="-9525"/>
              <a:ext cx="6305702"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Précision Biologique</a:t>
              </a:r>
            </a:p>
          </p:txBody>
        </p:sp>
      </p:grpSp>
      <p:grpSp>
        <p:nvGrpSpPr>
          <p:cNvPr name="Group 14" id="14"/>
          <p:cNvGrpSpPr/>
          <p:nvPr/>
        </p:nvGrpSpPr>
        <p:grpSpPr>
          <a:xfrm rot="0">
            <a:off x="562432" y="562432"/>
            <a:ext cx="304343" cy="32766"/>
            <a:chOff x="0" y="0"/>
            <a:chExt cx="405790" cy="43688"/>
          </a:xfrm>
        </p:grpSpPr>
        <p:sp>
          <p:nvSpPr>
            <p:cNvPr name="Freeform 15" id="15"/>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6" id="16"/>
          <p:cNvGrpSpPr/>
          <p:nvPr/>
        </p:nvGrpSpPr>
        <p:grpSpPr>
          <a:xfrm rot="0">
            <a:off x="571957" y="1329080"/>
            <a:ext cx="4673041" cy="657873"/>
            <a:chOff x="0" y="0"/>
            <a:chExt cx="6230722" cy="877164"/>
          </a:xfrm>
        </p:grpSpPr>
        <p:sp>
          <p:nvSpPr>
            <p:cNvPr name="Freeform 17" id="17"/>
            <p:cNvSpPr/>
            <p:nvPr/>
          </p:nvSpPr>
          <p:spPr>
            <a:xfrm flipH="false" flipV="false" rot="0">
              <a:off x="0" y="0"/>
              <a:ext cx="6230722" cy="877164"/>
            </a:xfrm>
            <a:custGeom>
              <a:avLst/>
              <a:gdLst/>
              <a:ahLst/>
              <a:cxnLst/>
              <a:rect r="r" b="b" t="t" l="l"/>
              <a:pathLst>
                <a:path h="877164" w="6230722">
                  <a:moveTo>
                    <a:pt x="0" y="0"/>
                  </a:moveTo>
                  <a:lnTo>
                    <a:pt x="6230722" y="0"/>
                  </a:lnTo>
                  <a:lnTo>
                    <a:pt x="6230722" y="877164"/>
                  </a:lnTo>
                  <a:lnTo>
                    <a:pt x="0" y="877164"/>
                  </a:lnTo>
                  <a:close/>
                </a:path>
              </a:pathLst>
            </a:custGeom>
            <a:blipFill>
              <a:blip r:embed="rId5">
                <a:alphaModFix amt="0"/>
              </a:blip>
              <a:stretch>
                <a:fillRect l="0" t="-103589" r="0" b="-73225"/>
              </a:stretch>
            </a:blipFill>
          </p:spPr>
          <p:txBody>
            <a:bodyPr/>
            <a:p/>
          </p:txBody>
        </p:sp>
        <p:sp>
          <p:nvSpPr>
            <p:cNvPr name="TextBox 18" id="18"/>
            <p:cNvSpPr txBox="true"/>
            <p:nvPr/>
          </p:nvSpPr>
          <p:spPr>
            <a:xfrm>
              <a:off x="0" y="9525"/>
              <a:ext cx="6230722" cy="867639"/>
            </a:xfrm>
            <a:prstGeom prst="rect">
              <a:avLst/>
            </a:prstGeom>
          </p:spPr>
          <p:txBody>
            <a:bodyPr anchor="ctr" rtlCol="false" tIns="0" lIns="0" bIns="0" rIns="0"/>
            <a:lstStyle/>
            <a:p>
              <a:pPr algn="l">
                <a:lnSpc>
                  <a:spcPts val="2160"/>
                </a:lnSpc>
              </a:pPr>
              <a:r>
                <a:rPr lang="en-US" sz="1800" spc="-225">
                  <a:solidFill>
                    <a:srgbClr val="FFFFFF"/>
                  </a:solidFill>
                  <a:latin typeface="Manrope"/>
                  <a:ea typeface="Manrope"/>
                  <a:cs typeface="Manrope"/>
                  <a:sym typeface="Manrope"/>
                </a:rPr>
                <a:t>RYTHME</a:t>
              </a:r>
            </a:p>
            <a:p>
              <a:pPr algn="l">
                <a:lnSpc>
                  <a:spcPts val="2160"/>
                </a:lnSpc>
              </a:pPr>
              <a:r>
                <a:rPr lang="en-US" sz="1800" spc="-225">
                  <a:solidFill>
                    <a:srgbClr val="FFFFFF"/>
                  </a:solidFill>
                  <a:latin typeface="Manrope"/>
                  <a:ea typeface="Manrope"/>
                  <a:cs typeface="Manrope"/>
                  <a:sym typeface="Manrope"/>
                </a:rPr>
                <a:t>CIRCADIEN</a:t>
              </a:r>
            </a:p>
          </p:txBody>
        </p:sp>
      </p:grpSp>
      <p:grpSp>
        <p:nvGrpSpPr>
          <p:cNvPr name="Group 19" id="19"/>
          <p:cNvGrpSpPr/>
          <p:nvPr/>
        </p:nvGrpSpPr>
        <p:grpSpPr>
          <a:xfrm rot="0">
            <a:off x="571957" y="2014880"/>
            <a:ext cx="4673041" cy="841391"/>
            <a:chOff x="0" y="0"/>
            <a:chExt cx="6230722" cy="1121854"/>
          </a:xfrm>
        </p:grpSpPr>
        <p:sp>
          <p:nvSpPr>
            <p:cNvPr name="Freeform 20" id="20"/>
            <p:cNvSpPr/>
            <p:nvPr/>
          </p:nvSpPr>
          <p:spPr>
            <a:xfrm flipH="false" flipV="false" rot="0">
              <a:off x="0" y="0"/>
              <a:ext cx="6230722" cy="1121855"/>
            </a:xfrm>
            <a:custGeom>
              <a:avLst/>
              <a:gdLst/>
              <a:ahLst/>
              <a:cxnLst/>
              <a:rect r="r" b="b" t="t" l="l"/>
              <a:pathLst>
                <a:path h="1121855" w="6230722">
                  <a:moveTo>
                    <a:pt x="0" y="0"/>
                  </a:moveTo>
                  <a:lnTo>
                    <a:pt x="6230722" y="0"/>
                  </a:lnTo>
                  <a:lnTo>
                    <a:pt x="6230722" y="1121855"/>
                  </a:lnTo>
                  <a:lnTo>
                    <a:pt x="0" y="1121855"/>
                  </a:lnTo>
                  <a:close/>
                </a:path>
              </a:pathLst>
            </a:custGeom>
            <a:blipFill>
              <a:blip r:embed="rId5">
                <a:alphaModFix amt="0"/>
              </a:blip>
              <a:stretch>
                <a:fillRect l="0" t="-60618" r="0" b="-55819"/>
              </a:stretch>
            </a:blipFill>
          </p:spPr>
          <p:txBody>
            <a:bodyPr/>
            <a:p/>
          </p:txBody>
        </p:sp>
        <p:sp>
          <p:nvSpPr>
            <p:cNvPr name="TextBox 21" id="21"/>
            <p:cNvSpPr txBox="true"/>
            <p:nvPr/>
          </p:nvSpPr>
          <p:spPr>
            <a:xfrm>
              <a:off x="0" y="-9525"/>
              <a:ext cx="6230722" cy="11313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Reconnexion fondamentale à l'horloge biologique.</a:t>
              </a:r>
            </a:p>
          </p:txBody>
        </p:sp>
      </p:grpSp>
      <p:grpSp>
        <p:nvGrpSpPr>
          <p:cNvPr name="Group 22" id="22"/>
          <p:cNvGrpSpPr/>
          <p:nvPr/>
        </p:nvGrpSpPr>
        <p:grpSpPr>
          <a:xfrm rot="0">
            <a:off x="571957" y="3271266"/>
            <a:ext cx="4729277" cy="293380"/>
            <a:chOff x="0" y="0"/>
            <a:chExt cx="6305702" cy="391173"/>
          </a:xfrm>
        </p:grpSpPr>
        <p:sp>
          <p:nvSpPr>
            <p:cNvPr name="Freeform 23" id="23"/>
            <p:cNvSpPr/>
            <p:nvPr/>
          </p:nvSpPr>
          <p:spPr>
            <a:xfrm flipH="false" flipV="false" rot="0">
              <a:off x="0" y="0"/>
              <a:ext cx="6305702" cy="391173"/>
            </a:xfrm>
            <a:custGeom>
              <a:avLst/>
              <a:gdLst/>
              <a:ahLst/>
              <a:cxnLst/>
              <a:rect r="r" b="b" t="t" l="l"/>
              <a:pathLst>
                <a:path h="391173" w="6305702">
                  <a:moveTo>
                    <a:pt x="0" y="0"/>
                  </a:moveTo>
                  <a:lnTo>
                    <a:pt x="6305702" y="0"/>
                  </a:lnTo>
                  <a:lnTo>
                    <a:pt x="6305702" y="391173"/>
                  </a:lnTo>
                  <a:lnTo>
                    <a:pt x="0" y="391173"/>
                  </a:lnTo>
                  <a:close/>
                </a:path>
              </a:pathLst>
            </a:custGeom>
            <a:blipFill>
              <a:blip r:embed="rId5">
                <a:alphaModFix amt="0"/>
              </a:blip>
              <a:stretch>
                <a:fillRect l="0" t="-275060" r="0" b="-253136"/>
              </a:stretch>
            </a:blipFill>
          </p:spPr>
          <p:txBody>
            <a:bodyPr/>
            <a:p/>
          </p:txBody>
        </p:sp>
        <p:sp>
          <p:nvSpPr>
            <p:cNvPr name="TextBox 24" id="24"/>
            <p:cNvSpPr txBox="true"/>
            <p:nvPr/>
          </p:nvSpPr>
          <p:spPr>
            <a:xfrm>
              <a:off x="0" y="0"/>
              <a:ext cx="63057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Régulateurs Clés</a:t>
              </a:r>
            </a:p>
          </p:txBody>
        </p:sp>
      </p:grpSp>
      <p:grpSp>
        <p:nvGrpSpPr>
          <p:cNvPr name="Group 25" id="25"/>
          <p:cNvGrpSpPr/>
          <p:nvPr/>
        </p:nvGrpSpPr>
        <p:grpSpPr>
          <a:xfrm rot="0">
            <a:off x="562432" y="3719855"/>
            <a:ext cx="2219096" cy="1376934"/>
            <a:chOff x="0" y="0"/>
            <a:chExt cx="2958795" cy="1835912"/>
          </a:xfrm>
        </p:grpSpPr>
        <p:sp>
          <p:nvSpPr>
            <p:cNvPr name="Freeform 26" id="26"/>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27" id="27"/>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28" id="28"/>
          <p:cNvGrpSpPr/>
          <p:nvPr/>
        </p:nvGrpSpPr>
        <p:grpSpPr>
          <a:xfrm rot="0">
            <a:off x="814730" y="3972154"/>
            <a:ext cx="1829714" cy="293380"/>
            <a:chOff x="0" y="0"/>
            <a:chExt cx="2439619" cy="391173"/>
          </a:xfrm>
        </p:grpSpPr>
        <p:sp>
          <p:nvSpPr>
            <p:cNvPr name="Freeform 29" id="29"/>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5">
                <a:alphaModFix amt="0"/>
              </a:blip>
              <a:stretch>
                <a:fillRect l="0" t="-77575" r="0" b="-65468"/>
              </a:stretch>
            </a:blipFill>
          </p:spPr>
          <p:txBody>
            <a:bodyPr/>
            <a:p/>
          </p:txBody>
        </p:sp>
        <p:sp>
          <p:nvSpPr>
            <p:cNvPr name="TextBox 30" id="30"/>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Mélatonine</a:t>
              </a:r>
            </a:p>
          </p:txBody>
        </p:sp>
      </p:grpSp>
      <p:grpSp>
        <p:nvGrpSpPr>
          <p:cNvPr name="Group 31" id="31"/>
          <p:cNvGrpSpPr/>
          <p:nvPr/>
        </p:nvGrpSpPr>
        <p:grpSpPr>
          <a:xfrm rot="0">
            <a:off x="814730" y="4286250"/>
            <a:ext cx="1800911" cy="625907"/>
            <a:chOff x="0" y="0"/>
            <a:chExt cx="2401214" cy="834542"/>
          </a:xfrm>
        </p:grpSpPr>
        <p:sp>
          <p:nvSpPr>
            <p:cNvPr name="Freeform 32" id="32"/>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5">
                <a:alphaModFix amt="0"/>
              </a:blip>
              <a:stretch>
                <a:fillRect l="0" t="-11469" r="0" b="-658"/>
              </a:stretch>
            </a:blipFill>
          </p:spPr>
          <p:txBody>
            <a:bodyPr/>
            <a:p/>
          </p:txBody>
        </p:sp>
        <p:sp>
          <p:nvSpPr>
            <p:cNvPr name="TextBox 33" id="33"/>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Synchronisation nuit/sommeil via absence de lumière.</a:t>
              </a:r>
            </a:p>
          </p:txBody>
        </p:sp>
      </p:grpSp>
      <p:grpSp>
        <p:nvGrpSpPr>
          <p:cNvPr name="Group 34" id="34"/>
          <p:cNvGrpSpPr/>
          <p:nvPr/>
        </p:nvGrpSpPr>
        <p:grpSpPr>
          <a:xfrm rot="0">
            <a:off x="2927071" y="3719855"/>
            <a:ext cx="2219096" cy="1376934"/>
            <a:chOff x="0" y="0"/>
            <a:chExt cx="2958795" cy="1835912"/>
          </a:xfrm>
        </p:grpSpPr>
        <p:sp>
          <p:nvSpPr>
            <p:cNvPr name="Freeform 35" id="35"/>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36" id="36"/>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37" id="37"/>
          <p:cNvGrpSpPr/>
          <p:nvPr/>
        </p:nvGrpSpPr>
        <p:grpSpPr>
          <a:xfrm rot="0">
            <a:off x="3179369" y="3972154"/>
            <a:ext cx="1829714" cy="293380"/>
            <a:chOff x="0" y="0"/>
            <a:chExt cx="2439619" cy="391173"/>
          </a:xfrm>
        </p:grpSpPr>
        <p:sp>
          <p:nvSpPr>
            <p:cNvPr name="Freeform 38" id="38"/>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5">
                <a:alphaModFix amt="0"/>
              </a:blip>
              <a:stretch>
                <a:fillRect l="0" t="-77575" r="0" b="-65468"/>
              </a:stretch>
            </a:blipFill>
          </p:spPr>
          <p:txBody>
            <a:bodyPr/>
            <a:p/>
          </p:txBody>
        </p:sp>
        <p:sp>
          <p:nvSpPr>
            <p:cNvPr name="TextBox 39" id="39"/>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Cortisol</a:t>
              </a:r>
            </a:p>
          </p:txBody>
        </p:sp>
      </p:grpSp>
      <p:grpSp>
        <p:nvGrpSpPr>
          <p:cNvPr name="Group 40" id="40"/>
          <p:cNvGrpSpPr/>
          <p:nvPr/>
        </p:nvGrpSpPr>
        <p:grpSpPr>
          <a:xfrm rot="0">
            <a:off x="3179369" y="4286250"/>
            <a:ext cx="1800911" cy="625907"/>
            <a:chOff x="0" y="0"/>
            <a:chExt cx="2401214" cy="834542"/>
          </a:xfrm>
        </p:grpSpPr>
        <p:sp>
          <p:nvSpPr>
            <p:cNvPr name="Freeform 41" id="41"/>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5">
                <a:alphaModFix amt="0"/>
              </a:blip>
              <a:stretch>
                <a:fillRect l="0" t="-11469" r="0" b="-658"/>
              </a:stretch>
            </a:blipFill>
          </p:spPr>
          <p:txBody>
            <a:bodyPr/>
            <a:p/>
          </p:txBody>
        </p:sp>
        <p:sp>
          <p:nvSpPr>
            <p:cNvPr name="TextBox 42" id="42"/>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Pic matinal pour l'éveil, régulé par la lumière du soleil.</a:t>
              </a:r>
            </a:p>
          </p:txBody>
        </p:sp>
      </p:grpSp>
      <p:grpSp>
        <p:nvGrpSpPr>
          <p:cNvPr name="Group 43" id="43"/>
          <p:cNvGrpSpPr/>
          <p:nvPr/>
        </p:nvGrpSpPr>
        <p:grpSpPr>
          <a:xfrm rot="0">
            <a:off x="562432" y="5247818"/>
            <a:ext cx="2219096" cy="1376934"/>
            <a:chOff x="0" y="0"/>
            <a:chExt cx="2958795" cy="1835912"/>
          </a:xfrm>
        </p:grpSpPr>
        <p:sp>
          <p:nvSpPr>
            <p:cNvPr name="Freeform 44" id="44"/>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45" id="45"/>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46" id="46"/>
          <p:cNvGrpSpPr/>
          <p:nvPr/>
        </p:nvGrpSpPr>
        <p:grpSpPr>
          <a:xfrm rot="0">
            <a:off x="814730" y="5500116"/>
            <a:ext cx="1829714" cy="293380"/>
            <a:chOff x="0" y="0"/>
            <a:chExt cx="2439619" cy="391173"/>
          </a:xfrm>
        </p:grpSpPr>
        <p:sp>
          <p:nvSpPr>
            <p:cNvPr name="Freeform 47" id="47"/>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5">
                <a:alphaModFix amt="0"/>
              </a:blip>
              <a:stretch>
                <a:fillRect l="0" t="-77575" r="0" b="-65468"/>
              </a:stretch>
            </a:blipFill>
          </p:spPr>
          <p:txBody>
            <a:bodyPr/>
            <a:p/>
          </p:txBody>
        </p:sp>
        <p:sp>
          <p:nvSpPr>
            <p:cNvPr name="TextBox 48" id="48"/>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Gènes Métab.</a:t>
              </a:r>
            </a:p>
          </p:txBody>
        </p:sp>
      </p:grpSp>
      <p:grpSp>
        <p:nvGrpSpPr>
          <p:cNvPr name="Group 49" id="49"/>
          <p:cNvGrpSpPr/>
          <p:nvPr/>
        </p:nvGrpSpPr>
        <p:grpSpPr>
          <a:xfrm rot="0">
            <a:off x="814730" y="5815584"/>
            <a:ext cx="1800911" cy="625907"/>
            <a:chOff x="0" y="0"/>
            <a:chExt cx="2401214" cy="834542"/>
          </a:xfrm>
        </p:grpSpPr>
        <p:sp>
          <p:nvSpPr>
            <p:cNvPr name="Freeform 50" id="50"/>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5">
                <a:alphaModFix amt="0"/>
              </a:blip>
              <a:stretch>
                <a:fillRect l="0" t="-11469" r="0" b="-658"/>
              </a:stretch>
            </a:blipFill>
          </p:spPr>
          <p:txBody>
            <a:bodyPr/>
            <a:p/>
          </p:txBody>
        </p:sp>
        <p:sp>
          <p:nvSpPr>
            <p:cNvPr name="TextBox 51" id="51"/>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Activation des voies métaboliques selon l'heure.</a:t>
              </a:r>
            </a:p>
          </p:txBody>
        </p:sp>
      </p:grpSp>
      <p:grpSp>
        <p:nvGrpSpPr>
          <p:cNvPr name="Group 52" id="52"/>
          <p:cNvGrpSpPr/>
          <p:nvPr/>
        </p:nvGrpSpPr>
        <p:grpSpPr>
          <a:xfrm rot="0">
            <a:off x="2927071" y="5247818"/>
            <a:ext cx="2219096" cy="1376934"/>
            <a:chOff x="0" y="0"/>
            <a:chExt cx="2958795" cy="1835912"/>
          </a:xfrm>
        </p:grpSpPr>
        <p:sp>
          <p:nvSpPr>
            <p:cNvPr name="Freeform 53" id="53"/>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54" id="54"/>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55" id="55"/>
          <p:cNvGrpSpPr/>
          <p:nvPr/>
        </p:nvGrpSpPr>
        <p:grpSpPr>
          <a:xfrm rot="0">
            <a:off x="3179369" y="5500116"/>
            <a:ext cx="1829714" cy="293380"/>
            <a:chOff x="0" y="0"/>
            <a:chExt cx="2439619" cy="391173"/>
          </a:xfrm>
        </p:grpSpPr>
        <p:sp>
          <p:nvSpPr>
            <p:cNvPr name="Freeform 56" id="56"/>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5">
                <a:alphaModFix amt="0"/>
              </a:blip>
              <a:stretch>
                <a:fillRect l="0" t="-77575" r="0" b="-65468"/>
              </a:stretch>
            </a:blipFill>
          </p:spPr>
          <p:txBody>
            <a:bodyPr/>
            <a:p/>
          </p:txBody>
        </p:sp>
        <p:sp>
          <p:nvSpPr>
            <p:cNvPr name="TextBox 57" id="57"/>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Humeur</a:t>
              </a:r>
            </a:p>
          </p:txBody>
        </p:sp>
      </p:grpSp>
      <p:grpSp>
        <p:nvGrpSpPr>
          <p:cNvPr name="Group 58" id="58"/>
          <p:cNvGrpSpPr/>
          <p:nvPr/>
        </p:nvGrpSpPr>
        <p:grpSpPr>
          <a:xfrm rot="0">
            <a:off x="3179369" y="5815584"/>
            <a:ext cx="1800911" cy="625907"/>
            <a:chOff x="0" y="0"/>
            <a:chExt cx="2401214" cy="834542"/>
          </a:xfrm>
        </p:grpSpPr>
        <p:sp>
          <p:nvSpPr>
            <p:cNvPr name="Freeform 59" id="59"/>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5">
                <a:alphaModFix amt="0"/>
              </a:blip>
              <a:stretch>
                <a:fillRect l="0" t="-11469" r="0" b="-658"/>
              </a:stretch>
            </a:blipFill>
          </p:spPr>
          <p:txBody>
            <a:bodyPr/>
            <a:p/>
          </p:txBody>
        </p:sp>
        <p:sp>
          <p:nvSpPr>
            <p:cNvPr name="TextBox 60" id="60"/>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Stabilité émotionnelle liée à la régularité circadienne.</a:t>
              </a:r>
            </a:p>
          </p:txBody>
        </p:sp>
      </p:grpSp>
      <p:grpSp>
        <p:nvGrpSpPr>
          <p:cNvPr name="Group 61" id="61"/>
          <p:cNvGrpSpPr/>
          <p:nvPr/>
        </p:nvGrpSpPr>
        <p:grpSpPr>
          <a:xfrm rot="0">
            <a:off x="562432" y="7848371"/>
            <a:ext cx="4576877" cy="1876196"/>
            <a:chOff x="0" y="0"/>
            <a:chExt cx="6102502" cy="2501595"/>
          </a:xfrm>
        </p:grpSpPr>
        <p:sp>
          <p:nvSpPr>
            <p:cNvPr name="Freeform 62" id="62"/>
            <p:cNvSpPr/>
            <p:nvPr/>
          </p:nvSpPr>
          <p:spPr>
            <a:xfrm flipH="false" flipV="false" rot="0">
              <a:off x="12700" y="12700"/>
              <a:ext cx="6077077" cy="2476246"/>
            </a:xfrm>
            <a:custGeom>
              <a:avLst/>
              <a:gdLst/>
              <a:ahLst/>
              <a:cxnLst/>
              <a:rect r="r" b="b" t="t" l="l"/>
              <a:pathLst>
                <a:path h="2476246" w="6077077">
                  <a:moveTo>
                    <a:pt x="0" y="0"/>
                  </a:moveTo>
                  <a:lnTo>
                    <a:pt x="6077077" y="0"/>
                  </a:lnTo>
                  <a:lnTo>
                    <a:pt x="6077077" y="2476246"/>
                  </a:lnTo>
                  <a:lnTo>
                    <a:pt x="0" y="2476246"/>
                  </a:lnTo>
                  <a:close/>
                </a:path>
              </a:pathLst>
            </a:custGeom>
            <a:solidFill>
              <a:srgbClr val="40424D">
                <a:alpha val="784"/>
              </a:srgbClr>
            </a:solidFill>
          </p:spPr>
          <p:txBody>
            <a:bodyPr/>
            <a:p/>
          </p:txBody>
        </p:sp>
        <p:sp>
          <p:nvSpPr>
            <p:cNvPr name="Freeform 63" id="63"/>
            <p:cNvSpPr/>
            <p:nvPr/>
          </p:nvSpPr>
          <p:spPr>
            <a:xfrm flipH="false" flipV="false" rot="0">
              <a:off x="0" y="0"/>
              <a:ext cx="6102477" cy="2501646"/>
            </a:xfrm>
            <a:custGeom>
              <a:avLst/>
              <a:gdLst/>
              <a:ahLst/>
              <a:cxnLst/>
              <a:rect r="r" b="b" t="t" l="l"/>
              <a:pathLst>
                <a:path h="2501646" w="6102477">
                  <a:moveTo>
                    <a:pt x="12700" y="0"/>
                  </a:moveTo>
                  <a:lnTo>
                    <a:pt x="6089777" y="0"/>
                  </a:lnTo>
                  <a:cubicBezTo>
                    <a:pt x="6096762" y="0"/>
                    <a:pt x="6102477" y="5715"/>
                    <a:pt x="6102477" y="12700"/>
                  </a:cubicBezTo>
                  <a:lnTo>
                    <a:pt x="6102477" y="2488946"/>
                  </a:lnTo>
                  <a:cubicBezTo>
                    <a:pt x="6102477" y="2495931"/>
                    <a:pt x="6096762" y="2501646"/>
                    <a:pt x="6089777" y="2501646"/>
                  </a:cubicBezTo>
                  <a:lnTo>
                    <a:pt x="12700" y="2501646"/>
                  </a:lnTo>
                  <a:cubicBezTo>
                    <a:pt x="5715" y="2501646"/>
                    <a:pt x="0" y="2495931"/>
                    <a:pt x="0" y="2488946"/>
                  </a:cubicBezTo>
                  <a:lnTo>
                    <a:pt x="0" y="12700"/>
                  </a:lnTo>
                  <a:cubicBezTo>
                    <a:pt x="0" y="5715"/>
                    <a:pt x="5715" y="0"/>
                    <a:pt x="12700" y="0"/>
                  </a:cubicBezTo>
                  <a:moveTo>
                    <a:pt x="12700" y="25400"/>
                  </a:moveTo>
                  <a:lnTo>
                    <a:pt x="12700" y="12700"/>
                  </a:lnTo>
                  <a:lnTo>
                    <a:pt x="25400" y="12700"/>
                  </a:lnTo>
                  <a:lnTo>
                    <a:pt x="25400" y="2488946"/>
                  </a:lnTo>
                  <a:lnTo>
                    <a:pt x="12700" y="2488946"/>
                  </a:lnTo>
                  <a:lnTo>
                    <a:pt x="12700" y="2476246"/>
                  </a:lnTo>
                  <a:lnTo>
                    <a:pt x="6089777" y="2476246"/>
                  </a:lnTo>
                  <a:lnTo>
                    <a:pt x="6089777" y="2488946"/>
                  </a:lnTo>
                  <a:lnTo>
                    <a:pt x="6077077" y="2488946"/>
                  </a:lnTo>
                  <a:lnTo>
                    <a:pt x="6077077" y="12700"/>
                  </a:lnTo>
                  <a:lnTo>
                    <a:pt x="6089777" y="12700"/>
                  </a:lnTo>
                  <a:lnTo>
                    <a:pt x="6089777" y="25400"/>
                  </a:lnTo>
                  <a:lnTo>
                    <a:pt x="12700" y="25400"/>
                  </a:lnTo>
                  <a:close/>
                </a:path>
              </a:pathLst>
            </a:custGeom>
            <a:solidFill>
              <a:srgbClr val="40424D"/>
            </a:solidFill>
          </p:spPr>
          <p:txBody>
            <a:bodyPr/>
            <a:p/>
          </p:txBody>
        </p:sp>
      </p:grpSp>
      <p:grpSp>
        <p:nvGrpSpPr>
          <p:cNvPr name="Group 64" id="64"/>
          <p:cNvGrpSpPr/>
          <p:nvPr/>
        </p:nvGrpSpPr>
        <p:grpSpPr>
          <a:xfrm rot="0">
            <a:off x="562432" y="7848371"/>
            <a:ext cx="61570" cy="1876196"/>
            <a:chOff x="0" y="0"/>
            <a:chExt cx="82093" cy="2501595"/>
          </a:xfrm>
        </p:grpSpPr>
        <p:sp>
          <p:nvSpPr>
            <p:cNvPr name="Freeform 65" id="65"/>
            <p:cNvSpPr/>
            <p:nvPr/>
          </p:nvSpPr>
          <p:spPr>
            <a:xfrm flipH="false" flipV="false" rot="0">
              <a:off x="12700" y="12700"/>
              <a:ext cx="56642" cy="2476246"/>
            </a:xfrm>
            <a:custGeom>
              <a:avLst/>
              <a:gdLst/>
              <a:ahLst/>
              <a:cxnLst/>
              <a:rect r="r" b="b" t="t" l="l"/>
              <a:pathLst>
                <a:path h="2476246" w="56642">
                  <a:moveTo>
                    <a:pt x="0" y="0"/>
                  </a:moveTo>
                  <a:lnTo>
                    <a:pt x="56642" y="0"/>
                  </a:lnTo>
                  <a:lnTo>
                    <a:pt x="56642" y="2476246"/>
                  </a:lnTo>
                  <a:lnTo>
                    <a:pt x="0" y="2476246"/>
                  </a:lnTo>
                  <a:close/>
                </a:path>
              </a:pathLst>
            </a:custGeom>
            <a:solidFill>
              <a:srgbClr val="FFFFFF"/>
            </a:solidFill>
          </p:spPr>
          <p:txBody>
            <a:bodyPr/>
            <a:p/>
          </p:txBody>
        </p:sp>
      </p:grpSp>
      <p:grpSp>
        <p:nvGrpSpPr>
          <p:cNvPr name="Group 66" id="66"/>
          <p:cNvGrpSpPr/>
          <p:nvPr/>
        </p:nvGrpSpPr>
        <p:grpSpPr>
          <a:xfrm rot="0">
            <a:off x="899770" y="8158277"/>
            <a:ext cx="171450" cy="229057"/>
            <a:chOff x="0" y="0"/>
            <a:chExt cx="228600" cy="305410"/>
          </a:xfrm>
        </p:grpSpPr>
        <p:sp>
          <p:nvSpPr>
            <p:cNvPr name="Freeform 67" id="67" descr="preencoded.png"/>
            <p:cNvSpPr/>
            <p:nvPr/>
          </p:nvSpPr>
          <p:spPr>
            <a:xfrm flipH="false" flipV="false" rot="0">
              <a:off x="0" y="0"/>
              <a:ext cx="228600" cy="305435"/>
            </a:xfrm>
            <a:custGeom>
              <a:avLst/>
              <a:gdLst/>
              <a:ahLst/>
              <a:cxnLst/>
              <a:rect r="r" b="b" t="t" l="l"/>
              <a:pathLst>
                <a:path h="305435" w="228600">
                  <a:moveTo>
                    <a:pt x="0" y="0"/>
                  </a:moveTo>
                  <a:lnTo>
                    <a:pt x="228600" y="0"/>
                  </a:lnTo>
                  <a:lnTo>
                    <a:pt x="228600" y="305435"/>
                  </a:lnTo>
                  <a:lnTo>
                    <a:pt x="0" y="305435"/>
                  </a:lnTo>
                  <a:lnTo>
                    <a:pt x="0" y="0"/>
                  </a:lnTo>
                  <a:close/>
                </a:path>
              </a:pathLst>
            </a:custGeom>
            <a:blipFill>
              <a:blip r:embed="rId6"/>
              <a:stretch>
                <a:fillRect l="0" t="12573" r="0" b="12582"/>
              </a:stretch>
            </a:blipFill>
          </p:spPr>
          <p:txBody>
            <a:bodyPr/>
            <a:p/>
          </p:txBody>
        </p:sp>
      </p:grpSp>
      <p:grpSp>
        <p:nvGrpSpPr>
          <p:cNvPr name="Group 68" id="68"/>
          <p:cNvGrpSpPr/>
          <p:nvPr/>
        </p:nvGrpSpPr>
        <p:grpSpPr>
          <a:xfrm rot="0">
            <a:off x="1186434" y="8158277"/>
            <a:ext cx="2537460" cy="293380"/>
            <a:chOff x="0" y="0"/>
            <a:chExt cx="3383280" cy="391173"/>
          </a:xfrm>
        </p:grpSpPr>
        <p:sp>
          <p:nvSpPr>
            <p:cNvPr name="Freeform 69" id="69"/>
            <p:cNvSpPr/>
            <p:nvPr/>
          </p:nvSpPr>
          <p:spPr>
            <a:xfrm flipH="false" flipV="false" rot="0">
              <a:off x="0" y="0"/>
              <a:ext cx="3383280" cy="391173"/>
            </a:xfrm>
            <a:custGeom>
              <a:avLst/>
              <a:gdLst/>
              <a:ahLst/>
              <a:cxnLst/>
              <a:rect r="r" b="b" t="t" l="l"/>
              <a:pathLst>
                <a:path h="391173" w="3383280">
                  <a:moveTo>
                    <a:pt x="0" y="0"/>
                  </a:moveTo>
                  <a:lnTo>
                    <a:pt x="3383280" y="0"/>
                  </a:lnTo>
                  <a:lnTo>
                    <a:pt x="3383280" y="391173"/>
                  </a:lnTo>
                  <a:lnTo>
                    <a:pt x="0" y="391173"/>
                  </a:lnTo>
                  <a:close/>
                </a:path>
              </a:pathLst>
            </a:custGeom>
            <a:blipFill>
              <a:blip r:embed="rId5">
                <a:alphaModFix amt="0"/>
              </a:blip>
              <a:stretch>
                <a:fillRect l="0" t="-129489" r="0" b="-107564"/>
              </a:stretch>
            </a:blipFill>
          </p:spPr>
          <p:txBody>
            <a:bodyPr/>
            <a:p/>
          </p:txBody>
        </p:sp>
        <p:sp>
          <p:nvSpPr>
            <p:cNvPr name="TextBox 70" id="70"/>
            <p:cNvSpPr txBox="true"/>
            <p:nvPr/>
          </p:nvSpPr>
          <p:spPr>
            <a:xfrm>
              <a:off x="0" y="0"/>
              <a:ext cx="338328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Risques de Perturbation</a:t>
              </a:r>
            </a:p>
          </p:txBody>
        </p:sp>
      </p:grpSp>
      <p:grpSp>
        <p:nvGrpSpPr>
          <p:cNvPr name="Group 71" id="71"/>
          <p:cNvGrpSpPr/>
          <p:nvPr/>
        </p:nvGrpSpPr>
        <p:grpSpPr>
          <a:xfrm rot="0">
            <a:off x="899770" y="8501177"/>
            <a:ext cx="4087368" cy="293380"/>
            <a:chOff x="0" y="0"/>
            <a:chExt cx="5449824" cy="391173"/>
          </a:xfrm>
        </p:grpSpPr>
        <p:sp>
          <p:nvSpPr>
            <p:cNvPr name="Freeform 72" id="72"/>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5">
                <a:alphaModFix amt="0"/>
              </a:blip>
              <a:stretch>
                <a:fillRect l="0" t="-232427" r="0" b="-210503"/>
              </a:stretch>
            </a:blipFill>
          </p:spPr>
          <p:txBody>
            <a:bodyPr/>
            <a:p/>
          </p:txBody>
        </p:sp>
        <p:sp>
          <p:nvSpPr>
            <p:cNvPr name="TextBox 73" id="73"/>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Insulinorésistance &amp; prise de poids</a:t>
              </a:r>
            </a:p>
          </p:txBody>
        </p:sp>
      </p:grpSp>
      <p:grpSp>
        <p:nvGrpSpPr>
          <p:cNvPr name="Group 74" id="74"/>
          <p:cNvGrpSpPr/>
          <p:nvPr/>
        </p:nvGrpSpPr>
        <p:grpSpPr>
          <a:xfrm rot="0">
            <a:off x="899770" y="8844077"/>
            <a:ext cx="4478274" cy="293380"/>
            <a:chOff x="0" y="0"/>
            <a:chExt cx="5971032" cy="391173"/>
          </a:xfrm>
        </p:grpSpPr>
        <p:sp>
          <p:nvSpPr>
            <p:cNvPr name="Freeform 75" id="75"/>
            <p:cNvSpPr/>
            <p:nvPr/>
          </p:nvSpPr>
          <p:spPr>
            <a:xfrm flipH="false" flipV="false" rot="0">
              <a:off x="0" y="0"/>
              <a:ext cx="5971032" cy="391173"/>
            </a:xfrm>
            <a:custGeom>
              <a:avLst/>
              <a:gdLst/>
              <a:ahLst/>
              <a:cxnLst/>
              <a:rect r="r" b="b" t="t" l="l"/>
              <a:pathLst>
                <a:path h="391173" w="5971032">
                  <a:moveTo>
                    <a:pt x="0" y="0"/>
                  </a:moveTo>
                  <a:lnTo>
                    <a:pt x="5971032" y="0"/>
                  </a:lnTo>
                  <a:lnTo>
                    <a:pt x="5971032" y="391173"/>
                  </a:lnTo>
                  <a:lnTo>
                    <a:pt x="0" y="391173"/>
                  </a:lnTo>
                  <a:close/>
                </a:path>
              </a:pathLst>
            </a:custGeom>
            <a:blipFill>
              <a:blip r:embed="rId5">
                <a:alphaModFix amt="0"/>
              </a:blip>
              <a:stretch>
                <a:fillRect l="0" t="-258390" r="0" b="-236465"/>
              </a:stretch>
            </a:blipFill>
          </p:spPr>
          <p:txBody>
            <a:bodyPr/>
            <a:p/>
          </p:txBody>
        </p:sp>
        <p:sp>
          <p:nvSpPr>
            <p:cNvPr name="TextBox 76" id="76"/>
            <p:cNvSpPr txBox="true"/>
            <p:nvPr/>
          </p:nvSpPr>
          <p:spPr>
            <a:xfrm>
              <a:off x="0" y="0"/>
              <a:ext cx="597103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Risque accru Maladies Cardio-vasculaires</a:t>
              </a:r>
            </a:p>
          </p:txBody>
        </p:sp>
      </p:grpSp>
      <p:grpSp>
        <p:nvGrpSpPr>
          <p:cNvPr name="Group 77" id="77"/>
          <p:cNvGrpSpPr/>
          <p:nvPr/>
        </p:nvGrpSpPr>
        <p:grpSpPr>
          <a:xfrm rot="0">
            <a:off x="899770" y="9186977"/>
            <a:ext cx="4272534" cy="293380"/>
            <a:chOff x="0" y="0"/>
            <a:chExt cx="5696712" cy="391173"/>
          </a:xfrm>
        </p:grpSpPr>
        <p:sp>
          <p:nvSpPr>
            <p:cNvPr name="Freeform 78" id="78"/>
            <p:cNvSpPr/>
            <p:nvPr/>
          </p:nvSpPr>
          <p:spPr>
            <a:xfrm flipH="false" flipV="false" rot="0">
              <a:off x="0" y="0"/>
              <a:ext cx="5696712" cy="391173"/>
            </a:xfrm>
            <a:custGeom>
              <a:avLst/>
              <a:gdLst/>
              <a:ahLst/>
              <a:cxnLst/>
              <a:rect r="r" b="b" t="t" l="l"/>
              <a:pathLst>
                <a:path h="391173" w="5696712">
                  <a:moveTo>
                    <a:pt x="0" y="0"/>
                  </a:moveTo>
                  <a:lnTo>
                    <a:pt x="5696712" y="0"/>
                  </a:lnTo>
                  <a:lnTo>
                    <a:pt x="5696712" y="391173"/>
                  </a:lnTo>
                  <a:lnTo>
                    <a:pt x="0" y="391173"/>
                  </a:lnTo>
                  <a:close/>
                </a:path>
              </a:pathLst>
            </a:custGeom>
            <a:blipFill>
              <a:blip r:embed="rId5">
                <a:alphaModFix amt="0"/>
              </a:blip>
              <a:stretch>
                <a:fillRect l="0" t="-244725" r="0" b="-222801"/>
              </a:stretch>
            </a:blipFill>
          </p:spPr>
          <p:txBody>
            <a:bodyPr/>
            <a:p/>
          </p:txBody>
        </p:sp>
        <p:sp>
          <p:nvSpPr>
            <p:cNvPr name="TextBox 79" id="79"/>
            <p:cNvSpPr txBox="true"/>
            <p:nvPr/>
          </p:nvSpPr>
          <p:spPr>
            <a:xfrm>
              <a:off x="0" y="0"/>
              <a:ext cx="569671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Augmentation risque Cancer &amp; Alzheimer</a:t>
              </a:r>
            </a:p>
          </p:txBody>
        </p:sp>
      </p:grpSp>
      <p:grpSp>
        <p:nvGrpSpPr>
          <p:cNvPr name="Group 80" id="80"/>
          <p:cNvGrpSpPr/>
          <p:nvPr/>
        </p:nvGrpSpPr>
        <p:grpSpPr>
          <a:xfrm rot="0">
            <a:off x="6572707" y="678942"/>
            <a:ext cx="456743" cy="13716"/>
            <a:chOff x="0" y="0"/>
            <a:chExt cx="608990" cy="18288"/>
          </a:xfrm>
        </p:grpSpPr>
        <p:sp>
          <p:nvSpPr>
            <p:cNvPr name="Freeform 81" id="81"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7"/>
              <a:stretch>
                <a:fillRect l="1949" t="0" r="1945" b="0"/>
              </a:stretch>
            </a:blipFill>
          </p:spPr>
          <p:txBody>
            <a:bodyPr/>
            <a:p/>
          </p:txBody>
        </p:sp>
      </p:grpSp>
      <p:grpSp>
        <p:nvGrpSpPr>
          <p:cNvPr name="Group 82" id="82"/>
          <p:cNvGrpSpPr/>
          <p:nvPr/>
        </p:nvGrpSpPr>
        <p:grpSpPr>
          <a:xfrm rot="0">
            <a:off x="7200900" y="571957"/>
            <a:ext cx="2446934" cy="293380"/>
            <a:chOff x="0" y="0"/>
            <a:chExt cx="3262579" cy="391173"/>
          </a:xfrm>
        </p:grpSpPr>
        <p:sp>
          <p:nvSpPr>
            <p:cNvPr name="Freeform 83" id="83"/>
            <p:cNvSpPr/>
            <p:nvPr/>
          </p:nvSpPr>
          <p:spPr>
            <a:xfrm flipH="false" flipV="false" rot="0">
              <a:off x="0" y="0"/>
              <a:ext cx="3262580" cy="391173"/>
            </a:xfrm>
            <a:custGeom>
              <a:avLst/>
              <a:gdLst/>
              <a:ahLst/>
              <a:cxnLst/>
              <a:rect r="r" b="b" t="t" l="l"/>
              <a:pathLst>
                <a:path h="391173" w="3262580">
                  <a:moveTo>
                    <a:pt x="0" y="0"/>
                  </a:moveTo>
                  <a:lnTo>
                    <a:pt x="3262580" y="0"/>
                  </a:lnTo>
                  <a:lnTo>
                    <a:pt x="3262580" y="391173"/>
                  </a:lnTo>
                  <a:lnTo>
                    <a:pt x="0" y="391173"/>
                  </a:lnTo>
                  <a:close/>
                </a:path>
              </a:pathLst>
            </a:custGeom>
            <a:blipFill>
              <a:blip r:embed="rId5">
                <a:alphaModFix amt="0"/>
              </a:blip>
              <a:stretch>
                <a:fillRect l="0" t="-123477" r="0" b="-101552"/>
              </a:stretch>
            </a:blipFill>
          </p:spPr>
          <p:txBody>
            <a:bodyPr/>
            <a:p/>
          </p:txBody>
        </p:sp>
        <p:sp>
          <p:nvSpPr>
            <p:cNvPr name="TextBox 84" id="84"/>
            <p:cNvSpPr txBox="true"/>
            <p:nvPr/>
          </p:nvSpPr>
          <p:spPr>
            <a:xfrm>
              <a:off x="0" y="0"/>
              <a:ext cx="3262579"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Science &amp; Routine</a:t>
              </a:r>
            </a:p>
          </p:txBody>
        </p:sp>
      </p:grpSp>
      <p:grpSp>
        <p:nvGrpSpPr>
          <p:cNvPr name="Group 85" id="85"/>
          <p:cNvGrpSpPr/>
          <p:nvPr/>
        </p:nvGrpSpPr>
        <p:grpSpPr>
          <a:xfrm rot="0">
            <a:off x="16590874" y="571957"/>
            <a:ext cx="957377" cy="332327"/>
            <a:chOff x="0" y="0"/>
            <a:chExt cx="1276502" cy="443103"/>
          </a:xfrm>
        </p:grpSpPr>
        <p:sp>
          <p:nvSpPr>
            <p:cNvPr name="Freeform 86" id="86"/>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5">
                <a:alphaModFix amt="0"/>
              </a:blip>
              <a:stretch>
                <a:fillRect l="0" t="-13003" r="0" b="737"/>
              </a:stretch>
            </a:blipFill>
          </p:spPr>
          <p:txBody>
            <a:bodyPr/>
            <a:p/>
          </p:txBody>
        </p:sp>
        <p:sp>
          <p:nvSpPr>
            <p:cNvPr name="TextBox 87" id="87"/>
            <p:cNvSpPr txBox="true"/>
            <p:nvPr/>
          </p:nvSpPr>
          <p:spPr>
            <a:xfrm>
              <a:off x="0" y="-9525"/>
              <a:ext cx="1276502" cy="452628"/>
            </a:xfrm>
            <a:prstGeom prst="rect">
              <a:avLst/>
            </a:prstGeom>
          </p:spPr>
          <p:txBody>
            <a:bodyPr anchor="ctr" rtlCol="false" tIns="0" lIns="0" bIns="0" rIns="0"/>
            <a:lstStyle/>
            <a:p>
              <a:pPr algn="l">
                <a:lnSpc>
                  <a:spcPts val="1800"/>
                </a:lnSpc>
              </a:pPr>
              <a:r>
                <a:rPr lang="en-US" sz="1500">
                  <a:solidFill>
                    <a:srgbClr val="6B7280"/>
                  </a:solidFill>
                  <a:latin typeface="Manrope"/>
                  <a:ea typeface="Manrope"/>
                  <a:cs typeface="Manrope"/>
                  <a:sym typeface="Manrope"/>
                </a:rPr>
                <a:t>10 / 14</a:t>
              </a:r>
            </a:p>
          </p:txBody>
        </p:sp>
      </p:grpSp>
      <p:grpSp>
        <p:nvGrpSpPr>
          <p:cNvPr name="Group 88" id="88"/>
          <p:cNvGrpSpPr/>
          <p:nvPr/>
        </p:nvGrpSpPr>
        <p:grpSpPr>
          <a:xfrm rot="0">
            <a:off x="6563182" y="3762375"/>
            <a:ext cx="10878007" cy="32766"/>
            <a:chOff x="0" y="0"/>
            <a:chExt cx="14504010" cy="43688"/>
          </a:xfrm>
        </p:grpSpPr>
        <p:sp>
          <p:nvSpPr>
            <p:cNvPr name="Freeform 89" id="89"/>
            <p:cNvSpPr/>
            <p:nvPr/>
          </p:nvSpPr>
          <p:spPr>
            <a:xfrm flipH="false" flipV="false" rot="0">
              <a:off x="12700" y="12700"/>
              <a:ext cx="14478636" cy="18288"/>
            </a:xfrm>
            <a:custGeom>
              <a:avLst/>
              <a:gdLst/>
              <a:ahLst/>
              <a:cxnLst/>
              <a:rect r="r" b="b" t="t" l="l"/>
              <a:pathLst>
                <a:path h="18288" w="14478636">
                  <a:moveTo>
                    <a:pt x="0" y="0"/>
                  </a:moveTo>
                  <a:lnTo>
                    <a:pt x="14478636" y="0"/>
                  </a:lnTo>
                  <a:lnTo>
                    <a:pt x="14478636" y="18288"/>
                  </a:lnTo>
                  <a:lnTo>
                    <a:pt x="0" y="18288"/>
                  </a:lnTo>
                  <a:close/>
                </a:path>
              </a:pathLst>
            </a:custGeom>
            <a:solidFill>
              <a:srgbClr val="40424D"/>
            </a:solidFill>
          </p:spPr>
          <p:txBody>
            <a:bodyPr/>
            <a:p/>
          </p:txBody>
        </p:sp>
      </p:grpSp>
      <p:grpSp>
        <p:nvGrpSpPr>
          <p:cNvPr name="Group 90" id="90"/>
          <p:cNvGrpSpPr/>
          <p:nvPr/>
        </p:nvGrpSpPr>
        <p:grpSpPr>
          <a:xfrm rot="0">
            <a:off x="6563182" y="1190625"/>
            <a:ext cx="876300" cy="876300"/>
            <a:chOff x="0" y="0"/>
            <a:chExt cx="1168400" cy="1168400"/>
          </a:xfrm>
        </p:grpSpPr>
        <p:sp>
          <p:nvSpPr>
            <p:cNvPr name="Freeform 91" id="91"/>
            <p:cNvSpPr/>
            <p:nvPr/>
          </p:nvSpPr>
          <p:spPr>
            <a:xfrm flipH="false" flipV="false" rot="0">
              <a:off x="12700" y="12700"/>
              <a:ext cx="1143000" cy="1143000"/>
            </a:xfrm>
            <a:custGeom>
              <a:avLst/>
              <a:gdLst/>
              <a:ahLst/>
              <a:cxnLst/>
              <a:rect r="r" b="b" t="t" l="l"/>
              <a:pathLst>
                <a:path h="1143000" w="1143000">
                  <a:moveTo>
                    <a:pt x="0" y="0"/>
                  </a:moveTo>
                  <a:lnTo>
                    <a:pt x="1143000" y="0"/>
                  </a:lnTo>
                  <a:lnTo>
                    <a:pt x="1143000" y="1143000"/>
                  </a:lnTo>
                  <a:lnTo>
                    <a:pt x="0" y="1143000"/>
                  </a:lnTo>
                  <a:close/>
                </a:path>
              </a:pathLst>
            </a:custGeom>
            <a:solidFill>
              <a:srgbClr val="FFFFFF"/>
            </a:solidFill>
          </p:spPr>
          <p:txBody>
            <a:bodyPr/>
            <a:p/>
          </p:txBody>
        </p:sp>
      </p:grpSp>
      <p:grpSp>
        <p:nvGrpSpPr>
          <p:cNvPr name="Group 92" id="92"/>
          <p:cNvGrpSpPr/>
          <p:nvPr/>
        </p:nvGrpSpPr>
        <p:grpSpPr>
          <a:xfrm rot="0">
            <a:off x="6829196" y="1458011"/>
            <a:ext cx="342900" cy="342900"/>
            <a:chOff x="0" y="0"/>
            <a:chExt cx="457200" cy="457200"/>
          </a:xfrm>
        </p:grpSpPr>
        <p:sp>
          <p:nvSpPr>
            <p:cNvPr name="Freeform 93" id="93"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8"/>
              <a:stretch>
                <a:fillRect l="0" t="0" r="0" b="0"/>
              </a:stretch>
            </a:blipFill>
          </p:spPr>
          <p:txBody>
            <a:bodyPr/>
            <a:p/>
          </p:txBody>
        </p:sp>
      </p:grpSp>
      <p:grpSp>
        <p:nvGrpSpPr>
          <p:cNvPr name="Group 94" id="94"/>
          <p:cNvGrpSpPr/>
          <p:nvPr/>
        </p:nvGrpSpPr>
        <p:grpSpPr>
          <a:xfrm rot="0">
            <a:off x="7772857" y="1656893"/>
            <a:ext cx="9830257" cy="596284"/>
            <a:chOff x="0" y="0"/>
            <a:chExt cx="13107010" cy="795045"/>
          </a:xfrm>
        </p:grpSpPr>
        <p:sp>
          <p:nvSpPr>
            <p:cNvPr name="Freeform 95" id="95"/>
            <p:cNvSpPr/>
            <p:nvPr/>
          </p:nvSpPr>
          <p:spPr>
            <a:xfrm flipH="false" flipV="false" rot="0">
              <a:off x="0" y="0"/>
              <a:ext cx="13107011" cy="795046"/>
            </a:xfrm>
            <a:custGeom>
              <a:avLst/>
              <a:gdLst/>
              <a:ahLst/>
              <a:cxnLst/>
              <a:rect r="r" b="b" t="t" l="l"/>
              <a:pathLst>
                <a:path h="795046" w="13107011">
                  <a:moveTo>
                    <a:pt x="0" y="0"/>
                  </a:moveTo>
                  <a:lnTo>
                    <a:pt x="13107011" y="0"/>
                  </a:lnTo>
                  <a:lnTo>
                    <a:pt x="13107011" y="795046"/>
                  </a:lnTo>
                  <a:lnTo>
                    <a:pt x="0" y="795046"/>
                  </a:lnTo>
                  <a:close/>
                </a:path>
              </a:pathLst>
            </a:custGeom>
            <a:blipFill>
              <a:blip r:embed="rId5">
                <a:alphaModFix amt="0"/>
              </a:blip>
              <a:stretch>
                <a:fillRect l="0" t="-282813" r="0" b="-259641"/>
              </a:stretch>
            </a:blipFill>
          </p:spPr>
          <p:txBody>
            <a:bodyPr/>
            <a:p/>
          </p:txBody>
        </p:sp>
        <p:sp>
          <p:nvSpPr>
            <p:cNvPr name="TextBox 96" id="96"/>
            <p:cNvSpPr txBox="true"/>
            <p:nvPr/>
          </p:nvSpPr>
          <p:spPr>
            <a:xfrm>
              <a:off x="0" y="0"/>
              <a:ext cx="13107010"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Synchronisation du NSC</a:t>
              </a:r>
            </a:p>
          </p:txBody>
        </p:sp>
      </p:grpSp>
      <p:grpSp>
        <p:nvGrpSpPr>
          <p:cNvPr name="Group 97" id="97"/>
          <p:cNvGrpSpPr/>
          <p:nvPr/>
        </p:nvGrpSpPr>
        <p:grpSpPr>
          <a:xfrm rot="0">
            <a:off x="7772857" y="2228850"/>
            <a:ext cx="9772650" cy="658368"/>
            <a:chOff x="0" y="0"/>
            <a:chExt cx="13030200" cy="877824"/>
          </a:xfrm>
        </p:grpSpPr>
        <p:sp>
          <p:nvSpPr>
            <p:cNvPr name="Freeform 98" id="98"/>
            <p:cNvSpPr/>
            <p:nvPr/>
          </p:nvSpPr>
          <p:spPr>
            <a:xfrm flipH="false" flipV="false" rot="0">
              <a:off x="0" y="0"/>
              <a:ext cx="13030200" cy="877824"/>
            </a:xfrm>
            <a:custGeom>
              <a:avLst/>
              <a:gdLst/>
              <a:ahLst/>
              <a:cxnLst/>
              <a:rect r="r" b="b" t="t" l="l"/>
              <a:pathLst>
                <a:path h="877824" w="13030200">
                  <a:moveTo>
                    <a:pt x="0" y="0"/>
                  </a:moveTo>
                  <a:lnTo>
                    <a:pt x="13030200" y="0"/>
                  </a:lnTo>
                  <a:lnTo>
                    <a:pt x="13030200" y="877824"/>
                  </a:lnTo>
                  <a:lnTo>
                    <a:pt x="0" y="877824"/>
                  </a:lnTo>
                  <a:close/>
                </a:path>
              </a:pathLst>
            </a:custGeom>
            <a:blipFill>
              <a:blip r:embed="rId5">
                <a:alphaModFix amt="0"/>
              </a:blip>
              <a:stretch>
                <a:fillRect l="0" t="-239231" r="0" b="-239231"/>
              </a:stretch>
            </a:blipFill>
          </p:spPr>
          <p:txBody>
            <a:bodyPr/>
            <a:p/>
          </p:txBody>
        </p:sp>
        <p:sp>
          <p:nvSpPr>
            <p:cNvPr name="TextBox 99" id="99"/>
            <p:cNvSpPr txBox="true"/>
            <p:nvPr/>
          </p:nvSpPr>
          <p:spPr>
            <a:xfrm>
              <a:off x="0" y="-9525"/>
              <a:ext cx="13030200" cy="887349"/>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Le Noyau Suprachiasmatique (NSC) est notre horloge centrale. Il est principalement calibré par la lumière du soleil matinale frappant la rétine, orchestrant ainsi toute la physiologie du corps.</a:t>
              </a:r>
            </a:p>
          </p:txBody>
        </p:sp>
      </p:grpSp>
      <p:grpSp>
        <p:nvGrpSpPr>
          <p:cNvPr name="Group 100" id="100"/>
          <p:cNvGrpSpPr/>
          <p:nvPr/>
        </p:nvGrpSpPr>
        <p:grpSpPr>
          <a:xfrm rot="0">
            <a:off x="7763332" y="3040913"/>
            <a:ext cx="1405738" cy="405842"/>
            <a:chOff x="0" y="0"/>
            <a:chExt cx="1874317" cy="541122"/>
          </a:xfrm>
        </p:grpSpPr>
        <p:sp>
          <p:nvSpPr>
            <p:cNvPr name="Freeform 101" id="101"/>
            <p:cNvSpPr/>
            <p:nvPr/>
          </p:nvSpPr>
          <p:spPr>
            <a:xfrm flipH="false" flipV="false" rot="0">
              <a:off x="0" y="0"/>
              <a:ext cx="1874266" cy="541147"/>
            </a:xfrm>
            <a:custGeom>
              <a:avLst/>
              <a:gdLst/>
              <a:ahLst/>
              <a:cxnLst/>
              <a:rect r="r" b="b" t="t" l="l"/>
              <a:pathLst>
                <a:path h="541147" w="1874266">
                  <a:moveTo>
                    <a:pt x="12700" y="0"/>
                  </a:moveTo>
                  <a:lnTo>
                    <a:pt x="1861566" y="0"/>
                  </a:lnTo>
                  <a:cubicBezTo>
                    <a:pt x="1868551" y="0"/>
                    <a:pt x="1874266" y="5715"/>
                    <a:pt x="1874266" y="12700"/>
                  </a:cubicBezTo>
                  <a:lnTo>
                    <a:pt x="1874266" y="528447"/>
                  </a:lnTo>
                  <a:cubicBezTo>
                    <a:pt x="1874266" y="535432"/>
                    <a:pt x="1868551" y="541147"/>
                    <a:pt x="1861566"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861566" y="515747"/>
                  </a:lnTo>
                  <a:lnTo>
                    <a:pt x="1861566" y="528447"/>
                  </a:lnTo>
                  <a:lnTo>
                    <a:pt x="1848866" y="528447"/>
                  </a:lnTo>
                  <a:lnTo>
                    <a:pt x="1848866" y="12700"/>
                  </a:lnTo>
                  <a:lnTo>
                    <a:pt x="1861566" y="12700"/>
                  </a:lnTo>
                  <a:lnTo>
                    <a:pt x="1861566" y="25400"/>
                  </a:lnTo>
                  <a:lnTo>
                    <a:pt x="12700" y="25400"/>
                  </a:lnTo>
                  <a:close/>
                </a:path>
              </a:pathLst>
            </a:custGeom>
            <a:solidFill>
              <a:srgbClr val="40424D"/>
            </a:solidFill>
          </p:spPr>
          <p:txBody>
            <a:bodyPr/>
            <a:p/>
          </p:txBody>
        </p:sp>
        <p:sp>
          <p:nvSpPr>
            <p:cNvPr name="TextBox 102" id="102"/>
            <p:cNvSpPr txBox="true"/>
            <p:nvPr/>
          </p:nvSpPr>
          <p:spPr>
            <a:xfrm>
              <a:off x="0" y="0"/>
              <a:ext cx="187431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Reset Horloge</a:t>
              </a:r>
            </a:p>
          </p:txBody>
        </p:sp>
      </p:grpSp>
      <p:grpSp>
        <p:nvGrpSpPr>
          <p:cNvPr name="Group 103" id="103"/>
          <p:cNvGrpSpPr/>
          <p:nvPr/>
        </p:nvGrpSpPr>
        <p:grpSpPr>
          <a:xfrm rot="0">
            <a:off x="9280322" y="3040913"/>
            <a:ext cx="1833677" cy="405842"/>
            <a:chOff x="0" y="0"/>
            <a:chExt cx="2444902" cy="541122"/>
          </a:xfrm>
        </p:grpSpPr>
        <p:sp>
          <p:nvSpPr>
            <p:cNvPr name="Freeform 104" id="104"/>
            <p:cNvSpPr/>
            <p:nvPr/>
          </p:nvSpPr>
          <p:spPr>
            <a:xfrm flipH="false" flipV="false" rot="0">
              <a:off x="0" y="0"/>
              <a:ext cx="2444877" cy="541147"/>
            </a:xfrm>
            <a:custGeom>
              <a:avLst/>
              <a:gdLst/>
              <a:ahLst/>
              <a:cxnLst/>
              <a:rect r="r" b="b" t="t" l="l"/>
              <a:pathLst>
                <a:path h="541147" w="2444877">
                  <a:moveTo>
                    <a:pt x="12700" y="0"/>
                  </a:moveTo>
                  <a:lnTo>
                    <a:pt x="2432177" y="0"/>
                  </a:lnTo>
                  <a:cubicBezTo>
                    <a:pt x="2439162" y="0"/>
                    <a:pt x="2444877" y="5715"/>
                    <a:pt x="2444877" y="12700"/>
                  </a:cubicBezTo>
                  <a:lnTo>
                    <a:pt x="2444877" y="528447"/>
                  </a:lnTo>
                  <a:cubicBezTo>
                    <a:pt x="2444877" y="535432"/>
                    <a:pt x="2439162" y="541147"/>
                    <a:pt x="2432177"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2432177" y="515747"/>
                  </a:lnTo>
                  <a:lnTo>
                    <a:pt x="2432177" y="528447"/>
                  </a:lnTo>
                  <a:lnTo>
                    <a:pt x="2419477" y="528447"/>
                  </a:lnTo>
                  <a:lnTo>
                    <a:pt x="2419477" y="12700"/>
                  </a:lnTo>
                  <a:lnTo>
                    <a:pt x="2432177" y="12700"/>
                  </a:lnTo>
                  <a:lnTo>
                    <a:pt x="2432177" y="25400"/>
                  </a:lnTo>
                  <a:lnTo>
                    <a:pt x="12700" y="25400"/>
                  </a:lnTo>
                  <a:close/>
                </a:path>
              </a:pathLst>
            </a:custGeom>
            <a:solidFill>
              <a:srgbClr val="40424D"/>
            </a:solidFill>
          </p:spPr>
          <p:txBody>
            <a:bodyPr/>
            <a:p/>
          </p:txBody>
        </p:sp>
        <p:sp>
          <p:nvSpPr>
            <p:cNvPr name="TextBox 105" id="105"/>
            <p:cNvSpPr txBox="true"/>
            <p:nvPr/>
          </p:nvSpPr>
          <p:spPr>
            <a:xfrm>
              <a:off x="0" y="0"/>
              <a:ext cx="2444902"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Baisse Inflammation</a:t>
              </a:r>
            </a:p>
          </p:txBody>
        </p:sp>
      </p:grpSp>
      <p:grpSp>
        <p:nvGrpSpPr>
          <p:cNvPr name="Group 106" id="106"/>
          <p:cNvGrpSpPr/>
          <p:nvPr/>
        </p:nvGrpSpPr>
        <p:grpSpPr>
          <a:xfrm rot="0">
            <a:off x="11229365" y="3040913"/>
            <a:ext cx="1519580" cy="405842"/>
            <a:chOff x="0" y="0"/>
            <a:chExt cx="2026107" cy="541122"/>
          </a:xfrm>
        </p:grpSpPr>
        <p:sp>
          <p:nvSpPr>
            <p:cNvPr name="Freeform 107" id="107"/>
            <p:cNvSpPr/>
            <p:nvPr/>
          </p:nvSpPr>
          <p:spPr>
            <a:xfrm flipH="false" flipV="false" rot="0">
              <a:off x="0" y="0"/>
              <a:ext cx="2026158" cy="541147"/>
            </a:xfrm>
            <a:custGeom>
              <a:avLst/>
              <a:gdLst/>
              <a:ahLst/>
              <a:cxnLst/>
              <a:rect r="r" b="b" t="t" l="l"/>
              <a:pathLst>
                <a:path h="541147" w="2026158">
                  <a:moveTo>
                    <a:pt x="12700" y="0"/>
                  </a:moveTo>
                  <a:lnTo>
                    <a:pt x="2013458" y="0"/>
                  </a:lnTo>
                  <a:cubicBezTo>
                    <a:pt x="2020443" y="0"/>
                    <a:pt x="2026158" y="5715"/>
                    <a:pt x="2026158" y="12700"/>
                  </a:cubicBezTo>
                  <a:lnTo>
                    <a:pt x="2026158" y="528447"/>
                  </a:lnTo>
                  <a:cubicBezTo>
                    <a:pt x="2026158" y="535432"/>
                    <a:pt x="2020443" y="541147"/>
                    <a:pt x="2013458"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2013458" y="515747"/>
                  </a:lnTo>
                  <a:lnTo>
                    <a:pt x="2013458" y="528447"/>
                  </a:lnTo>
                  <a:lnTo>
                    <a:pt x="2000758" y="528447"/>
                  </a:lnTo>
                  <a:lnTo>
                    <a:pt x="2000758" y="12700"/>
                  </a:lnTo>
                  <a:lnTo>
                    <a:pt x="2013458" y="12700"/>
                  </a:lnTo>
                  <a:lnTo>
                    <a:pt x="2013458" y="25400"/>
                  </a:lnTo>
                  <a:lnTo>
                    <a:pt x="12700" y="25400"/>
                  </a:lnTo>
                  <a:close/>
                </a:path>
              </a:pathLst>
            </a:custGeom>
            <a:solidFill>
              <a:srgbClr val="40424D"/>
            </a:solidFill>
          </p:spPr>
          <p:txBody>
            <a:bodyPr/>
            <a:p/>
          </p:txBody>
        </p:sp>
        <p:sp>
          <p:nvSpPr>
            <p:cNvPr name="TextBox 108" id="108"/>
            <p:cNvSpPr txBox="true"/>
            <p:nvPr/>
          </p:nvSpPr>
          <p:spPr>
            <a:xfrm>
              <a:off x="0" y="0"/>
              <a:ext cx="202610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Focus &amp; Énergie</a:t>
              </a:r>
            </a:p>
          </p:txBody>
        </p:sp>
      </p:grpSp>
      <p:grpSp>
        <p:nvGrpSpPr>
          <p:cNvPr name="Group 109" id="109"/>
          <p:cNvGrpSpPr/>
          <p:nvPr/>
        </p:nvGrpSpPr>
        <p:grpSpPr>
          <a:xfrm rot="0">
            <a:off x="6944411" y="4128516"/>
            <a:ext cx="10658704" cy="430120"/>
            <a:chOff x="0" y="0"/>
            <a:chExt cx="14211605" cy="573494"/>
          </a:xfrm>
        </p:grpSpPr>
        <p:sp>
          <p:nvSpPr>
            <p:cNvPr name="Freeform 110" id="110"/>
            <p:cNvSpPr/>
            <p:nvPr/>
          </p:nvSpPr>
          <p:spPr>
            <a:xfrm flipH="false" flipV="false" rot="0">
              <a:off x="0" y="0"/>
              <a:ext cx="14211604" cy="573494"/>
            </a:xfrm>
            <a:custGeom>
              <a:avLst/>
              <a:gdLst/>
              <a:ahLst/>
              <a:cxnLst/>
              <a:rect r="r" b="b" t="t" l="l"/>
              <a:pathLst>
                <a:path h="573494" w="14211604">
                  <a:moveTo>
                    <a:pt x="0" y="0"/>
                  </a:moveTo>
                  <a:lnTo>
                    <a:pt x="14211604" y="0"/>
                  </a:lnTo>
                  <a:lnTo>
                    <a:pt x="14211604" y="573494"/>
                  </a:lnTo>
                  <a:lnTo>
                    <a:pt x="0" y="573494"/>
                  </a:lnTo>
                  <a:close/>
                </a:path>
              </a:pathLst>
            </a:custGeom>
            <a:blipFill>
              <a:blip r:embed="rId5">
                <a:alphaModFix amt="0"/>
              </a:blip>
              <a:stretch>
                <a:fillRect l="0" t="-436295" r="0" b="-429410"/>
              </a:stretch>
            </a:blipFill>
          </p:spPr>
          <p:txBody>
            <a:bodyPr/>
            <a:p/>
          </p:txBody>
        </p:sp>
        <p:sp>
          <p:nvSpPr>
            <p:cNvPr name="TextBox 111" id="111"/>
            <p:cNvSpPr txBox="true"/>
            <p:nvPr/>
          </p:nvSpPr>
          <p:spPr>
            <a:xfrm>
              <a:off x="0" y="-9525"/>
              <a:ext cx="14211605"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Routine Matinale Pratique</a:t>
              </a:r>
            </a:p>
          </p:txBody>
        </p:sp>
      </p:grpSp>
      <p:grpSp>
        <p:nvGrpSpPr>
          <p:cNvPr name="Group 112" id="112"/>
          <p:cNvGrpSpPr/>
          <p:nvPr/>
        </p:nvGrpSpPr>
        <p:grpSpPr>
          <a:xfrm rot="0">
            <a:off x="6572707" y="4586630"/>
            <a:ext cx="11030407" cy="293380"/>
            <a:chOff x="0" y="0"/>
            <a:chExt cx="14707210" cy="391173"/>
          </a:xfrm>
        </p:grpSpPr>
        <p:sp>
          <p:nvSpPr>
            <p:cNvPr name="Freeform 113" id="113"/>
            <p:cNvSpPr/>
            <p:nvPr/>
          </p:nvSpPr>
          <p:spPr>
            <a:xfrm flipH="false" flipV="false" rot="0">
              <a:off x="0" y="0"/>
              <a:ext cx="14707211" cy="391173"/>
            </a:xfrm>
            <a:custGeom>
              <a:avLst/>
              <a:gdLst/>
              <a:ahLst/>
              <a:cxnLst/>
              <a:rect r="r" b="b" t="t" l="l"/>
              <a:pathLst>
                <a:path h="391173" w="14707211">
                  <a:moveTo>
                    <a:pt x="0" y="0"/>
                  </a:moveTo>
                  <a:lnTo>
                    <a:pt x="14707211" y="0"/>
                  </a:lnTo>
                  <a:lnTo>
                    <a:pt x="14707211" y="391173"/>
                  </a:lnTo>
                  <a:lnTo>
                    <a:pt x="0" y="391173"/>
                  </a:lnTo>
                  <a:close/>
                </a:path>
              </a:pathLst>
            </a:custGeom>
            <a:blipFill>
              <a:blip r:embed="rId5">
                <a:alphaModFix amt="0"/>
              </a:blip>
              <a:stretch>
                <a:fillRect l="0" t="-693555" r="0" b="-671630"/>
              </a:stretch>
            </a:blipFill>
          </p:spPr>
          <p:txBody>
            <a:bodyPr/>
            <a:p/>
          </p:txBody>
        </p:sp>
        <p:sp>
          <p:nvSpPr>
            <p:cNvPr name="TextBox 114" id="114"/>
            <p:cNvSpPr txBox="true"/>
            <p:nvPr/>
          </p:nvSpPr>
          <p:spPr>
            <a:xfrm>
              <a:off x="0" y="0"/>
              <a:ext cx="14707210"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Protocole d'ancrage quotidien pour calibrer la biologie.</a:t>
              </a:r>
            </a:p>
          </p:txBody>
        </p:sp>
      </p:grpSp>
      <p:grpSp>
        <p:nvGrpSpPr>
          <p:cNvPr name="Group 115" id="115"/>
          <p:cNvGrpSpPr/>
          <p:nvPr/>
        </p:nvGrpSpPr>
        <p:grpSpPr>
          <a:xfrm rot="0">
            <a:off x="6563182" y="5262905"/>
            <a:ext cx="5334000" cy="1205484"/>
            <a:chOff x="0" y="0"/>
            <a:chExt cx="7112000" cy="1607312"/>
          </a:xfrm>
        </p:grpSpPr>
        <p:sp>
          <p:nvSpPr>
            <p:cNvPr name="Freeform 116" id="116"/>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17" id="117"/>
          <p:cNvGrpSpPr/>
          <p:nvPr/>
        </p:nvGrpSpPr>
        <p:grpSpPr>
          <a:xfrm rot="0">
            <a:off x="6757873" y="5500116"/>
            <a:ext cx="257861" cy="200254"/>
            <a:chOff x="0" y="0"/>
            <a:chExt cx="343814" cy="267005"/>
          </a:xfrm>
        </p:grpSpPr>
        <p:sp>
          <p:nvSpPr>
            <p:cNvPr name="Freeform 118" id="118"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9"/>
              <a:stretch>
                <a:fillRect l="1462" t="0" r="1455" b="-466"/>
              </a:stretch>
            </a:blipFill>
          </p:spPr>
          <p:txBody>
            <a:bodyPr/>
            <a:p/>
          </p:txBody>
        </p:sp>
      </p:grpSp>
      <p:grpSp>
        <p:nvGrpSpPr>
          <p:cNvPr name="Group 119" id="119"/>
          <p:cNvGrpSpPr/>
          <p:nvPr/>
        </p:nvGrpSpPr>
        <p:grpSpPr>
          <a:xfrm rot="0">
            <a:off x="7187184" y="5457596"/>
            <a:ext cx="4629150" cy="814731"/>
            <a:chOff x="0" y="0"/>
            <a:chExt cx="6172200" cy="1086308"/>
          </a:xfrm>
        </p:grpSpPr>
        <p:sp>
          <p:nvSpPr>
            <p:cNvPr name="Freeform 120" id="120"/>
            <p:cNvSpPr/>
            <p:nvPr/>
          </p:nvSpPr>
          <p:spPr>
            <a:xfrm flipH="false" flipV="false" rot="0">
              <a:off x="0" y="0"/>
              <a:ext cx="6172200" cy="1086309"/>
            </a:xfrm>
            <a:custGeom>
              <a:avLst/>
              <a:gdLst/>
              <a:ahLst/>
              <a:cxnLst/>
              <a:rect r="r" b="b" t="t" l="l"/>
              <a:pathLst>
                <a:path h="1086309" w="6172200">
                  <a:moveTo>
                    <a:pt x="0" y="0"/>
                  </a:moveTo>
                  <a:lnTo>
                    <a:pt x="6172200" y="0"/>
                  </a:lnTo>
                  <a:lnTo>
                    <a:pt x="6172200" y="1086309"/>
                  </a:lnTo>
                  <a:lnTo>
                    <a:pt x="0" y="1086309"/>
                  </a:lnTo>
                  <a:close/>
                </a:path>
              </a:pathLst>
            </a:custGeom>
            <a:blipFill>
              <a:blip r:embed="rId5">
                <a:alphaModFix amt="0"/>
              </a:blip>
              <a:stretch>
                <a:fillRect l="0" t="-60710" r="0" b="-60710"/>
              </a:stretch>
            </a:blipFill>
          </p:spPr>
          <p:txBody>
            <a:bodyPr/>
            <a:p/>
          </p:txBody>
        </p:sp>
        <p:sp>
          <p:nvSpPr>
            <p:cNvPr name="TextBox 121" id="121"/>
            <p:cNvSpPr txBox="true"/>
            <p:nvPr/>
          </p:nvSpPr>
          <p:spPr>
            <a:xfrm>
              <a:off x="0" y="0"/>
              <a:ext cx="617220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Ancrage (Grounding)</a:t>
              </a:r>
              <a:r>
                <a:rPr lang="en-US" sz="1350">
                  <a:solidFill>
                    <a:srgbClr val="D3D6E0"/>
                  </a:solidFill>
                  <a:latin typeface="Manrope"/>
                  <a:ea typeface="Manrope"/>
                  <a:cs typeface="Manrope"/>
                  <a:sym typeface="Manrope"/>
                </a:rPr>
                <a:t>  Pieds nus à l'extérieur. Améliore le tonus vagal et réduit les cytokines. </a:t>
              </a:r>
            </a:p>
          </p:txBody>
        </p:sp>
      </p:grpSp>
      <p:grpSp>
        <p:nvGrpSpPr>
          <p:cNvPr name="Group 122" id="122"/>
          <p:cNvGrpSpPr/>
          <p:nvPr/>
        </p:nvGrpSpPr>
        <p:grpSpPr>
          <a:xfrm rot="0">
            <a:off x="12105818" y="5262905"/>
            <a:ext cx="5334000" cy="1205484"/>
            <a:chOff x="0" y="0"/>
            <a:chExt cx="7112000" cy="1607312"/>
          </a:xfrm>
        </p:grpSpPr>
        <p:sp>
          <p:nvSpPr>
            <p:cNvPr name="Freeform 123" id="123"/>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4" id="124"/>
          <p:cNvGrpSpPr/>
          <p:nvPr/>
        </p:nvGrpSpPr>
        <p:grpSpPr>
          <a:xfrm rot="0">
            <a:off x="12301880" y="5500116"/>
            <a:ext cx="229057" cy="200254"/>
            <a:chOff x="0" y="0"/>
            <a:chExt cx="305410" cy="267005"/>
          </a:xfrm>
        </p:grpSpPr>
        <p:sp>
          <p:nvSpPr>
            <p:cNvPr name="Freeform 125" id="125" descr="preencoded.png"/>
            <p:cNvSpPr/>
            <p:nvPr/>
          </p:nvSpPr>
          <p:spPr>
            <a:xfrm flipH="false" flipV="false" rot="0">
              <a:off x="0" y="0"/>
              <a:ext cx="305435" cy="266954"/>
            </a:xfrm>
            <a:custGeom>
              <a:avLst/>
              <a:gdLst/>
              <a:ahLst/>
              <a:cxnLst/>
              <a:rect r="r" b="b" t="t" l="l"/>
              <a:pathLst>
                <a:path h="266954" w="305435">
                  <a:moveTo>
                    <a:pt x="0" y="0"/>
                  </a:moveTo>
                  <a:lnTo>
                    <a:pt x="305435" y="0"/>
                  </a:lnTo>
                  <a:lnTo>
                    <a:pt x="305435" y="266954"/>
                  </a:lnTo>
                  <a:lnTo>
                    <a:pt x="0" y="266954"/>
                  </a:lnTo>
                  <a:lnTo>
                    <a:pt x="0" y="0"/>
                  </a:lnTo>
                  <a:close/>
                </a:path>
              </a:pathLst>
            </a:custGeom>
            <a:blipFill>
              <a:blip r:embed="rId10"/>
              <a:stretch>
                <a:fillRect l="823" t="0" r="831" b="-1270"/>
              </a:stretch>
            </a:blipFill>
          </p:spPr>
          <p:txBody>
            <a:bodyPr/>
            <a:p/>
          </p:txBody>
        </p:sp>
      </p:grpSp>
      <p:grpSp>
        <p:nvGrpSpPr>
          <p:cNvPr name="Group 126" id="126"/>
          <p:cNvGrpSpPr/>
          <p:nvPr/>
        </p:nvGrpSpPr>
        <p:grpSpPr>
          <a:xfrm rot="0">
            <a:off x="12701016" y="5457596"/>
            <a:ext cx="4657954" cy="814731"/>
            <a:chOff x="0" y="0"/>
            <a:chExt cx="6210605" cy="1086308"/>
          </a:xfrm>
        </p:grpSpPr>
        <p:sp>
          <p:nvSpPr>
            <p:cNvPr name="Freeform 127" id="127"/>
            <p:cNvSpPr/>
            <p:nvPr/>
          </p:nvSpPr>
          <p:spPr>
            <a:xfrm flipH="false" flipV="false" rot="0">
              <a:off x="0" y="0"/>
              <a:ext cx="6210604" cy="1086309"/>
            </a:xfrm>
            <a:custGeom>
              <a:avLst/>
              <a:gdLst/>
              <a:ahLst/>
              <a:cxnLst/>
              <a:rect r="r" b="b" t="t" l="l"/>
              <a:pathLst>
                <a:path h="1086309" w="6210604">
                  <a:moveTo>
                    <a:pt x="0" y="0"/>
                  </a:moveTo>
                  <a:lnTo>
                    <a:pt x="6210604" y="0"/>
                  </a:lnTo>
                  <a:lnTo>
                    <a:pt x="6210604" y="1086309"/>
                  </a:lnTo>
                  <a:lnTo>
                    <a:pt x="0" y="1086309"/>
                  </a:lnTo>
                  <a:close/>
                </a:path>
              </a:pathLst>
            </a:custGeom>
            <a:blipFill>
              <a:blip r:embed="rId5">
                <a:alphaModFix amt="0"/>
              </a:blip>
              <a:stretch>
                <a:fillRect l="0" t="-61399" r="0" b="-61399"/>
              </a:stretch>
            </a:blipFill>
          </p:spPr>
          <p:txBody>
            <a:bodyPr/>
            <a:p/>
          </p:txBody>
        </p:sp>
        <p:sp>
          <p:nvSpPr>
            <p:cNvPr name="TextBox 128" id="128"/>
            <p:cNvSpPr txBox="true"/>
            <p:nvPr/>
          </p:nvSpPr>
          <p:spPr>
            <a:xfrm>
              <a:off x="0" y="0"/>
              <a:ext cx="6210605"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Exposition Solaire</a:t>
              </a:r>
              <a:r>
                <a:rPr lang="en-US" sz="1350">
                  <a:solidFill>
                    <a:srgbClr val="D3D6E0"/>
                  </a:solidFill>
                  <a:latin typeface="Manrope"/>
                  <a:ea typeface="Manrope"/>
                  <a:cs typeface="Manrope"/>
                  <a:sym typeface="Manrope"/>
                </a:rPr>
                <a:t>  10-15 min de lumière directe dans les yeux (sans lunettes de soleil, pas vitre). </a:t>
              </a:r>
            </a:p>
          </p:txBody>
        </p:sp>
      </p:grpSp>
      <p:grpSp>
        <p:nvGrpSpPr>
          <p:cNvPr name="Group 129" id="129"/>
          <p:cNvGrpSpPr/>
          <p:nvPr/>
        </p:nvGrpSpPr>
        <p:grpSpPr>
          <a:xfrm rot="0">
            <a:off x="6563182" y="6671539"/>
            <a:ext cx="5334000" cy="1205484"/>
            <a:chOff x="0" y="0"/>
            <a:chExt cx="7112000" cy="1607312"/>
          </a:xfrm>
        </p:grpSpPr>
        <p:sp>
          <p:nvSpPr>
            <p:cNvPr name="Freeform 130" id="130"/>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1" id="131"/>
          <p:cNvGrpSpPr/>
          <p:nvPr/>
        </p:nvGrpSpPr>
        <p:grpSpPr>
          <a:xfrm rot="0">
            <a:off x="6757873" y="6910121"/>
            <a:ext cx="257861" cy="200254"/>
            <a:chOff x="0" y="0"/>
            <a:chExt cx="343814" cy="267005"/>
          </a:xfrm>
        </p:grpSpPr>
        <p:sp>
          <p:nvSpPr>
            <p:cNvPr name="Freeform 132" id="132"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11"/>
              <a:stretch>
                <a:fillRect l="1462" t="0" r="1455" b="-466"/>
              </a:stretch>
            </a:blipFill>
          </p:spPr>
          <p:txBody>
            <a:bodyPr/>
            <a:p/>
          </p:txBody>
        </p:sp>
      </p:grpSp>
      <p:grpSp>
        <p:nvGrpSpPr>
          <p:cNvPr name="Group 133" id="133"/>
          <p:cNvGrpSpPr/>
          <p:nvPr/>
        </p:nvGrpSpPr>
        <p:grpSpPr>
          <a:xfrm rot="0">
            <a:off x="7187184" y="6866230"/>
            <a:ext cx="4629150" cy="814731"/>
            <a:chOff x="0" y="0"/>
            <a:chExt cx="6172200" cy="1086308"/>
          </a:xfrm>
        </p:grpSpPr>
        <p:sp>
          <p:nvSpPr>
            <p:cNvPr name="Freeform 134" id="134"/>
            <p:cNvSpPr/>
            <p:nvPr/>
          </p:nvSpPr>
          <p:spPr>
            <a:xfrm flipH="false" flipV="false" rot="0">
              <a:off x="0" y="0"/>
              <a:ext cx="6172200" cy="1086309"/>
            </a:xfrm>
            <a:custGeom>
              <a:avLst/>
              <a:gdLst/>
              <a:ahLst/>
              <a:cxnLst/>
              <a:rect r="r" b="b" t="t" l="l"/>
              <a:pathLst>
                <a:path h="1086309" w="6172200">
                  <a:moveTo>
                    <a:pt x="0" y="0"/>
                  </a:moveTo>
                  <a:lnTo>
                    <a:pt x="6172200" y="0"/>
                  </a:lnTo>
                  <a:lnTo>
                    <a:pt x="6172200" y="1086309"/>
                  </a:lnTo>
                  <a:lnTo>
                    <a:pt x="0" y="1086309"/>
                  </a:lnTo>
                  <a:close/>
                </a:path>
              </a:pathLst>
            </a:custGeom>
            <a:blipFill>
              <a:blip r:embed="rId5">
                <a:alphaModFix amt="0"/>
              </a:blip>
              <a:stretch>
                <a:fillRect l="0" t="-60710" r="0" b="-60710"/>
              </a:stretch>
            </a:blipFill>
          </p:spPr>
          <p:txBody>
            <a:bodyPr/>
            <a:p/>
          </p:txBody>
        </p:sp>
        <p:sp>
          <p:nvSpPr>
            <p:cNvPr name="TextBox 135" id="135"/>
            <p:cNvSpPr txBox="true"/>
            <p:nvPr/>
          </p:nvSpPr>
          <p:spPr>
            <a:xfrm>
              <a:off x="0" y="0"/>
              <a:ext cx="617220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Respiration </a:t>
              </a:r>
              <a:r>
                <a:rPr lang="en-US" sz="1350">
                  <a:solidFill>
                    <a:srgbClr val="D3D6E0"/>
                  </a:solidFill>
                  <a:latin typeface="Manrope"/>
                  <a:ea typeface="Manrope"/>
                  <a:cs typeface="Manrope"/>
                  <a:sym typeface="Manrope"/>
                </a:rPr>
                <a:t> Respirations lentes et profondes pour s'ancrer au rythme de la journée. </a:t>
              </a:r>
            </a:p>
          </p:txBody>
        </p:sp>
      </p:grpSp>
      <p:grpSp>
        <p:nvGrpSpPr>
          <p:cNvPr name="Group 136" id="136"/>
          <p:cNvGrpSpPr/>
          <p:nvPr/>
        </p:nvGrpSpPr>
        <p:grpSpPr>
          <a:xfrm rot="0">
            <a:off x="12105818" y="6671539"/>
            <a:ext cx="5334000" cy="1205484"/>
            <a:chOff x="0" y="0"/>
            <a:chExt cx="7112000" cy="1607312"/>
          </a:xfrm>
        </p:grpSpPr>
        <p:sp>
          <p:nvSpPr>
            <p:cNvPr name="Freeform 137" id="137"/>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8" id="138"/>
          <p:cNvGrpSpPr/>
          <p:nvPr/>
        </p:nvGrpSpPr>
        <p:grpSpPr>
          <a:xfrm rot="0">
            <a:off x="12301880" y="6910121"/>
            <a:ext cx="200254" cy="200254"/>
            <a:chOff x="0" y="0"/>
            <a:chExt cx="267005" cy="267005"/>
          </a:xfrm>
        </p:grpSpPr>
        <p:sp>
          <p:nvSpPr>
            <p:cNvPr name="Freeform 139" id="139"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2"/>
              <a:stretch>
                <a:fillRect l="0" t="0" r="-19" b="-19"/>
              </a:stretch>
            </a:blipFill>
          </p:spPr>
          <p:txBody>
            <a:bodyPr/>
            <a:p/>
          </p:txBody>
        </p:sp>
      </p:grpSp>
      <p:grpSp>
        <p:nvGrpSpPr>
          <p:cNvPr name="Group 140" id="140"/>
          <p:cNvGrpSpPr/>
          <p:nvPr/>
        </p:nvGrpSpPr>
        <p:grpSpPr>
          <a:xfrm rot="0">
            <a:off x="12673584" y="6866230"/>
            <a:ext cx="4686757" cy="814731"/>
            <a:chOff x="0" y="0"/>
            <a:chExt cx="6249010" cy="1086308"/>
          </a:xfrm>
        </p:grpSpPr>
        <p:sp>
          <p:nvSpPr>
            <p:cNvPr name="Freeform 141" id="141"/>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5">
                <a:alphaModFix amt="0"/>
              </a:blip>
              <a:stretch>
                <a:fillRect l="0" t="-62088" r="0" b="-62087"/>
              </a:stretch>
            </a:blipFill>
          </p:spPr>
          <p:txBody>
            <a:bodyPr/>
            <a:p/>
          </p:txBody>
        </p:sp>
        <p:sp>
          <p:nvSpPr>
            <p:cNvPr name="TextBox 142" id="142"/>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Mode Avion</a:t>
              </a:r>
              <a:r>
                <a:rPr lang="en-US" sz="1350">
                  <a:solidFill>
                    <a:srgbClr val="D3D6E0"/>
                  </a:solidFill>
                  <a:latin typeface="Manrope"/>
                  <a:ea typeface="Manrope"/>
                  <a:cs typeface="Manrope"/>
                  <a:sym typeface="Manrope"/>
                </a:rPr>
                <a:t>  Pas de téléphone ou d'emails avant d'avoir vu la lumière du jour. </a:t>
              </a:r>
            </a:p>
          </p:txBody>
        </p:sp>
      </p:grpSp>
      <p:grpSp>
        <p:nvGrpSpPr>
          <p:cNvPr name="Group 143" id="143"/>
          <p:cNvGrpSpPr/>
          <p:nvPr/>
        </p:nvGrpSpPr>
        <p:grpSpPr>
          <a:xfrm rot="0">
            <a:off x="7763332" y="1261948"/>
            <a:ext cx="1776070" cy="290627"/>
            <a:chOff x="0" y="0"/>
            <a:chExt cx="2368093" cy="387502"/>
          </a:xfrm>
        </p:grpSpPr>
        <p:sp>
          <p:nvSpPr>
            <p:cNvPr name="Freeform 144" id="144"/>
            <p:cNvSpPr/>
            <p:nvPr/>
          </p:nvSpPr>
          <p:spPr>
            <a:xfrm flipH="false" flipV="false" rot="0">
              <a:off x="12700" y="12700"/>
              <a:ext cx="2342642" cy="362204"/>
            </a:xfrm>
            <a:custGeom>
              <a:avLst/>
              <a:gdLst/>
              <a:ahLst/>
              <a:cxnLst/>
              <a:rect r="r" b="b" t="t" l="l"/>
              <a:pathLst>
                <a:path h="362204" w="2342642">
                  <a:moveTo>
                    <a:pt x="0" y="181102"/>
                  </a:moveTo>
                  <a:cubicBezTo>
                    <a:pt x="0" y="81026"/>
                    <a:pt x="85852" y="0"/>
                    <a:pt x="191643" y="0"/>
                  </a:cubicBezTo>
                  <a:lnTo>
                    <a:pt x="2150999" y="0"/>
                  </a:lnTo>
                  <a:cubicBezTo>
                    <a:pt x="2256917" y="0"/>
                    <a:pt x="2342642" y="81026"/>
                    <a:pt x="2342642" y="181102"/>
                  </a:cubicBezTo>
                  <a:cubicBezTo>
                    <a:pt x="2342642" y="281178"/>
                    <a:pt x="2256790" y="362204"/>
                    <a:pt x="2150999" y="362204"/>
                  </a:cubicBezTo>
                  <a:lnTo>
                    <a:pt x="191643" y="362204"/>
                  </a:lnTo>
                  <a:cubicBezTo>
                    <a:pt x="85852" y="362077"/>
                    <a:pt x="0" y="281051"/>
                    <a:pt x="0" y="181102"/>
                  </a:cubicBezTo>
                  <a:close/>
                </a:path>
              </a:pathLst>
            </a:custGeom>
            <a:solidFill>
              <a:srgbClr val="40424D"/>
            </a:solidFill>
          </p:spPr>
          <p:txBody>
            <a:bodyPr/>
            <a:p/>
          </p:txBody>
        </p:sp>
      </p:grpSp>
      <p:grpSp>
        <p:nvGrpSpPr>
          <p:cNvPr name="Group 145" id="145"/>
          <p:cNvGrpSpPr/>
          <p:nvPr/>
        </p:nvGrpSpPr>
        <p:grpSpPr>
          <a:xfrm rot="0">
            <a:off x="7887157" y="1271473"/>
            <a:ext cx="1872234" cy="271576"/>
            <a:chOff x="0" y="0"/>
            <a:chExt cx="2496312" cy="362102"/>
          </a:xfrm>
        </p:grpSpPr>
        <p:sp>
          <p:nvSpPr>
            <p:cNvPr name="Freeform 146" id="146"/>
            <p:cNvSpPr/>
            <p:nvPr/>
          </p:nvSpPr>
          <p:spPr>
            <a:xfrm flipH="false" flipV="false" rot="0">
              <a:off x="0" y="0"/>
              <a:ext cx="2496312" cy="362102"/>
            </a:xfrm>
            <a:custGeom>
              <a:avLst/>
              <a:gdLst/>
              <a:ahLst/>
              <a:cxnLst/>
              <a:rect r="r" b="b" t="t" l="l"/>
              <a:pathLst>
                <a:path h="362102" w="2496312">
                  <a:moveTo>
                    <a:pt x="0" y="0"/>
                  </a:moveTo>
                  <a:lnTo>
                    <a:pt x="2496312" y="0"/>
                  </a:lnTo>
                  <a:lnTo>
                    <a:pt x="2496312" y="362102"/>
                  </a:lnTo>
                  <a:lnTo>
                    <a:pt x="0" y="362102"/>
                  </a:lnTo>
                  <a:close/>
                </a:path>
              </a:pathLst>
            </a:custGeom>
            <a:blipFill>
              <a:blip r:embed="rId5">
                <a:alphaModFix amt="0"/>
              </a:blip>
              <a:stretch>
                <a:fillRect l="0" t="-84328" r="0" b="-84329"/>
              </a:stretch>
            </a:blipFill>
          </p:spPr>
          <p:txBody>
            <a:bodyPr/>
            <a:p/>
          </p:txBody>
        </p:sp>
        <p:sp>
          <p:nvSpPr>
            <p:cNvPr name="TextBox 147" id="147"/>
            <p:cNvSpPr txBox="true"/>
            <p:nvPr/>
          </p:nvSpPr>
          <p:spPr>
            <a:xfrm>
              <a:off x="0" y="0"/>
              <a:ext cx="2496312" cy="362102"/>
            </a:xfrm>
            <a:prstGeom prst="rect">
              <a:avLst/>
            </a:prstGeom>
          </p:spPr>
          <p:txBody>
            <a:bodyPr anchor="ctr" rtlCol="false" tIns="0" lIns="0" bIns="0" rIns="0"/>
            <a:lstStyle/>
            <a:p>
              <a:pPr algn="l">
                <a:lnSpc>
                  <a:spcPts val="1439"/>
                </a:lnSpc>
              </a:pPr>
              <a:r>
                <a:rPr lang="en-US" sz="1200" b="true">
                  <a:solidFill>
                    <a:srgbClr val="FFFFFF"/>
                  </a:solidFill>
                  <a:latin typeface="Manrope Bold"/>
                  <a:ea typeface="Manrope Bold"/>
                  <a:cs typeface="Manrope Bold"/>
                  <a:sym typeface="Manrope Bold"/>
                </a:rPr>
                <a:t>Mécanisme Central</a:t>
              </a:r>
            </a:p>
          </p:txBody>
        </p:sp>
      </p:grpSp>
      <p:grpSp>
        <p:nvGrpSpPr>
          <p:cNvPr name="Group 148" id="148"/>
          <p:cNvGrpSpPr/>
          <p:nvPr/>
        </p:nvGrpSpPr>
        <p:grpSpPr>
          <a:xfrm rot="0">
            <a:off x="6572707" y="4203954"/>
            <a:ext cx="257861" cy="257861"/>
            <a:chOff x="0" y="0"/>
            <a:chExt cx="343814" cy="343814"/>
          </a:xfrm>
        </p:grpSpPr>
        <p:sp>
          <p:nvSpPr>
            <p:cNvPr name="Freeform 149" id="149" descr="preencoded.png"/>
            <p:cNvSpPr/>
            <p:nvPr/>
          </p:nvSpPr>
          <p:spPr>
            <a:xfrm flipH="false" flipV="false" rot="0">
              <a:off x="0" y="0"/>
              <a:ext cx="343789" cy="343789"/>
            </a:xfrm>
            <a:custGeom>
              <a:avLst/>
              <a:gdLst/>
              <a:ahLst/>
              <a:cxnLst/>
              <a:rect r="r" b="b" t="t" l="l"/>
              <a:pathLst>
                <a:path h="343789" w="343789">
                  <a:moveTo>
                    <a:pt x="0" y="0"/>
                  </a:moveTo>
                  <a:lnTo>
                    <a:pt x="343789" y="0"/>
                  </a:lnTo>
                  <a:lnTo>
                    <a:pt x="343789" y="343789"/>
                  </a:lnTo>
                  <a:lnTo>
                    <a:pt x="0" y="343789"/>
                  </a:lnTo>
                  <a:lnTo>
                    <a:pt x="0" y="0"/>
                  </a:lnTo>
                  <a:close/>
                </a:path>
              </a:pathLst>
            </a:custGeom>
            <a:blipFill>
              <a:blip r:embed="rId13"/>
              <a:stretch>
                <a:fillRect l="0" t="0" r="-7" b="-7"/>
              </a:stretch>
            </a:blipFill>
          </p:spPr>
          <p:txBody>
            <a:body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0"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847725" y="2490902"/>
            <a:ext cx="5362804" cy="3862273"/>
            <a:chOff x="0" y="0"/>
            <a:chExt cx="7150405" cy="5149698"/>
          </a:xfrm>
        </p:grpSpPr>
        <p:sp>
          <p:nvSpPr>
            <p:cNvPr name="Freeform 7" id="7"/>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8" id="8"/>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9" id="9"/>
          <p:cNvGrpSpPr/>
          <p:nvPr/>
        </p:nvGrpSpPr>
        <p:grpSpPr>
          <a:xfrm rot="0">
            <a:off x="1204341" y="2847518"/>
            <a:ext cx="647243" cy="647243"/>
            <a:chOff x="0" y="0"/>
            <a:chExt cx="862990" cy="862990"/>
          </a:xfrm>
        </p:grpSpPr>
        <p:sp>
          <p:nvSpPr>
            <p:cNvPr name="Freeform 10" id="10"/>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1" id="11"/>
          <p:cNvGrpSpPr/>
          <p:nvPr/>
        </p:nvGrpSpPr>
        <p:grpSpPr>
          <a:xfrm rot="0">
            <a:off x="1436065" y="3028493"/>
            <a:ext cx="185166" cy="285293"/>
            <a:chOff x="0" y="0"/>
            <a:chExt cx="246888" cy="380390"/>
          </a:xfrm>
        </p:grpSpPr>
        <p:sp>
          <p:nvSpPr>
            <p:cNvPr name="Freeform 12" id="12" descr="preencoded.png"/>
            <p:cNvSpPr/>
            <p:nvPr/>
          </p:nvSpPr>
          <p:spPr>
            <a:xfrm flipH="false" flipV="false" rot="0">
              <a:off x="0" y="0"/>
              <a:ext cx="246888" cy="380365"/>
            </a:xfrm>
            <a:custGeom>
              <a:avLst/>
              <a:gdLst/>
              <a:ahLst/>
              <a:cxnLst/>
              <a:rect r="r" b="b" t="t" l="l"/>
              <a:pathLst>
                <a:path h="380365" w="246888">
                  <a:moveTo>
                    <a:pt x="0" y="0"/>
                  </a:moveTo>
                  <a:lnTo>
                    <a:pt x="246888" y="0"/>
                  </a:lnTo>
                  <a:lnTo>
                    <a:pt x="246888" y="380365"/>
                  </a:lnTo>
                  <a:lnTo>
                    <a:pt x="0" y="380365"/>
                  </a:lnTo>
                  <a:lnTo>
                    <a:pt x="0" y="0"/>
                  </a:lnTo>
                  <a:close/>
                </a:path>
              </a:pathLst>
            </a:custGeom>
            <a:blipFill>
              <a:blip r:embed="rId3"/>
              <a:stretch>
                <a:fillRect l="1867" t="0" r="946" b="-6"/>
              </a:stretch>
            </a:blipFill>
          </p:spPr>
          <p:txBody>
            <a:bodyPr/>
            <a:p/>
          </p:txBody>
        </p:sp>
      </p:grpSp>
      <p:grpSp>
        <p:nvGrpSpPr>
          <p:cNvPr name="Group 13" id="13"/>
          <p:cNvGrpSpPr/>
          <p:nvPr/>
        </p:nvGrpSpPr>
        <p:grpSpPr>
          <a:xfrm rot="0">
            <a:off x="5627675" y="2857043"/>
            <a:ext cx="329184" cy="257861"/>
            <a:chOff x="0" y="0"/>
            <a:chExt cx="438912" cy="343814"/>
          </a:xfrm>
        </p:grpSpPr>
        <p:sp>
          <p:nvSpPr>
            <p:cNvPr name="Freeform 14" id="14"/>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5" id="15"/>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01</a:t>
              </a:r>
            </a:p>
          </p:txBody>
        </p:sp>
      </p:grpSp>
      <p:grpSp>
        <p:nvGrpSpPr>
          <p:cNvPr name="Group 16" id="16"/>
          <p:cNvGrpSpPr/>
          <p:nvPr/>
        </p:nvGrpSpPr>
        <p:grpSpPr>
          <a:xfrm rot="0">
            <a:off x="1213866" y="3771900"/>
            <a:ext cx="4800600" cy="430120"/>
            <a:chOff x="0" y="0"/>
            <a:chExt cx="6400800" cy="573494"/>
          </a:xfrm>
        </p:grpSpPr>
        <p:sp>
          <p:nvSpPr>
            <p:cNvPr name="Freeform 17" id="17"/>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8" id="18"/>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NEAT</a:t>
              </a:r>
            </a:p>
          </p:txBody>
        </p:sp>
      </p:grpSp>
      <p:grpSp>
        <p:nvGrpSpPr>
          <p:cNvPr name="Group 19" id="19"/>
          <p:cNvGrpSpPr/>
          <p:nvPr/>
        </p:nvGrpSpPr>
        <p:grpSpPr>
          <a:xfrm rot="0">
            <a:off x="1204341" y="4263009"/>
            <a:ext cx="1747266" cy="419557"/>
            <a:chOff x="0" y="0"/>
            <a:chExt cx="2329688" cy="559410"/>
          </a:xfrm>
        </p:grpSpPr>
        <p:sp>
          <p:nvSpPr>
            <p:cNvPr name="Freeform 20" id="20"/>
            <p:cNvSpPr/>
            <p:nvPr/>
          </p:nvSpPr>
          <p:spPr>
            <a:xfrm flipH="false" flipV="false" rot="0">
              <a:off x="12700" y="12700"/>
              <a:ext cx="2304288" cy="533908"/>
            </a:xfrm>
            <a:custGeom>
              <a:avLst/>
              <a:gdLst/>
              <a:ahLst/>
              <a:cxnLst/>
              <a:rect r="r" b="b" t="t" l="l"/>
              <a:pathLst>
                <a:path h="533908" w="2304288">
                  <a:moveTo>
                    <a:pt x="0" y="261239"/>
                  </a:moveTo>
                  <a:cubicBezTo>
                    <a:pt x="0" y="116967"/>
                    <a:pt x="121158" y="0"/>
                    <a:pt x="270764" y="0"/>
                  </a:cubicBezTo>
                  <a:lnTo>
                    <a:pt x="2033524" y="0"/>
                  </a:lnTo>
                  <a:cubicBezTo>
                    <a:pt x="2183003" y="0"/>
                    <a:pt x="2304288" y="116967"/>
                    <a:pt x="2304288" y="261239"/>
                  </a:cubicBezTo>
                  <a:lnTo>
                    <a:pt x="2304288" y="272669"/>
                  </a:lnTo>
                  <a:cubicBezTo>
                    <a:pt x="2304288" y="416941"/>
                    <a:pt x="2183130" y="533908"/>
                    <a:pt x="2033524" y="533908"/>
                  </a:cubicBezTo>
                  <a:lnTo>
                    <a:pt x="270764" y="533908"/>
                  </a:lnTo>
                  <a:cubicBezTo>
                    <a:pt x="121158" y="534035"/>
                    <a:pt x="0" y="417068"/>
                    <a:pt x="0" y="272796"/>
                  </a:cubicBezTo>
                  <a:close/>
                </a:path>
              </a:pathLst>
            </a:custGeom>
            <a:solidFill>
              <a:srgbClr val="FFFFFF"/>
            </a:solidFill>
          </p:spPr>
          <p:txBody>
            <a:bodyPr/>
            <a:p/>
          </p:txBody>
        </p:sp>
      </p:grpSp>
      <p:grpSp>
        <p:nvGrpSpPr>
          <p:cNvPr name="Group 21" id="21"/>
          <p:cNvGrpSpPr/>
          <p:nvPr/>
        </p:nvGrpSpPr>
        <p:grpSpPr>
          <a:xfrm rot="0">
            <a:off x="1377772" y="4254779"/>
            <a:ext cx="1814627" cy="410033"/>
            <a:chOff x="0" y="0"/>
            <a:chExt cx="2419502" cy="546710"/>
          </a:xfrm>
        </p:grpSpPr>
        <p:sp>
          <p:nvSpPr>
            <p:cNvPr name="Freeform 22" id="22"/>
            <p:cNvSpPr/>
            <p:nvPr/>
          </p:nvSpPr>
          <p:spPr>
            <a:xfrm flipH="false" flipV="false" rot="0">
              <a:off x="0" y="0"/>
              <a:ext cx="2419502" cy="546710"/>
            </a:xfrm>
            <a:custGeom>
              <a:avLst/>
              <a:gdLst/>
              <a:ahLst/>
              <a:cxnLst/>
              <a:rect r="r" b="b" t="t" l="l"/>
              <a:pathLst>
                <a:path h="546710" w="2419502">
                  <a:moveTo>
                    <a:pt x="0" y="0"/>
                  </a:moveTo>
                  <a:lnTo>
                    <a:pt x="2419502" y="0"/>
                  </a:lnTo>
                  <a:lnTo>
                    <a:pt x="2419502" y="546710"/>
                  </a:lnTo>
                  <a:lnTo>
                    <a:pt x="0" y="546710"/>
                  </a:lnTo>
                  <a:close/>
                </a:path>
              </a:pathLst>
            </a:custGeom>
            <a:blipFill>
              <a:blip r:embed="rId4">
                <a:alphaModFix amt="0"/>
              </a:blip>
              <a:stretch>
                <a:fillRect l="0" t="-37393" r="0" b="-35070"/>
              </a:stretch>
            </a:blipFill>
          </p:spPr>
          <p:txBody>
            <a:bodyPr/>
            <a:p/>
          </p:txBody>
        </p:sp>
        <p:sp>
          <p:nvSpPr>
            <p:cNvPr name="TextBox 23" id="23"/>
            <p:cNvSpPr txBox="true"/>
            <p:nvPr/>
          </p:nvSpPr>
          <p:spPr>
            <a:xfrm>
              <a:off x="0" y="0"/>
              <a:ext cx="2419502" cy="5467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12 000 pas / jour</a:t>
              </a:r>
            </a:p>
          </p:txBody>
        </p:sp>
      </p:grpSp>
      <p:grpSp>
        <p:nvGrpSpPr>
          <p:cNvPr name="Group 24" id="24"/>
          <p:cNvGrpSpPr/>
          <p:nvPr/>
        </p:nvGrpSpPr>
        <p:grpSpPr>
          <a:xfrm rot="0">
            <a:off x="1204341" y="4826737"/>
            <a:ext cx="4648200" cy="32766"/>
            <a:chOff x="0" y="0"/>
            <a:chExt cx="6197600" cy="43688"/>
          </a:xfrm>
        </p:grpSpPr>
        <p:sp>
          <p:nvSpPr>
            <p:cNvPr name="Freeform 25" id="25"/>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26" id="26"/>
          <p:cNvGrpSpPr/>
          <p:nvPr/>
        </p:nvGrpSpPr>
        <p:grpSpPr>
          <a:xfrm rot="0">
            <a:off x="1213866" y="5021428"/>
            <a:ext cx="4744364" cy="558241"/>
            <a:chOff x="0" y="0"/>
            <a:chExt cx="6325819" cy="744322"/>
          </a:xfrm>
        </p:grpSpPr>
        <p:sp>
          <p:nvSpPr>
            <p:cNvPr name="Freeform 27" id="27"/>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28" id="28"/>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Non-Exercise Activity Thermogenesis. La base métabolique active.</a:t>
              </a:r>
            </a:p>
          </p:txBody>
        </p:sp>
      </p:grpSp>
      <p:grpSp>
        <p:nvGrpSpPr>
          <p:cNvPr name="Group 29" id="29"/>
          <p:cNvGrpSpPr/>
          <p:nvPr/>
        </p:nvGrpSpPr>
        <p:grpSpPr>
          <a:xfrm rot="0">
            <a:off x="1204341" y="5683987"/>
            <a:ext cx="591007" cy="319430"/>
            <a:chOff x="0" y="0"/>
            <a:chExt cx="788010" cy="425907"/>
          </a:xfrm>
        </p:grpSpPr>
        <p:sp>
          <p:nvSpPr>
            <p:cNvPr name="Freeform 30" id="30"/>
            <p:cNvSpPr/>
            <p:nvPr/>
          </p:nvSpPr>
          <p:spPr>
            <a:xfrm flipH="false" flipV="false" rot="0">
              <a:off x="12700" y="12700"/>
              <a:ext cx="762635" cy="400558"/>
            </a:xfrm>
            <a:custGeom>
              <a:avLst/>
              <a:gdLst/>
              <a:ahLst/>
              <a:cxnLst/>
              <a:rect r="r" b="b" t="t" l="l"/>
              <a:pathLst>
                <a:path h="400558" w="762635">
                  <a:moveTo>
                    <a:pt x="0" y="200279"/>
                  </a:moveTo>
                  <a:cubicBezTo>
                    <a:pt x="0" y="89662"/>
                    <a:pt x="92329" y="0"/>
                    <a:pt x="206121" y="0"/>
                  </a:cubicBezTo>
                  <a:lnTo>
                    <a:pt x="556514" y="0"/>
                  </a:lnTo>
                  <a:cubicBezTo>
                    <a:pt x="670306" y="0"/>
                    <a:pt x="762635" y="89662"/>
                    <a:pt x="762635" y="200279"/>
                  </a:cubicBezTo>
                  <a:cubicBezTo>
                    <a:pt x="762635" y="310896"/>
                    <a:pt x="670306" y="400558"/>
                    <a:pt x="556514" y="400558"/>
                  </a:cubicBezTo>
                  <a:lnTo>
                    <a:pt x="206121" y="400558"/>
                  </a:lnTo>
                  <a:cubicBezTo>
                    <a:pt x="92329" y="400558"/>
                    <a:pt x="0" y="310896"/>
                    <a:pt x="0" y="200279"/>
                  </a:cubicBezTo>
                  <a:close/>
                </a:path>
              </a:pathLst>
            </a:custGeom>
            <a:solidFill>
              <a:srgbClr val="FFFFFF">
                <a:alpha val="0"/>
              </a:srgbClr>
            </a:solidFill>
          </p:spPr>
          <p:txBody>
            <a:bodyPr/>
            <a:p/>
          </p:txBody>
        </p:sp>
      </p:grpSp>
      <p:grpSp>
        <p:nvGrpSpPr>
          <p:cNvPr name="Group 31" id="31"/>
          <p:cNvGrpSpPr/>
          <p:nvPr/>
        </p:nvGrpSpPr>
        <p:grpSpPr>
          <a:xfrm rot="0">
            <a:off x="1213866" y="5693512"/>
            <a:ext cx="685800" cy="300381"/>
            <a:chOff x="0" y="0"/>
            <a:chExt cx="914400" cy="400508"/>
          </a:xfrm>
        </p:grpSpPr>
        <p:sp>
          <p:nvSpPr>
            <p:cNvPr name="Freeform 32" id="32"/>
            <p:cNvSpPr/>
            <p:nvPr/>
          </p:nvSpPr>
          <p:spPr>
            <a:xfrm flipH="false" flipV="false" rot="0">
              <a:off x="0" y="0"/>
              <a:ext cx="914400" cy="400509"/>
            </a:xfrm>
            <a:custGeom>
              <a:avLst/>
              <a:gdLst/>
              <a:ahLst/>
              <a:cxnLst/>
              <a:rect r="r" b="b" t="t" l="l"/>
              <a:pathLst>
                <a:path h="400509" w="914400">
                  <a:moveTo>
                    <a:pt x="0" y="0"/>
                  </a:moveTo>
                  <a:lnTo>
                    <a:pt x="914400" y="0"/>
                  </a:lnTo>
                  <a:lnTo>
                    <a:pt x="914400" y="400509"/>
                  </a:lnTo>
                  <a:lnTo>
                    <a:pt x="0" y="400509"/>
                  </a:lnTo>
                  <a:close/>
                </a:path>
              </a:pathLst>
            </a:custGeom>
            <a:blipFill>
              <a:blip r:embed="rId4">
                <a:alphaModFix amt="0"/>
              </a:blip>
              <a:stretch>
                <a:fillRect l="-6196" t="0" r="-6196" b="0"/>
              </a:stretch>
            </a:blipFill>
          </p:spPr>
          <p:txBody>
            <a:bodyPr/>
            <a:p/>
          </p:txBody>
        </p:sp>
        <p:sp>
          <p:nvSpPr>
            <p:cNvPr name="TextBox 33" id="33"/>
            <p:cNvSpPr txBox="true"/>
            <p:nvPr/>
          </p:nvSpPr>
          <p:spPr>
            <a:xfrm>
              <a:off x="0" y="0"/>
              <a:ext cx="9144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VILPA</a:t>
              </a:r>
            </a:p>
          </p:txBody>
        </p:sp>
      </p:grpSp>
      <p:grpSp>
        <p:nvGrpSpPr>
          <p:cNvPr name="Group 34" id="34"/>
          <p:cNvGrpSpPr/>
          <p:nvPr/>
        </p:nvGrpSpPr>
        <p:grpSpPr>
          <a:xfrm rot="0">
            <a:off x="1888769" y="5683987"/>
            <a:ext cx="1419454" cy="319430"/>
            <a:chOff x="0" y="0"/>
            <a:chExt cx="1892605" cy="425907"/>
          </a:xfrm>
        </p:grpSpPr>
        <p:sp>
          <p:nvSpPr>
            <p:cNvPr name="Freeform 35" id="35"/>
            <p:cNvSpPr/>
            <p:nvPr/>
          </p:nvSpPr>
          <p:spPr>
            <a:xfrm flipH="false" flipV="false" rot="0">
              <a:off x="12700" y="12700"/>
              <a:ext cx="1867154" cy="400558"/>
            </a:xfrm>
            <a:custGeom>
              <a:avLst/>
              <a:gdLst/>
              <a:ahLst/>
              <a:cxnLst/>
              <a:rect r="r" b="b" t="t" l="l"/>
              <a:pathLst>
                <a:path h="400558" w="1867154">
                  <a:moveTo>
                    <a:pt x="0" y="200279"/>
                  </a:moveTo>
                  <a:cubicBezTo>
                    <a:pt x="0" y="89662"/>
                    <a:pt x="94107" y="0"/>
                    <a:pt x="210058" y="0"/>
                  </a:cubicBezTo>
                  <a:lnTo>
                    <a:pt x="1657096" y="0"/>
                  </a:lnTo>
                  <a:cubicBezTo>
                    <a:pt x="1773174" y="0"/>
                    <a:pt x="1867154" y="89662"/>
                    <a:pt x="1867154" y="200279"/>
                  </a:cubicBezTo>
                  <a:cubicBezTo>
                    <a:pt x="1867154" y="310896"/>
                    <a:pt x="1773047" y="400558"/>
                    <a:pt x="1657096" y="400558"/>
                  </a:cubicBezTo>
                  <a:lnTo>
                    <a:pt x="210058" y="400558"/>
                  </a:lnTo>
                  <a:cubicBezTo>
                    <a:pt x="94107" y="400558"/>
                    <a:pt x="0" y="310896"/>
                    <a:pt x="0" y="200279"/>
                  </a:cubicBezTo>
                  <a:close/>
                </a:path>
              </a:pathLst>
            </a:custGeom>
            <a:solidFill>
              <a:srgbClr val="FFFFFF">
                <a:alpha val="0"/>
              </a:srgbClr>
            </a:solidFill>
          </p:spPr>
          <p:txBody>
            <a:bodyPr/>
            <a:p/>
          </p:txBody>
        </p:sp>
      </p:grpSp>
      <p:grpSp>
        <p:nvGrpSpPr>
          <p:cNvPr name="Group 36" id="36"/>
          <p:cNvGrpSpPr/>
          <p:nvPr/>
        </p:nvGrpSpPr>
        <p:grpSpPr>
          <a:xfrm rot="0">
            <a:off x="1898294" y="5693512"/>
            <a:ext cx="1515618" cy="300381"/>
            <a:chOff x="0" y="0"/>
            <a:chExt cx="2020824" cy="400508"/>
          </a:xfrm>
        </p:grpSpPr>
        <p:sp>
          <p:nvSpPr>
            <p:cNvPr name="Freeform 37" id="37"/>
            <p:cNvSpPr/>
            <p:nvPr/>
          </p:nvSpPr>
          <p:spPr>
            <a:xfrm flipH="false" flipV="false" rot="0">
              <a:off x="0" y="0"/>
              <a:ext cx="2020824" cy="400509"/>
            </a:xfrm>
            <a:custGeom>
              <a:avLst/>
              <a:gdLst/>
              <a:ahLst/>
              <a:cxnLst/>
              <a:rect r="r" b="b" t="t" l="l"/>
              <a:pathLst>
                <a:path h="400509" w="2020824">
                  <a:moveTo>
                    <a:pt x="0" y="0"/>
                  </a:moveTo>
                  <a:lnTo>
                    <a:pt x="2020824" y="0"/>
                  </a:lnTo>
                  <a:lnTo>
                    <a:pt x="2020824" y="400509"/>
                  </a:lnTo>
                  <a:lnTo>
                    <a:pt x="0" y="400509"/>
                  </a:lnTo>
                  <a:close/>
                </a:path>
              </a:pathLst>
            </a:custGeom>
            <a:blipFill>
              <a:blip r:embed="rId4">
                <a:alphaModFix amt="0"/>
              </a:blip>
              <a:stretch>
                <a:fillRect l="0" t="-48314" r="0" b="-48314"/>
              </a:stretch>
            </a:blipFill>
          </p:spPr>
          <p:txBody>
            <a:bodyPr/>
            <a:p/>
          </p:txBody>
        </p:sp>
        <p:sp>
          <p:nvSpPr>
            <p:cNvPr name="TextBox 38" id="38"/>
            <p:cNvSpPr txBox="true"/>
            <p:nvPr/>
          </p:nvSpPr>
          <p:spPr>
            <a:xfrm>
              <a:off x="0" y="0"/>
              <a:ext cx="202082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Soleus Push-ups</a:t>
              </a:r>
            </a:p>
          </p:txBody>
        </p:sp>
      </p:grpSp>
      <p:grpSp>
        <p:nvGrpSpPr>
          <p:cNvPr name="Group 39" id="39"/>
          <p:cNvGrpSpPr/>
          <p:nvPr/>
        </p:nvGrpSpPr>
        <p:grpSpPr>
          <a:xfrm rot="0">
            <a:off x="3398901" y="5683987"/>
            <a:ext cx="1248004" cy="319430"/>
            <a:chOff x="0" y="0"/>
            <a:chExt cx="1664005" cy="425907"/>
          </a:xfrm>
        </p:grpSpPr>
        <p:sp>
          <p:nvSpPr>
            <p:cNvPr name="Freeform 40" id="40"/>
            <p:cNvSpPr/>
            <p:nvPr/>
          </p:nvSpPr>
          <p:spPr>
            <a:xfrm flipH="false" flipV="false" rot="0">
              <a:off x="12700" y="12700"/>
              <a:ext cx="1638554" cy="400558"/>
            </a:xfrm>
            <a:custGeom>
              <a:avLst/>
              <a:gdLst/>
              <a:ahLst/>
              <a:cxnLst/>
              <a:rect r="r" b="b" t="t" l="l"/>
              <a:pathLst>
                <a:path h="400558" w="1638554">
                  <a:moveTo>
                    <a:pt x="0" y="200279"/>
                  </a:moveTo>
                  <a:cubicBezTo>
                    <a:pt x="0" y="89662"/>
                    <a:pt x="93853" y="0"/>
                    <a:pt x="209677" y="0"/>
                  </a:cubicBezTo>
                  <a:lnTo>
                    <a:pt x="1428877" y="0"/>
                  </a:lnTo>
                  <a:cubicBezTo>
                    <a:pt x="1544701" y="0"/>
                    <a:pt x="1638554" y="89662"/>
                    <a:pt x="1638554" y="200279"/>
                  </a:cubicBezTo>
                  <a:cubicBezTo>
                    <a:pt x="1638554" y="310896"/>
                    <a:pt x="1544701" y="400558"/>
                    <a:pt x="1428877" y="400558"/>
                  </a:cubicBezTo>
                  <a:lnTo>
                    <a:pt x="209677" y="400558"/>
                  </a:lnTo>
                  <a:cubicBezTo>
                    <a:pt x="93853" y="400558"/>
                    <a:pt x="0" y="310896"/>
                    <a:pt x="0" y="200279"/>
                  </a:cubicBezTo>
                  <a:close/>
                </a:path>
              </a:pathLst>
            </a:custGeom>
            <a:solidFill>
              <a:srgbClr val="FFFFFF">
                <a:alpha val="0"/>
              </a:srgbClr>
            </a:solidFill>
          </p:spPr>
          <p:txBody>
            <a:bodyPr/>
            <a:p/>
          </p:txBody>
        </p:sp>
      </p:grpSp>
      <p:grpSp>
        <p:nvGrpSpPr>
          <p:cNvPr name="Group 41" id="41"/>
          <p:cNvGrpSpPr/>
          <p:nvPr/>
        </p:nvGrpSpPr>
        <p:grpSpPr>
          <a:xfrm rot="0">
            <a:off x="3408426" y="5693512"/>
            <a:ext cx="1370228" cy="300381"/>
            <a:chOff x="0" y="0"/>
            <a:chExt cx="1826971" cy="400508"/>
          </a:xfrm>
        </p:grpSpPr>
        <p:sp>
          <p:nvSpPr>
            <p:cNvPr name="Freeform 42" id="42"/>
            <p:cNvSpPr/>
            <p:nvPr/>
          </p:nvSpPr>
          <p:spPr>
            <a:xfrm flipH="false" flipV="false" rot="0">
              <a:off x="0" y="0"/>
              <a:ext cx="1826972" cy="400509"/>
            </a:xfrm>
            <a:custGeom>
              <a:avLst/>
              <a:gdLst/>
              <a:ahLst/>
              <a:cxnLst/>
              <a:rect r="r" b="b" t="t" l="l"/>
              <a:pathLst>
                <a:path h="400509" w="1826972">
                  <a:moveTo>
                    <a:pt x="0" y="0"/>
                  </a:moveTo>
                  <a:lnTo>
                    <a:pt x="1826972" y="0"/>
                  </a:lnTo>
                  <a:lnTo>
                    <a:pt x="1826972" y="400509"/>
                  </a:lnTo>
                  <a:lnTo>
                    <a:pt x="0" y="400509"/>
                  </a:lnTo>
                  <a:close/>
                </a:path>
              </a:pathLst>
            </a:custGeom>
            <a:blipFill>
              <a:blip r:embed="rId4">
                <a:alphaModFix amt="0"/>
              </a:blip>
              <a:stretch>
                <a:fillRect l="0" t="-38883" r="0" b="-38883"/>
              </a:stretch>
            </a:blipFill>
          </p:spPr>
          <p:txBody>
            <a:bodyPr/>
            <a:p/>
          </p:txBody>
        </p:sp>
        <p:sp>
          <p:nvSpPr>
            <p:cNvPr name="TextBox 43" id="43"/>
            <p:cNvSpPr txBox="true"/>
            <p:nvPr/>
          </p:nvSpPr>
          <p:spPr>
            <a:xfrm>
              <a:off x="0" y="0"/>
              <a:ext cx="1826971"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Micro-mobilité</a:t>
              </a:r>
            </a:p>
          </p:txBody>
        </p:sp>
      </p:grpSp>
      <p:grpSp>
        <p:nvGrpSpPr>
          <p:cNvPr name="Group 44" id="44"/>
          <p:cNvGrpSpPr/>
          <p:nvPr/>
        </p:nvGrpSpPr>
        <p:grpSpPr>
          <a:xfrm rot="0">
            <a:off x="6467170" y="2490902"/>
            <a:ext cx="5362804" cy="3862273"/>
            <a:chOff x="0" y="0"/>
            <a:chExt cx="7150405" cy="5149698"/>
          </a:xfrm>
        </p:grpSpPr>
        <p:sp>
          <p:nvSpPr>
            <p:cNvPr name="Freeform 45" id="45"/>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46" id="46"/>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47" id="47"/>
          <p:cNvGrpSpPr/>
          <p:nvPr/>
        </p:nvGrpSpPr>
        <p:grpSpPr>
          <a:xfrm rot="0">
            <a:off x="6825158" y="2847518"/>
            <a:ext cx="647243" cy="647243"/>
            <a:chOff x="0" y="0"/>
            <a:chExt cx="862990" cy="862990"/>
          </a:xfrm>
        </p:grpSpPr>
        <p:sp>
          <p:nvSpPr>
            <p:cNvPr name="Freeform 48" id="48"/>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49" id="49"/>
          <p:cNvGrpSpPr/>
          <p:nvPr/>
        </p:nvGrpSpPr>
        <p:grpSpPr>
          <a:xfrm rot="0">
            <a:off x="6970471" y="3028493"/>
            <a:ext cx="356616" cy="285293"/>
            <a:chOff x="0" y="0"/>
            <a:chExt cx="475488" cy="380390"/>
          </a:xfrm>
        </p:grpSpPr>
        <p:sp>
          <p:nvSpPr>
            <p:cNvPr name="Freeform 50" id="50" descr="preencoded.png"/>
            <p:cNvSpPr/>
            <p:nvPr/>
          </p:nvSpPr>
          <p:spPr>
            <a:xfrm flipH="false" flipV="false" rot="0">
              <a:off x="0" y="0"/>
              <a:ext cx="475488" cy="380365"/>
            </a:xfrm>
            <a:custGeom>
              <a:avLst/>
              <a:gdLst/>
              <a:ahLst/>
              <a:cxnLst/>
              <a:rect r="r" b="b" t="t" l="l"/>
              <a:pathLst>
                <a:path h="380365" w="475488">
                  <a:moveTo>
                    <a:pt x="0" y="0"/>
                  </a:moveTo>
                  <a:lnTo>
                    <a:pt x="475488" y="0"/>
                  </a:lnTo>
                  <a:lnTo>
                    <a:pt x="475488" y="380365"/>
                  </a:lnTo>
                  <a:lnTo>
                    <a:pt x="0" y="380365"/>
                  </a:lnTo>
                  <a:lnTo>
                    <a:pt x="0" y="0"/>
                  </a:lnTo>
                  <a:close/>
                </a:path>
              </a:pathLst>
            </a:custGeom>
            <a:blipFill>
              <a:blip r:embed="rId5"/>
              <a:stretch>
                <a:fillRect l="0" t="0" r="-646" b="-6"/>
              </a:stretch>
            </a:blipFill>
          </p:spPr>
          <p:txBody>
            <a:bodyPr/>
            <a:p/>
          </p:txBody>
        </p:sp>
      </p:grpSp>
      <p:grpSp>
        <p:nvGrpSpPr>
          <p:cNvPr name="Group 51" id="51"/>
          <p:cNvGrpSpPr/>
          <p:nvPr/>
        </p:nvGrpSpPr>
        <p:grpSpPr>
          <a:xfrm rot="0">
            <a:off x="11248492" y="2857043"/>
            <a:ext cx="329184" cy="257861"/>
            <a:chOff x="0" y="0"/>
            <a:chExt cx="438912" cy="343814"/>
          </a:xfrm>
        </p:grpSpPr>
        <p:sp>
          <p:nvSpPr>
            <p:cNvPr name="Freeform 52" id="52"/>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53" id="53"/>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02</a:t>
              </a:r>
            </a:p>
          </p:txBody>
        </p:sp>
      </p:grpSp>
      <p:grpSp>
        <p:nvGrpSpPr>
          <p:cNvPr name="Group 54" id="54"/>
          <p:cNvGrpSpPr/>
          <p:nvPr/>
        </p:nvGrpSpPr>
        <p:grpSpPr>
          <a:xfrm rot="0">
            <a:off x="6834683" y="3771900"/>
            <a:ext cx="4800600" cy="430120"/>
            <a:chOff x="0" y="0"/>
            <a:chExt cx="6400800" cy="573494"/>
          </a:xfrm>
        </p:grpSpPr>
        <p:sp>
          <p:nvSpPr>
            <p:cNvPr name="Freeform 55" id="55"/>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56" id="56"/>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FORCE</a:t>
              </a:r>
            </a:p>
          </p:txBody>
        </p:sp>
      </p:grpSp>
      <p:grpSp>
        <p:nvGrpSpPr>
          <p:cNvPr name="Group 57" id="57"/>
          <p:cNvGrpSpPr/>
          <p:nvPr/>
        </p:nvGrpSpPr>
        <p:grpSpPr>
          <a:xfrm rot="0">
            <a:off x="6825158" y="4263009"/>
            <a:ext cx="1448257" cy="419557"/>
            <a:chOff x="0" y="0"/>
            <a:chExt cx="1931010" cy="559410"/>
          </a:xfrm>
        </p:grpSpPr>
        <p:sp>
          <p:nvSpPr>
            <p:cNvPr name="Freeform 58" id="58"/>
            <p:cNvSpPr/>
            <p:nvPr/>
          </p:nvSpPr>
          <p:spPr>
            <a:xfrm flipH="false" flipV="false" rot="0">
              <a:off x="12700" y="12700"/>
              <a:ext cx="1905635" cy="533908"/>
            </a:xfrm>
            <a:custGeom>
              <a:avLst/>
              <a:gdLst/>
              <a:ahLst/>
              <a:cxnLst/>
              <a:rect r="r" b="b" t="t" l="l"/>
              <a:pathLst>
                <a:path h="533908" w="1905635">
                  <a:moveTo>
                    <a:pt x="0" y="261239"/>
                  </a:moveTo>
                  <a:cubicBezTo>
                    <a:pt x="0" y="116967"/>
                    <a:pt x="120904" y="0"/>
                    <a:pt x="270129" y="0"/>
                  </a:cubicBezTo>
                  <a:lnTo>
                    <a:pt x="1635506" y="0"/>
                  </a:lnTo>
                  <a:cubicBezTo>
                    <a:pt x="1784731" y="0"/>
                    <a:pt x="1905635" y="116967"/>
                    <a:pt x="1905635" y="261239"/>
                  </a:cubicBezTo>
                  <a:lnTo>
                    <a:pt x="1905635" y="272669"/>
                  </a:lnTo>
                  <a:cubicBezTo>
                    <a:pt x="1905635" y="416941"/>
                    <a:pt x="1784731" y="533908"/>
                    <a:pt x="1635506" y="533908"/>
                  </a:cubicBezTo>
                  <a:lnTo>
                    <a:pt x="270129" y="533908"/>
                  </a:lnTo>
                  <a:cubicBezTo>
                    <a:pt x="120904" y="534035"/>
                    <a:pt x="0" y="417068"/>
                    <a:pt x="0" y="272796"/>
                  </a:cubicBezTo>
                  <a:close/>
                </a:path>
              </a:pathLst>
            </a:custGeom>
            <a:solidFill>
              <a:srgbClr val="FFFFFF"/>
            </a:solidFill>
          </p:spPr>
          <p:txBody>
            <a:bodyPr/>
            <a:p/>
          </p:txBody>
        </p:sp>
      </p:grpSp>
      <p:grpSp>
        <p:nvGrpSpPr>
          <p:cNvPr name="Group 59" id="59"/>
          <p:cNvGrpSpPr/>
          <p:nvPr/>
        </p:nvGrpSpPr>
        <p:grpSpPr>
          <a:xfrm rot="0">
            <a:off x="6970471" y="4272534"/>
            <a:ext cx="1515618" cy="400508"/>
            <a:chOff x="0" y="0"/>
            <a:chExt cx="2020824" cy="534010"/>
          </a:xfrm>
        </p:grpSpPr>
        <p:sp>
          <p:nvSpPr>
            <p:cNvPr name="Freeform 60" id="60"/>
            <p:cNvSpPr/>
            <p:nvPr/>
          </p:nvSpPr>
          <p:spPr>
            <a:xfrm flipH="false" flipV="false" rot="0">
              <a:off x="0" y="0"/>
              <a:ext cx="2020824" cy="534010"/>
            </a:xfrm>
            <a:custGeom>
              <a:avLst/>
              <a:gdLst/>
              <a:ahLst/>
              <a:cxnLst/>
              <a:rect r="r" b="b" t="t" l="l"/>
              <a:pathLst>
                <a:path h="534010" w="2020824">
                  <a:moveTo>
                    <a:pt x="0" y="0"/>
                  </a:moveTo>
                  <a:lnTo>
                    <a:pt x="2020824" y="0"/>
                  </a:lnTo>
                  <a:lnTo>
                    <a:pt x="2020824" y="534010"/>
                  </a:lnTo>
                  <a:lnTo>
                    <a:pt x="0" y="534010"/>
                  </a:lnTo>
                  <a:close/>
                </a:path>
              </a:pathLst>
            </a:custGeom>
            <a:blipFill>
              <a:blip r:embed="rId4">
                <a:alphaModFix amt="0"/>
              </a:blip>
              <a:stretch>
                <a:fillRect l="0" t="-23736" r="0" b="-23736"/>
              </a:stretch>
            </a:blipFill>
          </p:spPr>
          <p:txBody>
            <a:bodyPr/>
            <a:p/>
          </p:txBody>
        </p:sp>
        <p:sp>
          <p:nvSpPr>
            <p:cNvPr name="TextBox 61" id="61"/>
            <p:cNvSpPr txBox="true"/>
            <p:nvPr/>
          </p:nvSpPr>
          <p:spPr>
            <a:xfrm>
              <a:off x="0" y="0"/>
              <a:ext cx="2020824"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3x / Semaine</a:t>
              </a:r>
            </a:p>
          </p:txBody>
        </p:sp>
      </p:grpSp>
      <p:grpSp>
        <p:nvGrpSpPr>
          <p:cNvPr name="Group 62" id="62"/>
          <p:cNvGrpSpPr/>
          <p:nvPr/>
        </p:nvGrpSpPr>
        <p:grpSpPr>
          <a:xfrm rot="0">
            <a:off x="6825158" y="4826737"/>
            <a:ext cx="4648200" cy="32766"/>
            <a:chOff x="0" y="0"/>
            <a:chExt cx="6197600" cy="43688"/>
          </a:xfrm>
        </p:grpSpPr>
        <p:sp>
          <p:nvSpPr>
            <p:cNvPr name="Freeform 63" id="63"/>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64" id="64"/>
          <p:cNvGrpSpPr/>
          <p:nvPr/>
        </p:nvGrpSpPr>
        <p:grpSpPr>
          <a:xfrm rot="0">
            <a:off x="6834683" y="5021428"/>
            <a:ext cx="4744364" cy="558241"/>
            <a:chOff x="0" y="0"/>
            <a:chExt cx="6325819" cy="744322"/>
          </a:xfrm>
        </p:grpSpPr>
        <p:sp>
          <p:nvSpPr>
            <p:cNvPr name="Freeform 65" id="65"/>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66" id="66"/>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Construction de la réserve biologique et protection contre la sarcopénie.</a:t>
              </a:r>
            </a:p>
          </p:txBody>
        </p:sp>
      </p:grpSp>
      <p:grpSp>
        <p:nvGrpSpPr>
          <p:cNvPr name="Group 67" id="67"/>
          <p:cNvGrpSpPr/>
          <p:nvPr/>
        </p:nvGrpSpPr>
        <p:grpSpPr>
          <a:xfrm rot="0">
            <a:off x="6825158" y="5683987"/>
            <a:ext cx="1962607" cy="319430"/>
            <a:chOff x="0" y="0"/>
            <a:chExt cx="2616810" cy="425907"/>
          </a:xfrm>
        </p:grpSpPr>
        <p:sp>
          <p:nvSpPr>
            <p:cNvPr name="Freeform 68" id="68"/>
            <p:cNvSpPr/>
            <p:nvPr/>
          </p:nvSpPr>
          <p:spPr>
            <a:xfrm flipH="false" flipV="false" rot="0">
              <a:off x="12700" y="12700"/>
              <a:ext cx="2591435" cy="400558"/>
            </a:xfrm>
            <a:custGeom>
              <a:avLst/>
              <a:gdLst/>
              <a:ahLst/>
              <a:cxnLst/>
              <a:rect r="r" b="b" t="t" l="l"/>
              <a:pathLst>
                <a:path h="400558" w="2591435">
                  <a:moveTo>
                    <a:pt x="0" y="200279"/>
                  </a:moveTo>
                  <a:cubicBezTo>
                    <a:pt x="0" y="89662"/>
                    <a:pt x="94361" y="0"/>
                    <a:pt x="210947" y="0"/>
                  </a:cubicBezTo>
                  <a:lnTo>
                    <a:pt x="2380488" y="0"/>
                  </a:lnTo>
                  <a:cubicBezTo>
                    <a:pt x="2496947" y="0"/>
                    <a:pt x="2591435" y="89662"/>
                    <a:pt x="2591435" y="200279"/>
                  </a:cubicBezTo>
                  <a:cubicBezTo>
                    <a:pt x="2591435" y="310896"/>
                    <a:pt x="2497074" y="400558"/>
                    <a:pt x="2380488" y="400558"/>
                  </a:cubicBezTo>
                  <a:lnTo>
                    <a:pt x="210947" y="400558"/>
                  </a:lnTo>
                  <a:cubicBezTo>
                    <a:pt x="94361" y="400558"/>
                    <a:pt x="0" y="310896"/>
                    <a:pt x="0" y="200279"/>
                  </a:cubicBezTo>
                  <a:close/>
                </a:path>
              </a:pathLst>
            </a:custGeom>
            <a:solidFill>
              <a:srgbClr val="FFFFFF">
                <a:alpha val="0"/>
              </a:srgbClr>
            </a:solidFill>
          </p:spPr>
          <p:txBody>
            <a:bodyPr/>
            <a:p/>
          </p:txBody>
        </p:sp>
      </p:grpSp>
      <p:grpSp>
        <p:nvGrpSpPr>
          <p:cNvPr name="Group 69" id="69"/>
          <p:cNvGrpSpPr/>
          <p:nvPr/>
        </p:nvGrpSpPr>
        <p:grpSpPr>
          <a:xfrm rot="0">
            <a:off x="6834683" y="5693512"/>
            <a:ext cx="2057400" cy="300381"/>
            <a:chOff x="0" y="0"/>
            <a:chExt cx="2743200" cy="400508"/>
          </a:xfrm>
        </p:grpSpPr>
        <p:sp>
          <p:nvSpPr>
            <p:cNvPr name="Freeform 70" id="70"/>
            <p:cNvSpPr/>
            <p:nvPr/>
          </p:nvSpPr>
          <p:spPr>
            <a:xfrm flipH="false" flipV="false" rot="0">
              <a:off x="0" y="0"/>
              <a:ext cx="2743200" cy="400509"/>
            </a:xfrm>
            <a:custGeom>
              <a:avLst/>
              <a:gdLst/>
              <a:ahLst/>
              <a:cxnLst/>
              <a:rect r="r" b="b" t="t" l="l"/>
              <a:pathLst>
                <a:path h="400509" w="2743200">
                  <a:moveTo>
                    <a:pt x="0" y="0"/>
                  </a:moveTo>
                  <a:lnTo>
                    <a:pt x="2743200" y="0"/>
                  </a:lnTo>
                  <a:lnTo>
                    <a:pt x="2743200" y="400509"/>
                  </a:lnTo>
                  <a:lnTo>
                    <a:pt x="0" y="400509"/>
                  </a:lnTo>
                  <a:close/>
                </a:path>
              </a:pathLst>
            </a:custGeom>
            <a:blipFill>
              <a:blip r:embed="rId4">
                <a:alphaModFix amt="0"/>
              </a:blip>
              <a:stretch>
                <a:fillRect l="0" t="-83458" r="0" b="-83458"/>
              </a:stretch>
            </a:blipFill>
          </p:spPr>
          <p:txBody>
            <a:bodyPr/>
            <a:p/>
          </p:txBody>
        </p:sp>
        <p:sp>
          <p:nvSpPr>
            <p:cNvPr name="TextBox 71" id="71"/>
            <p:cNvSpPr txBox="true"/>
            <p:nvPr/>
          </p:nvSpPr>
          <p:spPr>
            <a:xfrm>
              <a:off x="0" y="0"/>
              <a:ext cx="27432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Mouvements Composés</a:t>
              </a:r>
            </a:p>
          </p:txBody>
        </p:sp>
      </p:grpSp>
      <p:grpSp>
        <p:nvGrpSpPr>
          <p:cNvPr name="Group 72" id="72"/>
          <p:cNvGrpSpPr/>
          <p:nvPr/>
        </p:nvGrpSpPr>
        <p:grpSpPr>
          <a:xfrm rot="0">
            <a:off x="8868842" y="5683987"/>
            <a:ext cx="1433170" cy="319430"/>
            <a:chOff x="0" y="0"/>
            <a:chExt cx="1910893" cy="425907"/>
          </a:xfrm>
        </p:grpSpPr>
        <p:sp>
          <p:nvSpPr>
            <p:cNvPr name="Freeform 73" id="73"/>
            <p:cNvSpPr/>
            <p:nvPr/>
          </p:nvSpPr>
          <p:spPr>
            <a:xfrm flipH="false" flipV="false" rot="0">
              <a:off x="12700" y="12700"/>
              <a:ext cx="1885569" cy="400558"/>
            </a:xfrm>
            <a:custGeom>
              <a:avLst/>
              <a:gdLst/>
              <a:ahLst/>
              <a:cxnLst/>
              <a:rect r="r" b="b" t="t" l="l"/>
              <a:pathLst>
                <a:path h="400558" w="1885569">
                  <a:moveTo>
                    <a:pt x="0" y="200279"/>
                  </a:moveTo>
                  <a:cubicBezTo>
                    <a:pt x="0" y="89662"/>
                    <a:pt x="94107" y="0"/>
                    <a:pt x="210185" y="0"/>
                  </a:cubicBezTo>
                  <a:lnTo>
                    <a:pt x="1675384" y="0"/>
                  </a:lnTo>
                  <a:cubicBezTo>
                    <a:pt x="1791462" y="0"/>
                    <a:pt x="1885569" y="89662"/>
                    <a:pt x="1885569" y="200279"/>
                  </a:cubicBezTo>
                  <a:cubicBezTo>
                    <a:pt x="1885569" y="310896"/>
                    <a:pt x="1791462" y="400558"/>
                    <a:pt x="1675384" y="400558"/>
                  </a:cubicBezTo>
                  <a:lnTo>
                    <a:pt x="210185" y="400558"/>
                  </a:lnTo>
                  <a:cubicBezTo>
                    <a:pt x="94107" y="400558"/>
                    <a:pt x="0" y="310896"/>
                    <a:pt x="0" y="200279"/>
                  </a:cubicBezTo>
                  <a:close/>
                </a:path>
              </a:pathLst>
            </a:custGeom>
            <a:solidFill>
              <a:srgbClr val="FFFFFF">
                <a:alpha val="0"/>
              </a:srgbClr>
            </a:solidFill>
          </p:spPr>
          <p:txBody>
            <a:bodyPr/>
            <a:p/>
          </p:txBody>
        </p:sp>
      </p:grpSp>
      <p:grpSp>
        <p:nvGrpSpPr>
          <p:cNvPr name="Group 74" id="74"/>
          <p:cNvGrpSpPr/>
          <p:nvPr/>
        </p:nvGrpSpPr>
        <p:grpSpPr>
          <a:xfrm rot="0">
            <a:off x="8878367" y="5693512"/>
            <a:ext cx="1529334" cy="300381"/>
            <a:chOff x="0" y="0"/>
            <a:chExt cx="2039112" cy="400508"/>
          </a:xfrm>
        </p:grpSpPr>
        <p:sp>
          <p:nvSpPr>
            <p:cNvPr name="Freeform 75" id="75"/>
            <p:cNvSpPr/>
            <p:nvPr/>
          </p:nvSpPr>
          <p:spPr>
            <a:xfrm flipH="false" flipV="false" rot="0">
              <a:off x="0" y="0"/>
              <a:ext cx="2039112" cy="400509"/>
            </a:xfrm>
            <a:custGeom>
              <a:avLst/>
              <a:gdLst/>
              <a:ahLst/>
              <a:cxnLst/>
              <a:rect r="r" b="b" t="t" l="l"/>
              <a:pathLst>
                <a:path h="400509" w="2039112">
                  <a:moveTo>
                    <a:pt x="0" y="0"/>
                  </a:moveTo>
                  <a:lnTo>
                    <a:pt x="2039112" y="0"/>
                  </a:lnTo>
                  <a:lnTo>
                    <a:pt x="2039112" y="400509"/>
                  </a:lnTo>
                  <a:lnTo>
                    <a:pt x="0" y="400509"/>
                  </a:lnTo>
                  <a:close/>
                </a:path>
              </a:pathLst>
            </a:custGeom>
            <a:blipFill>
              <a:blip r:embed="rId4">
                <a:alphaModFix amt="0"/>
              </a:blip>
              <a:stretch>
                <a:fillRect l="0" t="-49204" r="0" b="-49204"/>
              </a:stretch>
            </a:blipFill>
          </p:spPr>
          <p:txBody>
            <a:bodyPr/>
            <a:p/>
          </p:txBody>
        </p:sp>
        <p:sp>
          <p:nvSpPr>
            <p:cNvPr name="TextBox 76" id="76"/>
            <p:cNvSpPr txBox="true"/>
            <p:nvPr/>
          </p:nvSpPr>
          <p:spPr>
            <a:xfrm>
              <a:off x="0" y="0"/>
              <a:ext cx="203911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Densité Osseuse</a:t>
              </a:r>
            </a:p>
          </p:txBody>
        </p:sp>
      </p:grpSp>
      <p:grpSp>
        <p:nvGrpSpPr>
          <p:cNvPr name="Group 77" id="77"/>
          <p:cNvGrpSpPr/>
          <p:nvPr/>
        </p:nvGrpSpPr>
        <p:grpSpPr>
          <a:xfrm rot="0">
            <a:off x="12086615" y="2490902"/>
            <a:ext cx="5362804" cy="3862273"/>
            <a:chOff x="0" y="0"/>
            <a:chExt cx="7150405" cy="5149698"/>
          </a:xfrm>
        </p:grpSpPr>
        <p:sp>
          <p:nvSpPr>
            <p:cNvPr name="Freeform 78" id="78"/>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79" id="79"/>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80" id="80"/>
          <p:cNvGrpSpPr/>
          <p:nvPr/>
        </p:nvGrpSpPr>
        <p:grpSpPr>
          <a:xfrm rot="0">
            <a:off x="12444603" y="2847518"/>
            <a:ext cx="647243" cy="647243"/>
            <a:chOff x="0" y="0"/>
            <a:chExt cx="862990" cy="862990"/>
          </a:xfrm>
        </p:grpSpPr>
        <p:sp>
          <p:nvSpPr>
            <p:cNvPr name="Freeform 81" id="81"/>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82" id="82"/>
          <p:cNvGrpSpPr/>
          <p:nvPr/>
        </p:nvGrpSpPr>
        <p:grpSpPr>
          <a:xfrm rot="0">
            <a:off x="12639294" y="3028493"/>
            <a:ext cx="257861" cy="285293"/>
            <a:chOff x="0" y="0"/>
            <a:chExt cx="343814" cy="380390"/>
          </a:xfrm>
        </p:grpSpPr>
        <p:sp>
          <p:nvSpPr>
            <p:cNvPr name="Freeform 83" id="83"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6"/>
              <a:stretch>
                <a:fillRect l="1595" t="0" r="1588" b="-6"/>
              </a:stretch>
            </a:blipFill>
          </p:spPr>
          <p:txBody>
            <a:bodyPr/>
            <a:p/>
          </p:txBody>
        </p:sp>
      </p:grpSp>
      <p:grpSp>
        <p:nvGrpSpPr>
          <p:cNvPr name="Group 84" id="84"/>
          <p:cNvGrpSpPr/>
          <p:nvPr/>
        </p:nvGrpSpPr>
        <p:grpSpPr>
          <a:xfrm rot="0">
            <a:off x="16867937" y="2857043"/>
            <a:ext cx="329184" cy="257861"/>
            <a:chOff x="0" y="0"/>
            <a:chExt cx="438912" cy="343814"/>
          </a:xfrm>
        </p:grpSpPr>
        <p:sp>
          <p:nvSpPr>
            <p:cNvPr name="Freeform 85" id="85"/>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86" id="86"/>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03</a:t>
              </a:r>
            </a:p>
          </p:txBody>
        </p:sp>
      </p:grpSp>
      <p:grpSp>
        <p:nvGrpSpPr>
          <p:cNvPr name="Group 87" id="87"/>
          <p:cNvGrpSpPr/>
          <p:nvPr/>
        </p:nvGrpSpPr>
        <p:grpSpPr>
          <a:xfrm rot="0">
            <a:off x="12454128" y="3771900"/>
            <a:ext cx="4800600" cy="430120"/>
            <a:chOff x="0" y="0"/>
            <a:chExt cx="6400800" cy="573494"/>
          </a:xfrm>
        </p:grpSpPr>
        <p:sp>
          <p:nvSpPr>
            <p:cNvPr name="Freeform 88" id="88"/>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89" id="89"/>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HIIT</a:t>
              </a:r>
            </a:p>
          </p:txBody>
        </p:sp>
      </p:grpSp>
      <p:grpSp>
        <p:nvGrpSpPr>
          <p:cNvPr name="Group 90" id="90"/>
          <p:cNvGrpSpPr/>
          <p:nvPr/>
        </p:nvGrpSpPr>
        <p:grpSpPr>
          <a:xfrm rot="0">
            <a:off x="12444603" y="4263009"/>
            <a:ext cx="1419454" cy="419557"/>
            <a:chOff x="0" y="0"/>
            <a:chExt cx="1892605" cy="559410"/>
          </a:xfrm>
        </p:grpSpPr>
        <p:sp>
          <p:nvSpPr>
            <p:cNvPr name="Freeform 91" id="91"/>
            <p:cNvSpPr/>
            <p:nvPr/>
          </p:nvSpPr>
          <p:spPr>
            <a:xfrm flipH="false" flipV="false" rot="0">
              <a:off x="12700" y="12700"/>
              <a:ext cx="1867154" cy="533908"/>
            </a:xfrm>
            <a:custGeom>
              <a:avLst/>
              <a:gdLst/>
              <a:ahLst/>
              <a:cxnLst/>
              <a:rect r="r" b="b" t="t" l="l"/>
              <a:pathLst>
                <a:path h="533908" w="1867154">
                  <a:moveTo>
                    <a:pt x="0" y="261239"/>
                  </a:moveTo>
                  <a:cubicBezTo>
                    <a:pt x="0" y="116967"/>
                    <a:pt x="120904" y="0"/>
                    <a:pt x="270002" y="0"/>
                  </a:cubicBezTo>
                  <a:lnTo>
                    <a:pt x="1597152" y="0"/>
                  </a:lnTo>
                  <a:cubicBezTo>
                    <a:pt x="1746250" y="0"/>
                    <a:pt x="1867154" y="116967"/>
                    <a:pt x="1867154" y="261239"/>
                  </a:cubicBezTo>
                  <a:lnTo>
                    <a:pt x="1867154" y="272669"/>
                  </a:lnTo>
                  <a:cubicBezTo>
                    <a:pt x="1867154" y="416941"/>
                    <a:pt x="1746250" y="533908"/>
                    <a:pt x="1597152" y="533908"/>
                  </a:cubicBezTo>
                  <a:lnTo>
                    <a:pt x="270002" y="533908"/>
                  </a:lnTo>
                  <a:cubicBezTo>
                    <a:pt x="120904" y="534035"/>
                    <a:pt x="0" y="417068"/>
                    <a:pt x="0" y="272796"/>
                  </a:cubicBezTo>
                  <a:close/>
                </a:path>
              </a:pathLst>
            </a:custGeom>
            <a:solidFill>
              <a:srgbClr val="FFFFFF"/>
            </a:solidFill>
          </p:spPr>
          <p:txBody>
            <a:bodyPr/>
            <a:p/>
          </p:txBody>
        </p:sp>
      </p:grpSp>
      <p:grpSp>
        <p:nvGrpSpPr>
          <p:cNvPr name="Group 92" id="92"/>
          <p:cNvGrpSpPr/>
          <p:nvPr/>
        </p:nvGrpSpPr>
        <p:grpSpPr>
          <a:xfrm rot="0">
            <a:off x="12589916" y="4272534"/>
            <a:ext cx="1486814" cy="400508"/>
            <a:chOff x="0" y="0"/>
            <a:chExt cx="1982419" cy="534010"/>
          </a:xfrm>
        </p:grpSpPr>
        <p:sp>
          <p:nvSpPr>
            <p:cNvPr name="Freeform 93" id="93"/>
            <p:cNvSpPr/>
            <p:nvPr/>
          </p:nvSpPr>
          <p:spPr>
            <a:xfrm flipH="false" flipV="false" rot="0">
              <a:off x="0" y="0"/>
              <a:ext cx="1982420" cy="534010"/>
            </a:xfrm>
            <a:custGeom>
              <a:avLst/>
              <a:gdLst/>
              <a:ahLst/>
              <a:cxnLst/>
              <a:rect r="r" b="b" t="t" l="l"/>
              <a:pathLst>
                <a:path h="534010" w="1982420">
                  <a:moveTo>
                    <a:pt x="0" y="0"/>
                  </a:moveTo>
                  <a:lnTo>
                    <a:pt x="1982420" y="0"/>
                  </a:lnTo>
                  <a:lnTo>
                    <a:pt x="1982420" y="534010"/>
                  </a:lnTo>
                  <a:lnTo>
                    <a:pt x="0" y="534010"/>
                  </a:lnTo>
                  <a:close/>
                </a:path>
              </a:pathLst>
            </a:custGeom>
            <a:blipFill>
              <a:blip r:embed="rId4">
                <a:alphaModFix amt="0"/>
              </a:blip>
              <a:stretch>
                <a:fillRect l="0" t="-22334" r="0" b="-22334"/>
              </a:stretch>
            </a:blipFill>
          </p:spPr>
          <p:txBody>
            <a:bodyPr/>
            <a:p/>
          </p:txBody>
        </p:sp>
        <p:sp>
          <p:nvSpPr>
            <p:cNvPr name="TextBox 94" id="94"/>
            <p:cNvSpPr txBox="true"/>
            <p:nvPr/>
          </p:nvSpPr>
          <p:spPr>
            <a:xfrm>
              <a:off x="0" y="0"/>
              <a:ext cx="1982419"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1x / Semaine</a:t>
              </a:r>
            </a:p>
          </p:txBody>
        </p:sp>
      </p:grpSp>
      <p:grpSp>
        <p:nvGrpSpPr>
          <p:cNvPr name="Group 95" id="95"/>
          <p:cNvGrpSpPr/>
          <p:nvPr/>
        </p:nvGrpSpPr>
        <p:grpSpPr>
          <a:xfrm rot="0">
            <a:off x="12444603" y="4826737"/>
            <a:ext cx="4648200" cy="32766"/>
            <a:chOff x="0" y="0"/>
            <a:chExt cx="6197600" cy="43688"/>
          </a:xfrm>
        </p:grpSpPr>
        <p:sp>
          <p:nvSpPr>
            <p:cNvPr name="Freeform 96" id="96"/>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97" id="97"/>
          <p:cNvGrpSpPr/>
          <p:nvPr/>
        </p:nvGrpSpPr>
        <p:grpSpPr>
          <a:xfrm rot="0">
            <a:off x="12454128" y="5021428"/>
            <a:ext cx="4744364" cy="558241"/>
            <a:chOff x="0" y="0"/>
            <a:chExt cx="6325819" cy="744322"/>
          </a:xfrm>
        </p:grpSpPr>
        <p:sp>
          <p:nvSpPr>
            <p:cNvPr name="Freeform 98" id="98"/>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99" id="99"/>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Stress métabolique intense pour l'adaptation mitochondriale.</a:t>
              </a:r>
            </a:p>
          </p:txBody>
        </p:sp>
      </p:grpSp>
      <p:grpSp>
        <p:nvGrpSpPr>
          <p:cNvPr name="Group 100" id="100"/>
          <p:cNvGrpSpPr/>
          <p:nvPr/>
        </p:nvGrpSpPr>
        <p:grpSpPr>
          <a:xfrm rot="0">
            <a:off x="12444603" y="5683987"/>
            <a:ext cx="733654" cy="319430"/>
            <a:chOff x="0" y="0"/>
            <a:chExt cx="978205" cy="425907"/>
          </a:xfrm>
        </p:grpSpPr>
        <p:sp>
          <p:nvSpPr>
            <p:cNvPr name="Freeform 101" id="101"/>
            <p:cNvSpPr/>
            <p:nvPr/>
          </p:nvSpPr>
          <p:spPr>
            <a:xfrm flipH="false" flipV="false" rot="0">
              <a:off x="12700" y="12700"/>
              <a:ext cx="952754" cy="400558"/>
            </a:xfrm>
            <a:custGeom>
              <a:avLst/>
              <a:gdLst/>
              <a:ahLst/>
              <a:cxnLst/>
              <a:rect r="r" b="b" t="t" l="l"/>
              <a:pathLst>
                <a:path h="400558" w="952754">
                  <a:moveTo>
                    <a:pt x="0" y="200279"/>
                  </a:moveTo>
                  <a:cubicBezTo>
                    <a:pt x="0" y="89662"/>
                    <a:pt x="92837" y="0"/>
                    <a:pt x="207391" y="0"/>
                  </a:cubicBezTo>
                  <a:lnTo>
                    <a:pt x="745363" y="0"/>
                  </a:lnTo>
                  <a:cubicBezTo>
                    <a:pt x="859917" y="0"/>
                    <a:pt x="952754" y="89662"/>
                    <a:pt x="952754" y="200279"/>
                  </a:cubicBezTo>
                  <a:cubicBezTo>
                    <a:pt x="952754" y="310896"/>
                    <a:pt x="859917" y="400558"/>
                    <a:pt x="745363" y="400558"/>
                  </a:cubicBezTo>
                  <a:lnTo>
                    <a:pt x="207391" y="400558"/>
                  </a:lnTo>
                  <a:cubicBezTo>
                    <a:pt x="92837" y="400558"/>
                    <a:pt x="0" y="310896"/>
                    <a:pt x="0" y="200279"/>
                  </a:cubicBezTo>
                  <a:close/>
                </a:path>
              </a:pathLst>
            </a:custGeom>
            <a:solidFill>
              <a:srgbClr val="FFFFFF">
                <a:alpha val="0"/>
              </a:srgbClr>
            </a:solidFill>
          </p:spPr>
          <p:txBody>
            <a:bodyPr/>
            <a:p/>
          </p:txBody>
        </p:sp>
      </p:grpSp>
      <p:grpSp>
        <p:nvGrpSpPr>
          <p:cNvPr name="Group 102" id="102"/>
          <p:cNvGrpSpPr/>
          <p:nvPr/>
        </p:nvGrpSpPr>
        <p:grpSpPr>
          <a:xfrm rot="0">
            <a:off x="12454128" y="5693512"/>
            <a:ext cx="829818" cy="300381"/>
            <a:chOff x="0" y="0"/>
            <a:chExt cx="1106424" cy="400508"/>
          </a:xfrm>
        </p:grpSpPr>
        <p:sp>
          <p:nvSpPr>
            <p:cNvPr name="Freeform 103" id="103"/>
            <p:cNvSpPr/>
            <p:nvPr/>
          </p:nvSpPr>
          <p:spPr>
            <a:xfrm flipH="false" flipV="false" rot="0">
              <a:off x="0" y="0"/>
              <a:ext cx="1106424" cy="400509"/>
            </a:xfrm>
            <a:custGeom>
              <a:avLst/>
              <a:gdLst/>
              <a:ahLst/>
              <a:cxnLst/>
              <a:rect r="r" b="b" t="t" l="l"/>
              <a:pathLst>
                <a:path h="400509" w="1106424">
                  <a:moveTo>
                    <a:pt x="0" y="0"/>
                  </a:moveTo>
                  <a:lnTo>
                    <a:pt x="1106424" y="0"/>
                  </a:lnTo>
                  <a:lnTo>
                    <a:pt x="1106424" y="400509"/>
                  </a:lnTo>
                  <a:lnTo>
                    <a:pt x="0" y="400509"/>
                  </a:lnTo>
                  <a:close/>
                </a:path>
              </a:pathLst>
            </a:custGeom>
            <a:blipFill>
              <a:blip r:embed="rId4">
                <a:alphaModFix amt="0"/>
              </a:blip>
              <a:stretch>
                <a:fillRect l="0" t="-3828" r="0" b="-3828"/>
              </a:stretch>
            </a:blipFill>
          </p:spPr>
          <p:txBody>
            <a:bodyPr/>
            <a:p/>
          </p:txBody>
        </p:sp>
        <p:sp>
          <p:nvSpPr>
            <p:cNvPr name="TextBox 104" id="104"/>
            <p:cNvSpPr txBox="true"/>
            <p:nvPr/>
          </p:nvSpPr>
          <p:spPr>
            <a:xfrm>
              <a:off x="0" y="0"/>
              <a:ext cx="110642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PGC-1α</a:t>
              </a:r>
            </a:p>
          </p:txBody>
        </p:sp>
      </p:grpSp>
      <p:grpSp>
        <p:nvGrpSpPr>
          <p:cNvPr name="Group 105" id="105"/>
          <p:cNvGrpSpPr/>
          <p:nvPr/>
        </p:nvGrpSpPr>
        <p:grpSpPr>
          <a:xfrm rot="0">
            <a:off x="13271678" y="5683987"/>
            <a:ext cx="619811" cy="319430"/>
            <a:chOff x="0" y="0"/>
            <a:chExt cx="826414" cy="425907"/>
          </a:xfrm>
        </p:grpSpPr>
        <p:sp>
          <p:nvSpPr>
            <p:cNvPr name="Freeform 106" id="106"/>
            <p:cNvSpPr/>
            <p:nvPr/>
          </p:nvSpPr>
          <p:spPr>
            <a:xfrm flipH="false" flipV="false" rot="0">
              <a:off x="12700" y="12700"/>
              <a:ext cx="800989" cy="400558"/>
            </a:xfrm>
            <a:custGeom>
              <a:avLst/>
              <a:gdLst/>
              <a:ahLst/>
              <a:cxnLst/>
              <a:rect r="r" b="b" t="t" l="l"/>
              <a:pathLst>
                <a:path h="400558" w="800989">
                  <a:moveTo>
                    <a:pt x="0" y="200279"/>
                  </a:moveTo>
                  <a:cubicBezTo>
                    <a:pt x="0" y="89662"/>
                    <a:pt x="92456" y="0"/>
                    <a:pt x="206375" y="0"/>
                  </a:cubicBezTo>
                  <a:lnTo>
                    <a:pt x="594614" y="0"/>
                  </a:lnTo>
                  <a:cubicBezTo>
                    <a:pt x="708660" y="0"/>
                    <a:pt x="800989" y="89662"/>
                    <a:pt x="800989" y="200279"/>
                  </a:cubicBezTo>
                  <a:cubicBezTo>
                    <a:pt x="800989" y="310896"/>
                    <a:pt x="708660" y="400558"/>
                    <a:pt x="594614" y="400558"/>
                  </a:cubicBezTo>
                  <a:lnTo>
                    <a:pt x="206375" y="400558"/>
                  </a:lnTo>
                  <a:cubicBezTo>
                    <a:pt x="92456" y="400558"/>
                    <a:pt x="0" y="310896"/>
                    <a:pt x="0" y="200279"/>
                  </a:cubicBezTo>
                  <a:close/>
                </a:path>
              </a:pathLst>
            </a:custGeom>
            <a:solidFill>
              <a:srgbClr val="FFFFFF">
                <a:alpha val="0"/>
              </a:srgbClr>
            </a:solidFill>
          </p:spPr>
          <p:txBody>
            <a:bodyPr/>
            <a:p/>
          </p:txBody>
        </p:sp>
      </p:grpSp>
      <p:grpSp>
        <p:nvGrpSpPr>
          <p:cNvPr name="Group 107" id="107"/>
          <p:cNvGrpSpPr/>
          <p:nvPr/>
        </p:nvGrpSpPr>
        <p:grpSpPr>
          <a:xfrm rot="0">
            <a:off x="13281203" y="5693512"/>
            <a:ext cx="714604" cy="300381"/>
            <a:chOff x="0" y="0"/>
            <a:chExt cx="952805" cy="400508"/>
          </a:xfrm>
        </p:grpSpPr>
        <p:sp>
          <p:nvSpPr>
            <p:cNvPr name="Freeform 108" id="108"/>
            <p:cNvSpPr/>
            <p:nvPr/>
          </p:nvSpPr>
          <p:spPr>
            <a:xfrm flipH="false" flipV="false" rot="0">
              <a:off x="0" y="0"/>
              <a:ext cx="952804" cy="400509"/>
            </a:xfrm>
            <a:custGeom>
              <a:avLst/>
              <a:gdLst/>
              <a:ahLst/>
              <a:cxnLst/>
              <a:rect r="r" b="b" t="t" l="l"/>
              <a:pathLst>
                <a:path h="400509" w="952804">
                  <a:moveTo>
                    <a:pt x="0" y="0"/>
                  </a:moveTo>
                  <a:lnTo>
                    <a:pt x="952804" y="0"/>
                  </a:lnTo>
                  <a:lnTo>
                    <a:pt x="952804" y="400509"/>
                  </a:lnTo>
                  <a:lnTo>
                    <a:pt x="0" y="400509"/>
                  </a:lnTo>
                  <a:close/>
                </a:path>
              </a:pathLst>
            </a:custGeom>
            <a:blipFill>
              <a:blip r:embed="rId4">
                <a:alphaModFix amt="0"/>
              </a:blip>
              <a:stretch>
                <a:fillRect l="-3931" t="0" r="-3931" b="0"/>
              </a:stretch>
            </a:blipFill>
          </p:spPr>
          <p:txBody>
            <a:bodyPr/>
            <a:p/>
          </p:txBody>
        </p:sp>
        <p:sp>
          <p:nvSpPr>
            <p:cNvPr name="TextBox 109" id="109"/>
            <p:cNvSpPr txBox="true"/>
            <p:nvPr/>
          </p:nvSpPr>
          <p:spPr>
            <a:xfrm>
              <a:off x="0" y="0"/>
              <a:ext cx="952805"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AMPK</a:t>
              </a:r>
            </a:p>
          </p:txBody>
        </p:sp>
      </p:grpSp>
      <p:grpSp>
        <p:nvGrpSpPr>
          <p:cNvPr name="Group 110" id="110"/>
          <p:cNvGrpSpPr/>
          <p:nvPr/>
        </p:nvGrpSpPr>
        <p:grpSpPr>
          <a:xfrm rot="0">
            <a:off x="13976680" y="5683987"/>
            <a:ext cx="591007" cy="319430"/>
            <a:chOff x="0" y="0"/>
            <a:chExt cx="788010" cy="425907"/>
          </a:xfrm>
        </p:grpSpPr>
        <p:sp>
          <p:nvSpPr>
            <p:cNvPr name="Freeform 111" id="111"/>
            <p:cNvSpPr/>
            <p:nvPr/>
          </p:nvSpPr>
          <p:spPr>
            <a:xfrm flipH="false" flipV="false" rot="0">
              <a:off x="12700" y="12700"/>
              <a:ext cx="762635" cy="400558"/>
            </a:xfrm>
            <a:custGeom>
              <a:avLst/>
              <a:gdLst/>
              <a:ahLst/>
              <a:cxnLst/>
              <a:rect r="r" b="b" t="t" l="l"/>
              <a:pathLst>
                <a:path h="400558" w="762635">
                  <a:moveTo>
                    <a:pt x="0" y="200279"/>
                  </a:moveTo>
                  <a:cubicBezTo>
                    <a:pt x="0" y="89662"/>
                    <a:pt x="92329" y="0"/>
                    <a:pt x="206121" y="0"/>
                  </a:cubicBezTo>
                  <a:lnTo>
                    <a:pt x="556514" y="0"/>
                  </a:lnTo>
                  <a:cubicBezTo>
                    <a:pt x="670306" y="0"/>
                    <a:pt x="762635" y="89662"/>
                    <a:pt x="762635" y="200279"/>
                  </a:cubicBezTo>
                  <a:cubicBezTo>
                    <a:pt x="762635" y="310896"/>
                    <a:pt x="670306" y="400558"/>
                    <a:pt x="556514" y="400558"/>
                  </a:cubicBezTo>
                  <a:lnTo>
                    <a:pt x="206121" y="400558"/>
                  </a:lnTo>
                  <a:cubicBezTo>
                    <a:pt x="92329" y="400558"/>
                    <a:pt x="0" y="310896"/>
                    <a:pt x="0" y="200279"/>
                  </a:cubicBezTo>
                  <a:close/>
                </a:path>
              </a:pathLst>
            </a:custGeom>
            <a:solidFill>
              <a:srgbClr val="FFFFFF">
                <a:alpha val="0"/>
              </a:srgbClr>
            </a:solidFill>
          </p:spPr>
          <p:txBody>
            <a:bodyPr/>
            <a:p/>
          </p:txBody>
        </p:sp>
      </p:grpSp>
      <p:grpSp>
        <p:nvGrpSpPr>
          <p:cNvPr name="Group 112" id="112"/>
          <p:cNvGrpSpPr/>
          <p:nvPr/>
        </p:nvGrpSpPr>
        <p:grpSpPr>
          <a:xfrm rot="0">
            <a:off x="13986205" y="5693512"/>
            <a:ext cx="685800" cy="300381"/>
            <a:chOff x="0" y="0"/>
            <a:chExt cx="914400" cy="400508"/>
          </a:xfrm>
        </p:grpSpPr>
        <p:sp>
          <p:nvSpPr>
            <p:cNvPr name="Freeform 113" id="113"/>
            <p:cNvSpPr/>
            <p:nvPr/>
          </p:nvSpPr>
          <p:spPr>
            <a:xfrm flipH="false" flipV="false" rot="0">
              <a:off x="0" y="0"/>
              <a:ext cx="914400" cy="400509"/>
            </a:xfrm>
            <a:custGeom>
              <a:avLst/>
              <a:gdLst/>
              <a:ahLst/>
              <a:cxnLst/>
              <a:rect r="r" b="b" t="t" l="l"/>
              <a:pathLst>
                <a:path h="400509" w="914400">
                  <a:moveTo>
                    <a:pt x="0" y="0"/>
                  </a:moveTo>
                  <a:lnTo>
                    <a:pt x="914400" y="0"/>
                  </a:lnTo>
                  <a:lnTo>
                    <a:pt x="914400" y="400509"/>
                  </a:lnTo>
                  <a:lnTo>
                    <a:pt x="0" y="400509"/>
                  </a:lnTo>
                  <a:close/>
                </a:path>
              </a:pathLst>
            </a:custGeom>
            <a:blipFill>
              <a:blip r:embed="rId4">
                <a:alphaModFix amt="0"/>
              </a:blip>
              <a:stretch>
                <a:fillRect l="-6196" t="0" r="-6196" b="0"/>
              </a:stretch>
            </a:blipFill>
          </p:spPr>
          <p:txBody>
            <a:bodyPr/>
            <a:p/>
          </p:txBody>
        </p:sp>
        <p:sp>
          <p:nvSpPr>
            <p:cNvPr name="TextBox 114" id="114"/>
            <p:cNvSpPr txBox="true"/>
            <p:nvPr/>
          </p:nvSpPr>
          <p:spPr>
            <a:xfrm>
              <a:off x="0" y="0"/>
              <a:ext cx="9144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BDNF</a:t>
              </a:r>
            </a:p>
          </p:txBody>
        </p:sp>
      </p:grpSp>
      <p:grpSp>
        <p:nvGrpSpPr>
          <p:cNvPr name="Group 115" id="115"/>
          <p:cNvGrpSpPr/>
          <p:nvPr/>
        </p:nvGrpSpPr>
        <p:grpSpPr>
          <a:xfrm rot="0">
            <a:off x="14651507" y="5683987"/>
            <a:ext cx="833780" cy="319430"/>
            <a:chOff x="0" y="0"/>
            <a:chExt cx="1111707" cy="425907"/>
          </a:xfrm>
        </p:grpSpPr>
        <p:sp>
          <p:nvSpPr>
            <p:cNvPr name="Freeform 116" id="116"/>
            <p:cNvSpPr/>
            <p:nvPr/>
          </p:nvSpPr>
          <p:spPr>
            <a:xfrm flipH="false" flipV="false" rot="0">
              <a:off x="12700" y="12700"/>
              <a:ext cx="1086358" cy="400558"/>
            </a:xfrm>
            <a:custGeom>
              <a:avLst/>
              <a:gdLst/>
              <a:ahLst/>
              <a:cxnLst/>
              <a:rect r="r" b="b" t="t" l="l"/>
              <a:pathLst>
                <a:path h="400558" w="1086358">
                  <a:moveTo>
                    <a:pt x="0" y="200279"/>
                  </a:moveTo>
                  <a:cubicBezTo>
                    <a:pt x="0" y="89662"/>
                    <a:pt x="93218" y="0"/>
                    <a:pt x="208026" y="0"/>
                  </a:cubicBezTo>
                  <a:lnTo>
                    <a:pt x="878205" y="0"/>
                  </a:lnTo>
                  <a:cubicBezTo>
                    <a:pt x="993140" y="0"/>
                    <a:pt x="1086358" y="89662"/>
                    <a:pt x="1086358" y="200279"/>
                  </a:cubicBezTo>
                  <a:cubicBezTo>
                    <a:pt x="1086358" y="310896"/>
                    <a:pt x="993140" y="400558"/>
                    <a:pt x="878205" y="400558"/>
                  </a:cubicBezTo>
                  <a:lnTo>
                    <a:pt x="208026" y="400558"/>
                  </a:lnTo>
                  <a:cubicBezTo>
                    <a:pt x="93218" y="400558"/>
                    <a:pt x="0" y="310896"/>
                    <a:pt x="0" y="200279"/>
                  </a:cubicBezTo>
                  <a:close/>
                </a:path>
              </a:pathLst>
            </a:custGeom>
            <a:solidFill>
              <a:srgbClr val="FFFFFF">
                <a:alpha val="0"/>
              </a:srgbClr>
            </a:solidFill>
          </p:spPr>
          <p:txBody>
            <a:bodyPr/>
            <a:p/>
          </p:txBody>
        </p:sp>
      </p:grpSp>
      <p:grpSp>
        <p:nvGrpSpPr>
          <p:cNvPr name="Group 117" id="117"/>
          <p:cNvGrpSpPr/>
          <p:nvPr/>
        </p:nvGrpSpPr>
        <p:grpSpPr>
          <a:xfrm rot="0">
            <a:off x="14661032" y="5693512"/>
            <a:ext cx="929945" cy="300381"/>
            <a:chOff x="0" y="0"/>
            <a:chExt cx="1239926" cy="400508"/>
          </a:xfrm>
        </p:grpSpPr>
        <p:sp>
          <p:nvSpPr>
            <p:cNvPr name="Freeform 118" id="118"/>
            <p:cNvSpPr/>
            <p:nvPr/>
          </p:nvSpPr>
          <p:spPr>
            <a:xfrm flipH="false" flipV="false" rot="0">
              <a:off x="0" y="0"/>
              <a:ext cx="1239926" cy="400509"/>
            </a:xfrm>
            <a:custGeom>
              <a:avLst/>
              <a:gdLst/>
              <a:ahLst/>
              <a:cxnLst/>
              <a:rect r="r" b="b" t="t" l="l"/>
              <a:pathLst>
                <a:path h="400509" w="1239926">
                  <a:moveTo>
                    <a:pt x="0" y="0"/>
                  </a:moveTo>
                  <a:lnTo>
                    <a:pt x="1239926" y="0"/>
                  </a:lnTo>
                  <a:lnTo>
                    <a:pt x="1239926" y="400509"/>
                  </a:lnTo>
                  <a:lnTo>
                    <a:pt x="0" y="400509"/>
                  </a:lnTo>
                  <a:close/>
                </a:path>
              </a:pathLst>
            </a:custGeom>
            <a:blipFill>
              <a:blip r:embed="rId4">
                <a:alphaModFix amt="0"/>
              </a:blip>
              <a:stretch>
                <a:fillRect l="0" t="-10323" r="0" b="-10323"/>
              </a:stretch>
            </a:blipFill>
          </p:spPr>
          <p:txBody>
            <a:bodyPr/>
            <a:p/>
          </p:txBody>
        </p:sp>
        <p:sp>
          <p:nvSpPr>
            <p:cNvPr name="TextBox 119" id="119"/>
            <p:cNvSpPr txBox="true"/>
            <p:nvPr/>
          </p:nvSpPr>
          <p:spPr>
            <a:xfrm>
              <a:off x="0" y="0"/>
              <a:ext cx="1239926"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VO2 Max</a:t>
              </a:r>
            </a:p>
          </p:txBody>
        </p:sp>
      </p:grpSp>
      <p:grpSp>
        <p:nvGrpSpPr>
          <p:cNvPr name="Group 120" id="120"/>
          <p:cNvGrpSpPr/>
          <p:nvPr/>
        </p:nvGrpSpPr>
        <p:grpSpPr>
          <a:xfrm rot="0">
            <a:off x="847725" y="6619418"/>
            <a:ext cx="5362804" cy="3586001"/>
            <a:chOff x="0" y="0"/>
            <a:chExt cx="7150405" cy="4781335"/>
          </a:xfrm>
        </p:grpSpPr>
        <p:sp>
          <p:nvSpPr>
            <p:cNvPr name="Freeform 121" id="121"/>
            <p:cNvSpPr/>
            <p:nvPr/>
          </p:nvSpPr>
          <p:spPr>
            <a:xfrm flipH="false" flipV="false" rot="0">
              <a:off x="12700" y="11792"/>
              <a:ext cx="7124954" cy="4757775"/>
            </a:xfrm>
            <a:custGeom>
              <a:avLst/>
              <a:gdLst/>
              <a:ahLst/>
              <a:cxnLst/>
              <a:rect r="r" b="b" t="t" l="l"/>
              <a:pathLst>
                <a:path h="4757775" w="7124954">
                  <a:moveTo>
                    <a:pt x="0" y="0"/>
                  </a:moveTo>
                  <a:lnTo>
                    <a:pt x="7124954" y="0"/>
                  </a:lnTo>
                  <a:lnTo>
                    <a:pt x="7124954" y="4757775"/>
                  </a:lnTo>
                  <a:lnTo>
                    <a:pt x="0" y="4757775"/>
                  </a:lnTo>
                  <a:close/>
                </a:path>
              </a:pathLst>
            </a:custGeom>
            <a:solidFill>
              <a:srgbClr val="141419"/>
            </a:solidFill>
          </p:spPr>
          <p:txBody>
            <a:bodyPr/>
            <a:p/>
          </p:txBody>
        </p:sp>
        <p:sp>
          <p:nvSpPr>
            <p:cNvPr name="Freeform 122" id="122"/>
            <p:cNvSpPr/>
            <p:nvPr/>
          </p:nvSpPr>
          <p:spPr>
            <a:xfrm flipH="false" flipV="false" rot="0">
              <a:off x="0" y="0"/>
              <a:ext cx="7150354" cy="4781360"/>
            </a:xfrm>
            <a:custGeom>
              <a:avLst/>
              <a:gdLst/>
              <a:ahLst/>
              <a:cxnLst/>
              <a:rect r="r" b="b" t="t" l="l"/>
              <a:pathLst>
                <a:path h="4781360" w="7150354">
                  <a:moveTo>
                    <a:pt x="12700" y="0"/>
                  </a:moveTo>
                  <a:lnTo>
                    <a:pt x="7137654" y="0"/>
                  </a:lnTo>
                  <a:cubicBezTo>
                    <a:pt x="7144639" y="0"/>
                    <a:pt x="7150354" y="5306"/>
                    <a:pt x="7150354" y="11792"/>
                  </a:cubicBezTo>
                  <a:lnTo>
                    <a:pt x="7150354" y="4769567"/>
                  </a:lnTo>
                  <a:cubicBezTo>
                    <a:pt x="7150354" y="4776052"/>
                    <a:pt x="7144639" y="4781360"/>
                    <a:pt x="7137654" y="4781360"/>
                  </a:cubicBezTo>
                  <a:lnTo>
                    <a:pt x="12700" y="4781360"/>
                  </a:lnTo>
                  <a:cubicBezTo>
                    <a:pt x="5715" y="4781360"/>
                    <a:pt x="0" y="4776052"/>
                    <a:pt x="0" y="4769567"/>
                  </a:cubicBezTo>
                  <a:lnTo>
                    <a:pt x="0" y="11792"/>
                  </a:lnTo>
                  <a:cubicBezTo>
                    <a:pt x="0" y="5306"/>
                    <a:pt x="5715" y="0"/>
                    <a:pt x="12700" y="0"/>
                  </a:cubicBezTo>
                  <a:moveTo>
                    <a:pt x="12700" y="23583"/>
                  </a:moveTo>
                  <a:lnTo>
                    <a:pt x="12700" y="11792"/>
                  </a:lnTo>
                  <a:lnTo>
                    <a:pt x="25400" y="11792"/>
                  </a:lnTo>
                  <a:lnTo>
                    <a:pt x="25400" y="4769567"/>
                  </a:lnTo>
                  <a:lnTo>
                    <a:pt x="12700" y="4769567"/>
                  </a:lnTo>
                  <a:lnTo>
                    <a:pt x="12700" y="4757775"/>
                  </a:lnTo>
                  <a:lnTo>
                    <a:pt x="7137654" y="4757775"/>
                  </a:lnTo>
                  <a:lnTo>
                    <a:pt x="7137654" y="4769567"/>
                  </a:lnTo>
                  <a:lnTo>
                    <a:pt x="7124954" y="4769567"/>
                  </a:lnTo>
                  <a:lnTo>
                    <a:pt x="7124954" y="11792"/>
                  </a:lnTo>
                  <a:lnTo>
                    <a:pt x="7137654" y="11792"/>
                  </a:lnTo>
                  <a:lnTo>
                    <a:pt x="7137654" y="23583"/>
                  </a:lnTo>
                  <a:lnTo>
                    <a:pt x="12700" y="23583"/>
                  </a:lnTo>
                  <a:close/>
                </a:path>
              </a:pathLst>
            </a:custGeom>
            <a:solidFill>
              <a:srgbClr val="40424D"/>
            </a:solidFill>
          </p:spPr>
          <p:txBody>
            <a:bodyPr/>
            <a:p/>
          </p:txBody>
        </p:sp>
      </p:grpSp>
      <p:grpSp>
        <p:nvGrpSpPr>
          <p:cNvPr name="Group 123" id="123"/>
          <p:cNvGrpSpPr/>
          <p:nvPr/>
        </p:nvGrpSpPr>
        <p:grpSpPr>
          <a:xfrm rot="0">
            <a:off x="1204341" y="6977405"/>
            <a:ext cx="647243" cy="647243"/>
            <a:chOff x="0" y="0"/>
            <a:chExt cx="862990" cy="862990"/>
          </a:xfrm>
        </p:grpSpPr>
        <p:sp>
          <p:nvSpPr>
            <p:cNvPr name="Freeform 124" id="124"/>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25" id="125"/>
          <p:cNvGrpSpPr/>
          <p:nvPr/>
        </p:nvGrpSpPr>
        <p:grpSpPr>
          <a:xfrm rot="0">
            <a:off x="1385316" y="7158380"/>
            <a:ext cx="285293" cy="285293"/>
            <a:chOff x="0" y="0"/>
            <a:chExt cx="380390" cy="380390"/>
          </a:xfrm>
        </p:grpSpPr>
        <p:sp>
          <p:nvSpPr>
            <p:cNvPr name="Freeform 126" id="126"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7"/>
              <a:stretch>
                <a:fillRect l="0" t="0" r="-6" b="-6"/>
              </a:stretch>
            </a:blipFill>
          </p:spPr>
          <p:txBody>
            <a:bodyPr/>
            <a:p/>
          </p:txBody>
        </p:sp>
      </p:grpSp>
      <p:grpSp>
        <p:nvGrpSpPr>
          <p:cNvPr name="Group 127" id="127"/>
          <p:cNvGrpSpPr/>
          <p:nvPr/>
        </p:nvGrpSpPr>
        <p:grpSpPr>
          <a:xfrm rot="0">
            <a:off x="5627675" y="6986930"/>
            <a:ext cx="329184" cy="257861"/>
            <a:chOff x="0" y="0"/>
            <a:chExt cx="438912" cy="343814"/>
          </a:xfrm>
        </p:grpSpPr>
        <p:sp>
          <p:nvSpPr>
            <p:cNvPr name="Freeform 128" id="128"/>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29" id="129"/>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04</a:t>
              </a:r>
            </a:p>
          </p:txBody>
        </p:sp>
      </p:grpSp>
      <p:grpSp>
        <p:nvGrpSpPr>
          <p:cNvPr name="Group 130" id="130"/>
          <p:cNvGrpSpPr/>
          <p:nvPr/>
        </p:nvGrpSpPr>
        <p:grpSpPr>
          <a:xfrm rot="0">
            <a:off x="1213866" y="7900416"/>
            <a:ext cx="4800600" cy="430120"/>
            <a:chOff x="0" y="0"/>
            <a:chExt cx="6400800" cy="573494"/>
          </a:xfrm>
        </p:grpSpPr>
        <p:sp>
          <p:nvSpPr>
            <p:cNvPr name="Freeform 131" id="131"/>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32" id="132"/>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ZONE 2</a:t>
              </a:r>
            </a:p>
          </p:txBody>
        </p:sp>
      </p:grpSp>
      <p:grpSp>
        <p:nvGrpSpPr>
          <p:cNvPr name="Group 133" id="133"/>
          <p:cNvGrpSpPr/>
          <p:nvPr/>
        </p:nvGrpSpPr>
        <p:grpSpPr>
          <a:xfrm rot="0">
            <a:off x="1204341" y="8391525"/>
            <a:ext cx="1905000" cy="419557"/>
            <a:chOff x="0" y="0"/>
            <a:chExt cx="2540000" cy="559410"/>
          </a:xfrm>
        </p:grpSpPr>
        <p:sp>
          <p:nvSpPr>
            <p:cNvPr name="Freeform 134" id="134"/>
            <p:cNvSpPr/>
            <p:nvPr/>
          </p:nvSpPr>
          <p:spPr>
            <a:xfrm flipH="false" flipV="false" rot="0">
              <a:off x="12700" y="12700"/>
              <a:ext cx="2514600" cy="533908"/>
            </a:xfrm>
            <a:custGeom>
              <a:avLst/>
              <a:gdLst/>
              <a:ahLst/>
              <a:cxnLst/>
              <a:rect r="r" b="b" t="t" l="l"/>
              <a:pathLst>
                <a:path h="533908" w="2514600">
                  <a:moveTo>
                    <a:pt x="0" y="261239"/>
                  </a:moveTo>
                  <a:cubicBezTo>
                    <a:pt x="0" y="116967"/>
                    <a:pt x="121285" y="0"/>
                    <a:pt x="270891" y="0"/>
                  </a:cubicBezTo>
                  <a:lnTo>
                    <a:pt x="2243709" y="0"/>
                  </a:lnTo>
                  <a:cubicBezTo>
                    <a:pt x="2393315" y="0"/>
                    <a:pt x="2514600" y="116967"/>
                    <a:pt x="2514600" y="261239"/>
                  </a:cubicBezTo>
                  <a:lnTo>
                    <a:pt x="2514600" y="272669"/>
                  </a:lnTo>
                  <a:cubicBezTo>
                    <a:pt x="2514600" y="416941"/>
                    <a:pt x="2393315" y="533908"/>
                    <a:pt x="2243709" y="533908"/>
                  </a:cubicBezTo>
                  <a:lnTo>
                    <a:pt x="270891" y="533908"/>
                  </a:lnTo>
                  <a:cubicBezTo>
                    <a:pt x="121285" y="534035"/>
                    <a:pt x="0" y="417068"/>
                    <a:pt x="0" y="272796"/>
                  </a:cubicBezTo>
                  <a:close/>
                </a:path>
              </a:pathLst>
            </a:custGeom>
            <a:solidFill>
              <a:srgbClr val="FFFFFF"/>
            </a:solidFill>
          </p:spPr>
          <p:txBody>
            <a:bodyPr/>
            <a:p/>
          </p:txBody>
        </p:sp>
      </p:grpSp>
      <p:grpSp>
        <p:nvGrpSpPr>
          <p:cNvPr name="Group 135" id="135"/>
          <p:cNvGrpSpPr/>
          <p:nvPr/>
        </p:nvGrpSpPr>
        <p:grpSpPr>
          <a:xfrm rot="0">
            <a:off x="1298905" y="8401050"/>
            <a:ext cx="1972361" cy="400508"/>
            <a:chOff x="0" y="0"/>
            <a:chExt cx="2629814" cy="534010"/>
          </a:xfrm>
        </p:grpSpPr>
        <p:sp>
          <p:nvSpPr>
            <p:cNvPr name="Freeform 136" id="136"/>
            <p:cNvSpPr/>
            <p:nvPr/>
          </p:nvSpPr>
          <p:spPr>
            <a:xfrm flipH="false" flipV="false" rot="0">
              <a:off x="0" y="0"/>
              <a:ext cx="2629814" cy="534010"/>
            </a:xfrm>
            <a:custGeom>
              <a:avLst/>
              <a:gdLst/>
              <a:ahLst/>
              <a:cxnLst/>
              <a:rect r="r" b="b" t="t" l="l"/>
              <a:pathLst>
                <a:path h="534010" w="2629814">
                  <a:moveTo>
                    <a:pt x="0" y="0"/>
                  </a:moveTo>
                  <a:lnTo>
                    <a:pt x="2629814" y="0"/>
                  </a:lnTo>
                  <a:lnTo>
                    <a:pt x="2629814" y="534010"/>
                  </a:lnTo>
                  <a:lnTo>
                    <a:pt x="0" y="534010"/>
                  </a:lnTo>
                  <a:close/>
                </a:path>
              </a:pathLst>
            </a:custGeom>
            <a:blipFill>
              <a:blip r:embed="rId4">
                <a:alphaModFix amt="0"/>
              </a:blip>
              <a:stretch>
                <a:fillRect l="0" t="-45957" r="0" b="-45956"/>
              </a:stretch>
            </a:blipFill>
          </p:spPr>
          <p:txBody>
            <a:bodyPr/>
            <a:p/>
          </p:txBody>
        </p:sp>
        <p:sp>
          <p:nvSpPr>
            <p:cNvPr name="TextBox 137" id="137"/>
            <p:cNvSpPr txBox="true"/>
            <p:nvPr/>
          </p:nvSpPr>
          <p:spPr>
            <a:xfrm>
              <a:off x="0" y="0"/>
              <a:ext cx="2629814"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 60 min / Session</a:t>
              </a:r>
            </a:p>
          </p:txBody>
        </p:sp>
      </p:grpSp>
      <p:grpSp>
        <p:nvGrpSpPr>
          <p:cNvPr name="Group 138" id="138"/>
          <p:cNvGrpSpPr/>
          <p:nvPr/>
        </p:nvGrpSpPr>
        <p:grpSpPr>
          <a:xfrm rot="0">
            <a:off x="1204341" y="8955253"/>
            <a:ext cx="4648200" cy="32766"/>
            <a:chOff x="0" y="0"/>
            <a:chExt cx="6197600" cy="43688"/>
          </a:xfrm>
        </p:grpSpPr>
        <p:sp>
          <p:nvSpPr>
            <p:cNvPr name="Freeform 139" id="139"/>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40" id="140"/>
          <p:cNvGrpSpPr/>
          <p:nvPr/>
        </p:nvGrpSpPr>
        <p:grpSpPr>
          <a:xfrm rot="0">
            <a:off x="1213866" y="9151315"/>
            <a:ext cx="4744364" cy="558241"/>
            <a:chOff x="0" y="0"/>
            <a:chExt cx="6325819" cy="744322"/>
          </a:xfrm>
        </p:grpSpPr>
        <p:sp>
          <p:nvSpPr>
            <p:cNvPr name="Freeform 141" id="141"/>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142" id="142"/>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Endurance fondamentale à faible intensité pour l'efficacité mitochondriale.</a:t>
              </a:r>
            </a:p>
          </p:txBody>
        </p:sp>
      </p:grpSp>
      <p:grpSp>
        <p:nvGrpSpPr>
          <p:cNvPr name="Group 143" id="143"/>
          <p:cNvGrpSpPr/>
          <p:nvPr/>
        </p:nvGrpSpPr>
        <p:grpSpPr>
          <a:xfrm rot="0">
            <a:off x="1204341" y="9812503"/>
            <a:ext cx="1819961" cy="319430"/>
            <a:chOff x="0" y="0"/>
            <a:chExt cx="2426614" cy="425907"/>
          </a:xfrm>
        </p:grpSpPr>
        <p:sp>
          <p:nvSpPr>
            <p:cNvPr name="Freeform 144" id="144"/>
            <p:cNvSpPr/>
            <p:nvPr/>
          </p:nvSpPr>
          <p:spPr>
            <a:xfrm flipH="false" flipV="false" rot="0">
              <a:off x="12700" y="12700"/>
              <a:ext cx="2401189" cy="400558"/>
            </a:xfrm>
            <a:custGeom>
              <a:avLst/>
              <a:gdLst/>
              <a:ahLst/>
              <a:cxnLst/>
              <a:rect r="r" b="b" t="t" l="l"/>
              <a:pathLst>
                <a:path h="400558" w="2401189">
                  <a:moveTo>
                    <a:pt x="0" y="200279"/>
                  </a:moveTo>
                  <a:cubicBezTo>
                    <a:pt x="0" y="89662"/>
                    <a:pt x="94361" y="0"/>
                    <a:pt x="210693" y="0"/>
                  </a:cubicBezTo>
                  <a:lnTo>
                    <a:pt x="2190496" y="0"/>
                  </a:lnTo>
                  <a:cubicBezTo>
                    <a:pt x="2306828" y="0"/>
                    <a:pt x="2401189" y="89662"/>
                    <a:pt x="2401189" y="200279"/>
                  </a:cubicBezTo>
                  <a:cubicBezTo>
                    <a:pt x="2401189" y="310896"/>
                    <a:pt x="2306828" y="400558"/>
                    <a:pt x="2190496" y="400558"/>
                  </a:cubicBezTo>
                  <a:lnTo>
                    <a:pt x="210693" y="400558"/>
                  </a:lnTo>
                  <a:cubicBezTo>
                    <a:pt x="94361" y="400558"/>
                    <a:pt x="0" y="310896"/>
                    <a:pt x="0" y="200279"/>
                  </a:cubicBezTo>
                  <a:close/>
                </a:path>
              </a:pathLst>
            </a:custGeom>
            <a:solidFill>
              <a:srgbClr val="FFFFFF">
                <a:alpha val="0"/>
              </a:srgbClr>
            </a:solidFill>
          </p:spPr>
          <p:txBody>
            <a:bodyPr/>
            <a:p/>
          </p:txBody>
        </p:sp>
      </p:grpSp>
      <p:grpSp>
        <p:nvGrpSpPr>
          <p:cNvPr name="Group 145" id="145"/>
          <p:cNvGrpSpPr/>
          <p:nvPr/>
        </p:nvGrpSpPr>
        <p:grpSpPr>
          <a:xfrm rot="0">
            <a:off x="1213866" y="9822028"/>
            <a:ext cx="2142439" cy="300381"/>
            <a:chOff x="0" y="0"/>
            <a:chExt cx="2856586" cy="400508"/>
          </a:xfrm>
        </p:grpSpPr>
        <p:sp>
          <p:nvSpPr>
            <p:cNvPr name="Freeform 146" id="146"/>
            <p:cNvSpPr/>
            <p:nvPr/>
          </p:nvSpPr>
          <p:spPr>
            <a:xfrm flipH="false" flipV="false" rot="0">
              <a:off x="0" y="0"/>
              <a:ext cx="2856586" cy="400509"/>
            </a:xfrm>
            <a:custGeom>
              <a:avLst/>
              <a:gdLst/>
              <a:ahLst/>
              <a:cxnLst/>
              <a:rect r="r" b="b" t="t" l="l"/>
              <a:pathLst>
                <a:path h="400509" w="2856586">
                  <a:moveTo>
                    <a:pt x="0" y="0"/>
                  </a:moveTo>
                  <a:lnTo>
                    <a:pt x="2856586" y="0"/>
                  </a:lnTo>
                  <a:lnTo>
                    <a:pt x="2856586" y="400509"/>
                  </a:lnTo>
                  <a:lnTo>
                    <a:pt x="0" y="400509"/>
                  </a:lnTo>
                  <a:close/>
                </a:path>
              </a:pathLst>
            </a:custGeom>
            <a:blipFill>
              <a:blip r:embed="rId4">
                <a:alphaModFix amt="0"/>
              </a:blip>
              <a:stretch>
                <a:fillRect l="0" t="-88975" r="0" b="-88974"/>
              </a:stretch>
            </a:blipFill>
          </p:spPr>
          <p:txBody>
            <a:bodyPr/>
            <a:p/>
          </p:txBody>
        </p:sp>
        <p:sp>
          <p:nvSpPr>
            <p:cNvPr name="TextBox 147" id="147"/>
            <p:cNvSpPr txBox="true"/>
            <p:nvPr/>
          </p:nvSpPr>
          <p:spPr>
            <a:xfrm>
              <a:off x="0" y="0"/>
              <a:ext cx="2856586"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Flexibilité Métabolique</a:t>
              </a:r>
            </a:p>
          </p:txBody>
        </p:sp>
      </p:grpSp>
      <p:grpSp>
        <p:nvGrpSpPr>
          <p:cNvPr name="Group 148" id="148"/>
          <p:cNvGrpSpPr/>
          <p:nvPr/>
        </p:nvGrpSpPr>
        <p:grpSpPr>
          <a:xfrm rot="0">
            <a:off x="3116351" y="9812503"/>
            <a:ext cx="1891284" cy="319430"/>
            <a:chOff x="0" y="0"/>
            <a:chExt cx="2521712" cy="425907"/>
          </a:xfrm>
        </p:grpSpPr>
        <p:sp>
          <p:nvSpPr>
            <p:cNvPr name="Freeform 149" id="149"/>
            <p:cNvSpPr/>
            <p:nvPr/>
          </p:nvSpPr>
          <p:spPr>
            <a:xfrm flipH="false" flipV="false" rot="0">
              <a:off x="12700" y="12700"/>
              <a:ext cx="2496312" cy="400558"/>
            </a:xfrm>
            <a:custGeom>
              <a:avLst/>
              <a:gdLst/>
              <a:ahLst/>
              <a:cxnLst/>
              <a:rect r="r" b="b" t="t" l="l"/>
              <a:pathLst>
                <a:path h="400558" w="2496312">
                  <a:moveTo>
                    <a:pt x="0" y="200279"/>
                  </a:moveTo>
                  <a:cubicBezTo>
                    <a:pt x="0" y="89662"/>
                    <a:pt x="94361" y="0"/>
                    <a:pt x="210820" y="0"/>
                  </a:cubicBezTo>
                  <a:lnTo>
                    <a:pt x="2285492" y="0"/>
                  </a:lnTo>
                  <a:cubicBezTo>
                    <a:pt x="2401951" y="0"/>
                    <a:pt x="2496312" y="89662"/>
                    <a:pt x="2496312" y="200279"/>
                  </a:cubicBezTo>
                  <a:cubicBezTo>
                    <a:pt x="2496312" y="310896"/>
                    <a:pt x="2401951" y="400558"/>
                    <a:pt x="2285492" y="400558"/>
                  </a:cubicBezTo>
                  <a:lnTo>
                    <a:pt x="210820" y="400558"/>
                  </a:lnTo>
                  <a:cubicBezTo>
                    <a:pt x="94361" y="400558"/>
                    <a:pt x="0" y="310896"/>
                    <a:pt x="0" y="200279"/>
                  </a:cubicBezTo>
                  <a:close/>
                </a:path>
              </a:pathLst>
            </a:custGeom>
            <a:solidFill>
              <a:srgbClr val="FFFFFF">
                <a:alpha val="0"/>
              </a:srgbClr>
            </a:solidFill>
          </p:spPr>
          <p:txBody>
            <a:bodyPr/>
            <a:p/>
          </p:txBody>
        </p:sp>
      </p:grpSp>
      <p:grpSp>
        <p:nvGrpSpPr>
          <p:cNvPr name="Group 150" id="150"/>
          <p:cNvGrpSpPr/>
          <p:nvPr/>
        </p:nvGrpSpPr>
        <p:grpSpPr>
          <a:xfrm rot="0">
            <a:off x="3125876" y="9822028"/>
            <a:ext cx="2150669" cy="300381"/>
            <a:chOff x="0" y="0"/>
            <a:chExt cx="2867558" cy="400508"/>
          </a:xfrm>
        </p:grpSpPr>
        <p:sp>
          <p:nvSpPr>
            <p:cNvPr name="Freeform 151" id="151"/>
            <p:cNvSpPr/>
            <p:nvPr/>
          </p:nvSpPr>
          <p:spPr>
            <a:xfrm flipH="false" flipV="false" rot="0">
              <a:off x="0" y="0"/>
              <a:ext cx="2867558" cy="400509"/>
            </a:xfrm>
            <a:custGeom>
              <a:avLst/>
              <a:gdLst/>
              <a:ahLst/>
              <a:cxnLst/>
              <a:rect r="r" b="b" t="t" l="l"/>
              <a:pathLst>
                <a:path h="400509" w="2867558">
                  <a:moveTo>
                    <a:pt x="0" y="0"/>
                  </a:moveTo>
                  <a:lnTo>
                    <a:pt x="2867558" y="0"/>
                  </a:lnTo>
                  <a:lnTo>
                    <a:pt x="2867558" y="400509"/>
                  </a:lnTo>
                  <a:lnTo>
                    <a:pt x="0" y="400509"/>
                  </a:lnTo>
                  <a:close/>
                </a:path>
              </a:pathLst>
            </a:custGeom>
            <a:blipFill>
              <a:blip r:embed="rId4">
                <a:alphaModFix amt="0"/>
              </a:blip>
              <a:stretch>
                <a:fillRect l="0" t="-89508" r="0" b="-89508"/>
              </a:stretch>
            </a:blipFill>
          </p:spPr>
          <p:txBody>
            <a:bodyPr/>
            <a:p/>
          </p:txBody>
        </p:sp>
        <p:sp>
          <p:nvSpPr>
            <p:cNvPr name="TextBox 152" id="152"/>
            <p:cNvSpPr txBox="true"/>
            <p:nvPr/>
          </p:nvSpPr>
          <p:spPr>
            <a:xfrm>
              <a:off x="0" y="0"/>
              <a:ext cx="2867558"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Oxydation des Graisses</a:t>
              </a:r>
            </a:p>
          </p:txBody>
        </p:sp>
      </p:grpSp>
      <p:grpSp>
        <p:nvGrpSpPr>
          <p:cNvPr name="Group 153" id="153"/>
          <p:cNvGrpSpPr/>
          <p:nvPr/>
        </p:nvGrpSpPr>
        <p:grpSpPr>
          <a:xfrm rot="0">
            <a:off x="6467170" y="6619418"/>
            <a:ext cx="5362804" cy="3586001"/>
            <a:chOff x="0" y="0"/>
            <a:chExt cx="7150405" cy="4781335"/>
          </a:xfrm>
        </p:grpSpPr>
        <p:sp>
          <p:nvSpPr>
            <p:cNvPr name="Freeform 154" id="154"/>
            <p:cNvSpPr/>
            <p:nvPr/>
          </p:nvSpPr>
          <p:spPr>
            <a:xfrm flipH="false" flipV="false" rot="0">
              <a:off x="12700" y="11792"/>
              <a:ext cx="7124954" cy="4757775"/>
            </a:xfrm>
            <a:custGeom>
              <a:avLst/>
              <a:gdLst/>
              <a:ahLst/>
              <a:cxnLst/>
              <a:rect r="r" b="b" t="t" l="l"/>
              <a:pathLst>
                <a:path h="4757775" w="7124954">
                  <a:moveTo>
                    <a:pt x="0" y="0"/>
                  </a:moveTo>
                  <a:lnTo>
                    <a:pt x="7124954" y="0"/>
                  </a:lnTo>
                  <a:lnTo>
                    <a:pt x="7124954" y="4757775"/>
                  </a:lnTo>
                  <a:lnTo>
                    <a:pt x="0" y="4757775"/>
                  </a:lnTo>
                  <a:close/>
                </a:path>
              </a:pathLst>
            </a:custGeom>
            <a:solidFill>
              <a:srgbClr val="141419"/>
            </a:solidFill>
          </p:spPr>
          <p:txBody>
            <a:bodyPr/>
            <a:p/>
          </p:txBody>
        </p:sp>
        <p:sp>
          <p:nvSpPr>
            <p:cNvPr name="Freeform 155" id="155"/>
            <p:cNvSpPr/>
            <p:nvPr/>
          </p:nvSpPr>
          <p:spPr>
            <a:xfrm flipH="false" flipV="false" rot="0">
              <a:off x="0" y="0"/>
              <a:ext cx="7150354" cy="4781360"/>
            </a:xfrm>
            <a:custGeom>
              <a:avLst/>
              <a:gdLst/>
              <a:ahLst/>
              <a:cxnLst/>
              <a:rect r="r" b="b" t="t" l="l"/>
              <a:pathLst>
                <a:path h="4781360" w="7150354">
                  <a:moveTo>
                    <a:pt x="12700" y="0"/>
                  </a:moveTo>
                  <a:lnTo>
                    <a:pt x="7137654" y="0"/>
                  </a:lnTo>
                  <a:cubicBezTo>
                    <a:pt x="7144639" y="0"/>
                    <a:pt x="7150354" y="5306"/>
                    <a:pt x="7150354" y="11792"/>
                  </a:cubicBezTo>
                  <a:lnTo>
                    <a:pt x="7150354" y="4769567"/>
                  </a:lnTo>
                  <a:cubicBezTo>
                    <a:pt x="7150354" y="4776052"/>
                    <a:pt x="7144639" y="4781360"/>
                    <a:pt x="7137654" y="4781360"/>
                  </a:cubicBezTo>
                  <a:lnTo>
                    <a:pt x="12700" y="4781360"/>
                  </a:lnTo>
                  <a:cubicBezTo>
                    <a:pt x="5715" y="4781360"/>
                    <a:pt x="0" y="4776052"/>
                    <a:pt x="0" y="4769567"/>
                  </a:cubicBezTo>
                  <a:lnTo>
                    <a:pt x="0" y="11792"/>
                  </a:lnTo>
                  <a:cubicBezTo>
                    <a:pt x="0" y="5306"/>
                    <a:pt x="5715" y="0"/>
                    <a:pt x="12700" y="0"/>
                  </a:cubicBezTo>
                  <a:moveTo>
                    <a:pt x="12700" y="23583"/>
                  </a:moveTo>
                  <a:lnTo>
                    <a:pt x="12700" y="11792"/>
                  </a:lnTo>
                  <a:lnTo>
                    <a:pt x="25400" y="11792"/>
                  </a:lnTo>
                  <a:lnTo>
                    <a:pt x="25400" y="4769567"/>
                  </a:lnTo>
                  <a:lnTo>
                    <a:pt x="12700" y="4769567"/>
                  </a:lnTo>
                  <a:lnTo>
                    <a:pt x="12700" y="4757775"/>
                  </a:lnTo>
                  <a:lnTo>
                    <a:pt x="7137654" y="4757775"/>
                  </a:lnTo>
                  <a:lnTo>
                    <a:pt x="7137654" y="4769567"/>
                  </a:lnTo>
                  <a:lnTo>
                    <a:pt x="7124954" y="4769567"/>
                  </a:lnTo>
                  <a:lnTo>
                    <a:pt x="7124954" y="11792"/>
                  </a:lnTo>
                  <a:lnTo>
                    <a:pt x="7137654" y="11792"/>
                  </a:lnTo>
                  <a:lnTo>
                    <a:pt x="7137654" y="23583"/>
                  </a:lnTo>
                  <a:lnTo>
                    <a:pt x="12700" y="23583"/>
                  </a:lnTo>
                  <a:close/>
                </a:path>
              </a:pathLst>
            </a:custGeom>
            <a:solidFill>
              <a:srgbClr val="40424D"/>
            </a:solidFill>
          </p:spPr>
          <p:txBody>
            <a:bodyPr/>
            <a:p/>
          </p:txBody>
        </p:sp>
      </p:grpSp>
      <p:grpSp>
        <p:nvGrpSpPr>
          <p:cNvPr name="Group 156" id="156"/>
          <p:cNvGrpSpPr/>
          <p:nvPr/>
        </p:nvGrpSpPr>
        <p:grpSpPr>
          <a:xfrm rot="0">
            <a:off x="6825158" y="6977405"/>
            <a:ext cx="647243" cy="647243"/>
            <a:chOff x="0" y="0"/>
            <a:chExt cx="862990" cy="862990"/>
          </a:xfrm>
        </p:grpSpPr>
        <p:sp>
          <p:nvSpPr>
            <p:cNvPr name="Freeform 157" id="157"/>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58" id="158"/>
          <p:cNvGrpSpPr/>
          <p:nvPr/>
        </p:nvGrpSpPr>
        <p:grpSpPr>
          <a:xfrm rot="0">
            <a:off x="6970471" y="7158380"/>
            <a:ext cx="356616" cy="285293"/>
            <a:chOff x="0" y="0"/>
            <a:chExt cx="475488" cy="380390"/>
          </a:xfrm>
        </p:grpSpPr>
        <p:sp>
          <p:nvSpPr>
            <p:cNvPr name="Freeform 159" id="159" descr="preencoded.png"/>
            <p:cNvSpPr/>
            <p:nvPr/>
          </p:nvSpPr>
          <p:spPr>
            <a:xfrm flipH="false" flipV="false" rot="0">
              <a:off x="0" y="0"/>
              <a:ext cx="475488" cy="380365"/>
            </a:xfrm>
            <a:custGeom>
              <a:avLst/>
              <a:gdLst/>
              <a:ahLst/>
              <a:cxnLst/>
              <a:rect r="r" b="b" t="t" l="l"/>
              <a:pathLst>
                <a:path h="380365" w="475488">
                  <a:moveTo>
                    <a:pt x="0" y="0"/>
                  </a:moveTo>
                  <a:lnTo>
                    <a:pt x="475488" y="0"/>
                  </a:lnTo>
                  <a:lnTo>
                    <a:pt x="475488" y="380365"/>
                  </a:lnTo>
                  <a:lnTo>
                    <a:pt x="0" y="380365"/>
                  </a:lnTo>
                  <a:lnTo>
                    <a:pt x="0" y="0"/>
                  </a:lnTo>
                  <a:close/>
                </a:path>
              </a:pathLst>
            </a:custGeom>
            <a:blipFill>
              <a:blip r:embed="rId8"/>
              <a:stretch>
                <a:fillRect l="0" t="0" r="-646" b="-6"/>
              </a:stretch>
            </a:blipFill>
          </p:spPr>
          <p:txBody>
            <a:bodyPr/>
            <a:p/>
          </p:txBody>
        </p:sp>
      </p:grpSp>
      <p:grpSp>
        <p:nvGrpSpPr>
          <p:cNvPr name="Group 160" id="160"/>
          <p:cNvGrpSpPr/>
          <p:nvPr/>
        </p:nvGrpSpPr>
        <p:grpSpPr>
          <a:xfrm rot="0">
            <a:off x="11248492" y="6986930"/>
            <a:ext cx="329184" cy="257861"/>
            <a:chOff x="0" y="0"/>
            <a:chExt cx="438912" cy="343814"/>
          </a:xfrm>
        </p:grpSpPr>
        <p:sp>
          <p:nvSpPr>
            <p:cNvPr name="Freeform 161" id="161"/>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62" id="162"/>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05</a:t>
              </a:r>
            </a:p>
          </p:txBody>
        </p:sp>
      </p:grpSp>
      <p:grpSp>
        <p:nvGrpSpPr>
          <p:cNvPr name="Group 163" id="163"/>
          <p:cNvGrpSpPr/>
          <p:nvPr/>
        </p:nvGrpSpPr>
        <p:grpSpPr>
          <a:xfrm rot="0">
            <a:off x="6834683" y="7900416"/>
            <a:ext cx="4800600" cy="430120"/>
            <a:chOff x="0" y="0"/>
            <a:chExt cx="6400800" cy="573494"/>
          </a:xfrm>
        </p:grpSpPr>
        <p:sp>
          <p:nvSpPr>
            <p:cNvPr name="Freeform 164" id="164"/>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65" id="165"/>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AVENTURE</a:t>
              </a:r>
            </a:p>
          </p:txBody>
        </p:sp>
      </p:grpSp>
      <p:grpSp>
        <p:nvGrpSpPr>
          <p:cNvPr name="Group 166" id="166"/>
          <p:cNvGrpSpPr/>
          <p:nvPr/>
        </p:nvGrpSpPr>
        <p:grpSpPr>
          <a:xfrm rot="0">
            <a:off x="6825158" y="8391525"/>
            <a:ext cx="1562100" cy="419557"/>
            <a:chOff x="0" y="0"/>
            <a:chExt cx="2082800" cy="559410"/>
          </a:xfrm>
        </p:grpSpPr>
        <p:sp>
          <p:nvSpPr>
            <p:cNvPr name="Freeform 167" id="167"/>
            <p:cNvSpPr/>
            <p:nvPr/>
          </p:nvSpPr>
          <p:spPr>
            <a:xfrm flipH="false" flipV="false" rot="0">
              <a:off x="12700" y="12700"/>
              <a:ext cx="2057400" cy="533908"/>
            </a:xfrm>
            <a:custGeom>
              <a:avLst/>
              <a:gdLst/>
              <a:ahLst/>
              <a:cxnLst/>
              <a:rect r="r" b="b" t="t" l="l"/>
              <a:pathLst>
                <a:path h="533908" w="2057400">
                  <a:moveTo>
                    <a:pt x="0" y="261239"/>
                  </a:moveTo>
                  <a:cubicBezTo>
                    <a:pt x="0" y="116967"/>
                    <a:pt x="121031" y="0"/>
                    <a:pt x="270383" y="0"/>
                  </a:cubicBezTo>
                  <a:lnTo>
                    <a:pt x="1787017" y="0"/>
                  </a:lnTo>
                  <a:cubicBezTo>
                    <a:pt x="1936369" y="0"/>
                    <a:pt x="2057400" y="116967"/>
                    <a:pt x="2057400" y="261239"/>
                  </a:cubicBezTo>
                  <a:lnTo>
                    <a:pt x="2057400" y="272669"/>
                  </a:lnTo>
                  <a:cubicBezTo>
                    <a:pt x="2057400" y="416941"/>
                    <a:pt x="1936369" y="533908"/>
                    <a:pt x="1787017" y="533908"/>
                  </a:cubicBezTo>
                  <a:lnTo>
                    <a:pt x="270383" y="533908"/>
                  </a:lnTo>
                  <a:cubicBezTo>
                    <a:pt x="121031" y="534035"/>
                    <a:pt x="0" y="417068"/>
                    <a:pt x="0" y="272796"/>
                  </a:cubicBezTo>
                  <a:close/>
                </a:path>
              </a:pathLst>
            </a:custGeom>
            <a:solidFill>
              <a:srgbClr val="FFFFFF"/>
            </a:solidFill>
          </p:spPr>
          <p:txBody>
            <a:bodyPr/>
            <a:p/>
          </p:txBody>
        </p:sp>
      </p:grpSp>
      <p:grpSp>
        <p:nvGrpSpPr>
          <p:cNvPr name="Group 168" id="168"/>
          <p:cNvGrpSpPr/>
          <p:nvPr/>
        </p:nvGrpSpPr>
        <p:grpSpPr>
          <a:xfrm rot="0">
            <a:off x="6991731" y="8410575"/>
            <a:ext cx="1629461" cy="400508"/>
            <a:chOff x="0" y="0"/>
            <a:chExt cx="2172614" cy="534010"/>
          </a:xfrm>
        </p:grpSpPr>
        <p:sp>
          <p:nvSpPr>
            <p:cNvPr name="Freeform 169" id="169"/>
            <p:cNvSpPr/>
            <p:nvPr/>
          </p:nvSpPr>
          <p:spPr>
            <a:xfrm flipH="false" flipV="false" rot="0">
              <a:off x="0" y="0"/>
              <a:ext cx="2172614" cy="534010"/>
            </a:xfrm>
            <a:custGeom>
              <a:avLst/>
              <a:gdLst/>
              <a:ahLst/>
              <a:cxnLst/>
              <a:rect r="r" b="b" t="t" l="l"/>
              <a:pathLst>
                <a:path h="534010" w="2172614">
                  <a:moveTo>
                    <a:pt x="0" y="0"/>
                  </a:moveTo>
                  <a:lnTo>
                    <a:pt x="2172614" y="0"/>
                  </a:lnTo>
                  <a:lnTo>
                    <a:pt x="2172614" y="534010"/>
                  </a:lnTo>
                  <a:lnTo>
                    <a:pt x="0" y="534010"/>
                  </a:lnTo>
                  <a:close/>
                </a:path>
              </a:pathLst>
            </a:custGeom>
            <a:blipFill>
              <a:blip r:embed="rId4">
                <a:alphaModFix amt="0"/>
              </a:blip>
              <a:stretch>
                <a:fillRect l="0" t="-29274" r="0" b="-29274"/>
              </a:stretch>
            </a:blipFill>
          </p:spPr>
          <p:txBody>
            <a:bodyPr/>
            <a:p/>
          </p:txBody>
        </p:sp>
        <p:sp>
          <p:nvSpPr>
            <p:cNvPr name="TextBox 170" id="170"/>
            <p:cNvSpPr txBox="true"/>
            <p:nvPr/>
          </p:nvSpPr>
          <p:spPr>
            <a:xfrm>
              <a:off x="0" y="0"/>
              <a:ext cx="2172614"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Sortie Longue</a:t>
              </a:r>
            </a:p>
          </p:txBody>
        </p:sp>
      </p:grpSp>
      <p:grpSp>
        <p:nvGrpSpPr>
          <p:cNvPr name="Group 171" id="171"/>
          <p:cNvGrpSpPr/>
          <p:nvPr/>
        </p:nvGrpSpPr>
        <p:grpSpPr>
          <a:xfrm rot="0">
            <a:off x="6825158" y="8955253"/>
            <a:ext cx="4648200" cy="32766"/>
            <a:chOff x="0" y="0"/>
            <a:chExt cx="6197600" cy="43688"/>
          </a:xfrm>
        </p:grpSpPr>
        <p:sp>
          <p:nvSpPr>
            <p:cNvPr name="Freeform 172" id="172"/>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73" id="173"/>
          <p:cNvGrpSpPr/>
          <p:nvPr/>
        </p:nvGrpSpPr>
        <p:grpSpPr>
          <a:xfrm rot="0">
            <a:off x="6834683" y="9151315"/>
            <a:ext cx="4744364" cy="558241"/>
            <a:chOff x="0" y="0"/>
            <a:chExt cx="6325819" cy="744322"/>
          </a:xfrm>
        </p:grpSpPr>
        <p:sp>
          <p:nvSpPr>
            <p:cNvPr name="Freeform 174" id="174"/>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175" id="175"/>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L'endurance rencontre l'âme. La nature comme facteur de résilience.</a:t>
              </a:r>
            </a:p>
          </p:txBody>
        </p:sp>
      </p:grpSp>
      <p:grpSp>
        <p:nvGrpSpPr>
          <p:cNvPr name="Group 176" id="176"/>
          <p:cNvGrpSpPr/>
          <p:nvPr/>
        </p:nvGrpSpPr>
        <p:grpSpPr>
          <a:xfrm rot="0">
            <a:off x="6825158" y="9812503"/>
            <a:ext cx="1305611" cy="319430"/>
            <a:chOff x="0" y="0"/>
            <a:chExt cx="1740814" cy="425907"/>
          </a:xfrm>
        </p:grpSpPr>
        <p:sp>
          <p:nvSpPr>
            <p:cNvPr name="Freeform 177" id="177"/>
            <p:cNvSpPr/>
            <p:nvPr/>
          </p:nvSpPr>
          <p:spPr>
            <a:xfrm flipH="false" flipV="false" rot="0">
              <a:off x="12700" y="12700"/>
              <a:ext cx="1715389" cy="400558"/>
            </a:xfrm>
            <a:custGeom>
              <a:avLst/>
              <a:gdLst/>
              <a:ahLst/>
              <a:cxnLst/>
              <a:rect r="r" b="b" t="t" l="l"/>
              <a:pathLst>
                <a:path h="400558" w="1715389">
                  <a:moveTo>
                    <a:pt x="0" y="200279"/>
                  </a:moveTo>
                  <a:cubicBezTo>
                    <a:pt x="0" y="89662"/>
                    <a:pt x="93980" y="0"/>
                    <a:pt x="209804" y="0"/>
                  </a:cubicBezTo>
                  <a:lnTo>
                    <a:pt x="1505585" y="0"/>
                  </a:lnTo>
                  <a:cubicBezTo>
                    <a:pt x="1621536" y="0"/>
                    <a:pt x="1715389" y="89662"/>
                    <a:pt x="1715389" y="200279"/>
                  </a:cubicBezTo>
                  <a:cubicBezTo>
                    <a:pt x="1715389" y="310896"/>
                    <a:pt x="1621409" y="400558"/>
                    <a:pt x="1505585" y="400558"/>
                  </a:cubicBezTo>
                  <a:lnTo>
                    <a:pt x="209804" y="400558"/>
                  </a:lnTo>
                  <a:cubicBezTo>
                    <a:pt x="93980" y="400558"/>
                    <a:pt x="0" y="310896"/>
                    <a:pt x="0" y="200279"/>
                  </a:cubicBezTo>
                  <a:close/>
                </a:path>
              </a:pathLst>
            </a:custGeom>
            <a:solidFill>
              <a:srgbClr val="FFFFFF">
                <a:alpha val="0"/>
              </a:srgbClr>
            </a:solidFill>
          </p:spPr>
          <p:txBody>
            <a:bodyPr/>
            <a:p/>
          </p:txBody>
        </p:sp>
      </p:grpSp>
      <p:grpSp>
        <p:nvGrpSpPr>
          <p:cNvPr name="Group 178" id="178"/>
          <p:cNvGrpSpPr/>
          <p:nvPr/>
        </p:nvGrpSpPr>
        <p:grpSpPr>
          <a:xfrm rot="0">
            <a:off x="6834683" y="9822028"/>
            <a:ext cx="1466240" cy="300381"/>
            <a:chOff x="0" y="0"/>
            <a:chExt cx="1954987" cy="400508"/>
          </a:xfrm>
        </p:grpSpPr>
        <p:sp>
          <p:nvSpPr>
            <p:cNvPr name="Freeform 179" id="179"/>
            <p:cNvSpPr/>
            <p:nvPr/>
          </p:nvSpPr>
          <p:spPr>
            <a:xfrm flipH="false" flipV="false" rot="0">
              <a:off x="0" y="0"/>
              <a:ext cx="1954988" cy="400509"/>
            </a:xfrm>
            <a:custGeom>
              <a:avLst/>
              <a:gdLst/>
              <a:ahLst/>
              <a:cxnLst/>
              <a:rect r="r" b="b" t="t" l="l"/>
              <a:pathLst>
                <a:path h="400509" w="1954988">
                  <a:moveTo>
                    <a:pt x="0" y="0"/>
                  </a:moveTo>
                  <a:lnTo>
                    <a:pt x="1954988" y="0"/>
                  </a:lnTo>
                  <a:lnTo>
                    <a:pt x="1954988" y="400509"/>
                  </a:lnTo>
                  <a:lnTo>
                    <a:pt x="0" y="400509"/>
                  </a:lnTo>
                  <a:close/>
                </a:path>
              </a:pathLst>
            </a:custGeom>
            <a:blipFill>
              <a:blip r:embed="rId4">
                <a:alphaModFix amt="0"/>
              </a:blip>
              <a:stretch>
                <a:fillRect l="0" t="-45111" r="0" b="-45111"/>
              </a:stretch>
            </a:blipFill>
          </p:spPr>
          <p:txBody>
            <a:bodyPr/>
            <a:p/>
          </p:txBody>
        </p:sp>
        <p:sp>
          <p:nvSpPr>
            <p:cNvPr name="TextBox 180" id="180"/>
            <p:cNvSpPr txBox="true"/>
            <p:nvPr/>
          </p:nvSpPr>
          <p:spPr>
            <a:xfrm>
              <a:off x="0" y="0"/>
              <a:ext cx="1954987"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Ski = Longévité</a:t>
              </a:r>
            </a:p>
          </p:txBody>
        </p:sp>
      </p:grpSp>
      <p:grpSp>
        <p:nvGrpSpPr>
          <p:cNvPr name="Group 181" id="181"/>
          <p:cNvGrpSpPr/>
          <p:nvPr/>
        </p:nvGrpSpPr>
        <p:grpSpPr>
          <a:xfrm rot="0">
            <a:off x="8222818" y="9812503"/>
            <a:ext cx="847496" cy="319430"/>
            <a:chOff x="0" y="0"/>
            <a:chExt cx="1129995" cy="425907"/>
          </a:xfrm>
        </p:grpSpPr>
        <p:sp>
          <p:nvSpPr>
            <p:cNvPr name="Freeform 182" id="182"/>
            <p:cNvSpPr/>
            <p:nvPr/>
          </p:nvSpPr>
          <p:spPr>
            <a:xfrm flipH="false" flipV="false" rot="0">
              <a:off x="12700" y="12700"/>
              <a:ext cx="1104519" cy="400558"/>
            </a:xfrm>
            <a:custGeom>
              <a:avLst/>
              <a:gdLst/>
              <a:ahLst/>
              <a:cxnLst/>
              <a:rect r="r" b="b" t="t" l="l"/>
              <a:pathLst>
                <a:path h="400558" w="1104519">
                  <a:moveTo>
                    <a:pt x="0" y="200279"/>
                  </a:moveTo>
                  <a:cubicBezTo>
                    <a:pt x="0" y="89662"/>
                    <a:pt x="93218" y="0"/>
                    <a:pt x="208153" y="0"/>
                  </a:cubicBezTo>
                  <a:lnTo>
                    <a:pt x="896366" y="0"/>
                  </a:lnTo>
                  <a:cubicBezTo>
                    <a:pt x="1011301" y="0"/>
                    <a:pt x="1104519" y="89662"/>
                    <a:pt x="1104519" y="200279"/>
                  </a:cubicBezTo>
                  <a:cubicBezTo>
                    <a:pt x="1104519" y="310896"/>
                    <a:pt x="1011428" y="400558"/>
                    <a:pt x="896366" y="400558"/>
                  </a:cubicBezTo>
                  <a:lnTo>
                    <a:pt x="208153" y="400558"/>
                  </a:lnTo>
                  <a:cubicBezTo>
                    <a:pt x="93218" y="400558"/>
                    <a:pt x="0" y="310896"/>
                    <a:pt x="0" y="200279"/>
                  </a:cubicBezTo>
                  <a:close/>
                </a:path>
              </a:pathLst>
            </a:custGeom>
            <a:solidFill>
              <a:srgbClr val="FFFFFF">
                <a:alpha val="0"/>
              </a:srgbClr>
            </a:solidFill>
          </p:spPr>
          <p:txBody>
            <a:bodyPr/>
            <a:p/>
          </p:txBody>
        </p:sp>
      </p:grpSp>
      <p:grpSp>
        <p:nvGrpSpPr>
          <p:cNvPr name="Group 183" id="183"/>
          <p:cNvGrpSpPr/>
          <p:nvPr/>
        </p:nvGrpSpPr>
        <p:grpSpPr>
          <a:xfrm rot="0">
            <a:off x="8232343" y="9822028"/>
            <a:ext cx="943661" cy="300381"/>
            <a:chOff x="0" y="0"/>
            <a:chExt cx="1258214" cy="400508"/>
          </a:xfrm>
        </p:grpSpPr>
        <p:sp>
          <p:nvSpPr>
            <p:cNvPr name="Freeform 184" id="184"/>
            <p:cNvSpPr/>
            <p:nvPr/>
          </p:nvSpPr>
          <p:spPr>
            <a:xfrm flipH="false" flipV="false" rot="0">
              <a:off x="0" y="0"/>
              <a:ext cx="1258214" cy="400509"/>
            </a:xfrm>
            <a:custGeom>
              <a:avLst/>
              <a:gdLst/>
              <a:ahLst/>
              <a:cxnLst/>
              <a:rect r="r" b="b" t="t" l="l"/>
              <a:pathLst>
                <a:path h="400509" w="1258214">
                  <a:moveTo>
                    <a:pt x="0" y="0"/>
                  </a:moveTo>
                  <a:lnTo>
                    <a:pt x="1258214" y="0"/>
                  </a:lnTo>
                  <a:lnTo>
                    <a:pt x="1258214" y="400509"/>
                  </a:lnTo>
                  <a:lnTo>
                    <a:pt x="0" y="400509"/>
                  </a:lnTo>
                  <a:close/>
                </a:path>
              </a:pathLst>
            </a:custGeom>
            <a:blipFill>
              <a:blip r:embed="rId4">
                <a:alphaModFix amt="0"/>
              </a:blip>
              <a:stretch>
                <a:fillRect l="0" t="-11213" r="0" b="-11212"/>
              </a:stretch>
            </a:blipFill>
          </p:spPr>
          <p:txBody>
            <a:bodyPr/>
            <a:p/>
          </p:txBody>
        </p:sp>
        <p:sp>
          <p:nvSpPr>
            <p:cNvPr name="TextBox 185" id="185"/>
            <p:cNvSpPr txBox="true"/>
            <p:nvPr/>
          </p:nvSpPr>
          <p:spPr>
            <a:xfrm>
              <a:off x="0" y="0"/>
              <a:ext cx="125821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Hormèse</a:t>
              </a:r>
            </a:p>
          </p:txBody>
        </p:sp>
      </p:grpSp>
      <p:grpSp>
        <p:nvGrpSpPr>
          <p:cNvPr name="Group 186" id="186"/>
          <p:cNvGrpSpPr/>
          <p:nvPr/>
        </p:nvGrpSpPr>
        <p:grpSpPr>
          <a:xfrm rot="0">
            <a:off x="9165107" y="9812503"/>
            <a:ext cx="990143" cy="319430"/>
            <a:chOff x="0" y="0"/>
            <a:chExt cx="1320190" cy="425907"/>
          </a:xfrm>
        </p:grpSpPr>
        <p:sp>
          <p:nvSpPr>
            <p:cNvPr name="Freeform 187" id="187"/>
            <p:cNvSpPr/>
            <p:nvPr/>
          </p:nvSpPr>
          <p:spPr>
            <a:xfrm flipH="false" flipV="false" rot="0">
              <a:off x="12700" y="12700"/>
              <a:ext cx="1294892" cy="400558"/>
            </a:xfrm>
            <a:custGeom>
              <a:avLst/>
              <a:gdLst/>
              <a:ahLst/>
              <a:cxnLst/>
              <a:rect r="r" b="b" t="t" l="l"/>
              <a:pathLst>
                <a:path h="400558" w="1294892">
                  <a:moveTo>
                    <a:pt x="0" y="200279"/>
                  </a:moveTo>
                  <a:cubicBezTo>
                    <a:pt x="0" y="89662"/>
                    <a:pt x="93472" y="0"/>
                    <a:pt x="208915" y="0"/>
                  </a:cubicBezTo>
                  <a:lnTo>
                    <a:pt x="1085977" y="0"/>
                  </a:lnTo>
                  <a:cubicBezTo>
                    <a:pt x="1201293" y="0"/>
                    <a:pt x="1294892" y="89662"/>
                    <a:pt x="1294892" y="200279"/>
                  </a:cubicBezTo>
                  <a:cubicBezTo>
                    <a:pt x="1294892" y="310896"/>
                    <a:pt x="1201293" y="400558"/>
                    <a:pt x="1085977" y="400558"/>
                  </a:cubicBezTo>
                  <a:lnTo>
                    <a:pt x="208915" y="400558"/>
                  </a:lnTo>
                  <a:cubicBezTo>
                    <a:pt x="93472" y="400558"/>
                    <a:pt x="0" y="310896"/>
                    <a:pt x="0" y="200279"/>
                  </a:cubicBezTo>
                  <a:close/>
                </a:path>
              </a:pathLst>
            </a:custGeom>
            <a:solidFill>
              <a:srgbClr val="FFFFFF">
                <a:alpha val="0"/>
              </a:srgbClr>
            </a:solidFill>
          </p:spPr>
          <p:txBody>
            <a:bodyPr/>
            <a:p/>
          </p:txBody>
        </p:sp>
      </p:grpSp>
      <p:grpSp>
        <p:nvGrpSpPr>
          <p:cNvPr name="Group 188" id="188"/>
          <p:cNvGrpSpPr/>
          <p:nvPr/>
        </p:nvGrpSpPr>
        <p:grpSpPr>
          <a:xfrm rot="0">
            <a:off x="9174632" y="9822028"/>
            <a:ext cx="1086307" cy="300381"/>
            <a:chOff x="0" y="0"/>
            <a:chExt cx="1448410" cy="400508"/>
          </a:xfrm>
        </p:grpSpPr>
        <p:sp>
          <p:nvSpPr>
            <p:cNvPr name="Freeform 189" id="189"/>
            <p:cNvSpPr/>
            <p:nvPr/>
          </p:nvSpPr>
          <p:spPr>
            <a:xfrm flipH="false" flipV="false" rot="0">
              <a:off x="0" y="0"/>
              <a:ext cx="1448410" cy="400509"/>
            </a:xfrm>
            <a:custGeom>
              <a:avLst/>
              <a:gdLst/>
              <a:ahLst/>
              <a:cxnLst/>
              <a:rect r="r" b="b" t="t" l="l"/>
              <a:pathLst>
                <a:path h="400509" w="1448410">
                  <a:moveTo>
                    <a:pt x="0" y="0"/>
                  </a:moveTo>
                  <a:lnTo>
                    <a:pt x="1448410" y="0"/>
                  </a:lnTo>
                  <a:lnTo>
                    <a:pt x="1448410" y="400509"/>
                  </a:lnTo>
                  <a:lnTo>
                    <a:pt x="0" y="400509"/>
                  </a:lnTo>
                  <a:close/>
                </a:path>
              </a:pathLst>
            </a:custGeom>
            <a:blipFill>
              <a:blip r:embed="rId4">
                <a:alphaModFix amt="0"/>
              </a:blip>
              <a:stretch>
                <a:fillRect l="0" t="-20466" r="0" b="-20465"/>
              </a:stretch>
            </a:blipFill>
          </p:spPr>
          <p:txBody>
            <a:bodyPr/>
            <a:p/>
          </p:txBody>
        </p:sp>
        <p:sp>
          <p:nvSpPr>
            <p:cNvPr name="TextBox 190" id="190"/>
            <p:cNvSpPr txBox="true"/>
            <p:nvPr/>
          </p:nvSpPr>
          <p:spPr>
            <a:xfrm>
              <a:off x="0" y="0"/>
              <a:ext cx="144841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Connexion</a:t>
              </a:r>
            </a:p>
          </p:txBody>
        </p:sp>
      </p:grpSp>
      <p:grpSp>
        <p:nvGrpSpPr>
          <p:cNvPr name="Group 191" id="191"/>
          <p:cNvGrpSpPr/>
          <p:nvPr/>
        </p:nvGrpSpPr>
        <p:grpSpPr>
          <a:xfrm rot="0">
            <a:off x="12086615" y="6619418"/>
            <a:ext cx="5362804" cy="3586001"/>
            <a:chOff x="0" y="0"/>
            <a:chExt cx="7150405" cy="4781335"/>
          </a:xfrm>
        </p:grpSpPr>
        <p:sp>
          <p:nvSpPr>
            <p:cNvPr name="Freeform 192" id="192"/>
            <p:cNvSpPr/>
            <p:nvPr/>
          </p:nvSpPr>
          <p:spPr>
            <a:xfrm flipH="false" flipV="false" rot="0">
              <a:off x="12700" y="11792"/>
              <a:ext cx="7124954" cy="4757775"/>
            </a:xfrm>
            <a:custGeom>
              <a:avLst/>
              <a:gdLst/>
              <a:ahLst/>
              <a:cxnLst/>
              <a:rect r="r" b="b" t="t" l="l"/>
              <a:pathLst>
                <a:path h="4757775" w="7124954">
                  <a:moveTo>
                    <a:pt x="0" y="0"/>
                  </a:moveTo>
                  <a:lnTo>
                    <a:pt x="7124954" y="0"/>
                  </a:lnTo>
                  <a:lnTo>
                    <a:pt x="7124954" y="4757775"/>
                  </a:lnTo>
                  <a:lnTo>
                    <a:pt x="0" y="4757775"/>
                  </a:lnTo>
                  <a:close/>
                </a:path>
              </a:pathLst>
            </a:custGeom>
            <a:solidFill>
              <a:srgbClr val="141419"/>
            </a:solidFill>
          </p:spPr>
          <p:txBody>
            <a:bodyPr/>
            <a:p/>
          </p:txBody>
        </p:sp>
        <p:sp>
          <p:nvSpPr>
            <p:cNvPr name="Freeform 193" id="193"/>
            <p:cNvSpPr/>
            <p:nvPr/>
          </p:nvSpPr>
          <p:spPr>
            <a:xfrm flipH="false" flipV="false" rot="0">
              <a:off x="0" y="0"/>
              <a:ext cx="7150354" cy="4781360"/>
            </a:xfrm>
            <a:custGeom>
              <a:avLst/>
              <a:gdLst/>
              <a:ahLst/>
              <a:cxnLst/>
              <a:rect r="r" b="b" t="t" l="l"/>
              <a:pathLst>
                <a:path h="4781360" w="7150354">
                  <a:moveTo>
                    <a:pt x="12700" y="0"/>
                  </a:moveTo>
                  <a:lnTo>
                    <a:pt x="7137654" y="0"/>
                  </a:lnTo>
                  <a:cubicBezTo>
                    <a:pt x="7144639" y="0"/>
                    <a:pt x="7150354" y="5306"/>
                    <a:pt x="7150354" y="11792"/>
                  </a:cubicBezTo>
                  <a:lnTo>
                    <a:pt x="7150354" y="4769567"/>
                  </a:lnTo>
                  <a:cubicBezTo>
                    <a:pt x="7150354" y="4776052"/>
                    <a:pt x="7144639" y="4781360"/>
                    <a:pt x="7137654" y="4781360"/>
                  </a:cubicBezTo>
                  <a:lnTo>
                    <a:pt x="12700" y="4781360"/>
                  </a:lnTo>
                  <a:cubicBezTo>
                    <a:pt x="5715" y="4781360"/>
                    <a:pt x="0" y="4776052"/>
                    <a:pt x="0" y="4769567"/>
                  </a:cubicBezTo>
                  <a:lnTo>
                    <a:pt x="0" y="11792"/>
                  </a:lnTo>
                  <a:cubicBezTo>
                    <a:pt x="0" y="5306"/>
                    <a:pt x="5715" y="0"/>
                    <a:pt x="12700" y="0"/>
                  </a:cubicBezTo>
                  <a:moveTo>
                    <a:pt x="12700" y="23583"/>
                  </a:moveTo>
                  <a:lnTo>
                    <a:pt x="12700" y="11792"/>
                  </a:lnTo>
                  <a:lnTo>
                    <a:pt x="25400" y="11792"/>
                  </a:lnTo>
                  <a:lnTo>
                    <a:pt x="25400" y="4769567"/>
                  </a:lnTo>
                  <a:lnTo>
                    <a:pt x="12700" y="4769567"/>
                  </a:lnTo>
                  <a:lnTo>
                    <a:pt x="12700" y="4757775"/>
                  </a:lnTo>
                  <a:lnTo>
                    <a:pt x="7137654" y="4757775"/>
                  </a:lnTo>
                  <a:lnTo>
                    <a:pt x="7137654" y="4769567"/>
                  </a:lnTo>
                  <a:lnTo>
                    <a:pt x="7124954" y="4769567"/>
                  </a:lnTo>
                  <a:lnTo>
                    <a:pt x="7124954" y="11792"/>
                  </a:lnTo>
                  <a:lnTo>
                    <a:pt x="7137654" y="11792"/>
                  </a:lnTo>
                  <a:lnTo>
                    <a:pt x="7137654" y="23583"/>
                  </a:lnTo>
                  <a:lnTo>
                    <a:pt x="12700" y="23583"/>
                  </a:lnTo>
                  <a:close/>
                </a:path>
              </a:pathLst>
            </a:custGeom>
            <a:solidFill>
              <a:srgbClr val="40424D"/>
            </a:solidFill>
          </p:spPr>
          <p:txBody>
            <a:bodyPr/>
            <a:p/>
          </p:txBody>
        </p:sp>
      </p:grpSp>
      <p:grpSp>
        <p:nvGrpSpPr>
          <p:cNvPr name="Group 194" id="194"/>
          <p:cNvGrpSpPr/>
          <p:nvPr/>
        </p:nvGrpSpPr>
        <p:grpSpPr>
          <a:xfrm rot="0">
            <a:off x="12444603" y="6977405"/>
            <a:ext cx="647243" cy="647243"/>
            <a:chOff x="0" y="0"/>
            <a:chExt cx="862990" cy="862990"/>
          </a:xfrm>
        </p:grpSpPr>
        <p:sp>
          <p:nvSpPr>
            <p:cNvPr name="Freeform 195" id="195"/>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96" id="196"/>
          <p:cNvGrpSpPr/>
          <p:nvPr/>
        </p:nvGrpSpPr>
        <p:grpSpPr>
          <a:xfrm rot="0">
            <a:off x="12589916" y="7158380"/>
            <a:ext cx="356616" cy="285293"/>
            <a:chOff x="0" y="0"/>
            <a:chExt cx="475488" cy="380390"/>
          </a:xfrm>
        </p:grpSpPr>
        <p:sp>
          <p:nvSpPr>
            <p:cNvPr name="Freeform 197" id="197" descr="preencoded.png"/>
            <p:cNvSpPr/>
            <p:nvPr/>
          </p:nvSpPr>
          <p:spPr>
            <a:xfrm flipH="false" flipV="false" rot="0">
              <a:off x="0" y="0"/>
              <a:ext cx="475488" cy="380365"/>
            </a:xfrm>
            <a:custGeom>
              <a:avLst/>
              <a:gdLst/>
              <a:ahLst/>
              <a:cxnLst/>
              <a:rect r="r" b="b" t="t" l="l"/>
              <a:pathLst>
                <a:path h="380365" w="475488">
                  <a:moveTo>
                    <a:pt x="0" y="0"/>
                  </a:moveTo>
                  <a:lnTo>
                    <a:pt x="475488" y="0"/>
                  </a:lnTo>
                  <a:lnTo>
                    <a:pt x="475488" y="380365"/>
                  </a:lnTo>
                  <a:lnTo>
                    <a:pt x="0" y="380365"/>
                  </a:lnTo>
                  <a:lnTo>
                    <a:pt x="0" y="0"/>
                  </a:lnTo>
                  <a:close/>
                </a:path>
              </a:pathLst>
            </a:custGeom>
            <a:blipFill>
              <a:blip r:embed="rId9"/>
              <a:stretch>
                <a:fillRect l="0" t="0" r="-646" b="-6"/>
              </a:stretch>
            </a:blipFill>
          </p:spPr>
          <p:txBody>
            <a:bodyPr/>
            <a:p/>
          </p:txBody>
        </p:sp>
      </p:grpSp>
      <p:grpSp>
        <p:nvGrpSpPr>
          <p:cNvPr name="Group 198" id="198"/>
          <p:cNvGrpSpPr/>
          <p:nvPr/>
        </p:nvGrpSpPr>
        <p:grpSpPr>
          <a:xfrm rot="0">
            <a:off x="16867937" y="6986930"/>
            <a:ext cx="329184" cy="257861"/>
            <a:chOff x="0" y="0"/>
            <a:chExt cx="438912" cy="343814"/>
          </a:xfrm>
        </p:grpSpPr>
        <p:sp>
          <p:nvSpPr>
            <p:cNvPr name="Freeform 199" id="199"/>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200" id="200"/>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06</a:t>
              </a:r>
            </a:p>
          </p:txBody>
        </p:sp>
      </p:grpSp>
      <p:grpSp>
        <p:nvGrpSpPr>
          <p:cNvPr name="Group 201" id="201"/>
          <p:cNvGrpSpPr/>
          <p:nvPr/>
        </p:nvGrpSpPr>
        <p:grpSpPr>
          <a:xfrm rot="0">
            <a:off x="12454128" y="7900416"/>
            <a:ext cx="4800600" cy="430120"/>
            <a:chOff x="0" y="0"/>
            <a:chExt cx="6400800" cy="573494"/>
          </a:xfrm>
        </p:grpSpPr>
        <p:sp>
          <p:nvSpPr>
            <p:cNvPr name="Freeform 202" id="202"/>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203" id="203"/>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JEU</a:t>
              </a:r>
            </a:p>
          </p:txBody>
        </p:sp>
      </p:grpSp>
      <p:grpSp>
        <p:nvGrpSpPr>
          <p:cNvPr name="Group 204" id="204"/>
          <p:cNvGrpSpPr/>
          <p:nvPr/>
        </p:nvGrpSpPr>
        <p:grpSpPr>
          <a:xfrm rot="0">
            <a:off x="12444603" y="8391525"/>
            <a:ext cx="2219096" cy="419557"/>
            <a:chOff x="0" y="0"/>
            <a:chExt cx="2958795" cy="559410"/>
          </a:xfrm>
        </p:grpSpPr>
        <p:sp>
          <p:nvSpPr>
            <p:cNvPr name="Freeform 205" id="205"/>
            <p:cNvSpPr/>
            <p:nvPr/>
          </p:nvSpPr>
          <p:spPr>
            <a:xfrm flipH="false" flipV="false" rot="0">
              <a:off x="12700" y="12700"/>
              <a:ext cx="2933446" cy="533908"/>
            </a:xfrm>
            <a:custGeom>
              <a:avLst/>
              <a:gdLst/>
              <a:ahLst/>
              <a:cxnLst/>
              <a:rect r="r" b="b" t="t" l="l"/>
              <a:pathLst>
                <a:path h="533908" w="2933446">
                  <a:moveTo>
                    <a:pt x="0" y="261239"/>
                  </a:moveTo>
                  <a:cubicBezTo>
                    <a:pt x="0" y="116967"/>
                    <a:pt x="121539" y="0"/>
                    <a:pt x="271399" y="0"/>
                  </a:cubicBezTo>
                  <a:lnTo>
                    <a:pt x="2662047" y="0"/>
                  </a:lnTo>
                  <a:cubicBezTo>
                    <a:pt x="2811907" y="0"/>
                    <a:pt x="2933446" y="116967"/>
                    <a:pt x="2933446" y="261239"/>
                  </a:cubicBezTo>
                  <a:lnTo>
                    <a:pt x="2933446" y="272669"/>
                  </a:lnTo>
                  <a:cubicBezTo>
                    <a:pt x="2933446" y="416941"/>
                    <a:pt x="2811907" y="533908"/>
                    <a:pt x="2662047" y="533908"/>
                  </a:cubicBezTo>
                  <a:lnTo>
                    <a:pt x="271399" y="533908"/>
                  </a:lnTo>
                  <a:cubicBezTo>
                    <a:pt x="121539" y="534035"/>
                    <a:pt x="0" y="417068"/>
                    <a:pt x="0" y="272796"/>
                  </a:cubicBezTo>
                  <a:close/>
                </a:path>
              </a:pathLst>
            </a:custGeom>
            <a:solidFill>
              <a:srgbClr val="FFFFFF"/>
            </a:solidFill>
          </p:spPr>
          <p:txBody>
            <a:bodyPr/>
            <a:p/>
          </p:txBody>
        </p:sp>
      </p:grpSp>
      <p:grpSp>
        <p:nvGrpSpPr>
          <p:cNvPr name="Group 206" id="206"/>
          <p:cNvGrpSpPr/>
          <p:nvPr/>
        </p:nvGrpSpPr>
        <p:grpSpPr>
          <a:xfrm rot="0">
            <a:off x="12589916" y="8401050"/>
            <a:ext cx="2289200" cy="400508"/>
            <a:chOff x="0" y="0"/>
            <a:chExt cx="3052267" cy="534010"/>
          </a:xfrm>
        </p:grpSpPr>
        <p:sp>
          <p:nvSpPr>
            <p:cNvPr name="Freeform 207" id="207"/>
            <p:cNvSpPr/>
            <p:nvPr/>
          </p:nvSpPr>
          <p:spPr>
            <a:xfrm flipH="false" flipV="false" rot="0">
              <a:off x="0" y="0"/>
              <a:ext cx="3052268" cy="534010"/>
            </a:xfrm>
            <a:custGeom>
              <a:avLst/>
              <a:gdLst/>
              <a:ahLst/>
              <a:cxnLst/>
              <a:rect r="r" b="b" t="t" l="l"/>
              <a:pathLst>
                <a:path h="534010" w="3052268">
                  <a:moveTo>
                    <a:pt x="0" y="0"/>
                  </a:moveTo>
                  <a:lnTo>
                    <a:pt x="3052268" y="0"/>
                  </a:lnTo>
                  <a:lnTo>
                    <a:pt x="3052268" y="534010"/>
                  </a:lnTo>
                  <a:lnTo>
                    <a:pt x="0" y="534010"/>
                  </a:lnTo>
                  <a:close/>
                </a:path>
              </a:pathLst>
            </a:custGeom>
            <a:blipFill>
              <a:blip r:embed="rId4">
                <a:alphaModFix amt="0"/>
              </a:blip>
              <a:stretch>
                <a:fillRect l="0" t="-61371" r="0" b="-61371"/>
              </a:stretch>
            </a:blipFill>
          </p:spPr>
          <p:txBody>
            <a:bodyPr/>
            <a:p/>
          </p:txBody>
        </p:sp>
        <p:sp>
          <p:nvSpPr>
            <p:cNvPr name="TextBox 208" id="208"/>
            <p:cNvSpPr txBox="true"/>
            <p:nvPr/>
          </p:nvSpPr>
          <p:spPr>
            <a:xfrm>
              <a:off x="0" y="0"/>
              <a:ext cx="3052267"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Coordination &amp; Social</a:t>
              </a:r>
            </a:p>
          </p:txBody>
        </p:sp>
      </p:grpSp>
      <p:grpSp>
        <p:nvGrpSpPr>
          <p:cNvPr name="Group 209" id="209"/>
          <p:cNvGrpSpPr/>
          <p:nvPr/>
        </p:nvGrpSpPr>
        <p:grpSpPr>
          <a:xfrm rot="0">
            <a:off x="12444603" y="8955253"/>
            <a:ext cx="4648200" cy="32766"/>
            <a:chOff x="0" y="0"/>
            <a:chExt cx="6197600" cy="43688"/>
          </a:xfrm>
        </p:grpSpPr>
        <p:sp>
          <p:nvSpPr>
            <p:cNvPr name="Freeform 210" id="210"/>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211" id="211"/>
          <p:cNvGrpSpPr/>
          <p:nvPr/>
        </p:nvGrpSpPr>
        <p:grpSpPr>
          <a:xfrm rot="0">
            <a:off x="12454128" y="9151315"/>
            <a:ext cx="4744364" cy="558241"/>
            <a:chOff x="0" y="0"/>
            <a:chExt cx="6325819" cy="744322"/>
          </a:xfrm>
        </p:grpSpPr>
        <p:sp>
          <p:nvSpPr>
            <p:cNvPr name="Freeform 212" id="212"/>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213" id="213"/>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Le plaisir comme médecine. Neuroplasticité et réduction du stress.</a:t>
              </a:r>
            </a:p>
          </p:txBody>
        </p:sp>
      </p:grpSp>
      <p:grpSp>
        <p:nvGrpSpPr>
          <p:cNvPr name="Group 214" id="214"/>
          <p:cNvGrpSpPr/>
          <p:nvPr/>
        </p:nvGrpSpPr>
        <p:grpSpPr>
          <a:xfrm rot="0">
            <a:off x="12444603" y="9812503"/>
            <a:ext cx="1604620" cy="319430"/>
            <a:chOff x="0" y="0"/>
            <a:chExt cx="2139493" cy="425907"/>
          </a:xfrm>
        </p:grpSpPr>
        <p:sp>
          <p:nvSpPr>
            <p:cNvPr name="Freeform 215" id="215"/>
            <p:cNvSpPr/>
            <p:nvPr/>
          </p:nvSpPr>
          <p:spPr>
            <a:xfrm flipH="false" flipV="false" rot="0">
              <a:off x="12700" y="12700"/>
              <a:ext cx="2114042" cy="400558"/>
            </a:xfrm>
            <a:custGeom>
              <a:avLst/>
              <a:gdLst/>
              <a:ahLst/>
              <a:cxnLst/>
              <a:rect r="r" b="b" t="t" l="l"/>
              <a:pathLst>
                <a:path h="400558" w="2114042">
                  <a:moveTo>
                    <a:pt x="0" y="200279"/>
                  </a:moveTo>
                  <a:cubicBezTo>
                    <a:pt x="0" y="89662"/>
                    <a:pt x="94234" y="0"/>
                    <a:pt x="210439" y="0"/>
                  </a:cubicBezTo>
                  <a:lnTo>
                    <a:pt x="1903603" y="0"/>
                  </a:lnTo>
                  <a:cubicBezTo>
                    <a:pt x="2019808" y="0"/>
                    <a:pt x="2114042" y="89662"/>
                    <a:pt x="2114042" y="200279"/>
                  </a:cubicBezTo>
                  <a:cubicBezTo>
                    <a:pt x="2114042" y="310896"/>
                    <a:pt x="2019808" y="400558"/>
                    <a:pt x="1903603" y="400558"/>
                  </a:cubicBezTo>
                  <a:lnTo>
                    <a:pt x="210439" y="400558"/>
                  </a:lnTo>
                  <a:cubicBezTo>
                    <a:pt x="94234" y="400558"/>
                    <a:pt x="0" y="310896"/>
                    <a:pt x="0" y="200279"/>
                  </a:cubicBezTo>
                  <a:close/>
                </a:path>
              </a:pathLst>
            </a:custGeom>
            <a:solidFill>
              <a:srgbClr val="FFFFFF">
                <a:alpha val="0"/>
              </a:srgbClr>
            </a:solidFill>
          </p:spPr>
          <p:txBody>
            <a:bodyPr/>
            <a:p/>
          </p:txBody>
        </p:sp>
      </p:grpSp>
      <p:grpSp>
        <p:nvGrpSpPr>
          <p:cNvPr name="Group 216" id="216"/>
          <p:cNvGrpSpPr/>
          <p:nvPr/>
        </p:nvGrpSpPr>
        <p:grpSpPr>
          <a:xfrm rot="0">
            <a:off x="12454128" y="9822028"/>
            <a:ext cx="1761134" cy="300381"/>
            <a:chOff x="0" y="0"/>
            <a:chExt cx="2348179" cy="400508"/>
          </a:xfrm>
        </p:grpSpPr>
        <p:sp>
          <p:nvSpPr>
            <p:cNvPr name="Freeform 217" id="217"/>
            <p:cNvSpPr/>
            <p:nvPr/>
          </p:nvSpPr>
          <p:spPr>
            <a:xfrm flipH="false" flipV="false" rot="0">
              <a:off x="0" y="0"/>
              <a:ext cx="2348180" cy="400509"/>
            </a:xfrm>
            <a:custGeom>
              <a:avLst/>
              <a:gdLst/>
              <a:ahLst/>
              <a:cxnLst/>
              <a:rect r="r" b="b" t="t" l="l"/>
              <a:pathLst>
                <a:path h="400509" w="2348180">
                  <a:moveTo>
                    <a:pt x="0" y="0"/>
                  </a:moveTo>
                  <a:lnTo>
                    <a:pt x="2348180" y="0"/>
                  </a:lnTo>
                  <a:lnTo>
                    <a:pt x="2348180" y="400509"/>
                  </a:lnTo>
                  <a:lnTo>
                    <a:pt x="0" y="400509"/>
                  </a:lnTo>
                  <a:close/>
                </a:path>
              </a:pathLst>
            </a:custGeom>
            <a:blipFill>
              <a:blip r:embed="rId4">
                <a:alphaModFix amt="0"/>
              </a:blip>
              <a:stretch>
                <a:fillRect l="0" t="-64240" r="0" b="-64240"/>
              </a:stretch>
            </a:blipFill>
          </p:spPr>
          <p:txBody>
            <a:bodyPr/>
            <a:p/>
          </p:txBody>
        </p:sp>
        <p:sp>
          <p:nvSpPr>
            <p:cNvPr name="TextBox 218" id="218"/>
            <p:cNvSpPr txBox="true"/>
            <p:nvPr/>
          </p:nvSpPr>
          <p:spPr>
            <a:xfrm>
              <a:off x="0" y="0"/>
              <a:ext cx="2348179"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Sports de Raquette</a:t>
              </a:r>
            </a:p>
          </p:txBody>
        </p:sp>
      </p:grpSp>
      <p:grpSp>
        <p:nvGrpSpPr>
          <p:cNvPr name="Group 219" id="219"/>
          <p:cNvGrpSpPr/>
          <p:nvPr/>
        </p:nvGrpSpPr>
        <p:grpSpPr>
          <a:xfrm rot="0">
            <a:off x="14135786" y="9812503"/>
            <a:ext cx="933907" cy="319430"/>
            <a:chOff x="0" y="0"/>
            <a:chExt cx="1245210" cy="425907"/>
          </a:xfrm>
        </p:grpSpPr>
        <p:sp>
          <p:nvSpPr>
            <p:cNvPr name="Freeform 220" id="220"/>
            <p:cNvSpPr/>
            <p:nvPr/>
          </p:nvSpPr>
          <p:spPr>
            <a:xfrm flipH="false" flipV="false" rot="0">
              <a:off x="12700" y="12700"/>
              <a:ext cx="1219962" cy="400558"/>
            </a:xfrm>
            <a:custGeom>
              <a:avLst/>
              <a:gdLst/>
              <a:ahLst/>
              <a:cxnLst/>
              <a:rect r="r" b="b" t="t" l="l"/>
              <a:pathLst>
                <a:path h="400558" w="1219962">
                  <a:moveTo>
                    <a:pt x="0" y="200279"/>
                  </a:moveTo>
                  <a:cubicBezTo>
                    <a:pt x="0" y="89662"/>
                    <a:pt x="93345" y="0"/>
                    <a:pt x="208661" y="0"/>
                  </a:cubicBezTo>
                  <a:lnTo>
                    <a:pt x="1011301" y="0"/>
                  </a:lnTo>
                  <a:cubicBezTo>
                    <a:pt x="1126490" y="0"/>
                    <a:pt x="1219962" y="89662"/>
                    <a:pt x="1219962" y="200279"/>
                  </a:cubicBezTo>
                  <a:cubicBezTo>
                    <a:pt x="1219962" y="310896"/>
                    <a:pt x="1126363" y="400558"/>
                    <a:pt x="1011174" y="400558"/>
                  </a:cubicBezTo>
                  <a:lnTo>
                    <a:pt x="208661" y="400558"/>
                  </a:lnTo>
                  <a:cubicBezTo>
                    <a:pt x="93345" y="400558"/>
                    <a:pt x="0" y="310896"/>
                    <a:pt x="0" y="200279"/>
                  </a:cubicBezTo>
                  <a:close/>
                </a:path>
              </a:pathLst>
            </a:custGeom>
            <a:solidFill>
              <a:srgbClr val="FFFFFF">
                <a:alpha val="0"/>
              </a:srgbClr>
            </a:solidFill>
          </p:spPr>
          <p:txBody>
            <a:bodyPr/>
            <a:p/>
          </p:txBody>
        </p:sp>
      </p:grpSp>
      <p:grpSp>
        <p:nvGrpSpPr>
          <p:cNvPr name="Group 221" id="221"/>
          <p:cNvGrpSpPr/>
          <p:nvPr/>
        </p:nvGrpSpPr>
        <p:grpSpPr>
          <a:xfrm rot="0">
            <a:off x="14145311" y="9822028"/>
            <a:ext cx="1028700" cy="300381"/>
            <a:chOff x="0" y="0"/>
            <a:chExt cx="1371600" cy="400508"/>
          </a:xfrm>
        </p:grpSpPr>
        <p:sp>
          <p:nvSpPr>
            <p:cNvPr name="Freeform 222" id="222"/>
            <p:cNvSpPr/>
            <p:nvPr/>
          </p:nvSpPr>
          <p:spPr>
            <a:xfrm flipH="false" flipV="false" rot="0">
              <a:off x="0" y="0"/>
              <a:ext cx="1371600" cy="400509"/>
            </a:xfrm>
            <a:custGeom>
              <a:avLst/>
              <a:gdLst/>
              <a:ahLst/>
              <a:cxnLst/>
              <a:rect r="r" b="b" t="t" l="l"/>
              <a:pathLst>
                <a:path h="400509" w="1371600">
                  <a:moveTo>
                    <a:pt x="0" y="0"/>
                  </a:moveTo>
                  <a:lnTo>
                    <a:pt x="1371600" y="0"/>
                  </a:lnTo>
                  <a:lnTo>
                    <a:pt x="1371600" y="400509"/>
                  </a:lnTo>
                  <a:lnTo>
                    <a:pt x="0" y="400509"/>
                  </a:lnTo>
                  <a:close/>
                </a:path>
              </a:pathLst>
            </a:custGeom>
            <a:blipFill>
              <a:blip r:embed="rId4">
                <a:alphaModFix amt="0"/>
              </a:blip>
              <a:stretch>
                <a:fillRect l="0" t="-16729" r="0" b="-16729"/>
              </a:stretch>
            </a:blipFill>
          </p:spPr>
          <p:txBody>
            <a:bodyPr/>
            <a:p/>
          </p:txBody>
        </p:sp>
        <p:sp>
          <p:nvSpPr>
            <p:cNvPr name="TextBox 223" id="223"/>
            <p:cNvSpPr txBox="true"/>
            <p:nvPr/>
          </p:nvSpPr>
          <p:spPr>
            <a:xfrm>
              <a:off x="0" y="0"/>
              <a:ext cx="13716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Dopamine</a:t>
              </a:r>
            </a:p>
          </p:txBody>
        </p:sp>
      </p:grpSp>
      <p:grpSp>
        <p:nvGrpSpPr>
          <p:cNvPr name="Group 224" id="224"/>
          <p:cNvGrpSpPr/>
          <p:nvPr/>
        </p:nvGrpSpPr>
        <p:grpSpPr>
          <a:xfrm rot="0">
            <a:off x="15154885" y="9812503"/>
            <a:ext cx="591007" cy="319430"/>
            <a:chOff x="0" y="0"/>
            <a:chExt cx="788010" cy="425907"/>
          </a:xfrm>
        </p:grpSpPr>
        <p:sp>
          <p:nvSpPr>
            <p:cNvPr name="Freeform 225" id="225"/>
            <p:cNvSpPr/>
            <p:nvPr/>
          </p:nvSpPr>
          <p:spPr>
            <a:xfrm flipH="false" flipV="false" rot="0">
              <a:off x="12700" y="12700"/>
              <a:ext cx="762635" cy="400558"/>
            </a:xfrm>
            <a:custGeom>
              <a:avLst/>
              <a:gdLst/>
              <a:ahLst/>
              <a:cxnLst/>
              <a:rect r="r" b="b" t="t" l="l"/>
              <a:pathLst>
                <a:path h="400558" w="762635">
                  <a:moveTo>
                    <a:pt x="0" y="200279"/>
                  </a:moveTo>
                  <a:cubicBezTo>
                    <a:pt x="0" y="89662"/>
                    <a:pt x="92329" y="0"/>
                    <a:pt x="206121" y="0"/>
                  </a:cubicBezTo>
                  <a:lnTo>
                    <a:pt x="556514" y="0"/>
                  </a:lnTo>
                  <a:cubicBezTo>
                    <a:pt x="670306" y="0"/>
                    <a:pt x="762635" y="89662"/>
                    <a:pt x="762635" y="200279"/>
                  </a:cubicBezTo>
                  <a:cubicBezTo>
                    <a:pt x="762635" y="310896"/>
                    <a:pt x="670306" y="400558"/>
                    <a:pt x="556514" y="400558"/>
                  </a:cubicBezTo>
                  <a:lnTo>
                    <a:pt x="206121" y="400558"/>
                  </a:lnTo>
                  <a:cubicBezTo>
                    <a:pt x="92329" y="400558"/>
                    <a:pt x="0" y="310896"/>
                    <a:pt x="0" y="200279"/>
                  </a:cubicBezTo>
                  <a:close/>
                </a:path>
              </a:pathLst>
            </a:custGeom>
            <a:solidFill>
              <a:srgbClr val="FFFFFF">
                <a:alpha val="0"/>
              </a:srgbClr>
            </a:solidFill>
          </p:spPr>
          <p:txBody>
            <a:bodyPr/>
            <a:p/>
          </p:txBody>
        </p:sp>
      </p:grpSp>
      <p:grpSp>
        <p:nvGrpSpPr>
          <p:cNvPr name="Group 226" id="226"/>
          <p:cNvGrpSpPr/>
          <p:nvPr/>
        </p:nvGrpSpPr>
        <p:grpSpPr>
          <a:xfrm rot="0">
            <a:off x="15164410" y="9822028"/>
            <a:ext cx="685800" cy="300381"/>
            <a:chOff x="0" y="0"/>
            <a:chExt cx="914400" cy="400508"/>
          </a:xfrm>
        </p:grpSpPr>
        <p:sp>
          <p:nvSpPr>
            <p:cNvPr name="Freeform 227" id="227"/>
            <p:cNvSpPr/>
            <p:nvPr/>
          </p:nvSpPr>
          <p:spPr>
            <a:xfrm flipH="false" flipV="false" rot="0">
              <a:off x="0" y="0"/>
              <a:ext cx="914400" cy="400509"/>
            </a:xfrm>
            <a:custGeom>
              <a:avLst/>
              <a:gdLst/>
              <a:ahLst/>
              <a:cxnLst/>
              <a:rect r="r" b="b" t="t" l="l"/>
              <a:pathLst>
                <a:path h="400509" w="914400">
                  <a:moveTo>
                    <a:pt x="0" y="0"/>
                  </a:moveTo>
                  <a:lnTo>
                    <a:pt x="914400" y="0"/>
                  </a:lnTo>
                  <a:lnTo>
                    <a:pt x="914400" y="400509"/>
                  </a:lnTo>
                  <a:lnTo>
                    <a:pt x="0" y="400509"/>
                  </a:lnTo>
                  <a:close/>
                </a:path>
              </a:pathLst>
            </a:custGeom>
            <a:blipFill>
              <a:blip r:embed="rId4">
                <a:alphaModFix amt="0"/>
              </a:blip>
              <a:stretch>
                <a:fillRect l="-6196" t="0" r="-6196" b="0"/>
              </a:stretch>
            </a:blipFill>
          </p:spPr>
          <p:txBody>
            <a:bodyPr/>
            <a:p/>
          </p:txBody>
        </p:sp>
        <p:sp>
          <p:nvSpPr>
            <p:cNvPr name="TextBox 228" id="228"/>
            <p:cNvSpPr txBox="true"/>
            <p:nvPr/>
          </p:nvSpPr>
          <p:spPr>
            <a:xfrm>
              <a:off x="0" y="0"/>
              <a:ext cx="9144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BDNF</a:t>
              </a:r>
            </a:p>
          </p:txBody>
        </p:sp>
      </p:grpSp>
      <p:grpSp>
        <p:nvGrpSpPr>
          <p:cNvPr name="Group 229" id="229"/>
          <p:cNvGrpSpPr/>
          <p:nvPr/>
        </p:nvGrpSpPr>
        <p:grpSpPr>
          <a:xfrm rot="0">
            <a:off x="15357805" y="2134248"/>
            <a:ext cx="2072488" cy="257861"/>
            <a:chOff x="0" y="0"/>
            <a:chExt cx="2763317" cy="343814"/>
          </a:xfrm>
        </p:grpSpPr>
        <p:sp>
          <p:nvSpPr>
            <p:cNvPr name="Freeform 230" id="230"/>
            <p:cNvSpPr/>
            <p:nvPr/>
          </p:nvSpPr>
          <p:spPr>
            <a:xfrm flipH="false" flipV="false" rot="0">
              <a:off x="0" y="0"/>
              <a:ext cx="2763316" cy="343814"/>
            </a:xfrm>
            <a:custGeom>
              <a:avLst/>
              <a:gdLst/>
              <a:ahLst/>
              <a:cxnLst/>
              <a:rect r="r" b="b" t="t" l="l"/>
              <a:pathLst>
                <a:path h="343814" w="2763316">
                  <a:moveTo>
                    <a:pt x="0" y="0"/>
                  </a:moveTo>
                  <a:lnTo>
                    <a:pt x="2763316" y="0"/>
                  </a:lnTo>
                  <a:lnTo>
                    <a:pt x="2763316" y="343814"/>
                  </a:lnTo>
                  <a:lnTo>
                    <a:pt x="0" y="343814"/>
                  </a:lnTo>
                  <a:close/>
                </a:path>
              </a:pathLst>
            </a:custGeom>
            <a:blipFill>
              <a:blip r:embed="rId4">
                <a:alphaModFix amt="0"/>
              </a:blip>
              <a:stretch>
                <a:fillRect l="0" t="-106605" r="0" b="-106606"/>
              </a:stretch>
            </a:blipFill>
          </p:spPr>
          <p:txBody>
            <a:bodyPr/>
            <a:p/>
          </p:txBody>
        </p:sp>
        <p:sp>
          <p:nvSpPr>
            <p:cNvPr name="TextBox 231" id="231"/>
            <p:cNvSpPr txBox="true"/>
            <p:nvPr/>
          </p:nvSpPr>
          <p:spPr>
            <a:xfrm>
              <a:off x="0" y="-9525"/>
              <a:ext cx="2763317" cy="353339"/>
            </a:xfrm>
            <a:prstGeom prst="rect">
              <a:avLst/>
            </a:prstGeom>
          </p:spPr>
          <p:txBody>
            <a:bodyPr anchor="ctr" rtlCol="false" tIns="0" lIns="0" bIns="0" rIns="0"/>
            <a:lstStyle/>
            <a:p>
              <a:pPr algn="l">
                <a:lnSpc>
                  <a:spcPts val="1620"/>
                </a:lnSpc>
              </a:pPr>
              <a:r>
                <a:rPr lang="en-US" sz="1350">
                  <a:solidFill>
                    <a:srgbClr val="EDEFF7"/>
                  </a:solidFill>
                  <a:latin typeface="Courier New"/>
                  <a:ea typeface="Courier New"/>
                  <a:cs typeface="Courier New"/>
                  <a:sym typeface="Courier New"/>
                </a:rPr>
                <a:t>Dr. Addor Protocol™</a:t>
              </a:r>
            </a:p>
          </p:txBody>
        </p:sp>
      </p:grpSp>
      <p:grpSp>
        <p:nvGrpSpPr>
          <p:cNvPr name="Group 232" id="232"/>
          <p:cNvGrpSpPr/>
          <p:nvPr/>
        </p:nvGrpSpPr>
        <p:grpSpPr>
          <a:xfrm rot="0">
            <a:off x="857250" y="714604"/>
            <a:ext cx="456743" cy="13716"/>
            <a:chOff x="0" y="0"/>
            <a:chExt cx="608990" cy="18288"/>
          </a:xfrm>
        </p:grpSpPr>
        <p:sp>
          <p:nvSpPr>
            <p:cNvPr name="Freeform 233" id="233"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10"/>
              <a:stretch>
                <a:fillRect l="1949" t="0" r="1945" b="0"/>
              </a:stretch>
            </a:blipFill>
          </p:spPr>
          <p:txBody>
            <a:bodyPr/>
            <a:p/>
          </p:txBody>
        </p:sp>
      </p:grpSp>
      <p:grpSp>
        <p:nvGrpSpPr>
          <p:cNvPr name="Group 234" id="234"/>
          <p:cNvGrpSpPr/>
          <p:nvPr/>
        </p:nvGrpSpPr>
        <p:grpSpPr>
          <a:xfrm rot="0">
            <a:off x="1485443" y="571957"/>
            <a:ext cx="2747315" cy="332327"/>
            <a:chOff x="0" y="0"/>
            <a:chExt cx="3663086" cy="443103"/>
          </a:xfrm>
        </p:grpSpPr>
        <p:sp>
          <p:nvSpPr>
            <p:cNvPr name="Freeform 235" id="235"/>
            <p:cNvSpPr/>
            <p:nvPr/>
          </p:nvSpPr>
          <p:spPr>
            <a:xfrm flipH="false" flipV="false" rot="0">
              <a:off x="0" y="0"/>
              <a:ext cx="3663086" cy="443104"/>
            </a:xfrm>
            <a:custGeom>
              <a:avLst/>
              <a:gdLst/>
              <a:ahLst/>
              <a:cxnLst/>
              <a:rect r="r" b="b" t="t" l="l"/>
              <a:pathLst>
                <a:path h="443104" w="3663086">
                  <a:moveTo>
                    <a:pt x="0" y="0"/>
                  </a:moveTo>
                  <a:lnTo>
                    <a:pt x="3663086" y="0"/>
                  </a:lnTo>
                  <a:lnTo>
                    <a:pt x="3663086" y="443104"/>
                  </a:lnTo>
                  <a:lnTo>
                    <a:pt x="0" y="443104"/>
                  </a:lnTo>
                  <a:close/>
                </a:path>
              </a:pathLst>
            </a:custGeom>
            <a:blipFill>
              <a:blip r:embed="rId4">
                <a:alphaModFix amt="0"/>
              </a:blip>
              <a:stretch>
                <a:fillRect l="0" t="-115887" r="0" b="-106273"/>
              </a:stretch>
            </a:blipFill>
          </p:spPr>
          <p:txBody>
            <a:bodyPr/>
            <a:p/>
          </p:txBody>
        </p:sp>
        <p:sp>
          <p:nvSpPr>
            <p:cNvPr name="TextBox 236" id="236"/>
            <p:cNvSpPr txBox="true"/>
            <p:nvPr/>
          </p:nvSpPr>
          <p:spPr>
            <a:xfrm>
              <a:off x="0" y="-9525"/>
              <a:ext cx="3663086" cy="452628"/>
            </a:xfrm>
            <a:prstGeom prst="rect">
              <a:avLst/>
            </a:prstGeom>
          </p:spPr>
          <p:txBody>
            <a:bodyPr anchor="ctr" rtlCol="false" tIns="0" lIns="0" bIns="0" rIns="0"/>
            <a:lstStyle/>
            <a:p>
              <a:pPr algn="l">
                <a:lnSpc>
                  <a:spcPts val="1800"/>
                </a:lnSpc>
              </a:pPr>
              <a:r>
                <a:rPr lang="en-US" sz="1500" spc="225">
                  <a:solidFill>
                    <a:srgbClr val="BCBFCC"/>
                  </a:solidFill>
                  <a:latin typeface="Manrope"/>
                  <a:ea typeface="Manrope"/>
                  <a:cs typeface="Manrope"/>
                  <a:sym typeface="Manrope"/>
                </a:rPr>
                <a:t>Stratégie Physique</a:t>
              </a:r>
            </a:p>
          </p:txBody>
        </p:sp>
      </p:grpSp>
      <p:grpSp>
        <p:nvGrpSpPr>
          <p:cNvPr name="Group 237" id="237"/>
          <p:cNvGrpSpPr/>
          <p:nvPr/>
        </p:nvGrpSpPr>
        <p:grpSpPr>
          <a:xfrm rot="0">
            <a:off x="857250" y="986180"/>
            <a:ext cx="4472788" cy="1192568"/>
            <a:chOff x="0" y="0"/>
            <a:chExt cx="5963717" cy="1590091"/>
          </a:xfrm>
        </p:grpSpPr>
        <p:sp>
          <p:nvSpPr>
            <p:cNvPr name="Freeform 238" id="238"/>
            <p:cNvSpPr/>
            <p:nvPr/>
          </p:nvSpPr>
          <p:spPr>
            <a:xfrm flipH="false" flipV="false" rot="0">
              <a:off x="0" y="0"/>
              <a:ext cx="5963716" cy="1590091"/>
            </a:xfrm>
            <a:custGeom>
              <a:avLst/>
              <a:gdLst/>
              <a:ahLst/>
              <a:cxnLst/>
              <a:rect r="r" b="b" t="t" l="l"/>
              <a:pathLst>
                <a:path h="1590091" w="5963716">
                  <a:moveTo>
                    <a:pt x="0" y="0"/>
                  </a:moveTo>
                  <a:lnTo>
                    <a:pt x="5963716" y="0"/>
                  </a:lnTo>
                  <a:lnTo>
                    <a:pt x="5963716" y="1590091"/>
                  </a:lnTo>
                  <a:lnTo>
                    <a:pt x="0" y="1590091"/>
                  </a:lnTo>
                  <a:close/>
                </a:path>
              </a:pathLst>
            </a:custGeom>
            <a:blipFill>
              <a:blip r:embed="rId4">
                <a:alphaModFix amt="0"/>
              </a:blip>
              <a:stretch>
                <a:fillRect l="0" t="-44326" r="0" b="-1832"/>
              </a:stretch>
            </a:blipFill>
          </p:spPr>
          <p:txBody>
            <a:bodyPr/>
            <a:p/>
          </p:txBody>
        </p:sp>
        <p:sp>
          <p:nvSpPr>
            <p:cNvPr name="TextBox 239" id="239"/>
            <p:cNvSpPr txBox="true"/>
            <p:nvPr/>
          </p:nvSpPr>
          <p:spPr>
            <a:xfrm>
              <a:off x="0" y="9525"/>
              <a:ext cx="5963717" cy="1580566"/>
            </a:xfrm>
            <a:prstGeom prst="rect">
              <a:avLst/>
            </a:prstGeom>
          </p:spPr>
          <p:txBody>
            <a:bodyPr anchor="ctr" rtlCol="false" tIns="0" lIns="0" bIns="0" rIns="0"/>
            <a:lstStyle/>
            <a:p>
              <a:pPr algn="l">
                <a:lnSpc>
                  <a:spcPts val="6480"/>
                </a:lnSpc>
              </a:pPr>
              <a:r>
                <a:rPr lang="en-US" sz="5400" spc="-112">
                  <a:solidFill>
                    <a:srgbClr val="FFFFFF"/>
                  </a:solidFill>
                  <a:latin typeface="Manrope"/>
                  <a:ea typeface="Manrope"/>
                  <a:cs typeface="Manrope"/>
                  <a:sym typeface="Manrope"/>
                </a:rPr>
                <a:t>MOUVEMENT</a:t>
              </a:r>
            </a:p>
          </p:txBody>
        </p:sp>
      </p:grpSp>
      <p:grpSp>
        <p:nvGrpSpPr>
          <p:cNvPr name="Group 240" id="240"/>
          <p:cNvGrpSpPr/>
          <p:nvPr/>
        </p:nvGrpSpPr>
        <p:grpSpPr>
          <a:xfrm rot="0">
            <a:off x="857250" y="1785823"/>
            <a:ext cx="4745736" cy="332327"/>
            <a:chOff x="0" y="0"/>
            <a:chExt cx="6327648" cy="443103"/>
          </a:xfrm>
        </p:grpSpPr>
        <p:sp>
          <p:nvSpPr>
            <p:cNvPr name="Freeform 241" id="241"/>
            <p:cNvSpPr/>
            <p:nvPr/>
          </p:nvSpPr>
          <p:spPr>
            <a:xfrm flipH="false" flipV="false" rot="0">
              <a:off x="0" y="0"/>
              <a:ext cx="6327648" cy="443104"/>
            </a:xfrm>
            <a:custGeom>
              <a:avLst/>
              <a:gdLst/>
              <a:ahLst/>
              <a:cxnLst/>
              <a:rect r="r" b="b" t="t" l="l"/>
              <a:pathLst>
                <a:path h="443104" w="6327648">
                  <a:moveTo>
                    <a:pt x="0" y="0"/>
                  </a:moveTo>
                  <a:lnTo>
                    <a:pt x="6327648" y="0"/>
                  </a:lnTo>
                  <a:lnTo>
                    <a:pt x="6327648" y="443104"/>
                  </a:lnTo>
                  <a:lnTo>
                    <a:pt x="0" y="443104"/>
                  </a:lnTo>
                  <a:close/>
                </a:path>
              </a:pathLst>
            </a:custGeom>
            <a:blipFill>
              <a:blip r:embed="rId4">
                <a:alphaModFix amt="0"/>
              </a:blip>
              <a:stretch>
                <a:fillRect l="0" t="-235122" r="0" b="-221381"/>
              </a:stretch>
            </a:blipFill>
          </p:spPr>
          <p:txBody>
            <a:bodyPr/>
            <a:p/>
          </p:txBody>
        </p:sp>
        <p:sp>
          <p:nvSpPr>
            <p:cNvPr name="TextBox 242" id="242"/>
            <p:cNvSpPr txBox="true"/>
            <p:nvPr/>
          </p:nvSpPr>
          <p:spPr>
            <a:xfrm>
              <a:off x="0" y="-9525"/>
              <a:ext cx="6327648" cy="452628"/>
            </a:xfrm>
            <a:prstGeom prst="rect">
              <a:avLst/>
            </a:prstGeom>
          </p:spPr>
          <p:txBody>
            <a:bodyPr anchor="ctr" rtlCol="false" tIns="0" lIns="0" bIns="0" rIns="0"/>
            <a:lstStyle/>
            <a:p>
              <a:pPr algn="l">
                <a:lnSpc>
                  <a:spcPts val="1800"/>
                </a:lnSpc>
              </a:pPr>
              <a:r>
                <a:rPr lang="en-US" sz="1500" spc="225">
                  <a:solidFill>
                    <a:srgbClr val="BCBFCC"/>
                  </a:solidFill>
                  <a:latin typeface="Manrope"/>
                  <a:ea typeface="Manrope"/>
                  <a:cs typeface="Manrope"/>
                  <a:sym typeface="Manrope"/>
                </a:rPr>
                <a:t>Le muscle, organe de longévité.</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847725" y="2490902"/>
            <a:ext cx="5362804" cy="3862273"/>
            <a:chOff x="0" y="0"/>
            <a:chExt cx="7150405" cy="5149698"/>
          </a:xfrm>
        </p:grpSpPr>
        <p:sp>
          <p:nvSpPr>
            <p:cNvPr name="Freeform 7" id="7"/>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8" id="8"/>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9" id="9"/>
          <p:cNvGrpSpPr/>
          <p:nvPr/>
        </p:nvGrpSpPr>
        <p:grpSpPr>
          <a:xfrm rot="0">
            <a:off x="1204341" y="2847518"/>
            <a:ext cx="647243" cy="647243"/>
            <a:chOff x="0" y="0"/>
            <a:chExt cx="862990" cy="862990"/>
          </a:xfrm>
        </p:grpSpPr>
        <p:sp>
          <p:nvSpPr>
            <p:cNvPr name="Freeform 10" id="10"/>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1" id="11"/>
          <p:cNvGrpSpPr/>
          <p:nvPr/>
        </p:nvGrpSpPr>
        <p:grpSpPr>
          <a:xfrm rot="0">
            <a:off x="1385316" y="3028493"/>
            <a:ext cx="285293" cy="285293"/>
            <a:chOff x="0" y="0"/>
            <a:chExt cx="380390" cy="380390"/>
          </a:xfrm>
        </p:grpSpPr>
        <p:sp>
          <p:nvSpPr>
            <p:cNvPr name="Freeform 12" id="12"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3"/>
              <a:stretch>
                <a:fillRect l="0" t="0" r="-6" b="-6"/>
              </a:stretch>
            </a:blipFill>
          </p:spPr>
          <p:txBody>
            <a:bodyPr/>
            <a:p/>
          </p:txBody>
        </p:sp>
      </p:grpSp>
      <p:grpSp>
        <p:nvGrpSpPr>
          <p:cNvPr name="Group 13" id="13"/>
          <p:cNvGrpSpPr/>
          <p:nvPr/>
        </p:nvGrpSpPr>
        <p:grpSpPr>
          <a:xfrm rot="0">
            <a:off x="5627675" y="2857043"/>
            <a:ext cx="329184" cy="257861"/>
            <a:chOff x="0" y="0"/>
            <a:chExt cx="438912" cy="343814"/>
          </a:xfrm>
        </p:grpSpPr>
        <p:sp>
          <p:nvSpPr>
            <p:cNvPr name="Freeform 14" id="14"/>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5" id="15"/>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01</a:t>
              </a:r>
            </a:p>
          </p:txBody>
        </p:sp>
      </p:grpSp>
      <p:grpSp>
        <p:nvGrpSpPr>
          <p:cNvPr name="Group 16" id="16"/>
          <p:cNvGrpSpPr/>
          <p:nvPr/>
        </p:nvGrpSpPr>
        <p:grpSpPr>
          <a:xfrm rot="0">
            <a:off x="1213866" y="3771900"/>
            <a:ext cx="4800600" cy="430120"/>
            <a:chOff x="0" y="0"/>
            <a:chExt cx="6400800" cy="573494"/>
          </a:xfrm>
        </p:grpSpPr>
        <p:sp>
          <p:nvSpPr>
            <p:cNvPr name="Freeform 17" id="17"/>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8" id="18"/>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WHOLE FOODS</a:t>
              </a:r>
            </a:p>
          </p:txBody>
        </p:sp>
      </p:grpSp>
      <p:grpSp>
        <p:nvGrpSpPr>
          <p:cNvPr name="Group 19" id="19"/>
          <p:cNvGrpSpPr/>
          <p:nvPr/>
        </p:nvGrpSpPr>
        <p:grpSpPr>
          <a:xfrm rot="0">
            <a:off x="1204341" y="4263009"/>
            <a:ext cx="2018843" cy="419557"/>
            <a:chOff x="0" y="0"/>
            <a:chExt cx="2691790" cy="559410"/>
          </a:xfrm>
        </p:grpSpPr>
        <p:sp>
          <p:nvSpPr>
            <p:cNvPr name="Freeform 20" id="20"/>
            <p:cNvSpPr/>
            <p:nvPr/>
          </p:nvSpPr>
          <p:spPr>
            <a:xfrm flipH="false" flipV="false" rot="0">
              <a:off x="12700" y="12700"/>
              <a:ext cx="2666492" cy="533908"/>
            </a:xfrm>
            <a:custGeom>
              <a:avLst/>
              <a:gdLst/>
              <a:ahLst/>
              <a:cxnLst/>
              <a:rect r="r" b="b" t="t" l="l"/>
              <a:pathLst>
                <a:path h="533908" w="2666492">
                  <a:moveTo>
                    <a:pt x="0" y="261239"/>
                  </a:moveTo>
                  <a:cubicBezTo>
                    <a:pt x="0" y="116967"/>
                    <a:pt x="121412" y="0"/>
                    <a:pt x="271145" y="0"/>
                  </a:cubicBezTo>
                  <a:lnTo>
                    <a:pt x="2395347" y="0"/>
                  </a:lnTo>
                  <a:cubicBezTo>
                    <a:pt x="2545080" y="0"/>
                    <a:pt x="2666492" y="116967"/>
                    <a:pt x="2666492" y="261239"/>
                  </a:cubicBezTo>
                  <a:lnTo>
                    <a:pt x="2666492" y="272669"/>
                  </a:lnTo>
                  <a:cubicBezTo>
                    <a:pt x="2666492" y="416941"/>
                    <a:pt x="2545080" y="533908"/>
                    <a:pt x="2395347" y="533908"/>
                  </a:cubicBezTo>
                  <a:lnTo>
                    <a:pt x="271145" y="533908"/>
                  </a:lnTo>
                  <a:cubicBezTo>
                    <a:pt x="121412" y="534035"/>
                    <a:pt x="0" y="417068"/>
                    <a:pt x="0" y="272796"/>
                  </a:cubicBezTo>
                  <a:close/>
                </a:path>
              </a:pathLst>
            </a:custGeom>
            <a:solidFill>
              <a:srgbClr val="FFFFFF"/>
            </a:solidFill>
          </p:spPr>
          <p:txBody>
            <a:bodyPr/>
            <a:p/>
          </p:txBody>
        </p:sp>
      </p:grpSp>
      <p:grpSp>
        <p:nvGrpSpPr>
          <p:cNvPr name="Group 21" id="21"/>
          <p:cNvGrpSpPr/>
          <p:nvPr/>
        </p:nvGrpSpPr>
        <p:grpSpPr>
          <a:xfrm rot="0">
            <a:off x="1335329" y="4272534"/>
            <a:ext cx="2086204" cy="400508"/>
            <a:chOff x="0" y="0"/>
            <a:chExt cx="2781605" cy="534010"/>
          </a:xfrm>
        </p:grpSpPr>
        <p:sp>
          <p:nvSpPr>
            <p:cNvPr name="Freeform 22" id="22"/>
            <p:cNvSpPr/>
            <p:nvPr/>
          </p:nvSpPr>
          <p:spPr>
            <a:xfrm flipH="false" flipV="false" rot="0">
              <a:off x="0" y="0"/>
              <a:ext cx="2781604" cy="534010"/>
            </a:xfrm>
            <a:custGeom>
              <a:avLst/>
              <a:gdLst/>
              <a:ahLst/>
              <a:cxnLst/>
              <a:rect r="r" b="b" t="t" l="l"/>
              <a:pathLst>
                <a:path h="534010" w="2781604">
                  <a:moveTo>
                    <a:pt x="0" y="0"/>
                  </a:moveTo>
                  <a:lnTo>
                    <a:pt x="2781604" y="0"/>
                  </a:lnTo>
                  <a:lnTo>
                    <a:pt x="2781604" y="534010"/>
                  </a:lnTo>
                  <a:lnTo>
                    <a:pt x="0" y="534010"/>
                  </a:lnTo>
                  <a:close/>
                </a:path>
              </a:pathLst>
            </a:custGeom>
            <a:blipFill>
              <a:blip r:embed="rId4">
                <a:alphaModFix amt="0"/>
              </a:blip>
              <a:stretch>
                <a:fillRect l="0" t="-51495" r="0" b="-51495"/>
              </a:stretch>
            </a:blipFill>
          </p:spPr>
          <p:txBody>
            <a:bodyPr/>
            <a:p/>
          </p:txBody>
        </p:sp>
        <p:sp>
          <p:nvSpPr>
            <p:cNvPr name="TextBox 23" id="23"/>
            <p:cNvSpPr txBox="true"/>
            <p:nvPr/>
          </p:nvSpPr>
          <p:spPr>
            <a:xfrm>
              <a:off x="0" y="0"/>
              <a:ext cx="2781605"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Locaux &amp; De Saison</a:t>
              </a:r>
            </a:p>
          </p:txBody>
        </p:sp>
      </p:grpSp>
      <p:grpSp>
        <p:nvGrpSpPr>
          <p:cNvPr name="Group 24" id="24"/>
          <p:cNvGrpSpPr/>
          <p:nvPr/>
        </p:nvGrpSpPr>
        <p:grpSpPr>
          <a:xfrm rot="0">
            <a:off x="1204341" y="4826737"/>
            <a:ext cx="4648200" cy="32766"/>
            <a:chOff x="0" y="0"/>
            <a:chExt cx="6197600" cy="43688"/>
          </a:xfrm>
        </p:grpSpPr>
        <p:sp>
          <p:nvSpPr>
            <p:cNvPr name="Freeform 25" id="25"/>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26" id="26"/>
          <p:cNvGrpSpPr/>
          <p:nvPr/>
        </p:nvGrpSpPr>
        <p:grpSpPr>
          <a:xfrm rot="0">
            <a:off x="1213866" y="5021428"/>
            <a:ext cx="4744364" cy="558241"/>
            <a:chOff x="0" y="0"/>
            <a:chExt cx="6325819" cy="744322"/>
          </a:xfrm>
        </p:grpSpPr>
        <p:sp>
          <p:nvSpPr>
            <p:cNvPr name="Freeform 27" id="27"/>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28" id="28"/>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Aliments bruts riches en information biologique. SMASH (Omega-3).</a:t>
              </a:r>
            </a:p>
          </p:txBody>
        </p:sp>
      </p:grpSp>
      <p:grpSp>
        <p:nvGrpSpPr>
          <p:cNvPr name="Group 29" id="29"/>
          <p:cNvGrpSpPr/>
          <p:nvPr/>
        </p:nvGrpSpPr>
        <p:grpSpPr>
          <a:xfrm rot="0">
            <a:off x="1204341" y="5683987"/>
            <a:ext cx="1090270" cy="319430"/>
            <a:chOff x="0" y="0"/>
            <a:chExt cx="1453693" cy="425907"/>
          </a:xfrm>
        </p:grpSpPr>
        <p:sp>
          <p:nvSpPr>
            <p:cNvPr name="Freeform 30" id="30"/>
            <p:cNvSpPr/>
            <p:nvPr/>
          </p:nvSpPr>
          <p:spPr>
            <a:xfrm flipH="false" flipV="false" rot="0">
              <a:off x="12700" y="12700"/>
              <a:ext cx="1428369" cy="400558"/>
            </a:xfrm>
            <a:custGeom>
              <a:avLst/>
              <a:gdLst/>
              <a:ahLst/>
              <a:cxnLst/>
              <a:rect r="r" b="b" t="t" l="l"/>
              <a:pathLst>
                <a:path h="400558" w="1428369">
                  <a:moveTo>
                    <a:pt x="0" y="200279"/>
                  </a:moveTo>
                  <a:cubicBezTo>
                    <a:pt x="0" y="89662"/>
                    <a:pt x="93726" y="0"/>
                    <a:pt x="209296" y="0"/>
                  </a:cubicBezTo>
                  <a:lnTo>
                    <a:pt x="1219073" y="0"/>
                  </a:lnTo>
                  <a:cubicBezTo>
                    <a:pt x="1334643" y="0"/>
                    <a:pt x="1428369" y="89662"/>
                    <a:pt x="1428369" y="200279"/>
                  </a:cubicBezTo>
                  <a:cubicBezTo>
                    <a:pt x="1428369" y="310896"/>
                    <a:pt x="1334643" y="400558"/>
                    <a:pt x="1219073" y="400558"/>
                  </a:cubicBezTo>
                  <a:lnTo>
                    <a:pt x="209296" y="400558"/>
                  </a:lnTo>
                  <a:cubicBezTo>
                    <a:pt x="93726" y="400558"/>
                    <a:pt x="0" y="310896"/>
                    <a:pt x="0" y="200279"/>
                  </a:cubicBezTo>
                  <a:close/>
                </a:path>
              </a:pathLst>
            </a:custGeom>
            <a:solidFill>
              <a:srgbClr val="FFFFFF">
                <a:alpha val="0"/>
              </a:srgbClr>
            </a:solidFill>
          </p:spPr>
          <p:txBody>
            <a:bodyPr/>
            <a:p/>
          </p:txBody>
        </p:sp>
      </p:grpSp>
      <p:grpSp>
        <p:nvGrpSpPr>
          <p:cNvPr name="Group 31" id="31"/>
          <p:cNvGrpSpPr/>
          <p:nvPr/>
        </p:nvGrpSpPr>
        <p:grpSpPr>
          <a:xfrm rot="0">
            <a:off x="1213866" y="5693512"/>
            <a:ext cx="1186434" cy="300381"/>
            <a:chOff x="0" y="0"/>
            <a:chExt cx="1581912" cy="400508"/>
          </a:xfrm>
        </p:grpSpPr>
        <p:sp>
          <p:nvSpPr>
            <p:cNvPr name="Freeform 32" id="32"/>
            <p:cNvSpPr/>
            <p:nvPr/>
          </p:nvSpPr>
          <p:spPr>
            <a:xfrm flipH="false" flipV="false" rot="0">
              <a:off x="0" y="0"/>
              <a:ext cx="1581912" cy="400509"/>
            </a:xfrm>
            <a:custGeom>
              <a:avLst/>
              <a:gdLst/>
              <a:ahLst/>
              <a:cxnLst/>
              <a:rect r="r" b="b" t="t" l="l"/>
              <a:pathLst>
                <a:path h="400509" w="1581912">
                  <a:moveTo>
                    <a:pt x="0" y="0"/>
                  </a:moveTo>
                  <a:lnTo>
                    <a:pt x="1581912" y="0"/>
                  </a:lnTo>
                  <a:lnTo>
                    <a:pt x="1581912" y="400509"/>
                  </a:lnTo>
                  <a:lnTo>
                    <a:pt x="0" y="400509"/>
                  </a:lnTo>
                  <a:close/>
                </a:path>
              </a:pathLst>
            </a:custGeom>
            <a:blipFill>
              <a:blip r:embed="rId4">
                <a:alphaModFix amt="0"/>
              </a:blip>
              <a:stretch>
                <a:fillRect l="0" t="-26961" r="0" b="-26960"/>
              </a:stretch>
            </a:blipFill>
          </p:spPr>
          <p:txBody>
            <a:bodyPr/>
            <a:p/>
          </p:txBody>
        </p:sp>
        <p:sp>
          <p:nvSpPr>
            <p:cNvPr name="TextBox 33" id="33"/>
            <p:cNvSpPr txBox="true"/>
            <p:nvPr/>
          </p:nvSpPr>
          <p:spPr>
            <a:xfrm>
              <a:off x="0" y="0"/>
              <a:ext cx="158191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Polyphénols</a:t>
              </a:r>
            </a:p>
          </p:txBody>
        </p:sp>
      </p:grpSp>
      <p:grpSp>
        <p:nvGrpSpPr>
          <p:cNvPr name="Group 34" id="34"/>
          <p:cNvGrpSpPr/>
          <p:nvPr/>
        </p:nvGrpSpPr>
        <p:grpSpPr>
          <a:xfrm rot="0">
            <a:off x="2378431" y="5683987"/>
            <a:ext cx="1361846" cy="319430"/>
            <a:chOff x="0" y="0"/>
            <a:chExt cx="1815795" cy="425907"/>
          </a:xfrm>
        </p:grpSpPr>
        <p:sp>
          <p:nvSpPr>
            <p:cNvPr name="Freeform 35" id="35"/>
            <p:cNvSpPr/>
            <p:nvPr/>
          </p:nvSpPr>
          <p:spPr>
            <a:xfrm flipH="false" flipV="false" rot="0">
              <a:off x="12700" y="12700"/>
              <a:ext cx="1790319" cy="400558"/>
            </a:xfrm>
            <a:custGeom>
              <a:avLst/>
              <a:gdLst/>
              <a:ahLst/>
              <a:cxnLst/>
              <a:rect r="r" b="b" t="t" l="l"/>
              <a:pathLst>
                <a:path h="400558" w="1790319">
                  <a:moveTo>
                    <a:pt x="0" y="200279"/>
                  </a:moveTo>
                  <a:cubicBezTo>
                    <a:pt x="0" y="89662"/>
                    <a:pt x="93980" y="0"/>
                    <a:pt x="209931" y="0"/>
                  </a:cubicBezTo>
                  <a:lnTo>
                    <a:pt x="1580388" y="0"/>
                  </a:lnTo>
                  <a:cubicBezTo>
                    <a:pt x="1696339" y="0"/>
                    <a:pt x="1790319" y="89662"/>
                    <a:pt x="1790319" y="200279"/>
                  </a:cubicBezTo>
                  <a:cubicBezTo>
                    <a:pt x="1790319" y="310896"/>
                    <a:pt x="1696339" y="400558"/>
                    <a:pt x="1580388" y="400558"/>
                  </a:cubicBezTo>
                  <a:lnTo>
                    <a:pt x="209931" y="400558"/>
                  </a:lnTo>
                  <a:cubicBezTo>
                    <a:pt x="93980" y="400558"/>
                    <a:pt x="0" y="310896"/>
                    <a:pt x="0" y="200279"/>
                  </a:cubicBezTo>
                  <a:close/>
                </a:path>
              </a:pathLst>
            </a:custGeom>
            <a:solidFill>
              <a:srgbClr val="FFFFFF">
                <a:alpha val="0"/>
              </a:srgbClr>
            </a:solidFill>
          </p:spPr>
          <p:txBody>
            <a:bodyPr/>
            <a:p/>
          </p:txBody>
        </p:sp>
      </p:grpSp>
      <p:grpSp>
        <p:nvGrpSpPr>
          <p:cNvPr name="Group 36" id="36"/>
          <p:cNvGrpSpPr/>
          <p:nvPr/>
        </p:nvGrpSpPr>
        <p:grpSpPr>
          <a:xfrm rot="0">
            <a:off x="2387956" y="5693512"/>
            <a:ext cx="1468984" cy="300381"/>
            <a:chOff x="0" y="0"/>
            <a:chExt cx="1958645" cy="400508"/>
          </a:xfrm>
        </p:grpSpPr>
        <p:sp>
          <p:nvSpPr>
            <p:cNvPr name="Freeform 37" id="37"/>
            <p:cNvSpPr/>
            <p:nvPr/>
          </p:nvSpPr>
          <p:spPr>
            <a:xfrm flipH="false" flipV="false" rot="0">
              <a:off x="0" y="0"/>
              <a:ext cx="1958644" cy="400509"/>
            </a:xfrm>
            <a:custGeom>
              <a:avLst/>
              <a:gdLst/>
              <a:ahLst/>
              <a:cxnLst/>
              <a:rect r="r" b="b" t="t" l="l"/>
              <a:pathLst>
                <a:path h="400509" w="1958644">
                  <a:moveTo>
                    <a:pt x="0" y="0"/>
                  </a:moveTo>
                  <a:lnTo>
                    <a:pt x="1958644" y="0"/>
                  </a:lnTo>
                  <a:lnTo>
                    <a:pt x="1958644" y="400509"/>
                  </a:lnTo>
                  <a:lnTo>
                    <a:pt x="0" y="400509"/>
                  </a:lnTo>
                  <a:close/>
                </a:path>
              </a:pathLst>
            </a:custGeom>
            <a:blipFill>
              <a:blip r:embed="rId4">
                <a:alphaModFix amt="0"/>
              </a:blip>
              <a:stretch>
                <a:fillRect l="0" t="-45289" r="0" b="-45289"/>
              </a:stretch>
            </a:blipFill>
          </p:spPr>
          <p:txBody>
            <a:bodyPr/>
            <a:p/>
          </p:txBody>
        </p:sp>
        <p:sp>
          <p:nvSpPr>
            <p:cNvPr name="TextBox 38" id="38"/>
            <p:cNvSpPr txBox="true"/>
            <p:nvPr/>
          </p:nvSpPr>
          <p:spPr>
            <a:xfrm>
              <a:off x="0" y="0"/>
              <a:ext cx="1958645"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Viandes &amp; Abats</a:t>
              </a:r>
            </a:p>
          </p:txBody>
        </p:sp>
      </p:grpSp>
      <p:grpSp>
        <p:nvGrpSpPr>
          <p:cNvPr name="Group 39" id="39"/>
          <p:cNvGrpSpPr/>
          <p:nvPr/>
        </p:nvGrpSpPr>
        <p:grpSpPr>
          <a:xfrm rot="0">
            <a:off x="3830955" y="5683987"/>
            <a:ext cx="976427" cy="319430"/>
            <a:chOff x="0" y="0"/>
            <a:chExt cx="1301902" cy="425907"/>
          </a:xfrm>
        </p:grpSpPr>
        <p:sp>
          <p:nvSpPr>
            <p:cNvPr name="Freeform 40" id="40"/>
            <p:cNvSpPr/>
            <p:nvPr/>
          </p:nvSpPr>
          <p:spPr>
            <a:xfrm flipH="false" flipV="false" rot="0">
              <a:off x="12700" y="12700"/>
              <a:ext cx="1276477" cy="400558"/>
            </a:xfrm>
            <a:custGeom>
              <a:avLst/>
              <a:gdLst/>
              <a:ahLst/>
              <a:cxnLst/>
              <a:rect r="r" b="b" t="t" l="l"/>
              <a:pathLst>
                <a:path h="400558" w="1276477">
                  <a:moveTo>
                    <a:pt x="0" y="200279"/>
                  </a:moveTo>
                  <a:cubicBezTo>
                    <a:pt x="0" y="89662"/>
                    <a:pt x="93472" y="0"/>
                    <a:pt x="208788" y="0"/>
                  </a:cubicBezTo>
                  <a:lnTo>
                    <a:pt x="1067689" y="0"/>
                  </a:lnTo>
                  <a:cubicBezTo>
                    <a:pt x="1183005" y="0"/>
                    <a:pt x="1276477" y="89662"/>
                    <a:pt x="1276477" y="200279"/>
                  </a:cubicBezTo>
                  <a:cubicBezTo>
                    <a:pt x="1276477" y="310896"/>
                    <a:pt x="1183005" y="400558"/>
                    <a:pt x="1067689" y="400558"/>
                  </a:cubicBezTo>
                  <a:lnTo>
                    <a:pt x="208788" y="400558"/>
                  </a:lnTo>
                  <a:cubicBezTo>
                    <a:pt x="93472" y="400558"/>
                    <a:pt x="0" y="310896"/>
                    <a:pt x="0" y="200279"/>
                  </a:cubicBezTo>
                  <a:close/>
                </a:path>
              </a:pathLst>
            </a:custGeom>
            <a:solidFill>
              <a:srgbClr val="FFFFFF">
                <a:alpha val="0"/>
              </a:srgbClr>
            </a:solidFill>
          </p:spPr>
          <p:txBody>
            <a:bodyPr/>
            <a:p/>
          </p:txBody>
        </p:sp>
      </p:grpSp>
      <p:grpSp>
        <p:nvGrpSpPr>
          <p:cNvPr name="Group 41" id="41"/>
          <p:cNvGrpSpPr/>
          <p:nvPr/>
        </p:nvGrpSpPr>
        <p:grpSpPr>
          <a:xfrm rot="0">
            <a:off x="3840480" y="5693512"/>
            <a:ext cx="1072591" cy="300381"/>
            <a:chOff x="0" y="0"/>
            <a:chExt cx="1430122" cy="400508"/>
          </a:xfrm>
        </p:grpSpPr>
        <p:sp>
          <p:nvSpPr>
            <p:cNvPr name="Freeform 42" id="42"/>
            <p:cNvSpPr/>
            <p:nvPr/>
          </p:nvSpPr>
          <p:spPr>
            <a:xfrm flipH="false" flipV="false" rot="0">
              <a:off x="0" y="0"/>
              <a:ext cx="1430122" cy="400509"/>
            </a:xfrm>
            <a:custGeom>
              <a:avLst/>
              <a:gdLst/>
              <a:ahLst/>
              <a:cxnLst/>
              <a:rect r="r" b="b" t="t" l="l"/>
              <a:pathLst>
                <a:path h="400509" w="1430122">
                  <a:moveTo>
                    <a:pt x="0" y="0"/>
                  </a:moveTo>
                  <a:lnTo>
                    <a:pt x="1430122" y="0"/>
                  </a:lnTo>
                  <a:lnTo>
                    <a:pt x="1430122" y="400509"/>
                  </a:lnTo>
                  <a:lnTo>
                    <a:pt x="0" y="400509"/>
                  </a:lnTo>
                  <a:close/>
                </a:path>
              </a:pathLst>
            </a:custGeom>
            <a:blipFill>
              <a:blip r:embed="rId4">
                <a:alphaModFix amt="0"/>
              </a:blip>
              <a:stretch>
                <a:fillRect l="0" t="-19576" r="0" b="-19576"/>
              </a:stretch>
            </a:blipFill>
          </p:spPr>
          <p:txBody>
            <a:bodyPr/>
            <a:p/>
          </p:txBody>
        </p:sp>
        <p:sp>
          <p:nvSpPr>
            <p:cNvPr name="TextBox 43" id="43"/>
            <p:cNvSpPr txBox="true"/>
            <p:nvPr/>
          </p:nvSpPr>
          <p:spPr>
            <a:xfrm>
              <a:off x="0" y="0"/>
              <a:ext cx="143012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Fermentés</a:t>
              </a:r>
            </a:p>
          </p:txBody>
        </p:sp>
      </p:grpSp>
      <p:grpSp>
        <p:nvGrpSpPr>
          <p:cNvPr name="Group 44" id="44"/>
          <p:cNvGrpSpPr/>
          <p:nvPr/>
        </p:nvGrpSpPr>
        <p:grpSpPr>
          <a:xfrm rot="0">
            <a:off x="6467170" y="2490902"/>
            <a:ext cx="5362804" cy="3862273"/>
            <a:chOff x="0" y="0"/>
            <a:chExt cx="7150405" cy="5149698"/>
          </a:xfrm>
        </p:grpSpPr>
        <p:sp>
          <p:nvSpPr>
            <p:cNvPr name="Freeform 45" id="45"/>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46" id="46"/>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47" id="47"/>
          <p:cNvGrpSpPr/>
          <p:nvPr/>
        </p:nvGrpSpPr>
        <p:grpSpPr>
          <a:xfrm rot="0">
            <a:off x="6825158" y="2847518"/>
            <a:ext cx="647243" cy="647243"/>
            <a:chOff x="0" y="0"/>
            <a:chExt cx="862990" cy="862990"/>
          </a:xfrm>
        </p:grpSpPr>
        <p:sp>
          <p:nvSpPr>
            <p:cNvPr name="Freeform 48" id="48"/>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49" id="49"/>
          <p:cNvGrpSpPr/>
          <p:nvPr/>
        </p:nvGrpSpPr>
        <p:grpSpPr>
          <a:xfrm rot="0">
            <a:off x="7041794" y="3028493"/>
            <a:ext cx="213970" cy="285293"/>
            <a:chOff x="0" y="0"/>
            <a:chExt cx="285293" cy="380390"/>
          </a:xfrm>
        </p:grpSpPr>
        <p:sp>
          <p:nvSpPr>
            <p:cNvPr name="Freeform 50" id="50" descr="preencoded.png"/>
            <p:cNvSpPr/>
            <p:nvPr/>
          </p:nvSpPr>
          <p:spPr>
            <a:xfrm flipH="false" flipV="false" rot="0">
              <a:off x="0" y="0"/>
              <a:ext cx="285242" cy="380365"/>
            </a:xfrm>
            <a:custGeom>
              <a:avLst/>
              <a:gdLst/>
              <a:ahLst/>
              <a:cxnLst/>
              <a:rect r="r" b="b" t="t" l="l"/>
              <a:pathLst>
                <a:path h="380365" w="285242">
                  <a:moveTo>
                    <a:pt x="0" y="0"/>
                  </a:moveTo>
                  <a:lnTo>
                    <a:pt x="285242" y="0"/>
                  </a:lnTo>
                  <a:lnTo>
                    <a:pt x="285242" y="380365"/>
                  </a:lnTo>
                  <a:lnTo>
                    <a:pt x="0" y="380365"/>
                  </a:lnTo>
                  <a:lnTo>
                    <a:pt x="0" y="0"/>
                  </a:lnTo>
                  <a:close/>
                </a:path>
              </a:pathLst>
            </a:custGeom>
            <a:blipFill>
              <a:blip r:embed="rId5"/>
              <a:stretch>
                <a:fillRect l="0" t="0" r="-1095" b="-6"/>
              </a:stretch>
            </a:blipFill>
          </p:spPr>
          <p:txBody>
            <a:bodyPr/>
            <a:p/>
          </p:txBody>
        </p:sp>
      </p:grpSp>
      <p:grpSp>
        <p:nvGrpSpPr>
          <p:cNvPr name="Group 51" id="51"/>
          <p:cNvGrpSpPr/>
          <p:nvPr/>
        </p:nvGrpSpPr>
        <p:grpSpPr>
          <a:xfrm rot="0">
            <a:off x="11248492" y="2857043"/>
            <a:ext cx="329184" cy="257861"/>
            <a:chOff x="0" y="0"/>
            <a:chExt cx="438912" cy="343814"/>
          </a:xfrm>
        </p:grpSpPr>
        <p:sp>
          <p:nvSpPr>
            <p:cNvPr name="Freeform 52" id="52"/>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53" id="53"/>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02</a:t>
              </a:r>
            </a:p>
          </p:txBody>
        </p:sp>
      </p:grpSp>
      <p:grpSp>
        <p:nvGrpSpPr>
          <p:cNvPr name="Group 54" id="54"/>
          <p:cNvGrpSpPr/>
          <p:nvPr/>
        </p:nvGrpSpPr>
        <p:grpSpPr>
          <a:xfrm rot="0">
            <a:off x="6834683" y="3771900"/>
            <a:ext cx="4800600" cy="430120"/>
            <a:chOff x="0" y="0"/>
            <a:chExt cx="6400800" cy="573494"/>
          </a:xfrm>
        </p:grpSpPr>
        <p:sp>
          <p:nvSpPr>
            <p:cNvPr name="Freeform 55" id="55"/>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56" id="56"/>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HYDRATATION</a:t>
              </a:r>
            </a:p>
          </p:txBody>
        </p:sp>
      </p:grpSp>
      <p:grpSp>
        <p:nvGrpSpPr>
          <p:cNvPr name="Group 57" id="57"/>
          <p:cNvGrpSpPr/>
          <p:nvPr/>
        </p:nvGrpSpPr>
        <p:grpSpPr>
          <a:xfrm rot="0">
            <a:off x="6825158" y="4263009"/>
            <a:ext cx="2047646" cy="419557"/>
            <a:chOff x="0" y="0"/>
            <a:chExt cx="2730195" cy="559410"/>
          </a:xfrm>
        </p:grpSpPr>
        <p:sp>
          <p:nvSpPr>
            <p:cNvPr name="Freeform 58" id="58"/>
            <p:cNvSpPr/>
            <p:nvPr/>
          </p:nvSpPr>
          <p:spPr>
            <a:xfrm flipH="false" flipV="false" rot="0">
              <a:off x="12700" y="12700"/>
              <a:ext cx="2704846" cy="533908"/>
            </a:xfrm>
            <a:custGeom>
              <a:avLst/>
              <a:gdLst/>
              <a:ahLst/>
              <a:cxnLst/>
              <a:rect r="r" b="b" t="t" l="l"/>
              <a:pathLst>
                <a:path h="533908" w="2704846">
                  <a:moveTo>
                    <a:pt x="0" y="261239"/>
                  </a:moveTo>
                  <a:cubicBezTo>
                    <a:pt x="0" y="116967"/>
                    <a:pt x="121412" y="0"/>
                    <a:pt x="271145" y="0"/>
                  </a:cubicBezTo>
                  <a:lnTo>
                    <a:pt x="2433701" y="0"/>
                  </a:lnTo>
                  <a:cubicBezTo>
                    <a:pt x="2583434" y="0"/>
                    <a:pt x="2704846" y="116967"/>
                    <a:pt x="2704846" y="261239"/>
                  </a:cubicBezTo>
                  <a:lnTo>
                    <a:pt x="2704846" y="272669"/>
                  </a:lnTo>
                  <a:cubicBezTo>
                    <a:pt x="2704846" y="416941"/>
                    <a:pt x="2583434" y="533908"/>
                    <a:pt x="2433701" y="533908"/>
                  </a:cubicBezTo>
                  <a:lnTo>
                    <a:pt x="271145" y="533908"/>
                  </a:lnTo>
                  <a:cubicBezTo>
                    <a:pt x="121412" y="534035"/>
                    <a:pt x="0" y="417068"/>
                    <a:pt x="0" y="272796"/>
                  </a:cubicBezTo>
                  <a:close/>
                </a:path>
              </a:pathLst>
            </a:custGeom>
            <a:solidFill>
              <a:srgbClr val="FFFFFF"/>
            </a:solidFill>
          </p:spPr>
          <p:txBody>
            <a:bodyPr/>
            <a:p/>
          </p:txBody>
        </p:sp>
      </p:grpSp>
      <p:grpSp>
        <p:nvGrpSpPr>
          <p:cNvPr name="Group 59" id="59"/>
          <p:cNvGrpSpPr/>
          <p:nvPr/>
        </p:nvGrpSpPr>
        <p:grpSpPr>
          <a:xfrm rot="0">
            <a:off x="7063816" y="4283354"/>
            <a:ext cx="2115007" cy="400508"/>
            <a:chOff x="0" y="0"/>
            <a:chExt cx="2820010" cy="534010"/>
          </a:xfrm>
        </p:grpSpPr>
        <p:sp>
          <p:nvSpPr>
            <p:cNvPr name="Freeform 60" id="60"/>
            <p:cNvSpPr/>
            <p:nvPr/>
          </p:nvSpPr>
          <p:spPr>
            <a:xfrm flipH="false" flipV="false" rot="0">
              <a:off x="0" y="0"/>
              <a:ext cx="2820010" cy="534010"/>
            </a:xfrm>
            <a:custGeom>
              <a:avLst/>
              <a:gdLst/>
              <a:ahLst/>
              <a:cxnLst/>
              <a:rect r="r" b="b" t="t" l="l"/>
              <a:pathLst>
                <a:path h="534010" w="2820010">
                  <a:moveTo>
                    <a:pt x="0" y="0"/>
                  </a:moveTo>
                  <a:lnTo>
                    <a:pt x="2820010" y="0"/>
                  </a:lnTo>
                  <a:lnTo>
                    <a:pt x="2820010" y="534010"/>
                  </a:lnTo>
                  <a:lnTo>
                    <a:pt x="0" y="534010"/>
                  </a:lnTo>
                  <a:close/>
                </a:path>
              </a:pathLst>
            </a:custGeom>
            <a:blipFill>
              <a:blip r:embed="rId4">
                <a:alphaModFix amt="0"/>
              </a:blip>
              <a:stretch>
                <a:fillRect l="0" t="-52896" r="0" b="-52896"/>
              </a:stretch>
            </a:blipFill>
          </p:spPr>
          <p:txBody>
            <a:bodyPr/>
            <a:p/>
          </p:txBody>
        </p:sp>
        <p:sp>
          <p:nvSpPr>
            <p:cNvPr name="TextBox 61" id="61"/>
            <p:cNvSpPr txBox="true"/>
            <p:nvPr/>
          </p:nvSpPr>
          <p:spPr>
            <a:xfrm>
              <a:off x="0" y="0"/>
              <a:ext cx="2820010"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Filtrée &amp; Structurée</a:t>
              </a:r>
            </a:p>
          </p:txBody>
        </p:sp>
      </p:grpSp>
      <p:grpSp>
        <p:nvGrpSpPr>
          <p:cNvPr name="Group 62" id="62"/>
          <p:cNvGrpSpPr/>
          <p:nvPr/>
        </p:nvGrpSpPr>
        <p:grpSpPr>
          <a:xfrm rot="0">
            <a:off x="6825158" y="4826737"/>
            <a:ext cx="4648200" cy="32766"/>
            <a:chOff x="0" y="0"/>
            <a:chExt cx="6197600" cy="43688"/>
          </a:xfrm>
        </p:grpSpPr>
        <p:sp>
          <p:nvSpPr>
            <p:cNvPr name="Freeform 63" id="63"/>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64" id="64"/>
          <p:cNvGrpSpPr/>
          <p:nvPr/>
        </p:nvGrpSpPr>
        <p:grpSpPr>
          <a:xfrm rot="0">
            <a:off x="6834683" y="5021428"/>
            <a:ext cx="4744364" cy="558241"/>
            <a:chOff x="0" y="0"/>
            <a:chExt cx="6325819" cy="744322"/>
          </a:xfrm>
        </p:grpSpPr>
        <p:sp>
          <p:nvSpPr>
            <p:cNvPr name="Freeform 65" id="65"/>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66" id="66"/>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Qualité &gt; Quantité. Eau hydrogénée et pauvre en deutérium.</a:t>
              </a:r>
            </a:p>
          </p:txBody>
        </p:sp>
      </p:grpSp>
      <p:grpSp>
        <p:nvGrpSpPr>
          <p:cNvPr name="Group 67" id="67"/>
          <p:cNvGrpSpPr/>
          <p:nvPr/>
        </p:nvGrpSpPr>
        <p:grpSpPr>
          <a:xfrm rot="0">
            <a:off x="6825158" y="5683987"/>
            <a:ext cx="1490777" cy="319430"/>
            <a:chOff x="0" y="0"/>
            <a:chExt cx="1987702" cy="425907"/>
          </a:xfrm>
        </p:grpSpPr>
        <p:sp>
          <p:nvSpPr>
            <p:cNvPr name="Freeform 68" id="68"/>
            <p:cNvSpPr/>
            <p:nvPr/>
          </p:nvSpPr>
          <p:spPr>
            <a:xfrm flipH="false" flipV="false" rot="0">
              <a:off x="12700" y="12700"/>
              <a:ext cx="1962150" cy="400558"/>
            </a:xfrm>
            <a:custGeom>
              <a:avLst/>
              <a:gdLst/>
              <a:ahLst/>
              <a:cxnLst/>
              <a:rect r="r" b="b" t="t" l="l"/>
              <a:pathLst>
                <a:path h="400558" w="1962150">
                  <a:moveTo>
                    <a:pt x="0" y="200279"/>
                  </a:moveTo>
                  <a:cubicBezTo>
                    <a:pt x="0" y="89662"/>
                    <a:pt x="94107" y="0"/>
                    <a:pt x="210185" y="0"/>
                  </a:cubicBezTo>
                  <a:lnTo>
                    <a:pt x="1751965" y="0"/>
                  </a:lnTo>
                  <a:cubicBezTo>
                    <a:pt x="1868043" y="0"/>
                    <a:pt x="1962150" y="89662"/>
                    <a:pt x="1962150" y="200279"/>
                  </a:cubicBezTo>
                  <a:cubicBezTo>
                    <a:pt x="1962150" y="310896"/>
                    <a:pt x="1868043" y="400558"/>
                    <a:pt x="1751965" y="400558"/>
                  </a:cubicBezTo>
                  <a:lnTo>
                    <a:pt x="210185" y="400558"/>
                  </a:lnTo>
                  <a:cubicBezTo>
                    <a:pt x="94107" y="400558"/>
                    <a:pt x="0" y="310896"/>
                    <a:pt x="0" y="200279"/>
                  </a:cubicBezTo>
                  <a:close/>
                </a:path>
              </a:pathLst>
            </a:custGeom>
            <a:solidFill>
              <a:srgbClr val="FFFFFF">
                <a:alpha val="0"/>
              </a:srgbClr>
            </a:solidFill>
          </p:spPr>
          <p:txBody>
            <a:bodyPr/>
            <a:p/>
          </p:txBody>
        </p:sp>
      </p:grpSp>
      <p:grpSp>
        <p:nvGrpSpPr>
          <p:cNvPr name="Group 69" id="69"/>
          <p:cNvGrpSpPr/>
          <p:nvPr/>
        </p:nvGrpSpPr>
        <p:grpSpPr>
          <a:xfrm rot="0">
            <a:off x="6834683" y="5693512"/>
            <a:ext cx="1586941" cy="300381"/>
            <a:chOff x="0" y="0"/>
            <a:chExt cx="2115922" cy="400508"/>
          </a:xfrm>
        </p:grpSpPr>
        <p:sp>
          <p:nvSpPr>
            <p:cNvPr name="Freeform 70" id="70"/>
            <p:cNvSpPr/>
            <p:nvPr/>
          </p:nvSpPr>
          <p:spPr>
            <a:xfrm flipH="false" flipV="false" rot="0">
              <a:off x="0" y="0"/>
              <a:ext cx="2115922" cy="400509"/>
            </a:xfrm>
            <a:custGeom>
              <a:avLst/>
              <a:gdLst/>
              <a:ahLst/>
              <a:cxnLst/>
              <a:rect r="r" b="b" t="t" l="l"/>
              <a:pathLst>
                <a:path h="400509" w="2115922">
                  <a:moveTo>
                    <a:pt x="0" y="0"/>
                  </a:moveTo>
                  <a:lnTo>
                    <a:pt x="2115922" y="0"/>
                  </a:lnTo>
                  <a:lnTo>
                    <a:pt x="2115922" y="400509"/>
                  </a:lnTo>
                  <a:lnTo>
                    <a:pt x="0" y="400509"/>
                  </a:lnTo>
                  <a:close/>
                </a:path>
              </a:pathLst>
            </a:custGeom>
            <a:blipFill>
              <a:blip r:embed="rId4">
                <a:alphaModFix amt="0"/>
              </a:blip>
              <a:stretch>
                <a:fillRect l="0" t="-52941" r="0" b="-52940"/>
              </a:stretch>
            </a:blipFill>
          </p:spPr>
          <p:txBody>
            <a:bodyPr/>
            <a:p/>
          </p:txBody>
        </p:sp>
        <p:sp>
          <p:nvSpPr>
            <p:cNvPr name="TextBox 71" id="71"/>
            <p:cNvSpPr txBox="true"/>
            <p:nvPr/>
          </p:nvSpPr>
          <p:spPr>
            <a:xfrm>
              <a:off x="0" y="0"/>
              <a:ext cx="211592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Source Montagne</a:t>
              </a:r>
            </a:p>
          </p:txBody>
        </p:sp>
      </p:grpSp>
      <p:grpSp>
        <p:nvGrpSpPr>
          <p:cNvPr name="Group 72" id="72"/>
          <p:cNvGrpSpPr/>
          <p:nvPr/>
        </p:nvGrpSpPr>
        <p:grpSpPr>
          <a:xfrm rot="0">
            <a:off x="8402498" y="5683987"/>
            <a:ext cx="691134" cy="319430"/>
            <a:chOff x="0" y="0"/>
            <a:chExt cx="921512" cy="425907"/>
          </a:xfrm>
        </p:grpSpPr>
        <p:sp>
          <p:nvSpPr>
            <p:cNvPr name="Freeform 73" id="73"/>
            <p:cNvSpPr/>
            <p:nvPr/>
          </p:nvSpPr>
          <p:spPr>
            <a:xfrm flipH="false" flipV="false" rot="0">
              <a:off x="12700" y="12700"/>
              <a:ext cx="896112" cy="400558"/>
            </a:xfrm>
            <a:custGeom>
              <a:avLst/>
              <a:gdLst/>
              <a:ahLst/>
              <a:cxnLst/>
              <a:rect r="r" b="b" t="t" l="l"/>
              <a:pathLst>
                <a:path h="400558" w="896112">
                  <a:moveTo>
                    <a:pt x="0" y="200279"/>
                  </a:moveTo>
                  <a:cubicBezTo>
                    <a:pt x="0" y="89662"/>
                    <a:pt x="92710" y="0"/>
                    <a:pt x="207137" y="0"/>
                  </a:cubicBezTo>
                  <a:lnTo>
                    <a:pt x="688975" y="0"/>
                  </a:lnTo>
                  <a:cubicBezTo>
                    <a:pt x="803402" y="0"/>
                    <a:pt x="896112" y="89662"/>
                    <a:pt x="896112" y="200279"/>
                  </a:cubicBezTo>
                  <a:cubicBezTo>
                    <a:pt x="896112" y="310896"/>
                    <a:pt x="803402" y="400558"/>
                    <a:pt x="688975" y="400558"/>
                  </a:cubicBezTo>
                  <a:lnTo>
                    <a:pt x="207137" y="400558"/>
                  </a:lnTo>
                  <a:cubicBezTo>
                    <a:pt x="92710" y="400558"/>
                    <a:pt x="0" y="310896"/>
                    <a:pt x="0" y="200279"/>
                  </a:cubicBezTo>
                  <a:close/>
                </a:path>
              </a:pathLst>
            </a:custGeom>
            <a:solidFill>
              <a:srgbClr val="FFFFFF">
                <a:alpha val="0"/>
              </a:srgbClr>
            </a:solidFill>
          </p:spPr>
          <p:txBody>
            <a:bodyPr/>
            <a:p/>
          </p:txBody>
        </p:sp>
      </p:grpSp>
      <p:grpSp>
        <p:nvGrpSpPr>
          <p:cNvPr name="Group 74" id="74"/>
          <p:cNvGrpSpPr/>
          <p:nvPr/>
        </p:nvGrpSpPr>
        <p:grpSpPr>
          <a:xfrm rot="0">
            <a:off x="8412023" y="5693512"/>
            <a:ext cx="785927" cy="300381"/>
            <a:chOff x="0" y="0"/>
            <a:chExt cx="1047902" cy="400508"/>
          </a:xfrm>
        </p:grpSpPr>
        <p:sp>
          <p:nvSpPr>
            <p:cNvPr name="Freeform 75" id="75"/>
            <p:cNvSpPr/>
            <p:nvPr/>
          </p:nvSpPr>
          <p:spPr>
            <a:xfrm flipH="false" flipV="false" rot="0">
              <a:off x="0" y="0"/>
              <a:ext cx="1047902" cy="400509"/>
            </a:xfrm>
            <a:custGeom>
              <a:avLst/>
              <a:gdLst/>
              <a:ahLst/>
              <a:cxnLst/>
              <a:rect r="r" b="b" t="t" l="l"/>
              <a:pathLst>
                <a:path h="400509" w="1047902">
                  <a:moveTo>
                    <a:pt x="0" y="0"/>
                  </a:moveTo>
                  <a:lnTo>
                    <a:pt x="1047902" y="0"/>
                  </a:lnTo>
                  <a:lnTo>
                    <a:pt x="1047902" y="400509"/>
                  </a:lnTo>
                  <a:lnTo>
                    <a:pt x="0" y="400509"/>
                  </a:lnTo>
                  <a:close/>
                </a:path>
              </a:pathLst>
            </a:custGeom>
            <a:blipFill>
              <a:blip r:embed="rId4">
                <a:alphaModFix amt="0"/>
              </a:blip>
              <a:stretch>
                <a:fillRect l="0" t="-981" r="0" b="-981"/>
              </a:stretch>
            </a:blipFill>
          </p:spPr>
          <p:txBody>
            <a:bodyPr/>
            <a:p/>
          </p:txBody>
        </p:sp>
        <p:sp>
          <p:nvSpPr>
            <p:cNvPr name="TextBox 76" id="76"/>
            <p:cNvSpPr txBox="true"/>
            <p:nvPr/>
          </p:nvSpPr>
          <p:spPr>
            <a:xfrm>
              <a:off x="0" y="0"/>
              <a:ext cx="104790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Pureté</a:t>
              </a:r>
            </a:p>
          </p:txBody>
        </p:sp>
      </p:grpSp>
      <p:grpSp>
        <p:nvGrpSpPr>
          <p:cNvPr name="Group 77" id="77"/>
          <p:cNvGrpSpPr/>
          <p:nvPr/>
        </p:nvGrpSpPr>
        <p:grpSpPr>
          <a:xfrm rot="0">
            <a:off x="9178823" y="5683987"/>
            <a:ext cx="990143" cy="319430"/>
            <a:chOff x="0" y="0"/>
            <a:chExt cx="1320190" cy="425907"/>
          </a:xfrm>
        </p:grpSpPr>
        <p:sp>
          <p:nvSpPr>
            <p:cNvPr name="Freeform 78" id="78"/>
            <p:cNvSpPr/>
            <p:nvPr/>
          </p:nvSpPr>
          <p:spPr>
            <a:xfrm flipH="false" flipV="false" rot="0">
              <a:off x="12700" y="12700"/>
              <a:ext cx="1294892" cy="400558"/>
            </a:xfrm>
            <a:custGeom>
              <a:avLst/>
              <a:gdLst/>
              <a:ahLst/>
              <a:cxnLst/>
              <a:rect r="r" b="b" t="t" l="l"/>
              <a:pathLst>
                <a:path h="400558" w="1294892">
                  <a:moveTo>
                    <a:pt x="0" y="200279"/>
                  </a:moveTo>
                  <a:cubicBezTo>
                    <a:pt x="0" y="89662"/>
                    <a:pt x="93472" y="0"/>
                    <a:pt x="208915" y="0"/>
                  </a:cubicBezTo>
                  <a:lnTo>
                    <a:pt x="1085977" y="0"/>
                  </a:lnTo>
                  <a:cubicBezTo>
                    <a:pt x="1201293" y="0"/>
                    <a:pt x="1294892" y="89662"/>
                    <a:pt x="1294892" y="200279"/>
                  </a:cubicBezTo>
                  <a:cubicBezTo>
                    <a:pt x="1294892" y="310896"/>
                    <a:pt x="1201293" y="400558"/>
                    <a:pt x="1085977" y="400558"/>
                  </a:cubicBezTo>
                  <a:lnTo>
                    <a:pt x="208915" y="400558"/>
                  </a:lnTo>
                  <a:cubicBezTo>
                    <a:pt x="93472" y="400558"/>
                    <a:pt x="0" y="310896"/>
                    <a:pt x="0" y="200279"/>
                  </a:cubicBezTo>
                  <a:close/>
                </a:path>
              </a:pathLst>
            </a:custGeom>
            <a:solidFill>
              <a:srgbClr val="FFFFFF">
                <a:alpha val="0"/>
              </a:srgbClr>
            </a:solidFill>
          </p:spPr>
          <p:txBody>
            <a:bodyPr/>
            <a:p/>
          </p:txBody>
        </p:sp>
      </p:grpSp>
      <p:grpSp>
        <p:nvGrpSpPr>
          <p:cNvPr name="Group 79" id="79"/>
          <p:cNvGrpSpPr/>
          <p:nvPr/>
        </p:nvGrpSpPr>
        <p:grpSpPr>
          <a:xfrm rot="0">
            <a:off x="9188348" y="5693512"/>
            <a:ext cx="1086307" cy="300381"/>
            <a:chOff x="0" y="0"/>
            <a:chExt cx="1448410" cy="400508"/>
          </a:xfrm>
        </p:grpSpPr>
        <p:sp>
          <p:nvSpPr>
            <p:cNvPr name="Freeform 80" id="80"/>
            <p:cNvSpPr/>
            <p:nvPr/>
          </p:nvSpPr>
          <p:spPr>
            <a:xfrm flipH="false" flipV="false" rot="0">
              <a:off x="0" y="0"/>
              <a:ext cx="1448410" cy="400509"/>
            </a:xfrm>
            <a:custGeom>
              <a:avLst/>
              <a:gdLst/>
              <a:ahLst/>
              <a:cxnLst/>
              <a:rect r="r" b="b" t="t" l="l"/>
              <a:pathLst>
                <a:path h="400509" w="1448410">
                  <a:moveTo>
                    <a:pt x="0" y="0"/>
                  </a:moveTo>
                  <a:lnTo>
                    <a:pt x="1448410" y="0"/>
                  </a:lnTo>
                  <a:lnTo>
                    <a:pt x="1448410" y="400509"/>
                  </a:lnTo>
                  <a:lnTo>
                    <a:pt x="0" y="400509"/>
                  </a:lnTo>
                  <a:close/>
                </a:path>
              </a:pathLst>
            </a:custGeom>
            <a:blipFill>
              <a:blip r:embed="rId4">
                <a:alphaModFix amt="0"/>
              </a:blip>
              <a:stretch>
                <a:fillRect l="0" t="-20466" r="0" b="-20465"/>
              </a:stretch>
            </a:blipFill>
          </p:spPr>
          <p:txBody>
            <a:bodyPr/>
            <a:p/>
          </p:txBody>
        </p:sp>
        <p:sp>
          <p:nvSpPr>
            <p:cNvPr name="TextBox 81" id="81"/>
            <p:cNvSpPr txBox="true"/>
            <p:nvPr/>
          </p:nvSpPr>
          <p:spPr>
            <a:xfrm>
              <a:off x="0" y="0"/>
              <a:ext cx="144841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Hydrogène</a:t>
              </a:r>
            </a:p>
          </p:txBody>
        </p:sp>
      </p:grpSp>
      <p:grpSp>
        <p:nvGrpSpPr>
          <p:cNvPr name="Group 82" id="82"/>
          <p:cNvGrpSpPr/>
          <p:nvPr/>
        </p:nvGrpSpPr>
        <p:grpSpPr>
          <a:xfrm rot="0">
            <a:off x="12086615" y="2490902"/>
            <a:ext cx="5362804" cy="3862273"/>
            <a:chOff x="0" y="0"/>
            <a:chExt cx="7150405" cy="5149698"/>
          </a:xfrm>
        </p:grpSpPr>
        <p:sp>
          <p:nvSpPr>
            <p:cNvPr name="Freeform 83" id="83"/>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84" id="84"/>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85" id="85"/>
          <p:cNvGrpSpPr/>
          <p:nvPr/>
        </p:nvGrpSpPr>
        <p:grpSpPr>
          <a:xfrm rot="0">
            <a:off x="12444603" y="2847518"/>
            <a:ext cx="647243" cy="647243"/>
            <a:chOff x="0" y="0"/>
            <a:chExt cx="862990" cy="862990"/>
          </a:xfrm>
        </p:grpSpPr>
        <p:sp>
          <p:nvSpPr>
            <p:cNvPr name="Freeform 86" id="86"/>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87" id="87"/>
          <p:cNvGrpSpPr/>
          <p:nvPr/>
        </p:nvGrpSpPr>
        <p:grpSpPr>
          <a:xfrm rot="0">
            <a:off x="12639294" y="3028493"/>
            <a:ext cx="257861" cy="285293"/>
            <a:chOff x="0" y="0"/>
            <a:chExt cx="343814" cy="380390"/>
          </a:xfrm>
        </p:grpSpPr>
        <p:sp>
          <p:nvSpPr>
            <p:cNvPr name="Freeform 88" id="88"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6"/>
              <a:stretch>
                <a:fillRect l="1595" t="0" r="1588" b="-6"/>
              </a:stretch>
            </a:blipFill>
          </p:spPr>
          <p:txBody>
            <a:bodyPr/>
            <a:p/>
          </p:txBody>
        </p:sp>
      </p:grpSp>
      <p:grpSp>
        <p:nvGrpSpPr>
          <p:cNvPr name="Group 89" id="89"/>
          <p:cNvGrpSpPr/>
          <p:nvPr/>
        </p:nvGrpSpPr>
        <p:grpSpPr>
          <a:xfrm rot="0">
            <a:off x="16867937" y="2857043"/>
            <a:ext cx="329184" cy="257861"/>
            <a:chOff x="0" y="0"/>
            <a:chExt cx="438912" cy="343814"/>
          </a:xfrm>
        </p:grpSpPr>
        <p:sp>
          <p:nvSpPr>
            <p:cNvPr name="Freeform 90" id="90"/>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91" id="91"/>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03</a:t>
              </a:r>
            </a:p>
          </p:txBody>
        </p:sp>
      </p:grpSp>
      <p:grpSp>
        <p:nvGrpSpPr>
          <p:cNvPr name="Group 92" id="92"/>
          <p:cNvGrpSpPr/>
          <p:nvPr/>
        </p:nvGrpSpPr>
        <p:grpSpPr>
          <a:xfrm rot="0">
            <a:off x="12454128" y="3771900"/>
            <a:ext cx="4800600" cy="430120"/>
            <a:chOff x="0" y="0"/>
            <a:chExt cx="6400800" cy="573494"/>
          </a:xfrm>
        </p:grpSpPr>
        <p:sp>
          <p:nvSpPr>
            <p:cNvPr name="Freeform 93" id="93"/>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94" id="94"/>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JEÛNE</a:t>
              </a:r>
            </a:p>
          </p:txBody>
        </p:sp>
      </p:grpSp>
      <p:grpSp>
        <p:nvGrpSpPr>
          <p:cNvPr name="Group 95" id="95"/>
          <p:cNvGrpSpPr/>
          <p:nvPr/>
        </p:nvGrpSpPr>
        <p:grpSpPr>
          <a:xfrm rot="0">
            <a:off x="12444603" y="4263009"/>
            <a:ext cx="1918716" cy="419557"/>
            <a:chOff x="0" y="0"/>
            <a:chExt cx="2558288" cy="559410"/>
          </a:xfrm>
        </p:grpSpPr>
        <p:sp>
          <p:nvSpPr>
            <p:cNvPr name="Freeform 96" id="96"/>
            <p:cNvSpPr/>
            <p:nvPr/>
          </p:nvSpPr>
          <p:spPr>
            <a:xfrm flipH="false" flipV="false" rot="0">
              <a:off x="12700" y="12700"/>
              <a:ext cx="2532888" cy="533908"/>
            </a:xfrm>
            <a:custGeom>
              <a:avLst/>
              <a:gdLst/>
              <a:ahLst/>
              <a:cxnLst/>
              <a:rect r="r" b="b" t="t" l="l"/>
              <a:pathLst>
                <a:path h="533908" w="2532888">
                  <a:moveTo>
                    <a:pt x="0" y="261239"/>
                  </a:moveTo>
                  <a:cubicBezTo>
                    <a:pt x="0" y="116967"/>
                    <a:pt x="121285" y="0"/>
                    <a:pt x="271018" y="0"/>
                  </a:cubicBezTo>
                  <a:lnTo>
                    <a:pt x="2261870" y="0"/>
                  </a:lnTo>
                  <a:cubicBezTo>
                    <a:pt x="2411476" y="0"/>
                    <a:pt x="2532888" y="116967"/>
                    <a:pt x="2532888" y="261239"/>
                  </a:cubicBezTo>
                  <a:lnTo>
                    <a:pt x="2532888" y="272669"/>
                  </a:lnTo>
                  <a:cubicBezTo>
                    <a:pt x="2532888" y="416941"/>
                    <a:pt x="2411603" y="533908"/>
                    <a:pt x="2261870" y="533908"/>
                  </a:cubicBezTo>
                  <a:lnTo>
                    <a:pt x="271018" y="533908"/>
                  </a:lnTo>
                  <a:cubicBezTo>
                    <a:pt x="121285" y="534035"/>
                    <a:pt x="0" y="417068"/>
                    <a:pt x="0" y="272796"/>
                  </a:cubicBezTo>
                  <a:close/>
                </a:path>
              </a:pathLst>
            </a:custGeom>
            <a:solidFill>
              <a:srgbClr val="FFFFFF"/>
            </a:solidFill>
          </p:spPr>
          <p:txBody>
            <a:bodyPr/>
            <a:p/>
          </p:txBody>
        </p:sp>
      </p:grpSp>
      <p:grpSp>
        <p:nvGrpSpPr>
          <p:cNvPr name="Group 97" id="97"/>
          <p:cNvGrpSpPr/>
          <p:nvPr/>
        </p:nvGrpSpPr>
        <p:grpSpPr>
          <a:xfrm rot="0">
            <a:off x="12534824" y="4272534"/>
            <a:ext cx="1986077" cy="400508"/>
            <a:chOff x="0" y="0"/>
            <a:chExt cx="2648102" cy="534010"/>
          </a:xfrm>
        </p:grpSpPr>
        <p:sp>
          <p:nvSpPr>
            <p:cNvPr name="Freeform 98" id="98"/>
            <p:cNvSpPr/>
            <p:nvPr/>
          </p:nvSpPr>
          <p:spPr>
            <a:xfrm flipH="false" flipV="false" rot="0">
              <a:off x="0" y="0"/>
              <a:ext cx="2648102" cy="534010"/>
            </a:xfrm>
            <a:custGeom>
              <a:avLst/>
              <a:gdLst/>
              <a:ahLst/>
              <a:cxnLst/>
              <a:rect r="r" b="b" t="t" l="l"/>
              <a:pathLst>
                <a:path h="534010" w="2648102">
                  <a:moveTo>
                    <a:pt x="0" y="0"/>
                  </a:moveTo>
                  <a:lnTo>
                    <a:pt x="2648102" y="0"/>
                  </a:lnTo>
                  <a:lnTo>
                    <a:pt x="2648102" y="534010"/>
                  </a:lnTo>
                  <a:lnTo>
                    <a:pt x="0" y="534010"/>
                  </a:lnTo>
                  <a:close/>
                </a:path>
              </a:pathLst>
            </a:custGeom>
            <a:blipFill>
              <a:blip r:embed="rId4">
                <a:alphaModFix amt="0"/>
              </a:blip>
              <a:stretch>
                <a:fillRect l="0" t="-46624" r="0" b="-46624"/>
              </a:stretch>
            </a:blipFill>
          </p:spPr>
          <p:txBody>
            <a:bodyPr/>
            <a:p/>
          </p:txBody>
        </p:sp>
        <p:sp>
          <p:nvSpPr>
            <p:cNvPr name="TextBox 99" id="99"/>
            <p:cNvSpPr txBox="true"/>
            <p:nvPr/>
          </p:nvSpPr>
          <p:spPr>
            <a:xfrm>
              <a:off x="0" y="0"/>
              <a:ext cx="2648102"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16-18h / Quotidien</a:t>
              </a:r>
            </a:p>
          </p:txBody>
        </p:sp>
      </p:grpSp>
      <p:grpSp>
        <p:nvGrpSpPr>
          <p:cNvPr name="Group 100" id="100"/>
          <p:cNvGrpSpPr/>
          <p:nvPr/>
        </p:nvGrpSpPr>
        <p:grpSpPr>
          <a:xfrm rot="0">
            <a:off x="12444603" y="4826737"/>
            <a:ext cx="4648200" cy="32766"/>
            <a:chOff x="0" y="0"/>
            <a:chExt cx="6197600" cy="43688"/>
          </a:xfrm>
        </p:grpSpPr>
        <p:sp>
          <p:nvSpPr>
            <p:cNvPr name="Freeform 101" id="101"/>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02" id="102"/>
          <p:cNvGrpSpPr/>
          <p:nvPr/>
        </p:nvGrpSpPr>
        <p:grpSpPr>
          <a:xfrm rot="0">
            <a:off x="12454128" y="5021428"/>
            <a:ext cx="4744364" cy="558241"/>
            <a:chOff x="0" y="0"/>
            <a:chExt cx="6325819" cy="744322"/>
          </a:xfrm>
        </p:grpSpPr>
        <p:sp>
          <p:nvSpPr>
            <p:cNvPr name="Freeform 103" id="103"/>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104" id="104"/>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Nettoyage cellulaire et repos digestif pour l'autophagie.</a:t>
              </a:r>
            </a:p>
          </p:txBody>
        </p:sp>
      </p:grpSp>
      <p:grpSp>
        <p:nvGrpSpPr>
          <p:cNvPr name="Group 105" id="105"/>
          <p:cNvGrpSpPr/>
          <p:nvPr/>
        </p:nvGrpSpPr>
        <p:grpSpPr>
          <a:xfrm rot="0">
            <a:off x="12444603" y="5683987"/>
            <a:ext cx="1161593" cy="319430"/>
            <a:chOff x="0" y="0"/>
            <a:chExt cx="1548790" cy="425907"/>
          </a:xfrm>
        </p:grpSpPr>
        <p:sp>
          <p:nvSpPr>
            <p:cNvPr name="Freeform 106" id="106"/>
            <p:cNvSpPr/>
            <p:nvPr/>
          </p:nvSpPr>
          <p:spPr>
            <a:xfrm flipH="false" flipV="false" rot="0">
              <a:off x="12700" y="12700"/>
              <a:ext cx="1523365" cy="400558"/>
            </a:xfrm>
            <a:custGeom>
              <a:avLst/>
              <a:gdLst/>
              <a:ahLst/>
              <a:cxnLst/>
              <a:rect r="r" b="b" t="t" l="l"/>
              <a:pathLst>
                <a:path h="400558" w="1523365">
                  <a:moveTo>
                    <a:pt x="0" y="200279"/>
                  </a:moveTo>
                  <a:cubicBezTo>
                    <a:pt x="0" y="89662"/>
                    <a:pt x="93726" y="0"/>
                    <a:pt x="209423" y="0"/>
                  </a:cubicBezTo>
                  <a:lnTo>
                    <a:pt x="1313942" y="0"/>
                  </a:lnTo>
                  <a:cubicBezTo>
                    <a:pt x="1429639" y="0"/>
                    <a:pt x="1523365" y="89662"/>
                    <a:pt x="1523365" y="200279"/>
                  </a:cubicBezTo>
                  <a:cubicBezTo>
                    <a:pt x="1523365" y="310896"/>
                    <a:pt x="1429639" y="400558"/>
                    <a:pt x="1313942" y="400558"/>
                  </a:cubicBezTo>
                  <a:lnTo>
                    <a:pt x="209423" y="400558"/>
                  </a:lnTo>
                  <a:cubicBezTo>
                    <a:pt x="93726" y="400558"/>
                    <a:pt x="0" y="310896"/>
                    <a:pt x="0" y="200279"/>
                  </a:cubicBezTo>
                  <a:close/>
                </a:path>
              </a:pathLst>
            </a:custGeom>
            <a:solidFill>
              <a:srgbClr val="FFFFFF">
                <a:alpha val="0"/>
              </a:srgbClr>
            </a:solidFill>
          </p:spPr>
          <p:txBody>
            <a:bodyPr/>
            <a:p/>
          </p:txBody>
        </p:sp>
      </p:grpSp>
      <p:grpSp>
        <p:nvGrpSpPr>
          <p:cNvPr name="Group 107" id="107"/>
          <p:cNvGrpSpPr/>
          <p:nvPr/>
        </p:nvGrpSpPr>
        <p:grpSpPr>
          <a:xfrm rot="0">
            <a:off x="12454128" y="5693512"/>
            <a:ext cx="1257757" cy="300381"/>
            <a:chOff x="0" y="0"/>
            <a:chExt cx="1677010" cy="400508"/>
          </a:xfrm>
        </p:grpSpPr>
        <p:sp>
          <p:nvSpPr>
            <p:cNvPr name="Freeform 108" id="108"/>
            <p:cNvSpPr/>
            <p:nvPr/>
          </p:nvSpPr>
          <p:spPr>
            <a:xfrm flipH="false" flipV="false" rot="0">
              <a:off x="0" y="0"/>
              <a:ext cx="1677010" cy="400509"/>
            </a:xfrm>
            <a:custGeom>
              <a:avLst/>
              <a:gdLst/>
              <a:ahLst/>
              <a:cxnLst/>
              <a:rect r="r" b="b" t="t" l="l"/>
              <a:pathLst>
                <a:path h="400509" w="1677010">
                  <a:moveTo>
                    <a:pt x="0" y="0"/>
                  </a:moveTo>
                  <a:lnTo>
                    <a:pt x="1677010" y="0"/>
                  </a:lnTo>
                  <a:lnTo>
                    <a:pt x="1677010" y="400509"/>
                  </a:lnTo>
                  <a:lnTo>
                    <a:pt x="0" y="400509"/>
                  </a:lnTo>
                  <a:close/>
                </a:path>
              </a:pathLst>
            </a:custGeom>
            <a:blipFill>
              <a:blip r:embed="rId4">
                <a:alphaModFix amt="0"/>
              </a:blip>
              <a:stretch>
                <a:fillRect l="0" t="-31587" r="0" b="-31587"/>
              </a:stretch>
            </a:blipFill>
          </p:spPr>
          <p:txBody>
            <a:bodyPr/>
            <a:p/>
          </p:txBody>
        </p:sp>
        <p:sp>
          <p:nvSpPr>
            <p:cNvPr name="TextBox 109" id="109"/>
            <p:cNvSpPr txBox="true"/>
            <p:nvPr/>
          </p:nvSpPr>
          <p:spPr>
            <a:xfrm>
              <a:off x="0" y="0"/>
              <a:ext cx="167701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24h Bi-hebdo</a:t>
              </a:r>
            </a:p>
          </p:txBody>
        </p:sp>
      </p:grpSp>
      <p:grpSp>
        <p:nvGrpSpPr>
          <p:cNvPr name="Group 110" id="110"/>
          <p:cNvGrpSpPr/>
          <p:nvPr/>
        </p:nvGrpSpPr>
        <p:grpSpPr>
          <a:xfrm rot="0">
            <a:off x="13696874" y="5683987"/>
            <a:ext cx="1047750" cy="319430"/>
            <a:chOff x="0" y="0"/>
            <a:chExt cx="1397000" cy="425907"/>
          </a:xfrm>
        </p:grpSpPr>
        <p:sp>
          <p:nvSpPr>
            <p:cNvPr name="Freeform 111" id="111"/>
            <p:cNvSpPr/>
            <p:nvPr/>
          </p:nvSpPr>
          <p:spPr>
            <a:xfrm flipH="false" flipV="false" rot="0">
              <a:off x="12700" y="12700"/>
              <a:ext cx="1371600" cy="400558"/>
            </a:xfrm>
            <a:custGeom>
              <a:avLst/>
              <a:gdLst/>
              <a:ahLst/>
              <a:cxnLst/>
              <a:rect r="r" b="b" t="t" l="l"/>
              <a:pathLst>
                <a:path h="400558" w="1371600">
                  <a:moveTo>
                    <a:pt x="0" y="200279"/>
                  </a:moveTo>
                  <a:cubicBezTo>
                    <a:pt x="0" y="89662"/>
                    <a:pt x="93599" y="0"/>
                    <a:pt x="209042" y="0"/>
                  </a:cubicBezTo>
                  <a:lnTo>
                    <a:pt x="1162558" y="0"/>
                  </a:lnTo>
                  <a:cubicBezTo>
                    <a:pt x="1278001" y="0"/>
                    <a:pt x="1371600" y="89662"/>
                    <a:pt x="1371600" y="200279"/>
                  </a:cubicBezTo>
                  <a:cubicBezTo>
                    <a:pt x="1371600" y="310896"/>
                    <a:pt x="1278001" y="400558"/>
                    <a:pt x="1162558" y="400558"/>
                  </a:cubicBezTo>
                  <a:lnTo>
                    <a:pt x="209042" y="400558"/>
                  </a:lnTo>
                  <a:cubicBezTo>
                    <a:pt x="93599" y="400558"/>
                    <a:pt x="0" y="310896"/>
                    <a:pt x="0" y="200279"/>
                  </a:cubicBezTo>
                  <a:close/>
                </a:path>
              </a:pathLst>
            </a:custGeom>
            <a:solidFill>
              <a:srgbClr val="FFFFFF">
                <a:alpha val="0"/>
              </a:srgbClr>
            </a:solidFill>
          </p:spPr>
          <p:txBody>
            <a:bodyPr/>
            <a:p/>
          </p:txBody>
        </p:sp>
      </p:grpSp>
      <p:grpSp>
        <p:nvGrpSpPr>
          <p:cNvPr name="Group 112" id="112"/>
          <p:cNvGrpSpPr/>
          <p:nvPr/>
        </p:nvGrpSpPr>
        <p:grpSpPr>
          <a:xfrm rot="0">
            <a:off x="13791362" y="5693512"/>
            <a:ext cx="1143914" cy="300381"/>
            <a:chOff x="0" y="0"/>
            <a:chExt cx="1525219" cy="400508"/>
          </a:xfrm>
        </p:grpSpPr>
        <p:sp>
          <p:nvSpPr>
            <p:cNvPr name="Freeform 113" id="113"/>
            <p:cNvSpPr/>
            <p:nvPr/>
          </p:nvSpPr>
          <p:spPr>
            <a:xfrm flipH="false" flipV="false" rot="0">
              <a:off x="0" y="0"/>
              <a:ext cx="1525220" cy="400509"/>
            </a:xfrm>
            <a:custGeom>
              <a:avLst/>
              <a:gdLst/>
              <a:ahLst/>
              <a:cxnLst/>
              <a:rect r="r" b="b" t="t" l="l"/>
              <a:pathLst>
                <a:path h="400509" w="1525220">
                  <a:moveTo>
                    <a:pt x="0" y="0"/>
                  </a:moveTo>
                  <a:lnTo>
                    <a:pt x="1525220" y="0"/>
                  </a:lnTo>
                  <a:lnTo>
                    <a:pt x="1525220" y="400509"/>
                  </a:lnTo>
                  <a:lnTo>
                    <a:pt x="0" y="400509"/>
                  </a:lnTo>
                  <a:close/>
                </a:path>
              </a:pathLst>
            </a:custGeom>
            <a:blipFill>
              <a:blip r:embed="rId4">
                <a:alphaModFix amt="0"/>
              </a:blip>
              <a:stretch>
                <a:fillRect l="0" t="-24203" r="0" b="-24202"/>
              </a:stretch>
            </a:blipFill>
          </p:spPr>
          <p:txBody>
            <a:bodyPr/>
            <a:p/>
          </p:txBody>
        </p:sp>
        <p:sp>
          <p:nvSpPr>
            <p:cNvPr name="TextBox 114" id="114"/>
            <p:cNvSpPr txBox="true"/>
            <p:nvPr/>
          </p:nvSpPr>
          <p:spPr>
            <a:xfrm>
              <a:off x="0" y="0"/>
              <a:ext cx="1525219"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FMD Annuel</a:t>
              </a:r>
            </a:p>
          </p:txBody>
        </p:sp>
      </p:grpSp>
      <p:grpSp>
        <p:nvGrpSpPr>
          <p:cNvPr name="Group 115" id="115"/>
          <p:cNvGrpSpPr/>
          <p:nvPr/>
        </p:nvGrpSpPr>
        <p:grpSpPr>
          <a:xfrm rot="0">
            <a:off x="14839417" y="5683987"/>
            <a:ext cx="691134" cy="319430"/>
            <a:chOff x="0" y="0"/>
            <a:chExt cx="921512" cy="425907"/>
          </a:xfrm>
        </p:grpSpPr>
        <p:sp>
          <p:nvSpPr>
            <p:cNvPr name="Freeform 116" id="116"/>
            <p:cNvSpPr/>
            <p:nvPr/>
          </p:nvSpPr>
          <p:spPr>
            <a:xfrm flipH="false" flipV="false" rot="0">
              <a:off x="12700" y="12700"/>
              <a:ext cx="896112" cy="400558"/>
            </a:xfrm>
            <a:custGeom>
              <a:avLst/>
              <a:gdLst/>
              <a:ahLst/>
              <a:cxnLst/>
              <a:rect r="r" b="b" t="t" l="l"/>
              <a:pathLst>
                <a:path h="400558" w="896112">
                  <a:moveTo>
                    <a:pt x="0" y="200279"/>
                  </a:moveTo>
                  <a:cubicBezTo>
                    <a:pt x="0" y="89662"/>
                    <a:pt x="92710" y="0"/>
                    <a:pt x="207137" y="0"/>
                  </a:cubicBezTo>
                  <a:lnTo>
                    <a:pt x="688975" y="0"/>
                  </a:lnTo>
                  <a:cubicBezTo>
                    <a:pt x="803402" y="0"/>
                    <a:pt x="896112" y="89662"/>
                    <a:pt x="896112" y="200279"/>
                  </a:cubicBezTo>
                  <a:cubicBezTo>
                    <a:pt x="896112" y="310896"/>
                    <a:pt x="803402" y="400558"/>
                    <a:pt x="688975" y="400558"/>
                  </a:cubicBezTo>
                  <a:lnTo>
                    <a:pt x="207137" y="400558"/>
                  </a:lnTo>
                  <a:cubicBezTo>
                    <a:pt x="92710" y="400558"/>
                    <a:pt x="0" y="310896"/>
                    <a:pt x="0" y="200279"/>
                  </a:cubicBezTo>
                  <a:close/>
                </a:path>
              </a:pathLst>
            </a:custGeom>
            <a:solidFill>
              <a:srgbClr val="FFFFFF">
                <a:alpha val="0"/>
              </a:srgbClr>
            </a:solidFill>
          </p:spPr>
          <p:txBody>
            <a:bodyPr/>
            <a:p/>
          </p:txBody>
        </p:sp>
      </p:grpSp>
      <p:grpSp>
        <p:nvGrpSpPr>
          <p:cNvPr name="Group 117" id="117"/>
          <p:cNvGrpSpPr/>
          <p:nvPr/>
        </p:nvGrpSpPr>
        <p:grpSpPr>
          <a:xfrm rot="0">
            <a:off x="14848942" y="5693512"/>
            <a:ext cx="785927" cy="300381"/>
            <a:chOff x="0" y="0"/>
            <a:chExt cx="1047902" cy="400508"/>
          </a:xfrm>
        </p:grpSpPr>
        <p:sp>
          <p:nvSpPr>
            <p:cNvPr name="Freeform 118" id="118"/>
            <p:cNvSpPr/>
            <p:nvPr/>
          </p:nvSpPr>
          <p:spPr>
            <a:xfrm flipH="false" flipV="false" rot="0">
              <a:off x="0" y="0"/>
              <a:ext cx="1047902" cy="400509"/>
            </a:xfrm>
            <a:custGeom>
              <a:avLst/>
              <a:gdLst/>
              <a:ahLst/>
              <a:cxnLst/>
              <a:rect r="r" b="b" t="t" l="l"/>
              <a:pathLst>
                <a:path h="400509" w="1047902">
                  <a:moveTo>
                    <a:pt x="0" y="0"/>
                  </a:moveTo>
                  <a:lnTo>
                    <a:pt x="1047902" y="0"/>
                  </a:lnTo>
                  <a:lnTo>
                    <a:pt x="1047902" y="400509"/>
                  </a:lnTo>
                  <a:lnTo>
                    <a:pt x="0" y="400509"/>
                  </a:lnTo>
                  <a:close/>
                </a:path>
              </a:pathLst>
            </a:custGeom>
            <a:blipFill>
              <a:blip r:embed="rId4">
                <a:alphaModFix amt="0"/>
              </a:blip>
              <a:stretch>
                <a:fillRect l="0" t="-981" r="0" b="-981"/>
              </a:stretch>
            </a:blipFill>
          </p:spPr>
          <p:txBody>
            <a:bodyPr/>
            <a:p/>
          </p:txBody>
        </p:sp>
        <p:sp>
          <p:nvSpPr>
            <p:cNvPr name="TextBox 119" id="119"/>
            <p:cNvSpPr txBox="true"/>
            <p:nvPr/>
          </p:nvSpPr>
          <p:spPr>
            <a:xfrm>
              <a:off x="0" y="0"/>
              <a:ext cx="104790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Timing</a:t>
              </a:r>
            </a:p>
          </p:txBody>
        </p:sp>
      </p:grpSp>
      <p:grpSp>
        <p:nvGrpSpPr>
          <p:cNvPr name="Group 120" id="120"/>
          <p:cNvGrpSpPr/>
          <p:nvPr/>
        </p:nvGrpSpPr>
        <p:grpSpPr>
          <a:xfrm rot="0">
            <a:off x="847725" y="6619418"/>
            <a:ext cx="5362804" cy="3586001"/>
            <a:chOff x="0" y="0"/>
            <a:chExt cx="7150405" cy="4781335"/>
          </a:xfrm>
        </p:grpSpPr>
        <p:sp>
          <p:nvSpPr>
            <p:cNvPr name="Freeform 121" id="121"/>
            <p:cNvSpPr/>
            <p:nvPr/>
          </p:nvSpPr>
          <p:spPr>
            <a:xfrm flipH="false" flipV="false" rot="0">
              <a:off x="12700" y="11792"/>
              <a:ext cx="7124954" cy="4757775"/>
            </a:xfrm>
            <a:custGeom>
              <a:avLst/>
              <a:gdLst/>
              <a:ahLst/>
              <a:cxnLst/>
              <a:rect r="r" b="b" t="t" l="l"/>
              <a:pathLst>
                <a:path h="4757775" w="7124954">
                  <a:moveTo>
                    <a:pt x="0" y="0"/>
                  </a:moveTo>
                  <a:lnTo>
                    <a:pt x="7124954" y="0"/>
                  </a:lnTo>
                  <a:lnTo>
                    <a:pt x="7124954" y="4757775"/>
                  </a:lnTo>
                  <a:lnTo>
                    <a:pt x="0" y="4757775"/>
                  </a:lnTo>
                  <a:close/>
                </a:path>
              </a:pathLst>
            </a:custGeom>
            <a:solidFill>
              <a:srgbClr val="141419"/>
            </a:solidFill>
          </p:spPr>
          <p:txBody>
            <a:bodyPr/>
            <a:p/>
          </p:txBody>
        </p:sp>
        <p:sp>
          <p:nvSpPr>
            <p:cNvPr name="Freeform 122" id="122"/>
            <p:cNvSpPr/>
            <p:nvPr/>
          </p:nvSpPr>
          <p:spPr>
            <a:xfrm flipH="false" flipV="false" rot="0">
              <a:off x="0" y="0"/>
              <a:ext cx="7150354" cy="4781360"/>
            </a:xfrm>
            <a:custGeom>
              <a:avLst/>
              <a:gdLst/>
              <a:ahLst/>
              <a:cxnLst/>
              <a:rect r="r" b="b" t="t" l="l"/>
              <a:pathLst>
                <a:path h="4781360" w="7150354">
                  <a:moveTo>
                    <a:pt x="12700" y="0"/>
                  </a:moveTo>
                  <a:lnTo>
                    <a:pt x="7137654" y="0"/>
                  </a:lnTo>
                  <a:cubicBezTo>
                    <a:pt x="7144639" y="0"/>
                    <a:pt x="7150354" y="5306"/>
                    <a:pt x="7150354" y="11792"/>
                  </a:cubicBezTo>
                  <a:lnTo>
                    <a:pt x="7150354" y="4769567"/>
                  </a:lnTo>
                  <a:cubicBezTo>
                    <a:pt x="7150354" y="4776052"/>
                    <a:pt x="7144639" y="4781360"/>
                    <a:pt x="7137654" y="4781360"/>
                  </a:cubicBezTo>
                  <a:lnTo>
                    <a:pt x="12700" y="4781360"/>
                  </a:lnTo>
                  <a:cubicBezTo>
                    <a:pt x="5715" y="4781360"/>
                    <a:pt x="0" y="4776052"/>
                    <a:pt x="0" y="4769567"/>
                  </a:cubicBezTo>
                  <a:lnTo>
                    <a:pt x="0" y="11792"/>
                  </a:lnTo>
                  <a:cubicBezTo>
                    <a:pt x="0" y="5306"/>
                    <a:pt x="5715" y="0"/>
                    <a:pt x="12700" y="0"/>
                  </a:cubicBezTo>
                  <a:moveTo>
                    <a:pt x="12700" y="23583"/>
                  </a:moveTo>
                  <a:lnTo>
                    <a:pt x="12700" y="11792"/>
                  </a:lnTo>
                  <a:lnTo>
                    <a:pt x="25400" y="11792"/>
                  </a:lnTo>
                  <a:lnTo>
                    <a:pt x="25400" y="4769567"/>
                  </a:lnTo>
                  <a:lnTo>
                    <a:pt x="12700" y="4769567"/>
                  </a:lnTo>
                  <a:lnTo>
                    <a:pt x="12700" y="4757775"/>
                  </a:lnTo>
                  <a:lnTo>
                    <a:pt x="7137654" y="4757775"/>
                  </a:lnTo>
                  <a:lnTo>
                    <a:pt x="7137654" y="4769567"/>
                  </a:lnTo>
                  <a:lnTo>
                    <a:pt x="7124954" y="4769567"/>
                  </a:lnTo>
                  <a:lnTo>
                    <a:pt x="7124954" y="11792"/>
                  </a:lnTo>
                  <a:lnTo>
                    <a:pt x="7137654" y="11792"/>
                  </a:lnTo>
                  <a:lnTo>
                    <a:pt x="7137654" y="23583"/>
                  </a:lnTo>
                  <a:lnTo>
                    <a:pt x="12700" y="23583"/>
                  </a:lnTo>
                  <a:close/>
                </a:path>
              </a:pathLst>
            </a:custGeom>
            <a:solidFill>
              <a:srgbClr val="40424D"/>
            </a:solidFill>
          </p:spPr>
          <p:txBody>
            <a:bodyPr/>
            <a:p/>
          </p:txBody>
        </p:sp>
      </p:grpSp>
      <p:grpSp>
        <p:nvGrpSpPr>
          <p:cNvPr name="Group 123" id="123"/>
          <p:cNvGrpSpPr/>
          <p:nvPr/>
        </p:nvGrpSpPr>
        <p:grpSpPr>
          <a:xfrm rot="0">
            <a:off x="1204341" y="6977405"/>
            <a:ext cx="647243" cy="647243"/>
            <a:chOff x="0" y="0"/>
            <a:chExt cx="862990" cy="862990"/>
          </a:xfrm>
        </p:grpSpPr>
        <p:sp>
          <p:nvSpPr>
            <p:cNvPr name="Freeform 124" id="124"/>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25" id="125"/>
          <p:cNvGrpSpPr/>
          <p:nvPr/>
        </p:nvGrpSpPr>
        <p:grpSpPr>
          <a:xfrm rot="0">
            <a:off x="1400404" y="7158380"/>
            <a:ext cx="257861" cy="285293"/>
            <a:chOff x="0" y="0"/>
            <a:chExt cx="343814" cy="380390"/>
          </a:xfrm>
        </p:grpSpPr>
        <p:sp>
          <p:nvSpPr>
            <p:cNvPr name="Freeform 126" id="126"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7"/>
              <a:stretch>
                <a:fillRect l="1595" t="0" r="1588" b="-6"/>
              </a:stretch>
            </a:blipFill>
          </p:spPr>
          <p:txBody>
            <a:bodyPr/>
            <a:p/>
          </p:txBody>
        </p:sp>
      </p:grpSp>
      <p:grpSp>
        <p:nvGrpSpPr>
          <p:cNvPr name="Group 127" id="127"/>
          <p:cNvGrpSpPr/>
          <p:nvPr/>
        </p:nvGrpSpPr>
        <p:grpSpPr>
          <a:xfrm rot="0">
            <a:off x="5627675" y="6986930"/>
            <a:ext cx="329184" cy="257861"/>
            <a:chOff x="0" y="0"/>
            <a:chExt cx="438912" cy="343814"/>
          </a:xfrm>
        </p:grpSpPr>
        <p:sp>
          <p:nvSpPr>
            <p:cNvPr name="Freeform 128" id="128"/>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29" id="129"/>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04</a:t>
              </a:r>
            </a:p>
          </p:txBody>
        </p:sp>
      </p:grpSp>
      <p:grpSp>
        <p:nvGrpSpPr>
          <p:cNvPr name="Group 130" id="130"/>
          <p:cNvGrpSpPr/>
          <p:nvPr/>
        </p:nvGrpSpPr>
        <p:grpSpPr>
          <a:xfrm rot="0">
            <a:off x="1213866" y="7900416"/>
            <a:ext cx="4800600" cy="430120"/>
            <a:chOff x="0" y="0"/>
            <a:chExt cx="6400800" cy="573494"/>
          </a:xfrm>
        </p:grpSpPr>
        <p:sp>
          <p:nvSpPr>
            <p:cNvPr name="Freeform 131" id="131"/>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32" id="132"/>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FLEXIBILITÉ</a:t>
              </a:r>
            </a:p>
          </p:txBody>
        </p:sp>
      </p:grpSp>
      <p:grpSp>
        <p:nvGrpSpPr>
          <p:cNvPr name="Group 133" id="133"/>
          <p:cNvGrpSpPr/>
          <p:nvPr/>
        </p:nvGrpSpPr>
        <p:grpSpPr>
          <a:xfrm rot="0">
            <a:off x="1204341" y="8391525"/>
            <a:ext cx="1762354" cy="419557"/>
            <a:chOff x="0" y="0"/>
            <a:chExt cx="2349805" cy="559410"/>
          </a:xfrm>
        </p:grpSpPr>
        <p:sp>
          <p:nvSpPr>
            <p:cNvPr name="Freeform 134" id="134"/>
            <p:cNvSpPr/>
            <p:nvPr/>
          </p:nvSpPr>
          <p:spPr>
            <a:xfrm flipH="false" flipV="false" rot="0">
              <a:off x="12700" y="12700"/>
              <a:ext cx="2324481" cy="533908"/>
            </a:xfrm>
            <a:custGeom>
              <a:avLst/>
              <a:gdLst/>
              <a:ahLst/>
              <a:cxnLst/>
              <a:rect r="r" b="b" t="t" l="l"/>
              <a:pathLst>
                <a:path h="533908" w="2324481">
                  <a:moveTo>
                    <a:pt x="0" y="261239"/>
                  </a:moveTo>
                  <a:cubicBezTo>
                    <a:pt x="0" y="116967"/>
                    <a:pt x="121158" y="0"/>
                    <a:pt x="270764" y="0"/>
                  </a:cubicBezTo>
                  <a:lnTo>
                    <a:pt x="2053717" y="0"/>
                  </a:lnTo>
                  <a:cubicBezTo>
                    <a:pt x="2203196" y="0"/>
                    <a:pt x="2324481" y="116967"/>
                    <a:pt x="2324481" y="261239"/>
                  </a:cubicBezTo>
                  <a:lnTo>
                    <a:pt x="2324481" y="272669"/>
                  </a:lnTo>
                  <a:cubicBezTo>
                    <a:pt x="2324481" y="416941"/>
                    <a:pt x="2203323" y="533908"/>
                    <a:pt x="2053717" y="533908"/>
                  </a:cubicBezTo>
                  <a:lnTo>
                    <a:pt x="270764" y="533908"/>
                  </a:lnTo>
                  <a:cubicBezTo>
                    <a:pt x="121158" y="534035"/>
                    <a:pt x="0" y="417068"/>
                    <a:pt x="0" y="272796"/>
                  </a:cubicBezTo>
                  <a:close/>
                </a:path>
              </a:pathLst>
            </a:custGeom>
            <a:solidFill>
              <a:srgbClr val="FFFFFF"/>
            </a:solidFill>
          </p:spPr>
          <p:txBody>
            <a:bodyPr/>
            <a:p/>
          </p:txBody>
        </p:sp>
      </p:grpSp>
      <p:grpSp>
        <p:nvGrpSpPr>
          <p:cNvPr name="Group 135" id="135"/>
          <p:cNvGrpSpPr/>
          <p:nvPr/>
        </p:nvGrpSpPr>
        <p:grpSpPr>
          <a:xfrm rot="0">
            <a:off x="1400404" y="8387686"/>
            <a:ext cx="1829714" cy="400508"/>
            <a:chOff x="0" y="0"/>
            <a:chExt cx="2439619" cy="534010"/>
          </a:xfrm>
        </p:grpSpPr>
        <p:sp>
          <p:nvSpPr>
            <p:cNvPr name="Freeform 136" id="136"/>
            <p:cNvSpPr/>
            <p:nvPr/>
          </p:nvSpPr>
          <p:spPr>
            <a:xfrm flipH="false" flipV="false" rot="0">
              <a:off x="0" y="0"/>
              <a:ext cx="2439620" cy="534010"/>
            </a:xfrm>
            <a:custGeom>
              <a:avLst/>
              <a:gdLst/>
              <a:ahLst/>
              <a:cxnLst/>
              <a:rect r="r" b="b" t="t" l="l"/>
              <a:pathLst>
                <a:path h="534010" w="2439620">
                  <a:moveTo>
                    <a:pt x="0" y="0"/>
                  </a:moveTo>
                  <a:lnTo>
                    <a:pt x="2439620" y="0"/>
                  </a:lnTo>
                  <a:lnTo>
                    <a:pt x="2439620" y="534010"/>
                  </a:lnTo>
                  <a:lnTo>
                    <a:pt x="0" y="534010"/>
                  </a:lnTo>
                  <a:close/>
                </a:path>
              </a:pathLst>
            </a:custGeom>
            <a:blipFill>
              <a:blip r:embed="rId4">
                <a:alphaModFix amt="0"/>
              </a:blip>
              <a:stretch>
                <a:fillRect l="0" t="-39017" r="0" b="-39017"/>
              </a:stretch>
            </a:blipFill>
          </p:spPr>
          <p:txBody>
            <a:bodyPr/>
            <a:p/>
          </p:txBody>
        </p:sp>
        <p:sp>
          <p:nvSpPr>
            <p:cNvPr name="TextBox 137" id="137"/>
            <p:cNvSpPr txBox="true"/>
            <p:nvPr/>
          </p:nvSpPr>
          <p:spPr>
            <a:xfrm>
              <a:off x="0" y="0"/>
              <a:ext cx="2439619"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Cétose Cyclique</a:t>
              </a:r>
            </a:p>
          </p:txBody>
        </p:sp>
      </p:grpSp>
      <p:grpSp>
        <p:nvGrpSpPr>
          <p:cNvPr name="Group 138" id="138"/>
          <p:cNvGrpSpPr/>
          <p:nvPr/>
        </p:nvGrpSpPr>
        <p:grpSpPr>
          <a:xfrm rot="0">
            <a:off x="1204341" y="8955253"/>
            <a:ext cx="4648200" cy="32766"/>
            <a:chOff x="0" y="0"/>
            <a:chExt cx="6197600" cy="43688"/>
          </a:xfrm>
        </p:grpSpPr>
        <p:sp>
          <p:nvSpPr>
            <p:cNvPr name="Freeform 139" id="139"/>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40" id="140"/>
          <p:cNvGrpSpPr/>
          <p:nvPr/>
        </p:nvGrpSpPr>
        <p:grpSpPr>
          <a:xfrm rot="0">
            <a:off x="1213866" y="9151315"/>
            <a:ext cx="4744364" cy="558241"/>
            <a:chOff x="0" y="0"/>
            <a:chExt cx="6325819" cy="744322"/>
          </a:xfrm>
        </p:grpSpPr>
        <p:sp>
          <p:nvSpPr>
            <p:cNvPr name="Freeform 141" id="141"/>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142" id="142"/>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Capacité à basculer efficacement entre glucose et graisses.</a:t>
              </a:r>
            </a:p>
          </p:txBody>
        </p:sp>
      </p:grpSp>
      <p:grpSp>
        <p:nvGrpSpPr>
          <p:cNvPr name="Group 143" id="143"/>
          <p:cNvGrpSpPr/>
          <p:nvPr/>
        </p:nvGrpSpPr>
        <p:grpSpPr>
          <a:xfrm rot="0">
            <a:off x="1204341" y="9812503"/>
            <a:ext cx="1090270" cy="319430"/>
            <a:chOff x="0" y="0"/>
            <a:chExt cx="1453693" cy="425907"/>
          </a:xfrm>
        </p:grpSpPr>
        <p:sp>
          <p:nvSpPr>
            <p:cNvPr name="Freeform 144" id="144"/>
            <p:cNvSpPr/>
            <p:nvPr/>
          </p:nvSpPr>
          <p:spPr>
            <a:xfrm flipH="false" flipV="false" rot="0">
              <a:off x="12700" y="12700"/>
              <a:ext cx="1428369" cy="400558"/>
            </a:xfrm>
            <a:custGeom>
              <a:avLst/>
              <a:gdLst/>
              <a:ahLst/>
              <a:cxnLst/>
              <a:rect r="r" b="b" t="t" l="l"/>
              <a:pathLst>
                <a:path h="400558" w="1428369">
                  <a:moveTo>
                    <a:pt x="0" y="200279"/>
                  </a:moveTo>
                  <a:cubicBezTo>
                    <a:pt x="0" y="89662"/>
                    <a:pt x="93726" y="0"/>
                    <a:pt x="209296" y="0"/>
                  </a:cubicBezTo>
                  <a:lnTo>
                    <a:pt x="1219073" y="0"/>
                  </a:lnTo>
                  <a:cubicBezTo>
                    <a:pt x="1334643" y="0"/>
                    <a:pt x="1428369" y="89662"/>
                    <a:pt x="1428369" y="200279"/>
                  </a:cubicBezTo>
                  <a:cubicBezTo>
                    <a:pt x="1428369" y="310896"/>
                    <a:pt x="1334643" y="400558"/>
                    <a:pt x="1219073" y="400558"/>
                  </a:cubicBezTo>
                  <a:lnTo>
                    <a:pt x="209296" y="400558"/>
                  </a:lnTo>
                  <a:cubicBezTo>
                    <a:pt x="93726" y="400558"/>
                    <a:pt x="0" y="310896"/>
                    <a:pt x="0" y="200279"/>
                  </a:cubicBezTo>
                  <a:close/>
                </a:path>
              </a:pathLst>
            </a:custGeom>
            <a:solidFill>
              <a:srgbClr val="FFFFFF">
                <a:alpha val="0"/>
              </a:srgbClr>
            </a:solidFill>
          </p:spPr>
          <p:txBody>
            <a:bodyPr/>
            <a:p/>
          </p:txBody>
        </p:sp>
      </p:grpSp>
      <p:grpSp>
        <p:nvGrpSpPr>
          <p:cNvPr name="Group 145" id="145"/>
          <p:cNvGrpSpPr/>
          <p:nvPr/>
        </p:nvGrpSpPr>
        <p:grpSpPr>
          <a:xfrm rot="0">
            <a:off x="1213866" y="9822028"/>
            <a:ext cx="1186434" cy="300381"/>
            <a:chOff x="0" y="0"/>
            <a:chExt cx="1581912" cy="400508"/>
          </a:xfrm>
        </p:grpSpPr>
        <p:sp>
          <p:nvSpPr>
            <p:cNvPr name="Freeform 146" id="146"/>
            <p:cNvSpPr/>
            <p:nvPr/>
          </p:nvSpPr>
          <p:spPr>
            <a:xfrm flipH="false" flipV="false" rot="0">
              <a:off x="0" y="0"/>
              <a:ext cx="1581912" cy="400509"/>
            </a:xfrm>
            <a:custGeom>
              <a:avLst/>
              <a:gdLst/>
              <a:ahLst/>
              <a:cxnLst/>
              <a:rect r="r" b="b" t="t" l="l"/>
              <a:pathLst>
                <a:path h="400509" w="1581912">
                  <a:moveTo>
                    <a:pt x="0" y="0"/>
                  </a:moveTo>
                  <a:lnTo>
                    <a:pt x="1581912" y="0"/>
                  </a:lnTo>
                  <a:lnTo>
                    <a:pt x="1581912" y="400509"/>
                  </a:lnTo>
                  <a:lnTo>
                    <a:pt x="0" y="400509"/>
                  </a:lnTo>
                  <a:close/>
                </a:path>
              </a:pathLst>
            </a:custGeom>
            <a:blipFill>
              <a:blip r:embed="rId4">
                <a:alphaModFix amt="0"/>
              </a:blip>
              <a:stretch>
                <a:fillRect l="0" t="-26961" r="0" b="-26960"/>
              </a:stretch>
            </a:blipFill>
          </p:spPr>
          <p:txBody>
            <a:bodyPr/>
            <a:p/>
          </p:txBody>
        </p:sp>
        <p:sp>
          <p:nvSpPr>
            <p:cNvPr name="TextBox 147" id="147"/>
            <p:cNvSpPr txBox="true"/>
            <p:nvPr/>
          </p:nvSpPr>
          <p:spPr>
            <a:xfrm>
              <a:off x="0" y="0"/>
              <a:ext cx="158191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Smart Carbs</a:t>
              </a:r>
            </a:p>
          </p:txBody>
        </p:sp>
      </p:grpSp>
      <p:grpSp>
        <p:nvGrpSpPr>
          <p:cNvPr name="Group 148" id="148"/>
          <p:cNvGrpSpPr/>
          <p:nvPr/>
        </p:nvGrpSpPr>
        <p:grpSpPr>
          <a:xfrm rot="0">
            <a:off x="2390775" y="9812503"/>
            <a:ext cx="1248004" cy="319430"/>
            <a:chOff x="0" y="0"/>
            <a:chExt cx="1664005" cy="425907"/>
          </a:xfrm>
        </p:grpSpPr>
        <p:sp>
          <p:nvSpPr>
            <p:cNvPr name="Freeform 149" id="149"/>
            <p:cNvSpPr/>
            <p:nvPr/>
          </p:nvSpPr>
          <p:spPr>
            <a:xfrm flipH="false" flipV="false" rot="0">
              <a:off x="12700" y="12700"/>
              <a:ext cx="1638554" cy="400558"/>
            </a:xfrm>
            <a:custGeom>
              <a:avLst/>
              <a:gdLst/>
              <a:ahLst/>
              <a:cxnLst/>
              <a:rect r="r" b="b" t="t" l="l"/>
              <a:pathLst>
                <a:path h="400558" w="1638554">
                  <a:moveTo>
                    <a:pt x="0" y="200279"/>
                  </a:moveTo>
                  <a:cubicBezTo>
                    <a:pt x="0" y="89662"/>
                    <a:pt x="93853" y="0"/>
                    <a:pt x="209677" y="0"/>
                  </a:cubicBezTo>
                  <a:lnTo>
                    <a:pt x="1428877" y="0"/>
                  </a:lnTo>
                  <a:cubicBezTo>
                    <a:pt x="1544701" y="0"/>
                    <a:pt x="1638554" y="89662"/>
                    <a:pt x="1638554" y="200279"/>
                  </a:cubicBezTo>
                  <a:cubicBezTo>
                    <a:pt x="1638554" y="310896"/>
                    <a:pt x="1544701" y="400558"/>
                    <a:pt x="1428877" y="400558"/>
                  </a:cubicBezTo>
                  <a:lnTo>
                    <a:pt x="209677" y="400558"/>
                  </a:lnTo>
                  <a:cubicBezTo>
                    <a:pt x="93853" y="400558"/>
                    <a:pt x="0" y="310896"/>
                    <a:pt x="0" y="200279"/>
                  </a:cubicBezTo>
                  <a:close/>
                </a:path>
              </a:pathLst>
            </a:custGeom>
            <a:solidFill>
              <a:srgbClr val="FFFFFF">
                <a:alpha val="0"/>
              </a:srgbClr>
            </a:solidFill>
          </p:spPr>
          <p:txBody>
            <a:bodyPr/>
            <a:p/>
          </p:txBody>
        </p:sp>
      </p:grpSp>
      <p:grpSp>
        <p:nvGrpSpPr>
          <p:cNvPr name="Group 150" id="150"/>
          <p:cNvGrpSpPr/>
          <p:nvPr/>
        </p:nvGrpSpPr>
        <p:grpSpPr>
          <a:xfrm rot="0">
            <a:off x="2400300" y="9822028"/>
            <a:ext cx="1370228" cy="300381"/>
            <a:chOff x="0" y="0"/>
            <a:chExt cx="1826971" cy="400508"/>
          </a:xfrm>
        </p:grpSpPr>
        <p:sp>
          <p:nvSpPr>
            <p:cNvPr name="Freeform 151" id="151"/>
            <p:cNvSpPr/>
            <p:nvPr/>
          </p:nvSpPr>
          <p:spPr>
            <a:xfrm flipH="false" flipV="false" rot="0">
              <a:off x="0" y="0"/>
              <a:ext cx="1826972" cy="400509"/>
            </a:xfrm>
            <a:custGeom>
              <a:avLst/>
              <a:gdLst/>
              <a:ahLst/>
              <a:cxnLst/>
              <a:rect r="r" b="b" t="t" l="l"/>
              <a:pathLst>
                <a:path h="400509" w="1826972">
                  <a:moveTo>
                    <a:pt x="0" y="0"/>
                  </a:moveTo>
                  <a:lnTo>
                    <a:pt x="1826972" y="0"/>
                  </a:lnTo>
                  <a:lnTo>
                    <a:pt x="1826972" y="400509"/>
                  </a:lnTo>
                  <a:lnTo>
                    <a:pt x="0" y="400509"/>
                  </a:lnTo>
                  <a:close/>
                </a:path>
              </a:pathLst>
            </a:custGeom>
            <a:blipFill>
              <a:blip r:embed="rId4">
                <a:alphaModFix amt="0"/>
              </a:blip>
              <a:stretch>
                <a:fillRect l="0" t="-38883" r="0" b="-38883"/>
              </a:stretch>
            </a:blipFill>
          </p:spPr>
          <p:txBody>
            <a:bodyPr/>
            <a:p/>
          </p:txBody>
        </p:sp>
        <p:sp>
          <p:nvSpPr>
            <p:cNvPr name="TextBox 152" id="152"/>
            <p:cNvSpPr txBox="true"/>
            <p:nvPr/>
          </p:nvSpPr>
          <p:spPr>
            <a:xfrm>
              <a:off x="0" y="0"/>
              <a:ext cx="1826971"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Énergie Stable</a:t>
              </a:r>
            </a:p>
          </p:txBody>
        </p:sp>
      </p:grpSp>
      <p:grpSp>
        <p:nvGrpSpPr>
          <p:cNvPr name="Group 153" id="153"/>
          <p:cNvGrpSpPr/>
          <p:nvPr/>
        </p:nvGrpSpPr>
        <p:grpSpPr>
          <a:xfrm rot="0">
            <a:off x="6467170" y="6619418"/>
            <a:ext cx="5362804" cy="3586001"/>
            <a:chOff x="0" y="0"/>
            <a:chExt cx="7150405" cy="4781335"/>
          </a:xfrm>
        </p:grpSpPr>
        <p:sp>
          <p:nvSpPr>
            <p:cNvPr name="Freeform 154" id="154"/>
            <p:cNvSpPr/>
            <p:nvPr/>
          </p:nvSpPr>
          <p:spPr>
            <a:xfrm flipH="false" flipV="false" rot="0">
              <a:off x="12700" y="11792"/>
              <a:ext cx="7124954" cy="4757775"/>
            </a:xfrm>
            <a:custGeom>
              <a:avLst/>
              <a:gdLst/>
              <a:ahLst/>
              <a:cxnLst/>
              <a:rect r="r" b="b" t="t" l="l"/>
              <a:pathLst>
                <a:path h="4757775" w="7124954">
                  <a:moveTo>
                    <a:pt x="0" y="0"/>
                  </a:moveTo>
                  <a:lnTo>
                    <a:pt x="7124954" y="0"/>
                  </a:lnTo>
                  <a:lnTo>
                    <a:pt x="7124954" y="4757775"/>
                  </a:lnTo>
                  <a:lnTo>
                    <a:pt x="0" y="4757775"/>
                  </a:lnTo>
                  <a:close/>
                </a:path>
              </a:pathLst>
            </a:custGeom>
            <a:solidFill>
              <a:srgbClr val="141419"/>
            </a:solidFill>
          </p:spPr>
          <p:txBody>
            <a:bodyPr/>
            <a:p/>
          </p:txBody>
        </p:sp>
        <p:sp>
          <p:nvSpPr>
            <p:cNvPr name="Freeform 155" id="155"/>
            <p:cNvSpPr/>
            <p:nvPr/>
          </p:nvSpPr>
          <p:spPr>
            <a:xfrm flipH="false" flipV="false" rot="0">
              <a:off x="0" y="0"/>
              <a:ext cx="7150354" cy="4781360"/>
            </a:xfrm>
            <a:custGeom>
              <a:avLst/>
              <a:gdLst/>
              <a:ahLst/>
              <a:cxnLst/>
              <a:rect r="r" b="b" t="t" l="l"/>
              <a:pathLst>
                <a:path h="4781360" w="7150354">
                  <a:moveTo>
                    <a:pt x="12700" y="0"/>
                  </a:moveTo>
                  <a:lnTo>
                    <a:pt x="7137654" y="0"/>
                  </a:lnTo>
                  <a:cubicBezTo>
                    <a:pt x="7144639" y="0"/>
                    <a:pt x="7150354" y="5306"/>
                    <a:pt x="7150354" y="11792"/>
                  </a:cubicBezTo>
                  <a:lnTo>
                    <a:pt x="7150354" y="4769567"/>
                  </a:lnTo>
                  <a:cubicBezTo>
                    <a:pt x="7150354" y="4776052"/>
                    <a:pt x="7144639" y="4781360"/>
                    <a:pt x="7137654" y="4781360"/>
                  </a:cubicBezTo>
                  <a:lnTo>
                    <a:pt x="12700" y="4781360"/>
                  </a:lnTo>
                  <a:cubicBezTo>
                    <a:pt x="5715" y="4781360"/>
                    <a:pt x="0" y="4776052"/>
                    <a:pt x="0" y="4769567"/>
                  </a:cubicBezTo>
                  <a:lnTo>
                    <a:pt x="0" y="11792"/>
                  </a:lnTo>
                  <a:cubicBezTo>
                    <a:pt x="0" y="5306"/>
                    <a:pt x="5715" y="0"/>
                    <a:pt x="12700" y="0"/>
                  </a:cubicBezTo>
                  <a:moveTo>
                    <a:pt x="12700" y="23583"/>
                  </a:moveTo>
                  <a:lnTo>
                    <a:pt x="12700" y="11792"/>
                  </a:lnTo>
                  <a:lnTo>
                    <a:pt x="25400" y="11792"/>
                  </a:lnTo>
                  <a:lnTo>
                    <a:pt x="25400" y="4769567"/>
                  </a:lnTo>
                  <a:lnTo>
                    <a:pt x="12700" y="4769567"/>
                  </a:lnTo>
                  <a:lnTo>
                    <a:pt x="12700" y="4757775"/>
                  </a:lnTo>
                  <a:lnTo>
                    <a:pt x="7137654" y="4757775"/>
                  </a:lnTo>
                  <a:lnTo>
                    <a:pt x="7137654" y="4769567"/>
                  </a:lnTo>
                  <a:lnTo>
                    <a:pt x="7124954" y="4769567"/>
                  </a:lnTo>
                  <a:lnTo>
                    <a:pt x="7124954" y="11792"/>
                  </a:lnTo>
                  <a:lnTo>
                    <a:pt x="7137654" y="11792"/>
                  </a:lnTo>
                  <a:lnTo>
                    <a:pt x="7137654" y="23583"/>
                  </a:lnTo>
                  <a:lnTo>
                    <a:pt x="12700" y="23583"/>
                  </a:lnTo>
                  <a:close/>
                </a:path>
              </a:pathLst>
            </a:custGeom>
            <a:solidFill>
              <a:srgbClr val="40424D"/>
            </a:solidFill>
          </p:spPr>
          <p:txBody>
            <a:bodyPr/>
            <a:p/>
          </p:txBody>
        </p:sp>
      </p:grpSp>
      <p:grpSp>
        <p:nvGrpSpPr>
          <p:cNvPr name="Group 156" id="156"/>
          <p:cNvGrpSpPr/>
          <p:nvPr/>
        </p:nvGrpSpPr>
        <p:grpSpPr>
          <a:xfrm rot="0">
            <a:off x="6825158" y="6977405"/>
            <a:ext cx="647243" cy="647243"/>
            <a:chOff x="0" y="0"/>
            <a:chExt cx="862990" cy="862990"/>
          </a:xfrm>
        </p:grpSpPr>
        <p:sp>
          <p:nvSpPr>
            <p:cNvPr name="Freeform 157" id="157"/>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58" id="158"/>
          <p:cNvGrpSpPr/>
          <p:nvPr/>
        </p:nvGrpSpPr>
        <p:grpSpPr>
          <a:xfrm rot="0">
            <a:off x="7006133" y="7158380"/>
            <a:ext cx="285293" cy="285293"/>
            <a:chOff x="0" y="0"/>
            <a:chExt cx="380390" cy="380390"/>
          </a:xfrm>
        </p:grpSpPr>
        <p:sp>
          <p:nvSpPr>
            <p:cNvPr name="Freeform 159" id="159"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8"/>
              <a:stretch>
                <a:fillRect l="0" t="0" r="-6" b="-6"/>
              </a:stretch>
            </a:blipFill>
          </p:spPr>
          <p:txBody>
            <a:bodyPr/>
            <a:p/>
          </p:txBody>
        </p:sp>
      </p:grpSp>
      <p:grpSp>
        <p:nvGrpSpPr>
          <p:cNvPr name="Group 160" id="160"/>
          <p:cNvGrpSpPr/>
          <p:nvPr/>
        </p:nvGrpSpPr>
        <p:grpSpPr>
          <a:xfrm rot="0">
            <a:off x="11248492" y="6986930"/>
            <a:ext cx="329184" cy="257861"/>
            <a:chOff x="0" y="0"/>
            <a:chExt cx="438912" cy="343814"/>
          </a:xfrm>
        </p:grpSpPr>
        <p:sp>
          <p:nvSpPr>
            <p:cNvPr name="Freeform 161" id="161"/>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62" id="162"/>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05</a:t>
              </a:r>
            </a:p>
          </p:txBody>
        </p:sp>
      </p:grpSp>
      <p:grpSp>
        <p:nvGrpSpPr>
          <p:cNvPr name="Group 163" id="163"/>
          <p:cNvGrpSpPr/>
          <p:nvPr/>
        </p:nvGrpSpPr>
        <p:grpSpPr>
          <a:xfrm rot="0">
            <a:off x="6834683" y="7900416"/>
            <a:ext cx="4800600" cy="430120"/>
            <a:chOff x="0" y="0"/>
            <a:chExt cx="6400800" cy="573494"/>
          </a:xfrm>
        </p:grpSpPr>
        <p:sp>
          <p:nvSpPr>
            <p:cNvPr name="Freeform 164" id="164"/>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65" id="165"/>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PROTÉINES</a:t>
              </a:r>
            </a:p>
          </p:txBody>
        </p:sp>
      </p:grpSp>
      <p:grpSp>
        <p:nvGrpSpPr>
          <p:cNvPr name="Group 166" id="166"/>
          <p:cNvGrpSpPr/>
          <p:nvPr/>
        </p:nvGrpSpPr>
        <p:grpSpPr>
          <a:xfrm rot="0">
            <a:off x="6825158" y="8391525"/>
            <a:ext cx="1548384" cy="419557"/>
            <a:chOff x="0" y="0"/>
            <a:chExt cx="2064512" cy="559410"/>
          </a:xfrm>
        </p:grpSpPr>
        <p:sp>
          <p:nvSpPr>
            <p:cNvPr name="Freeform 167" id="167"/>
            <p:cNvSpPr/>
            <p:nvPr/>
          </p:nvSpPr>
          <p:spPr>
            <a:xfrm flipH="false" flipV="false" rot="0">
              <a:off x="12700" y="12700"/>
              <a:ext cx="2039112" cy="533908"/>
            </a:xfrm>
            <a:custGeom>
              <a:avLst/>
              <a:gdLst/>
              <a:ahLst/>
              <a:cxnLst/>
              <a:rect r="r" b="b" t="t" l="l"/>
              <a:pathLst>
                <a:path h="533908" w="2039112">
                  <a:moveTo>
                    <a:pt x="0" y="261239"/>
                  </a:moveTo>
                  <a:cubicBezTo>
                    <a:pt x="0" y="116967"/>
                    <a:pt x="121031" y="0"/>
                    <a:pt x="270256" y="0"/>
                  </a:cubicBezTo>
                  <a:lnTo>
                    <a:pt x="1768856" y="0"/>
                  </a:lnTo>
                  <a:cubicBezTo>
                    <a:pt x="1918208" y="0"/>
                    <a:pt x="2039112" y="116967"/>
                    <a:pt x="2039112" y="261239"/>
                  </a:cubicBezTo>
                  <a:lnTo>
                    <a:pt x="2039112" y="272669"/>
                  </a:lnTo>
                  <a:cubicBezTo>
                    <a:pt x="2039112" y="416941"/>
                    <a:pt x="1918081" y="533908"/>
                    <a:pt x="1768856" y="533908"/>
                  </a:cubicBezTo>
                  <a:lnTo>
                    <a:pt x="270256" y="533908"/>
                  </a:lnTo>
                  <a:cubicBezTo>
                    <a:pt x="121031" y="534035"/>
                    <a:pt x="0" y="417068"/>
                    <a:pt x="0" y="272796"/>
                  </a:cubicBezTo>
                  <a:close/>
                </a:path>
              </a:pathLst>
            </a:custGeom>
            <a:solidFill>
              <a:srgbClr val="FFFFFF"/>
            </a:solidFill>
          </p:spPr>
          <p:txBody>
            <a:bodyPr/>
            <a:p/>
          </p:txBody>
        </p:sp>
      </p:grpSp>
      <p:grpSp>
        <p:nvGrpSpPr>
          <p:cNvPr name="Group 168" id="168"/>
          <p:cNvGrpSpPr/>
          <p:nvPr/>
        </p:nvGrpSpPr>
        <p:grpSpPr>
          <a:xfrm rot="0">
            <a:off x="6963689" y="8387686"/>
            <a:ext cx="1615745" cy="400508"/>
            <a:chOff x="0" y="0"/>
            <a:chExt cx="2154326" cy="534010"/>
          </a:xfrm>
        </p:grpSpPr>
        <p:sp>
          <p:nvSpPr>
            <p:cNvPr name="Freeform 169" id="169"/>
            <p:cNvSpPr/>
            <p:nvPr/>
          </p:nvSpPr>
          <p:spPr>
            <a:xfrm flipH="false" flipV="false" rot="0">
              <a:off x="0" y="0"/>
              <a:ext cx="2154326" cy="534010"/>
            </a:xfrm>
            <a:custGeom>
              <a:avLst/>
              <a:gdLst/>
              <a:ahLst/>
              <a:cxnLst/>
              <a:rect r="r" b="b" t="t" l="l"/>
              <a:pathLst>
                <a:path h="534010" w="2154326">
                  <a:moveTo>
                    <a:pt x="0" y="0"/>
                  </a:moveTo>
                  <a:lnTo>
                    <a:pt x="2154326" y="0"/>
                  </a:lnTo>
                  <a:lnTo>
                    <a:pt x="2154326" y="534010"/>
                  </a:lnTo>
                  <a:lnTo>
                    <a:pt x="0" y="534010"/>
                  </a:lnTo>
                  <a:close/>
                </a:path>
              </a:pathLst>
            </a:custGeom>
            <a:blipFill>
              <a:blip r:embed="rId4">
                <a:alphaModFix amt="0"/>
              </a:blip>
              <a:stretch>
                <a:fillRect l="0" t="-28607" r="0" b="-28607"/>
              </a:stretch>
            </a:blipFill>
          </p:spPr>
          <p:txBody>
            <a:bodyPr/>
            <a:p/>
          </p:txBody>
        </p:sp>
        <p:sp>
          <p:nvSpPr>
            <p:cNvPr name="TextBox 170" id="170"/>
            <p:cNvSpPr txBox="true"/>
            <p:nvPr/>
          </p:nvSpPr>
          <p:spPr>
            <a:xfrm>
              <a:off x="0" y="0"/>
              <a:ext cx="2154326"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1,2 - 1,6 g/kg/j</a:t>
              </a:r>
            </a:p>
          </p:txBody>
        </p:sp>
      </p:grpSp>
      <p:grpSp>
        <p:nvGrpSpPr>
          <p:cNvPr name="Group 171" id="171"/>
          <p:cNvGrpSpPr/>
          <p:nvPr/>
        </p:nvGrpSpPr>
        <p:grpSpPr>
          <a:xfrm rot="0">
            <a:off x="6825158" y="8955253"/>
            <a:ext cx="4648200" cy="32766"/>
            <a:chOff x="0" y="0"/>
            <a:chExt cx="6197600" cy="43688"/>
          </a:xfrm>
        </p:grpSpPr>
        <p:sp>
          <p:nvSpPr>
            <p:cNvPr name="Freeform 172" id="172"/>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73" id="173"/>
          <p:cNvGrpSpPr/>
          <p:nvPr/>
        </p:nvGrpSpPr>
        <p:grpSpPr>
          <a:xfrm rot="0">
            <a:off x="6834683" y="9151315"/>
            <a:ext cx="4744364" cy="558241"/>
            <a:chOff x="0" y="0"/>
            <a:chExt cx="6325819" cy="744322"/>
          </a:xfrm>
        </p:grpSpPr>
        <p:sp>
          <p:nvSpPr>
            <p:cNvPr name="Freeform 174" id="174"/>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175" id="175"/>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Blocs de construction essentiels pour le muscle et l'immunité.</a:t>
              </a:r>
            </a:p>
          </p:txBody>
        </p:sp>
      </p:grpSp>
      <p:grpSp>
        <p:nvGrpSpPr>
          <p:cNvPr name="Group 176" id="176"/>
          <p:cNvGrpSpPr/>
          <p:nvPr/>
        </p:nvGrpSpPr>
        <p:grpSpPr>
          <a:xfrm rot="0">
            <a:off x="6825158" y="9812503"/>
            <a:ext cx="862584" cy="319430"/>
            <a:chOff x="0" y="0"/>
            <a:chExt cx="1150112" cy="425907"/>
          </a:xfrm>
        </p:grpSpPr>
        <p:sp>
          <p:nvSpPr>
            <p:cNvPr name="Freeform 177" id="177"/>
            <p:cNvSpPr/>
            <p:nvPr/>
          </p:nvSpPr>
          <p:spPr>
            <a:xfrm flipH="false" flipV="false" rot="0">
              <a:off x="12700" y="12700"/>
              <a:ext cx="1124712" cy="400558"/>
            </a:xfrm>
            <a:custGeom>
              <a:avLst/>
              <a:gdLst/>
              <a:ahLst/>
              <a:cxnLst/>
              <a:rect r="r" b="b" t="t" l="l"/>
              <a:pathLst>
                <a:path h="400558" w="1124712">
                  <a:moveTo>
                    <a:pt x="0" y="200279"/>
                  </a:moveTo>
                  <a:cubicBezTo>
                    <a:pt x="0" y="89662"/>
                    <a:pt x="93218" y="0"/>
                    <a:pt x="208280" y="0"/>
                  </a:cubicBezTo>
                  <a:lnTo>
                    <a:pt x="916432" y="0"/>
                  </a:lnTo>
                  <a:cubicBezTo>
                    <a:pt x="1031494" y="0"/>
                    <a:pt x="1124712" y="89662"/>
                    <a:pt x="1124712" y="200279"/>
                  </a:cubicBezTo>
                  <a:cubicBezTo>
                    <a:pt x="1124712" y="310896"/>
                    <a:pt x="1031494" y="400558"/>
                    <a:pt x="916432" y="400558"/>
                  </a:cubicBezTo>
                  <a:lnTo>
                    <a:pt x="208280" y="400558"/>
                  </a:lnTo>
                  <a:cubicBezTo>
                    <a:pt x="93218" y="400558"/>
                    <a:pt x="0" y="310896"/>
                    <a:pt x="0" y="200279"/>
                  </a:cubicBezTo>
                  <a:close/>
                </a:path>
              </a:pathLst>
            </a:custGeom>
            <a:solidFill>
              <a:srgbClr val="FFFFFF">
                <a:alpha val="0"/>
              </a:srgbClr>
            </a:solidFill>
          </p:spPr>
          <p:txBody>
            <a:bodyPr/>
            <a:p/>
          </p:txBody>
        </p:sp>
      </p:grpSp>
      <p:grpSp>
        <p:nvGrpSpPr>
          <p:cNvPr name="Group 178" id="178"/>
          <p:cNvGrpSpPr/>
          <p:nvPr/>
        </p:nvGrpSpPr>
        <p:grpSpPr>
          <a:xfrm rot="0">
            <a:off x="6834683" y="9822028"/>
            <a:ext cx="957377" cy="300381"/>
            <a:chOff x="0" y="0"/>
            <a:chExt cx="1276502" cy="400508"/>
          </a:xfrm>
        </p:grpSpPr>
        <p:sp>
          <p:nvSpPr>
            <p:cNvPr name="Freeform 179" id="179"/>
            <p:cNvSpPr/>
            <p:nvPr/>
          </p:nvSpPr>
          <p:spPr>
            <a:xfrm flipH="false" flipV="false" rot="0">
              <a:off x="0" y="0"/>
              <a:ext cx="1276502" cy="400509"/>
            </a:xfrm>
            <a:custGeom>
              <a:avLst/>
              <a:gdLst/>
              <a:ahLst/>
              <a:cxnLst/>
              <a:rect r="r" b="b" t="t" l="l"/>
              <a:pathLst>
                <a:path h="400509" w="1276502">
                  <a:moveTo>
                    <a:pt x="0" y="0"/>
                  </a:moveTo>
                  <a:lnTo>
                    <a:pt x="1276502" y="0"/>
                  </a:lnTo>
                  <a:lnTo>
                    <a:pt x="1276502" y="400509"/>
                  </a:lnTo>
                  <a:lnTo>
                    <a:pt x="0" y="400509"/>
                  </a:lnTo>
                  <a:close/>
                </a:path>
              </a:pathLst>
            </a:custGeom>
            <a:blipFill>
              <a:blip r:embed="rId4">
                <a:alphaModFix amt="0"/>
              </a:blip>
              <a:stretch>
                <a:fillRect l="0" t="-12102" r="0" b="-12102"/>
              </a:stretch>
            </a:blipFill>
          </p:spPr>
          <p:txBody>
            <a:bodyPr/>
            <a:p/>
          </p:txBody>
        </p:sp>
        <p:sp>
          <p:nvSpPr>
            <p:cNvPr name="TextBox 180" id="180"/>
            <p:cNvSpPr txBox="true"/>
            <p:nvPr/>
          </p:nvSpPr>
          <p:spPr>
            <a:xfrm>
              <a:off x="0" y="0"/>
              <a:ext cx="127650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Animales</a:t>
              </a:r>
            </a:p>
          </p:txBody>
        </p:sp>
      </p:grpSp>
      <p:grpSp>
        <p:nvGrpSpPr>
          <p:cNvPr name="Group 181" id="181"/>
          <p:cNvGrpSpPr/>
          <p:nvPr/>
        </p:nvGrpSpPr>
        <p:grpSpPr>
          <a:xfrm rot="0">
            <a:off x="7771562" y="9812503"/>
            <a:ext cx="1261720" cy="319430"/>
            <a:chOff x="0" y="0"/>
            <a:chExt cx="1682293" cy="425907"/>
          </a:xfrm>
        </p:grpSpPr>
        <p:sp>
          <p:nvSpPr>
            <p:cNvPr name="Freeform 182" id="182"/>
            <p:cNvSpPr/>
            <p:nvPr/>
          </p:nvSpPr>
          <p:spPr>
            <a:xfrm flipH="false" flipV="false" rot="0">
              <a:off x="12700" y="12700"/>
              <a:ext cx="1656715" cy="400558"/>
            </a:xfrm>
            <a:custGeom>
              <a:avLst/>
              <a:gdLst/>
              <a:ahLst/>
              <a:cxnLst/>
              <a:rect r="r" b="b" t="t" l="l"/>
              <a:pathLst>
                <a:path h="400558" w="1656715">
                  <a:moveTo>
                    <a:pt x="0" y="200279"/>
                  </a:moveTo>
                  <a:cubicBezTo>
                    <a:pt x="0" y="89662"/>
                    <a:pt x="93853" y="0"/>
                    <a:pt x="209677" y="0"/>
                  </a:cubicBezTo>
                  <a:lnTo>
                    <a:pt x="1447038" y="0"/>
                  </a:lnTo>
                  <a:cubicBezTo>
                    <a:pt x="1562862" y="0"/>
                    <a:pt x="1656715" y="89662"/>
                    <a:pt x="1656715" y="200279"/>
                  </a:cubicBezTo>
                  <a:cubicBezTo>
                    <a:pt x="1656715" y="310896"/>
                    <a:pt x="1562862" y="400558"/>
                    <a:pt x="1447038" y="400558"/>
                  </a:cubicBezTo>
                  <a:lnTo>
                    <a:pt x="209677" y="400558"/>
                  </a:lnTo>
                  <a:cubicBezTo>
                    <a:pt x="93853" y="400558"/>
                    <a:pt x="0" y="310896"/>
                    <a:pt x="0" y="200279"/>
                  </a:cubicBezTo>
                  <a:close/>
                </a:path>
              </a:pathLst>
            </a:custGeom>
            <a:solidFill>
              <a:srgbClr val="FFFFFF">
                <a:alpha val="0"/>
              </a:srgbClr>
            </a:solidFill>
          </p:spPr>
          <p:txBody>
            <a:bodyPr/>
            <a:p/>
          </p:txBody>
        </p:sp>
      </p:grpSp>
      <p:grpSp>
        <p:nvGrpSpPr>
          <p:cNvPr name="Group 183" id="183"/>
          <p:cNvGrpSpPr/>
          <p:nvPr/>
        </p:nvGrpSpPr>
        <p:grpSpPr>
          <a:xfrm rot="0">
            <a:off x="7781087" y="9822028"/>
            <a:ext cx="1370228" cy="300381"/>
            <a:chOff x="0" y="0"/>
            <a:chExt cx="1826971" cy="400508"/>
          </a:xfrm>
        </p:grpSpPr>
        <p:sp>
          <p:nvSpPr>
            <p:cNvPr name="Freeform 184" id="184"/>
            <p:cNvSpPr/>
            <p:nvPr/>
          </p:nvSpPr>
          <p:spPr>
            <a:xfrm flipH="false" flipV="false" rot="0">
              <a:off x="0" y="0"/>
              <a:ext cx="1826972" cy="400509"/>
            </a:xfrm>
            <a:custGeom>
              <a:avLst/>
              <a:gdLst/>
              <a:ahLst/>
              <a:cxnLst/>
              <a:rect r="r" b="b" t="t" l="l"/>
              <a:pathLst>
                <a:path h="400509" w="1826972">
                  <a:moveTo>
                    <a:pt x="0" y="0"/>
                  </a:moveTo>
                  <a:lnTo>
                    <a:pt x="1826972" y="0"/>
                  </a:lnTo>
                  <a:lnTo>
                    <a:pt x="1826972" y="400509"/>
                  </a:lnTo>
                  <a:lnTo>
                    <a:pt x="0" y="400509"/>
                  </a:lnTo>
                  <a:close/>
                </a:path>
              </a:pathLst>
            </a:custGeom>
            <a:blipFill>
              <a:blip r:embed="rId4">
                <a:alphaModFix amt="0"/>
              </a:blip>
              <a:stretch>
                <a:fillRect l="0" t="-38883" r="0" b="-38883"/>
              </a:stretch>
            </a:blipFill>
          </p:spPr>
          <p:txBody>
            <a:bodyPr/>
            <a:p/>
          </p:txBody>
        </p:sp>
        <p:sp>
          <p:nvSpPr>
            <p:cNvPr name="TextBox 185" id="185"/>
            <p:cNvSpPr txBox="true"/>
            <p:nvPr/>
          </p:nvSpPr>
          <p:spPr>
            <a:xfrm>
              <a:off x="0" y="0"/>
              <a:ext cx="1826971"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Biodisponibles</a:t>
              </a:r>
            </a:p>
          </p:txBody>
        </p:sp>
      </p:grpSp>
      <p:grpSp>
        <p:nvGrpSpPr>
          <p:cNvPr name="Group 186" id="186"/>
          <p:cNvGrpSpPr/>
          <p:nvPr/>
        </p:nvGrpSpPr>
        <p:grpSpPr>
          <a:xfrm rot="0">
            <a:off x="9115730" y="9812503"/>
            <a:ext cx="933907" cy="319430"/>
            <a:chOff x="0" y="0"/>
            <a:chExt cx="1245210" cy="425907"/>
          </a:xfrm>
        </p:grpSpPr>
        <p:sp>
          <p:nvSpPr>
            <p:cNvPr name="Freeform 187" id="187"/>
            <p:cNvSpPr/>
            <p:nvPr/>
          </p:nvSpPr>
          <p:spPr>
            <a:xfrm flipH="false" flipV="false" rot="0">
              <a:off x="12700" y="12700"/>
              <a:ext cx="1219962" cy="400558"/>
            </a:xfrm>
            <a:custGeom>
              <a:avLst/>
              <a:gdLst/>
              <a:ahLst/>
              <a:cxnLst/>
              <a:rect r="r" b="b" t="t" l="l"/>
              <a:pathLst>
                <a:path h="400558" w="1219962">
                  <a:moveTo>
                    <a:pt x="0" y="200279"/>
                  </a:moveTo>
                  <a:cubicBezTo>
                    <a:pt x="0" y="89662"/>
                    <a:pt x="93345" y="0"/>
                    <a:pt x="208661" y="0"/>
                  </a:cubicBezTo>
                  <a:lnTo>
                    <a:pt x="1011301" y="0"/>
                  </a:lnTo>
                  <a:cubicBezTo>
                    <a:pt x="1126490" y="0"/>
                    <a:pt x="1219962" y="89662"/>
                    <a:pt x="1219962" y="200279"/>
                  </a:cubicBezTo>
                  <a:cubicBezTo>
                    <a:pt x="1219962" y="310896"/>
                    <a:pt x="1126363" y="400558"/>
                    <a:pt x="1011174" y="400558"/>
                  </a:cubicBezTo>
                  <a:lnTo>
                    <a:pt x="208661" y="400558"/>
                  </a:lnTo>
                  <a:cubicBezTo>
                    <a:pt x="93345" y="400558"/>
                    <a:pt x="0" y="310896"/>
                    <a:pt x="0" y="200279"/>
                  </a:cubicBezTo>
                  <a:close/>
                </a:path>
              </a:pathLst>
            </a:custGeom>
            <a:solidFill>
              <a:srgbClr val="FFFFFF">
                <a:alpha val="0"/>
              </a:srgbClr>
            </a:solidFill>
          </p:spPr>
          <p:txBody>
            <a:bodyPr/>
            <a:p/>
          </p:txBody>
        </p:sp>
      </p:grpSp>
      <p:grpSp>
        <p:nvGrpSpPr>
          <p:cNvPr name="Group 188" id="188"/>
          <p:cNvGrpSpPr/>
          <p:nvPr/>
        </p:nvGrpSpPr>
        <p:grpSpPr>
          <a:xfrm rot="0">
            <a:off x="9125255" y="9822028"/>
            <a:ext cx="1028700" cy="300381"/>
            <a:chOff x="0" y="0"/>
            <a:chExt cx="1371600" cy="400508"/>
          </a:xfrm>
        </p:grpSpPr>
        <p:sp>
          <p:nvSpPr>
            <p:cNvPr name="Freeform 189" id="189"/>
            <p:cNvSpPr/>
            <p:nvPr/>
          </p:nvSpPr>
          <p:spPr>
            <a:xfrm flipH="false" flipV="false" rot="0">
              <a:off x="0" y="0"/>
              <a:ext cx="1371600" cy="400509"/>
            </a:xfrm>
            <a:custGeom>
              <a:avLst/>
              <a:gdLst/>
              <a:ahLst/>
              <a:cxnLst/>
              <a:rect r="r" b="b" t="t" l="l"/>
              <a:pathLst>
                <a:path h="400509" w="1371600">
                  <a:moveTo>
                    <a:pt x="0" y="0"/>
                  </a:moveTo>
                  <a:lnTo>
                    <a:pt x="1371600" y="0"/>
                  </a:lnTo>
                  <a:lnTo>
                    <a:pt x="1371600" y="400509"/>
                  </a:lnTo>
                  <a:lnTo>
                    <a:pt x="0" y="400509"/>
                  </a:lnTo>
                  <a:close/>
                </a:path>
              </a:pathLst>
            </a:custGeom>
            <a:blipFill>
              <a:blip r:embed="rId4">
                <a:alphaModFix amt="0"/>
              </a:blip>
              <a:stretch>
                <a:fillRect l="0" t="-16729" r="0" b="-16729"/>
              </a:stretch>
            </a:blipFill>
          </p:spPr>
          <p:txBody>
            <a:bodyPr/>
            <a:p/>
          </p:txBody>
        </p:sp>
        <p:sp>
          <p:nvSpPr>
            <p:cNvPr name="TextBox 190" id="190"/>
            <p:cNvSpPr txBox="true"/>
            <p:nvPr/>
          </p:nvSpPr>
          <p:spPr>
            <a:xfrm>
              <a:off x="0" y="0"/>
              <a:ext cx="13716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Collagène</a:t>
              </a:r>
            </a:p>
          </p:txBody>
        </p:sp>
      </p:grpSp>
      <p:grpSp>
        <p:nvGrpSpPr>
          <p:cNvPr name="Group 191" id="191"/>
          <p:cNvGrpSpPr/>
          <p:nvPr/>
        </p:nvGrpSpPr>
        <p:grpSpPr>
          <a:xfrm rot="0">
            <a:off x="15376931" y="2178748"/>
            <a:ext cx="2072488" cy="257861"/>
            <a:chOff x="0" y="0"/>
            <a:chExt cx="2763317" cy="343814"/>
          </a:xfrm>
        </p:grpSpPr>
        <p:sp>
          <p:nvSpPr>
            <p:cNvPr name="Freeform 192" id="192"/>
            <p:cNvSpPr/>
            <p:nvPr/>
          </p:nvSpPr>
          <p:spPr>
            <a:xfrm flipH="false" flipV="false" rot="0">
              <a:off x="0" y="0"/>
              <a:ext cx="2763316" cy="343814"/>
            </a:xfrm>
            <a:custGeom>
              <a:avLst/>
              <a:gdLst/>
              <a:ahLst/>
              <a:cxnLst/>
              <a:rect r="r" b="b" t="t" l="l"/>
              <a:pathLst>
                <a:path h="343814" w="2763316">
                  <a:moveTo>
                    <a:pt x="0" y="0"/>
                  </a:moveTo>
                  <a:lnTo>
                    <a:pt x="2763316" y="0"/>
                  </a:lnTo>
                  <a:lnTo>
                    <a:pt x="2763316" y="343814"/>
                  </a:lnTo>
                  <a:lnTo>
                    <a:pt x="0" y="343814"/>
                  </a:lnTo>
                  <a:close/>
                </a:path>
              </a:pathLst>
            </a:custGeom>
            <a:blipFill>
              <a:blip r:embed="rId4">
                <a:alphaModFix amt="0"/>
              </a:blip>
              <a:stretch>
                <a:fillRect l="0" t="-106605" r="0" b="-106606"/>
              </a:stretch>
            </a:blipFill>
          </p:spPr>
          <p:txBody>
            <a:bodyPr/>
            <a:p/>
          </p:txBody>
        </p:sp>
        <p:sp>
          <p:nvSpPr>
            <p:cNvPr name="TextBox 193" id="193"/>
            <p:cNvSpPr txBox="true"/>
            <p:nvPr/>
          </p:nvSpPr>
          <p:spPr>
            <a:xfrm>
              <a:off x="0" y="-9525"/>
              <a:ext cx="2763317"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Dr. Addor Protocol™</a:t>
              </a:r>
            </a:p>
          </p:txBody>
        </p:sp>
      </p:grpSp>
      <p:grpSp>
        <p:nvGrpSpPr>
          <p:cNvPr name="Group 194" id="194"/>
          <p:cNvGrpSpPr/>
          <p:nvPr/>
        </p:nvGrpSpPr>
        <p:grpSpPr>
          <a:xfrm rot="0">
            <a:off x="16710203" y="9672523"/>
            <a:ext cx="843534" cy="257861"/>
            <a:chOff x="0" y="0"/>
            <a:chExt cx="1124712" cy="343814"/>
          </a:xfrm>
        </p:grpSpPr>
        <p:sp>
          <p:nvSpPr>
            <p:cNvPr name="Freeform 195" id="195"/>
            <p:cNvSpPr/>
            <p:nvPr/>
          </p:nvSpPr>
          <p:spPr>
            <a:xfrm flipH="false" flipV="false" rot="0">
              <a:off x="0" y="0"/>
              <a:ext cx="1124712" cy="343814"/>
            </a:xfrm>
            <a:custGeom>
              <a:avLst/>
              <a:gdLst/>
              <a:ahLst/>
              <a:cxnLst/>
              <a:rect r="r" b="b" t="t" l="l"/>
              <a:pathLst>
                <a:path h="343814" w="1124712">
                  <a:moveTo>
                    <a:pt x="0" y="0"/>
                  </a:moveTo>
                  <a:lnTo>
                    <a:pt x="1124712" y="0"/>
                  </a:lnTo>
                  <a:lnTo>
                    <a:pt x="1124712" y="343814"/>
                  </a:lnTo>
                  <a:lnTo>
                    <a:pt x="0" y="343814"/>
                  </a:lnTo>
                  <a:close/>
                </a:path>
              </a:pathLst>
            </a:custGeom>
            <a:blipFill>
              <a:blip r:embed="rId4">
                <a:alphaModFix amt="0"/>
              </a:blip>
              <a:stretch>
                <a:fillRect l="0" t="-13740" r="0" b="-13741"/>
              </a:stretch>
            </a:blipFill>
          </p:spPr>
          <p:txBody>
            <a:bodyPr/>
            <a:p/>
          </p:txBody>
        </p:sp>
        <p:sp>
          <p:nvSpPr>
            <p:cNvPr name="TextBox 196" id="196"/>
            <p:cNvSpPr txBox="true"/>
            <p:nvPr/>
          </p:nvSpPr>
          <p:spPr>
            <a:xfrm>
              <a:off x="0" y="-9525"/>
              <a:ext cx="11247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12 / 14</a:t>
              </a:r>
            </a:p>
          </p:txBody>
        </p:sp>
      </p:grpSp>
      <p:grpSp>
        <p:nvGrpSpPr>
          <p:cNvPr name="Group 197" id="197"/>
          <p:cNvGrpSpPr/>
          <p:nvPr/>
        </p:nvGrpSpPr>
        <p:grpSpPr>
          <a:xfrm rot="0">
            <a:off x="857250" y="714604"/>
            <a:ext cx="456743" cy="13716"/>
            <a:chOff x="0" y="0"/>
            <a:chExt cx="608990" cy="18288"/>
          </a:xfrm>
        </p:grpSpPr>
        <p:sp>
          <p:nvSpPr>
            <p:cNvPr name="Freeform 198" id="198"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9"/>
              <a:stretch>
                <a:fillRect l="1949" t="0" r="1945" b="0"/>
              </a:stretch>
            </a:blipFill>
          </p:spPr>
          <p:txBody>
            <a:bodyPr/>
            <a:p/>
          </p:txBody>
        </p:sp>
      </p:grpSp>
      <p:grpSp>
        <p:nvGrpSpPr>
          <p:cNvPr name="Group 199" id="199"/>
          <p:cNvGrpSpPr/>
          <p:nvPr/>
        </p:nvGrpSpPr>
        <p:grpSpPr>
          <a:xfrm rot="0">
            <a:off x="1485443" y="571957"/>
            <a:ext cx="3212287" cy="332327"/>
            <a:chOff x="0" y="0"/>
            <a:chExt cx="4283050" cy="443103"/>
          </a:xfrm>
        </p:grpSpPr>
        <p:sp>
          <p:nvSpPr>
            <p:cNvPr name="Freeform 200" id="200"/>
            <p:cNvSpPr/>
            <p:nvPr/>
          </p:nvSpPr>
          <p:spPr>
            <a:xfrm flipH="false" flipV="false" rot="0">
              <a:off x="0" y="0"/>
              <a:ext cx="4283050" cy="443104"/>
            </a:xfrm>
            <a:custGeom>
              <a:avLst/>
              <a:gdLst/>
              <a:ahLst/>
              <a:cxnLst/>
              <a:rect r="r" b="b" t="t" l="l"/>
              <a:pathLst>
                <a:path h="443104" w="4283050">
                  <a:moveTo>
                    <a:pt x="0" y="0"/>
                  </a:moveTo>
                  <a:lnTo>
                    <a:pt x="4283050" y="0"/>
                  </a:lnTo>
                  <a:lnTo>
                    <a:pt x="4283050" y="443104"/>
                  </a:lnTo>
                  <a:lnTo>
                    <a:pt x="0" y="443104"/>
                  </a:lnTo>
                  <a:close/>
                </a:path>
              </a:pathLst>
            </a:custGeom>
            <a:blipFill>
              <a:blip r:embed="rId4">
                <a:alphaModFix amt="0"/>
              </a:blip>
              <a:stretch>
                <a:fillRect l="0" t="-143149" r="0" b="-133536"/>
              </a:stretch>
            </a:blipFill>
          </p:spPr>
          <p:txBody>
            <a:bodyPr/>
            <a:p/>
          </p:txBody>
        </p:sp>
        <p:sp>
          <p:nvSpPr>
            <p:cNvPr name="TextBox 201" id="201"/>
            <p:cNvSpPr txBox="true"/>
            <p:nvPr/>
          </p:nvSpPr>
          <p:spPr>
            <a:xfrm>
              <a:off x="0" y="-9525"/>
              <a:ext cx="4283050" cy="452628"/>
            </a:xfrm>
            <a:prstGeom prst="rect">
              <a:avLst/>
            </a:prstGeom>
          </p:spPr>
          <p:txBody>
            <a:bodyPr anchor="ctr" rtlCol="false" tIns="0" lIns="0" bIns="0" rIns="0"/>
            <a:lstStyle/>
            <a:p>
              <a:pPr algn="l">
                <a:lnSpc>
                  <a:spcPts val="1800"/>
                </a:lnSpc>
              </a:pPr>
              <a:r>
                <a:rPr lang="en-US" sz="1500" spc="225">
                  <a:solidFill>
                    <a:srgbClr val="BCBFCC"/>
                  </a:solidFill>
                  <a:latin typeface="Manrope"/>
                  <a:ea typeface="Manrope"/>
                  <a:cs typeface="Manrope"/>
                  <a:sym typeface="Manrope"/>
                </a:rPr>
                <a:t>Stratégie Métabolique</a:t>
              </a:r>
            </a:p>
          </p:txBody>
        </p:sp>
      </p:grpSp>
      <p:grpSp>
        <p:nvGrpSpPr>
          <p:cNvPr name="Group 202" id="202"/>
          <p:cNvGrpSpPr/>
          <p:nvPr/>
        </p:nvGrpSpPr>
        <p:grpSpPr>
          <a:xfrm rot="0">
            <a:off x="857250" y="986180"/>
            <a:ext cx="5601614" cy="1192568"/>
            <a:chOff x="0" y="0"/>
            <a:chExt cx="7468819" cy="1590091"/>
          </a:xfrm>
        </p:grpSpPr>
        <p:sp>
          <p:nvSpPr>
            <p:cNvPr name="Freeform 203" id="203"/>
            <p:cNvSpPr/>
            <p:nvPr/>
          </p:nvSpPr>
          <p:spPr>
            <a:xfrm flipH="false" flipV="false" rot="0">
              <a:off x="0" y="0"/>
              <a:ext cx="7468820" cy="1590091"/>
            </a:xfrm>
            <a:custGeom>
              <a:avLst/>
              <a:gdLst/>
              <a:ahLst/>
              <a:cxnLst/>
              <a:rect r="r" b="b" t="t" l="l"/>
              <a:pathLst>
                <a:path h="1590091" w="7468820">
                  <a:moveTo>
                    <a:pt x="0" y="0"/>
                  </a:moveTo>
                  <a:lnTo>
                    <a:pt x="7468820" y="0"/>
                  </a:lnTo>
                  <a:lnTo>
                    <a:pt x="7468820" y="1590091"/>
                  </a:lnTo>
                  <a:lnTo>
                    <a:pt x="0" y="1590091"/>
                  </a:lnTo>
                  <a:close/>
                </a:path>
              </a:pathLst>
            </a:custGeom>
            <a:blipFill>
              <a:blip r:embed="rId4">
                <a:alphaModFix amt="0"/>
              </a:blip>
              <a:stretch>
                <a:fillRect l="0" t="-62770" r="0" b="-20276"/>
              </a:stretch>
            </a:blipFill>
          </p:spPr>
          <p:txBody>
            <a:bodyPr/>
            <a:p/>
          </p:txBody>
        </p:sp>
        <p:sp>
          <p:nvSpPr>
            <p:cNvPr name="TextBox 204" id="204"/>
            <p:cNvSpPr txBox="true"/>
            <p:nvPr/>
          </p:nvSpPr>
          <p:spPr>
            <a:xfrm>
              <a:off x="0" y="9525"/>
              <a:ext cx="7468819" cy="1580566"/>
            </a:xfrm>
            <a:prstGeom prst="rect">
              <a:avLst/>
            </a:prstGeom>
          </p:spPr>
          <p:txBody>
            <a:bodyPr anchor="ctr" rtlCol="false" tIns="0" lIns="0" bIns="0" rIns="0"/>
            <a:lstStyle/>
            <a:p>
              <a:pPr algn="l">
                <a:lnSpc>
                  <a:spcPts val="6480"/>
                </a:lnSpc>
              </a:pPr>
              <a:r>
                <a:rPr lang="en-US" sz="5400" spc="-112">
                  <a:solidFill>
                    <a:srgbClr val="FFFFFF"/>
                  </a:solidFill>
                  <a:latin typeface="Manrope"/>
                  <a:ea typeface="Manrope"/>
                  <a:cs typeface="Manrope"/>
                  <a:sym typeface="Manrope"/>
                </a:rPr>
                <a:t>NUTRITION</a:t>
              </a:r>
            </a:p>
          </p:txBody>
        </p:sp>
      </p:grpSp>
      <p:grpSp>
        <p:nvGrpSpPr>
          <p:cNvPr name="Group 205" id="205"/>
          <p:cNvGrpSpPr/>
          <p:nvPr/>
        </p:nvGrpSpPr>
        <p:grpSpPr>
          <a:xfrm rot="0">
            <a:off x="857250" y="1882350"/>
            <a:ext cx="5939028" cy="332327"/>
            <a:chOff x="0" y="0"/>
            <a:chExt cx="7918704" cy="443103"/>
          </a:xfrm>
        </p:grpSpPr>
        <p:sp>
          <p:nvSpPr>
            <p:cNvPr name="Freeform 206" id="206"/>
            <p:cNvSpPr/>
            <p:nvPr/>
          </p:nvSpPr>
          <p:spPr>
            <a:xfrm flipH="false" flipV="false" rot="0">
              <a:off x="0" y="0"/>
              <a:ext cx="7918704" cy="443104"/>
            </a:xfrm>
            <a:custGeom>
              <a:avLst/>
              <a:gdLst/>
              <a:ahLst/>
              <a:cxnLst/>
              <a:rect r="r" b="b" t="t" l="l"/>
              <a:pathLst>
                <a:path h="443104" w="7918704">
                  <a:moveTo>
                    <a:pt x="0" y="0"/>
                  </a:moveTo>
                  <a:lnTo>
                    <a:pt x="7918704" y="0"/>
                  </a:lnTo>
                  <a:lnTo>
                    <a:pt x="7918704" y="443104"/>
                  </a:lnTo>
                  <a:lnTo>
                    <a:pt x="0" y="443104"/>
                  </a:lnTo>
                  <a:close/>
                </a:path>
              </a:pathLst>
            </a:custGeom>
            <a:blipFill>
              <a:blip r:embed="rId4">
                <a:alphaModFix amt="0"/>
              </a:blip>
              <a:stretch>
                <a:fillRect l="0" t="-305087" r="0" b="-291346"/>
              </a:stretch>
            </a:blipFill>
          </p:spPr>
          <p:txBody>
            <a:bodyPr/>
            <a:p/>
          </p:txBody>
        </p:sp>
        <p:sp>
          <p:nvSpPr>
            <p:cNvPr name="TextBox 207" id="207"/>
            <p:cNvSpPr txBox="true"/>
            <p:nvPr/>
          </p:nvSpPr>
          <p:spPr>
            <a:xfrm>
              <a:off x="0" y="-9525"/>
              <a:ext cx="7918704" cy="452628"/>
            </a:xfrm>
            <a:prstGeom prst="rect">
              <a:avLst/>
            </a:prstGeom>
          </p:spPr>
          <p:txBody>
            <a:bodyPr anchor="ctr" rtlCol="false" tIns="0" lIns="0" bIns="0" rIns="0"/>
            <a:lstStyle/>
            <a:p>
              <a:pPr algn="l">
                <a:lnSpc>
                  <a:spcPts val="1800"/>
                </a:lnSpc>
              </a:pPr>
              <a:r>
                <a:rPr lang="en-US" sz="1500" spc="225">
                  <a:solidFill>
                    <a:srgbClr val="BCBFCC"/>
                  </a:solidFill>
                  <a:latin typeface="Manrope"/>
                  <a:ea typeface="Manrope"/>
                  <a:cs typeface="Manrope"/>
                  <a:sym typeface="Manrope"/>
                </a:rPr>
                <a:t>Mangez ce que votre biologie reconnaît.</a:t>
              </a:r>
            </a:p>
          </p:txBody>
        </p:sp>
      </p:grpSp>
      <p:grpSp>
        <p:nvGrpSpPr>
          <p:cNvPr name="Group 208" id="208"/>
          <p:cNvGrpSpPr/>
          <p:nvPr/>
        </p:nvGrpSpPr>
        <p:grpSpPr>
          <a:xfrm rot="0">
            <a:off x="16973550" y="1521104"/>
            <a:ext cx="456743" cy="514350"/>
            <a:chOff x="0" y="0"/>
            <a:chExt cx="608990" cy="685800"/>
          </a:xfrm>
        </p:grpSpPr>
        <p:sp>
          <p:nvSpPr>
            <p:cNvPr name="Freeform 209" id="209" descr="preencoded.png"/>
            <p:cNvSpPr/>
            <p:nvPr/>
          </p:nvSpPr>
          <p:spPr>
            <a:xfrm flipH="false" flipV="false" rot="0">
              <a:off x="0" y="0"/>
              <a:ext cx="608965" cy="685800"/>
            </a:xfrm>
            <a:custGeom>
              <a:avLst/>
              <a:gdLst/>
              <a:ahLst/>
              <a:cxnLst/>
              <a:rect r="r" b="b" t="t" l="l"/>
              <a:pathLst>
                <a:path h="685800" w="608965">
                  <a:moveTo>
                    <a:pt x="0" y="0"/>
                  </a:moveTo>
                  <a:lnTo>
                    <a:pt x="608965" y="0"/>
                  </a:lnTo>
                  <a:lnTo>
                    <a:pt x="608965" y="685800"/>
                  </a:lnTo>
                  <a:lnTo>
                    <a:pt x="0" y="685800"/>
                  </a:lnTo>
                  <a:lnTo>
                    <a:pt x="0" y="0"/>
                  </a:lnTo>
                  <a:close/>
                </a:path>
              </a:pathLst>
            </a:custGeom>
            <a:blipFill>
              <a:blip r:embed="rId10">
                <a:alphaModFix amt="30000"/>
              </a:blip>
              <a:stretch>
                <a:fillRect l="734" t="0" r="479" b="0"/>
              </a:stretch>
            </a:blipFill>
          </p:spPr>
          <p:txBody>
            <a:body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15481249" y="2081441"/>
            <a:ext cx="2072488" cy="257861"/>
            <a:chOff x="0" y="0"/>
            <a:chExt cx="2763317" cy="343814"/>
          </a:xfrm>
        </p:grpSpPr>
        <p:sp>
          <p:nvSpPr>
            <p:cNvPr name="Freeform 9" id="9"/>
            <p:cNvSpPr/>
            <p:nvPr/>
          </p:nvSpPr>
          <p:spPr>
            <a:xfrm flipH="false" flipV="false" rot="0">
              <a:off x="0" y="0"/>
              <a:ext cx="2763316" cy="343814"/>
            </a:xfrm>
            <a:custGeom>
              <a:avLst/>
              <a:gdLst/>
              <a:ahLst/>
              <a:cxnLst/>
              <a:rect r="r" b="b" t="t" l="l"/>
              <a:pathLst>
                <a:path h="343814" w="2763316">
                  <a:moveTo>
                    <a:pt x="0" y="0"/>
                  </a:moveTo>
                  <a:lnTo>
                    <a:pt x="2763316" y="0"/>
                  </a:lnTo>
                  <a:lnTo>
                    <a:pt x="2763316" y="343814"/>
                  </a:lnTo>
                  <a:lnTo>
                    <a:pt x="0" y="343814"/>
                  </a:lnTo>
                  <a:close/>
                </a:path>
              </a:pathLst>
            </a:custGeom>
            <a:blipFill>
              <a:blip r:embed="rId4">
                <a:alphaModFix amt="0"/>
              </a:blip>
              <a:stretch>
                <a:fillRect l="0" t="-106605" r="0" b="-106606"/>
              </a:stretch>
            </a:blipFill>
          </p:spPr>
          <p:txBody>
            <a:bodyPr/>
            <a:p/>
          </p:txBody>
        </p:sp>
        <p:sp>
          <p:nvSpPr>
            <p:cNvPr name="TextBox 10" id="10"/>
            <p:cNvSpPr txBox="true"/>
            <p:nvPr/>
          </p:nvSpPr>
          <p:spPr>
            <a:xfrm>
              <a:off x="0" y="-9525"/>
              <a:ext cx="2763317"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Dr. Addor Protocol™</a:t>
              </a:r>
            </a:p>
          </p:txBody>
        </p:sp>
      </p:grpSp>
      <p:grpSp>
        <p:nvGrpSpPr>
          <p:cNvPr name="Group 11" id="11"/>
          <p:cNvGrpSpPr/>
          <p:nvPr/>
        </p:nvGrpSpPr>
        <p:grpSpPr>
          <a:xfrm rot="0">
            <a:off x="16710203" y="9672523"/>
            <a:ext cx="843534" cy="257861"/>
            <a:chOff x="0" y="0"/>
            <a:chExt cx="1124712" cy="343814"/>
          </a:xfrm>
        </p:grpSpPr>
        <p:sp>
          <p:nvSpPr>
            <p:cNvPr name="Freeform 12" id="12"/>
            <p:cNvSpPr/>
            <p:nvPr/>
          </p:nvSpPr>
          <p:spPr>
            <a:xfrm flipH="false" flipV="false" rot="0">
              <a:off x="0" y="0"/>
              <a:ext cx="1124712" cy="343814"/>
            </a:xfrm>
            <a:custGeom>
              <a:avLst/>
              <a:gdLst/>
              <a:ahLst/>
              <a:cxnLst/>
              <a:rect r="r" b="b" t="t" l="l"/>
              <a:pathLst>
                <a:path h="343814" w="1124712">
                  <a:moveTo>
                    <a:pt x="0" y="0"/>
                  </a:moveTo>
                  <a:lnTo>
                    <a:pt x="1124712" y="0"/>
                  </a:lnTo>
                  <a:lnTo>
                    <a:pt x="1124712" y="343814"/>
                  </a:lnTo>
                  <a:lnTo>
                    <a:pt x="0" y="343814"/>
                  </a:lnTo>
                  <a:close/>
                </a:path>
              </a:pathLst>
            </a:custGeom>
            <a:blipFill>
              <a:blip r:embed="rId4">
                <a:alphaModFix amt="0"/>
              </a:blip>
              <a:stretch>
                <a:fillRect l="0" t="-13740" r="0" b="-13741"/>
              </a:stretch>
            </a:blipFill>
          </p:spPr>
          <p:txBody>
            <a:bodyPr/>
            <a:p/>
          </p:txBody>
        </p:sp>
        <p:sp>
          <p:nvSpPr>
            <p:cNvPr name="TextBox 13" id="13"/>
            <p:cNvSpPr txBox="true"/>
            <p:nvPr/>
          </p:nvSpPr>
          <p:spPr>
            <a:xfrm>
              <a:off x="0" y="-9525"/>
              <a:ext cx="11247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13 / 14</a:t>
              </a:r>
            </a:p>
          </p:txBody>
        </p:sp>
      </p:grpSp>
      <p:grpSp>
        <p:nvGrpSpPr>
          <p:cNvPr name="Group 14" id="14"/>
          <p:cNvGrpSpPr/>
          <p:nvPr/>
        </p:nvGrpSpPr>
        <p:grpSpPr>
          <a:xfrm rot="0">
            <a:off x="857250" y="714604"/>
            <a:ext cx="456743" cy="13716"/>
            <a:chOff x="0" y="0"/>
            <a:chExt cx="608990" cy="18288"/>
          </a:xfrm>
        </p:grpSpPr>
        <p:sp>
          <p:nvSpPr>
            <p:cNvPr name="Freeform 15" id="15"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16" id="16"/>
          <p:cNvGrpSpPr/>
          <p:nvPr/>
        </p:nvGrpSpPr>
        <p:grpSpPr>
          <a:xfrm rot="0">
            <a:off x="1485443" y="571957"/>
            <a:ext cx="3455060" cy="332327"/>
            <a:chOff x="0" y="0"/>
            <a:chExt cx="4606747" cy="443103"/>
          </a:xfrm>
        </p:grpSpPr>
        <p:sp>
          <p:nvSpPr>
            <p:cNvPr name="Freeform 17" id="17"/>
            <p:cNvSpPr/>
            <p:nvPr/>
          </p:nvSpPr>
          <p:spPr>
            <a:xfrm flipH="false" flipV="false" rot="0">
              <a:off x="0" y="0"/>
              <a:ext cx="4606748" cy="443104"/>
            </a:xfrm>
            <a:custGeom>
              <a:avLst/>
              <a:gdLst/>
              <a:ahLst/>
              <a:cxnLst/>
              <a:rect r="r" b="b" t="t" l="l"/>
              <a:pathLst>
                <a:path h="443104" w="4606748">
                  <a:moveTo>
                    <a:pt x="0" y="0"/>
                  </a:moveTo>
                  <a:lnTo>
                    <a:pt x="4606748" y="0"/>
                  </a:lnTo>
                  <a:lnTo>
                    <a:pt x="4606748" y="443104"/>
                  </a:lnTo>
                  <a:lnTo>
                    <a:pt x="0" y="443104"/>
                  </a:lnTo>
                  <a:close/>
                </a:path>
              </a:pathLst>
            </a:custGeom>
            <a:blipFill>
              <a:blip r:embed="rId4">
                <a:alphaModFix amt="0"/>
              </a:blip>
              <a:stretch>
                <a:fillRect l="0" t="-157383" r="0" b="-147770"/>
              </a:stretch>
            </a:blipFill>
          </p:spPr>
          <p:txBody>
            <a:bodyPr/>
            <a:p/>
          </p:txBody>
        </p:sp>
        <p:sp>
          <p:nvSpPr>
            <p:cNvPr name="TextBox 18" id="18"/>
            <p:cNvSpPr txBox="true"/>
            <p:nvPr/>
          </p:nvSpPr>
          <p:spPr>
            <a:xfrm>
              <a:off x="0" y="-9525"/>
              <a:ext cx="4606747" cy="452628"/>
            </a:xfrm>
            <a:prstGeom prst="rect">
              <a:avLst/>
            </a:prstGeom>
          </p:spPr>
          <p:txBody>
            <a:bodyPr anchor="ctr" rtlCol="false" tIns="0" lIns="0" bIns="0" rIns="0"/>
            <a:lstStyle/>
            <a:p>
              <a:pPr algn="l">
                <a:lnSpc>
                  <a:spcPts val="1800"/>
                </a:lnSpc>
              </a:pPr>
              <a:r>
                <a:rPr lang="en-US" b="true" sz="1500" spc="225">
                  <a:solidFill>
                    <a:srgbClr val="BCBFCC"/>
                  </a:solidFill>
                  <a:latin typeface="Manrope Bold"/>
                  <a:ea typeface="Manrope Bold"/>
                  <a:cs typeface="Manrope Bold"/>
                  <a:sym typeface="Manrope Bold"/>
                </a:rPr>
                <a:t>Stratégies Adaptatives</a:t>
              </a:r>
            </a:p>
          </p:txBody>
        </p:sp>
      </p:grpSp>
      <p:grpSp>
        <p:nvGrpSpPr>
          <p:cNvPr name="Group 19" id="19"/>
          <p:cNvGrpSpPr/>
          <p:nvPr/>
        </p:nvGrpSpPr>
        <p:grpSpPr>
          <a:xfrm rot="0">
            <a:off x="857250" y="986180"/>
            <a:ext cx="6358738" cy="1192568"/>
            <a:chOff x="0" y="0"/>
            <a:chExt cx="8478317" cy="1590091"/>
          </a:xfrm>
        </p:grpSpPr>
        <p:sp>
          <p:nvSpPr>
            <p:cNvPr name="Freeform 20" id="20"/>
            <p:cNvSpPr/>
            <p:nvPr/>
          </p:nvSpPr>
          <p:spPr>
            <a:xfrm flipH="false" flipV="false" rot="0">
              <a:off x="0" y="0"/>
              <a:ext cx="8478316" cy="1590091"/>
            </a:xfrm>
            <a:custGeom>
              <a:avLst/>
              <a:gdLst/>
              <a:ahLst/>
              <a:cxnLst/>
              <a:rect r="r" b="b" t="t" l="l"/>
              <a:pathLst>
                <a:path h="1590091" w="8478316">
                  <a:moveTo>
                    <a:pt x="0" y="0"/>
                  </a:moveTo>
                  <a:lnTo>
                    <a:pt x="8478316" y="0"/>
                  </a:lnTo>
                  <a:lnTo>
                    <a:pt x="8478316" y="1590091"/>
                  </a:lnTo>
                  <a:lnTo>
                    <a:pt x="0" y="1590091"/>
                  </a:lnTo>
                  <a:close/>
                </a:path>
              </a:pathLst>
            </a:custGeom>
            <a:blipFill>
              <a:blip r:embed="rId4">
                <a:alphaModFix amt="0"/>
              </a:blip>
              <a:stretch>
                <a:fillRect l="0" t="-75140" r="0" b="-32646"/>
              </a:stretch>
            </a:blipFill>
          </p:spPr>
          <p:txBody>
            <a:bodyPr/>
            <a:p/>
          </p:txBody>
        </p:sp>
        <p:sp>
          <p:nvSpPr>
            <p:cNvPr name="TextBox 21" id="21"/>
            <p:cNvSpPr txBox="true"/>
            <p:nvPr/>
          </p:nvSpPr>
          <p:spPr>
            <a:xfrm>
              <a:off x="0" y="9525"/>
              <a:ext cx="8478317" cy="1580566"/>
            </a:xfrm>
            <a:prstGeom prst="rect">
              <a:avLst/>
            </a:prstGeom>
          </p:spPr>
          <p:txBody>
            <a:bodyPr anchor="ctr" rtlCol="false" tIns="0" lIns="0" bIns="0" rIns="0"/>
            <a:lstStyle/>
            <a:p>
              <a:pPr algn="l">
                <a:lnSpc>
                  <a:spcPts val="6480"/>
                </a:lnSpc>
              </a:pPr>
              <a:r>
                <a:rPr lang="en-US" sz="5400" spc="-112">
                  <a:solidFill>
                    <a:srgbClr val="FFFFFF"/>
                  </a:solidFill>
                  <a:latin typeface="Manrope"/>
                  <a:ea typeface="Manrope"/>
                  <a:cs typeface="Manrope"/>
                  <a:sym typeface="Manrope"/>
                </a:rPr>
                <a:t>HORMÈSE</a:t>
              </a:r>
            </a:p>
          </p:txBody>
        </p:sp>
      </p:grpSp>
      <p:grpSp>
        <p:nvGrpSpPr>
          <p:cNvPr name="Group 22" id="22"/>
          <p:cNvGrpSpPr/>
          <p:nvPr/>
        </p:nvGrpSpPr>
        <p:grpSpPr>
          <a:xfrm rot="0">
            <a:off x="857250" y="1939500"/>
            <a:ext cx="6704381" cy="332327"/>
            <a:chOff x="0" y="0"/>
            <a:chExt cx="8939174" cy="443103"/>
          </a:xfrm>
        </p:grpSpPr>
        <p:sp>
          <p:nvSpPr>
            <p:cNvPr name="Freeform 23" id="23"/>
            <p:cNvSpPr/>
            <p:nvPr/>
          </p:nvSpPr>
          <p:spPr>
            <a:xfrm flipH="false" flipV="false" rot="0">
              <a:off x="0" y="0"/>
              <a:ext cx="8939174" cy="443104"/>
            </a:xfrm>
            <a:custGeom>
              <a:avLst/>
              <a:gdLst/>
              <a:ahLst/>
              <a:cxnLst/>
              <a:rect r="r" b="b" t="t" l="l"/>
              <a:pathLst>
                <a:path h="443104" w="8939174">
                  <a:moveTo>
                    <a:pt x="0" y="0"/>
                  </a:moveTo>
                  <a:lnTo>
                    <a:pt x="8939174" y="0"/>
                  </a:lnTo>
                  <a:lnTo>
                    <a:pt x="8939174" y="443104"/>
                  </a:lnTo>
                  <a:lnTo>
                    <a:pt x="0" y="443104"/>
                  </a:lnTo>
                  <a:close/>
                </a:path>
              </a:pathLst>
            </a:custGeom>
            <a:blipFill>
              <a:blip r:embed="rId4">
                <a:alphaModFix amt="0"/>
              </a:blip>
              <a:stretch>
                <a:fillRect l="0" t="-349961" r="0" b="-336220"/>
              </a:stretch>
            </a:blipFill>
          </p:spPr>
          <p:txBody>
            <a:bodyPr/>
            <a:p/>
          </p:txBody>
        </p:sp>
        <p:sp>
          <p:nvSpPr>
            <p:cNvPr name="TextBox 24" id="24"/>
            <p:cNvSpPr txBox="true"/>
            <p:nvPr/>
          </p:nvSpPr>
          <p:spPr>
            <a:xfrm>
              <a:off x="0" y="-9525"/>
              <a:ext cx="8939174" cy="452628"/>
            </a:xfrm>
            <a:prstGeom prst="rect">
              <a:avLst/>
            </a:prstGeom>
          </p:spPr>
          <p:txBody>
            <a:bodyPr anchor="ctr" rtlCol="false" tIns="0" lIns="0" bIns="0" rIns="0"/>
            <a:lstStyle/>
            <a:p>
              <a:pPr algn="l">
                <a:lnSpc>
                  <a:spcPts val="1800"/>
                </a:lnSpc>
              </a:pPr>
              <a:r>
                <a:rPr lang="en-US" b="true" sz="1500" spc="225">
                  <a:solidFill>
                    <a:srgbClr val="BCBFCC"/>
                  </a:solidFill>
                  <a:latin typeface="Manrope Bold"/>
                  <a:ea typeface="Manrope Bold"/>
                  <a:cs typeface="Manrope Bold"/>
                  <a:sym typeface="Manrope Bold"/>
                </a:rPr>
                <a:t>Le stress biologique contrôlé qui renforce.</a:t>
              </a:r>
            </a:p>
          </p:txBody>
        </p:sp>
      </p:grpSp>
      <p:grpSp>
        <p:nvGrpSpPr>
          <p:cNvPr name="Group 25" id="25"/>
          <p:cNvGrpSpPr/>
          <p:nvPr/>
        </p:nvGrpSpPr>
        <p:grpSpPr>
          <a:xfrm rot="0">
            <a:off x="16788384" y="1357884"/>
            <a:ext cx="643280" cy="571957"/>
            <a:chOff x="0" y="0"/>
            <a:chExt cx="857707" cy="762610"/>
          </a:xfrm>
        </p:grpSpPr>
        <p:sp>
          <p:nvSpPr>
            <p:cNvPr name="Freeform 26" id="26" descr="preencoded.png"/>
            <p:cNvSpPr/>
            <p:nvPr/>
          </p:nvSpPr>
          <p:spPr>
            <a:xfrm flipH="false" flipV="false" rot="0">
              <a:off x="0" y="0"/>
              <a:ext cx="857758" cy="762635"/>
            </a:xfrm>
            <a:custGeom>
              <a:avLst/>
              <a:gdLst/>
              <a:ahLst/>
              <a:cxnLst/>
              <a:rect r="r" b="b" t="t" l="l"/>
              <a:pathLst>
                <a:path h="762635" w="857758">
                  <a:moveTo>
                    <a:pt x="0" y="0"/>
                  </a:moveTo>
                  <a:lnTo>
                    <a:pt x="857758" y="0"/>
                  </a:lnTo>
                  <a:lnTo>
                    <a:pt x="857758" y="762635"/>
                  </a:lnTo>
                  <a:lnTo>
                    <a:pt x="0" y="762635"/>
                  </a:lnTo>
                  <a:lnTo>
                    <a:pt x="0" y="0"/>
                  </a:lnTo>
                  <a:close/>
                </a:path>
              </a:pathLst>
            </a:custGeom>
            <a:blipFill>
              <a:blip r:embed="rId6">
                <a:alphaModFix amt="50000"/>
              </a:blip>
              <a:stretch>
                <a:fillRect l="0" t="13" r="-262" b="16"/>
              </a:stretch>
            </a:blipFill>
          </p:spPr>
          <p:txBody>
            <a:bodyPr/>
            <a:p/>
          </p:txBody>
        </p:sp>
      </p:grpSp>
      <p:grpSp>
        <p:nvGrpSpPr>
          <p:cNvPr name="Group 27" id="27"/>
          <p:cNvGrpSpPr/>
          <p:nvPr/>
        </p:nvGrpSpPr>
        <p:grpSpPr>
          <a:xfrm rot="0">
            <a:off x="862813" y="2490902"/>
            <a:ext cx="5347716" cy="3490570"/>
            <a:chOff x="0" y="0"/>
            <a:chExt cx="7130288" cy="4654093"/>
          </a:xfrm>
        </p:grpSpPr>
        <p:sp>
          <p:nvSpPr>
            <p:cNvPr name="Freeform 28" id="28"/>
            <p:cNvSpPr/>
            <p:nvPr/>
          </p:nvSpPr>
          <p:spPr>
            <a:xfrm flipH="false" flipV="false" rot="0">
              <a:off x="12700" y="12700"/>
              <a:ext cx="7104888" cy="4628642"/>
            </a:xfrm>
            <a:custGeom>
              <a:avLst/>
              <a:gdLst/>
              <a:ahLst/>
              <a:cxnLst/>
              <a:rect r="r" b="b" t="t" l="l"/>
              <a:pathLst>
                <a:path h="4628642" w="7104888">
                  <a:moveTo>
                    <a:pt x="0" y="0"/>
                  </a:moveTo>
                  <a:lnTo>
                    <a:pt x="7104888" y="0"/>
                  </a:lnTo>
                  <a:lnTo>
                    <a:pt x="7104888" y="4628642"/>
                  </a:lnTo>
                  <a:lnTo>
                    <a:pt x="0" y="4628642"/>
                  </a:lnTo>
                  <a:close/>
                </a:path>
              </a:pathLst>
            </a:custGeom>
            <a:solidFill>
              <a:srgbClr val="141419"/>
            </a:solidFill>
          </p:spPr>
          <p:txBody>
            <a:bodyPr/>
            <a:p/>
          </p:txBody>
        </p:sp>
        <p:sp>
          <p:nvSpPr>
            <p:cNvPr name="Freeform 29" id="29"/>
            <p:cNvSpPr/>
            <p:nvPr/>
          </p:nvSpPr>
          <p:spPr>
            <a:xfrm flipH="false" flipV="false" rot="0">
              <a:off x="0" y="0"/>
              <a:ext cx="7130288" cy="4654042"/>
            </a:xfrm>
            <a:custGeom>
              <a:avLst/>
              <a:gdLst/>
              <a:ahLst/>
              <a:cxnLst/>
              <a:rect r="r" b="b" t="t" l="l"/>
              <a:pathLst>
                <a:path h="4654042" w="7130288">
                  <a:moveTo>
                    <a:pt x="12700" y="0"/>
                  </a:moveTo>
                  <a:lnTo>
                    <a:pt x="7117588" y="0"/>
                  </a:lnTo>
                  <a:cubicBezTo>
                    <a:pt x="7124573" y="0"/>
                    <a:pt x="7130288" y="5715"/>
                    <a:pt x="7130288" y="12700"/>
                  </a:cubicBezTo>
                  <a:lnTo>
                    <a:pt x="7130288" y="4641342"/>
                  </a:lnTo>
                  <a:cubicBezTo>
                    <a:pt x="7130288" y="4648327"/>
                    <a:pt x="7124573" y="4654042"/>
                    <a:pt x="7117588"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7117588" y="4628642"/>
                  </a:lnTo>
                  <a:lnTo>
                    <a:pt x="7117588" y="4641342"/>
                  </a:lnTo>
                  <a:lnTo>
                    <a:pt x="7104888" y="4641342"/>
                  </a:lnTo>
                  <a:lnTo>
                    <a:pt x="7104888" y="12700"/>
                  </a:lnTo>
                  <a:lnTo>
                    <a:pt x="7117588" y="12700"/>
                  </a:lnTo>
                  <a:lnTo>
                    <a:pt x="7117588" y="25400"/>
                  </a:lnTo>
                  <a:lnTo>
                    <a:pt x="12700" y="25400"/>
                  </a:lnTo>
                  <a:close/>
                </a:path>
              </a:pathLst>
            </a:custGeom>
            <a:solidFill>
              <a:srgbClr val="40424D"/>
            </a:solidFill>
          </p:spPr>
          <p:txBody>
            <a:bodyPr/>
            <a:p/>
          </p:txBody>
        </p:sp>
      </p:grpSp>
      <p:grpSp>
        <p:nvGrpSpPr>
          <p:cNvPr name="Group 30" id="30"/>
          <p:cNvGrpSpPr/>
          <p:nvPr/>
        </p:nvGrpSpPr>
        <p:grpSpPr>
          <a:xfrm rot="0">
            <a:off x="1219429" y="2847518"/>
            <a:ext cx="704850" cy="704850"/>
            <a:chOff x="0" y="0"/>
            <a:chExt cx="939800" cy="939800"/>
          </a:xfrm>
        </p:grpSpPr>
        <p:sp>
          <p:nvSpPr>
            <p:cNvPr name="Freeform 31" id="31"/>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32" id="32"/>
          <p:cNvGrpSpPr/>
          <p:nvPr/>
        </p:nvGrpSpPr>
        <p:grpSpPr>
          <a:xfrm rot="0">
            <a:off x="1436065" y="3043580"/>
            <a:ext cx="271577" cy="314096"/>
            <a:chOff x="0" y="0"/>
            <a:chExt cx="362102" cy="418795"/>
          </a:xfrm>
        </p:grpSpPr>
        <p:sp>
          <p:nvSpPr>
            <p:cNvPr name="Freeform 33" id="33" descr="preencoded.png"/>
            <p:cNvSpPr/>
            <p:nvPr/>
          </p:nvSpPr>
          <p:spPr>
            <a:xfrm flipH="false" flipV="false" rot="0">
              <a:off x="0" y="0"/>
              <a:ext cx="362077" cy="418846"/>
            </a:xfrm>
            <a:custGeom>
              <a:avLst/>
              <a:gdLst/>
              <a:ahLst/>
              <a:cxnLst/>
              <a:rect r="r" b="b" t="t" l="l"/>
              <a:pathLst>
                <a:path h="418846" w="362077">
                  <a:moveTo>
                    <a:pt x="0" y="0"/>
                  </a:moveTo>
                  <a:lnTo>
                    <a:pt x="362077" y="0"/>
                  </a:lnTo>
                  <a:lnTo>
                    <a:pt x="362077" y="418846"/>
                  </a:lnTo>
                  <a:lnTo>
                    <a:pt x="0" y="418846"/>
                  </a:lnTo>
                  <a:lnTo>
                    <a:pt x="0" y="0"/>
                  </a:lnTo>
                  <a:close/>
                </a:path>
              </a:pathLst>
            </a:custGeom>
            <a:blipFill>
              <a:blip r:embed="rId7"/>
              <a:stretch>
                <a:fillRect l="0" t="597" r="-7" b="-18"/>
              </a:stretch>
            </a:blipFill>
          </p:spPr>
          <p:txBody>
            <a:bodyPr/>
            <a:p/>
          </p:txBody>
        </p:sp>
      </p:grpSp>
      <p:grpSp>
        <p:nvGrpSpPr>
          <p:cNvPr name="Group 34" id="34"/>
          <p:cNvGrpSpPr/>
          <p:nvPr/>
        </p:nvGrpSpPr>
        <p:grpSpPr>
          <a:xfrm rot="0">
            <a:off x="5633161" y="2857043"/>
            <a:ext cx="329184" cy="257861"/>
            <a:chOff x="0" y="0"/>
            <a:chExt cx="438912" cy="343814"/>
          </a:xfrm>
        </p:grpSpPr>
        <p:sp>
          <p:nvSpPr>
            <p:cNvPr name="Freeform 35" id="35"/>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36" id="36"/>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01</a:t>
              </a:r>
            </a:p>
          </p:txBody>
        </p:sp>
      </p:grpSp>
      <p:grpSp>
        <p:nvGrpSpPr>
          <p:cNvPr name="Group 37" id="37"/>
          <p:cNvGrpSpPr/>
          <p:nvPr/>
        </p:nvGrpSpPr>
        <p:grpSpPr>
          <a:xfrm rot="0">
            <a:off x="1228954" y="3771900"/>
            <a:ext cx="4786884" cy="430120"/>
            <a:chOff x="0" y="0"/>
            <a:chExt cx="6382512" cy="573494"/>
          </a:xfrm>
        </p:grpSpPr>
        <p:sp>
          <p:nvSpPr>
            <p:cNvPr name="Freeform 38" id="38"/>
            <p:cNvSpPr/>
            <p:nvPr/>
          </p:nvSpPr>
          <p:spPr>
            <a:xfrm flipH="false" flipV="false" rot="0">
              <a:off x="0" y="0"/>
              <a:ext cx="6382512" cy="573494"/>
            </a:xfrm>
            <a:custGeom>
              <a:avLst/>
              <a:gdLst/>
              <a:ahLst/>
              <a:cxnLst/>
              <a:rect r="r" b="b" t="t" l="l"/>
              <a:pathLst>
                <a:path h="573494" w="6382512">
                  <a:moveTo>
                    <a:pt x="0" y="0"/>
                  </a:moveTo>
                  <a:lnTo>
                    <a:pt x="6382512" y="0"/>
                  </a:lnTo>
                  <a:lnTo>
                    <a:pt x="6382512" y="573494"/>
                  </a:lnTo>
                  <a:lnTo>
                    <a:pt x="0" y="573494"/>
                  </a:lnTo>
                  <a:close/>
                </a:path>
              </a:pathLst>
            </a:custGeom>
            <a:blipFill>
              <a:blip r:embed="rId4">
                <a:alphaModFix amt="0"/>
              </a:blip>
              <a:stretch>
                <a:fillRect l="0" t="-171889" r="0" b="-161815"/>
              </a:stretch>
            </a:blipFill>
          </p:spPr>
          <p:txBody>
            <a:bodyPr/>
            <a:p/>
          </p:txBody>
        </p:sp>
        <p:sp>
          <p:nvSpPr>
            <p:cNvPr name="TextBox 39" id="39"/>
            <p:cNvSpPr txBox="true"/>
            <p:nvPr/>
          </p:nvSpPr>
          <p:spPr>
            <a:xfrm>
              <a:off x="0" y="-9525"/>
              <a:ext cx="6382512"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Chaleur / Sauna</a:t>
              </a:r>
            </a:p>
          </p:txBody>
        </p:sp>
      </p:grpSp>
      <p:grpSp>
        <p:nvGrpSpPr>
          <p:cNvPr name="Group 40" id="40"/>
          <p:cNvGrpSpPr/>
          <p:nvPr/>
        </p:nvGrpSpPr>
        <p:grpSpPr>
          <a:xfrm rot="0">
            <a:off x="1228954" y="4328770"/>
            <a:ext cx="4786884" cy="293380"/>
            <a:chOff x="0" y="0"/>
            <a:chExt cx="6382512" cy="391173"/>
          </a:xfrm>
        </p:grpSpPr>
        <p:sp>
          <p:nvSpPr>
            <p:cNvPr name="Freeform 41" id="41"/>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42" id="42"/>
            <p:cNvSpPr txBox="true"/>
            <p:nvPr/>
          </p:nvSpPr>
          <p:spPr>
            <a:xfrm>
              <a:off x="0" y="0"/>
              <a:ext cx="6382512"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HSP</a:t>
              </a:r>
              <a:r>
                <a:rPr lang="en-US" sz="1350">
                  <a:solidFill>
                    <a:srgbClr val="BCBFCC"/>
                  </a:solidFill>
                  <a:latin typeface="Manrope"/>
                  <a:ea typeface="Manrope"/>
                  <a:cs typeface="Manrope"/>
                  <a:sym typeface="Manrope"/>
                </a:rPr>
                <a:t> (Protéines de choc thermique)</a:t>
              </a:r>
            </a:p>
          </p:txBody>
        </p:sp>
      </p:grpSp>
      <p:grpSp>
        <p:nvGrpSpPr>
          <p:cNvPr name="Group 43" id="43"/>
          <p:cNvGrpSpPr/>
          <p:nvPr/>
        </p:nvGrpSpPr>
        <p:grpSpPr>
          <a:xfrm rot="0">
            <a:off x="1228954" y="4703216"/>
            <a:ext cx="4786884" cy="293380"/>
            <a:chOff x="0" y="0"/>
            <a:chExt cx="6382512" cy="391173"/>
          </a:xfrm>
        </p:grpSpPr>
        <p:sp>
          <p:nvSpPr>
            <p:cNvPr name="Freeform 44" id="44"/>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45" id="45"/>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Vasodilatation &amp; Boost </a:t>
              </a:r>
              <a:r>
                <a:rPr lang="en-US" sz="1350" b="true">
                  <a:solidFill>
                    <a:srgbClr val="FFFFFF"/>
                  </a:solidFill>
                  <a:latin typeface="Manrope Bold"/>
                  <a:ea typeface="Manrope Bold"/>
                  <a:cs typeface="Manrope Bold"/>
                  <a:sym typeface="Manrope Bold"/>
                </a:rPr>
                <a:t>BDNF</a:t>
              </a:r>
            </a:p>
          </p:txBody>
        </p:sp>
      </p:grpSp>
      <p:grpSp>
        <p:nvGrpSpPr>
          <p:cNvPr name="Group 46" id="46"/>
          <p:cNvGrpSpPr/>
          <p:nvPr/>
        </p:nvGrpSpPr>
        <p:grpSpPr>
          <a:xfrm rot="0">
            <a:off x="1228954" y="5077663"/>
            <a:ext cx="5074920" cy="293380"/>
            <a:chOff x="0" y="0"/>
            <a:chExt cx="6766560" cy="391173"/>
          </a:xfrm>
        </p:grpSpPr>
        <p:sp>
          <p:nvSpPr>
            <p:cNvPr name="Freeform 47" id="47"/>
            <p:cNvSpPr/>
            <p:nvPr/>
          </p:nvSpPr>
          <p:spPr>
            <a:xfrm flipH="false" flipV="false" rot="0">
              <a:off x="0" y="0"/>
              <a:ext cx="6766560" cy="391172"/>
            </a:xfrm>
            <a:custGeom>
              <a:avLst/>
              <a:gdLst/>
              <a:ahLst/>
              <a:cxnLst/>
              <a:rect r="r" b="b" t="t" l="l"/>
              <a:pathLst>
                <a:path h="391172" w="6766560">
                  <a:moveTo>
                    <a:pt x="0" y="0"/>
                  </a:moveTo>
                  <a:lnTo>
                    <a:pt x="6766560" y="0"/>
                  </a:lnTo>
                  <a:lnTo>
                    <a:pt x="6766560" y="391172"/>
                  </a:lnTo>
                  <a:lnTo>
                    <a:pt x="0" y="391172"/>
                  </a:lnTo>
                  <a:close/>
                </a:path>
              </a:pathLst>
            </a:custGeom>
            <a:blipFill>
              <a:blip r:embed="rId4">
                <a:alphaModFix amt="0"/>
              </a:blip>
              <a:stretch>
                <a:fillRect l="0" t="-290771" r="0" b="-283339"/>
              </a:stretch>
            </a:blipFill>
          </p:spPr>
          <p:txBody>
            <a:bodyPr/>
            <a:p/>
          </p:txBody>
        </p:sp>
        <p:sp>
          <p:nvSpPr>
            <p:cNvPr name="TextBox 48" id="48"/>
            <p:cNvSpPr txBox="true"/>
            <p:nvPr/>
          </p:nvSpPr>
          <p:spPr>
            <a:xfrm>
              <a:off x="0" y="0"/>
              <a:ext cx="676656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Infrarouge pour la détoxification cellulaire</a:t>
              </a:r>
            </a:p>
          </p:txBody>
        </p:sp>
      </p:grpSp>
      <p:grpSp>
        <p:nvGrpSpPr>
          <p:cNvPr name="Group 49" id="49"/>
          <p:cNvGrpSpPr/>
          <p:nvPr/>
        </p:nvGrpSpPr>
        <p:grpSpPr>
          <a:xfrm rot="0">
            <a:off x="6472657" y="2490902"/>
            <a:ext cx="5347716" cy="3490570"/>
            <a:chOff x="0" y="0"/>
            <a:chExt cx="7130288" cy="4654093"/>
          </a:xfrm>
        </p:grpSpPr>
        <p:sp>
          <p:nvSpPr>
            <p:cNvPr name="Freeform 50" id="50"/>
            <p:cNvSpPr/>
            <p:nvPr/>
          </p:nvSpPr>
          <p:spPr>
            <a:xfrm flipH="false" flipV="false" rot="0">
              <a:off x="12700" y="12700"/>
              <a:ext cx="7104888" cy="4628642"/>
            </a:xfrm>
            <a:custGeom>
              <a:avLst/>
              <a:gdLst/>
              <a:ahLst/>
              <a:cxnLst/>
              <a:rect r="r" b="b" t="t" l="l"/>
              <a:pathLst>
                <a:path h="4628642" w="7104888">
                  <a:moveTo>
                    <a:pt x="0" y="0"/>
                  </a:moveTo>
                  <a:lnTo>
                    <a:pt x="7104888" y="0"/>
                  </a:lnTo>
                  <a:lnTo>
                    <a:pt x="7104888" y="4628642"/>
                  </a:lnTo>
                  <a:lnTo>
                    <a:pt x="0" y="4628642"/>
                  </a:lnTo>
                  <a:close/>
                </a:path>
              </a:pathLst>
            </a:custGeom>
            <a:solidFill>
              <a:srgbClr val="141419"/>
            </a:solidFill>
          </p:spPr>
          <p:txBody>
            <a:bodyPr/>
            <a:p/>
          </p:txBody>
        </p:sp>
        <p:sp>
          <p:nvSpPr>
            <p:cNvPr name="Freeform 51" id="51"/>
            <p:cNvSpPr/>
            <p:nvPr/>
          </p:nvSpPr>
          <p:spPr>
            <a:xfrm flipH="false" flipV="false" rot="0">
              <a:off x="0" y="0"/>
              <a:ext cx="7130288" cy="4654042"/>
            </a:xfrm>
            <a:custGeom>
              <a:avLst/>
              <a:gdLst/>
              <a:ahLst/>
              <a:cxnLst/>
              <a:rect r="r" b="b" t="t" l="l"/>
              <a:pathLst>
                <a:path h="4654042" w="7130288">
                  <a:moveTo>
                    <a:pt x="12700" y="0"/>
                  </a:moveTo>
                  <a:lnTo>
                    <a:pt x="7117588" y="0"/>
                  </a:lnTo>
                  <a:cubicBezTo>
                    <a:pt x="7124573" y="0"/>
                    <a:pt x="7130288" y="5715"/>
                    <a:pt x="7130288" y="12700"/>
                  </a:cubicBezTo>
                  <a:lnTo>
                    <a:pt x="7130288" y="4641342"/>
                  </a:lnTo>
                  <a:cubicBezTo>
                    <a:pt x="7130288" y="4648327"/>
                    <a:pt x="7124573" y="4654042"/>
                    <a:pt x="7117588"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7117588" y="4628642"/>
                  </a:lnTo>
                  <a:lnTo>
                    <a:pt x="7117588" y="4641342"/>
                  </a:lnTo>
                  <a:lnTo>
                    <a:pt x="7104888" y="4641342"/>
                  </a:lnTo>
                  <a:lnTo>
                    <a:pt x="7104888" y="12700"/>
                  </a:lnTo>
                  <a:lnTo>
                    <a:pt x="7117588" y="12700"/>
                  </a:lnTo>
                  <a:lnTo>
                    <a:pt x="7117588" y="25400"/>
                  </a:lnTo>
                  <a:lnTo>
                    <a:pt x="12700" y="25400"/>
                  </a:lnTo>
                  <a:close/>
                </a:path>
              </a:pathLst>
            </a:custGeom>
            <a:solidFill>
              <a:srgbClr val="40424D"/>
            </a:solidFill>
          </p:spPr>
          <p:txBody>
            <a:bodyPr/>
            <a:p/>
          </p:txBody>
        </p:sp>
      </p:grpSp>
      <p:grpSp>
        <p:nvGrpSpPr>
          <p:cNvPr name="Group 52" id="52"/>
          <p:cNvGrpSpPr/>
          <p:nvPr/>
        </p:nvGrpSpPr>
        <p:grpSpPr>
          <a:xfrm rot="0">
            <a:off x="6829273" y="2847518"/>
            <a:ext cx="704850" cy="704850"/>
            <a:chOff x="0" y="0"/>
            <a:chExt cx="939800" cy="939800"/>
          </a:xfrm>
        </p:grpSpPr>
        <p:sp>
          <p:nvSpPr>
            <p:cNvPr name="Freeform 53" id="53"/>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54" id="54"/>
          <p:cNvGrpSpPr/>
          <p:nvPr/>
        </p:nvGrpSpPr>
        <p:grpSpPr>
          <a:xfrm rot="0">
            <a:off x="7045909" y="3043580"/>
            <a:ext cx="271577" cy="314096"/>
            <a:chOff x="0" y="0"/>
            <a:chExt cx="362102" cy="418795"/>
          </a:xfrm>
        </p:grpSpPr>
        <p:sp>
          <p:nvSpPr>
            <p:cNvPr name="Freeform 55" id="55" descr="preencoded.png"/>
            <p:cNvSpPr/>
            <p:nvPr/>
          </p:nvSpPr>
          <p:spPr>
            <a:xfrm flipH="false" flipV="false" rot="0">
              <a:off x="0" y="0"/>
              <a:ext cx="362077" cy="418846"/>
            </a:xfrm>
            <a:custGeom>
              <a:avLst/>
              <a:gdLst/>
              <a:ahLst/>
              <a:cxnLst/>
              <a:rect r="r" b="b" t="t" l="l"/>
              <a:pathLst>
                <a:path h="418846" w="362077">
                  <a:moveTo>
                    <a:pt x="0" y="0"/>
                  </a:moveTo>
                  <a:lnTo>
                    <a:pt x="362077" y="0"/>
                  </a:lnTo>
                  <a:lnTo>
                    <a:pt x="362077" y="418846"/>
                  </a:lnTo>
                  <a:lnTo>
                    <a:pt x="0" y="418846"/>
                  </a:lnTo>
                  <a:lnTo>
                    <a:pt x="0" y="0"/>
                  </a:lnTo>
                  <a:close/>
                </a:path>
              </a:pathLst>
            </a:custGeom>
            <a:blipFill>
              <a:blip r:embed="rId8"/>
              <a:stretch>
                <a:fillRect l="0" t="597" r="-7" b="-18"/>
              </a:stretch>
            </a:blipFill>
          </p:spPr>
          <p:txBody>
            <a:bodyPr/>
            <a:p/>
          </p:txBody>
        </p:sp>
      </p:grpSp>
      <p:grpSp>
        <p:nvGrpSpPr>
          <p:cNvPr name="Group 56" id="56"/>
          <p:cNvGrpSpPr/>
          <p:nvPr/>
        </p:nvGrpSpPr>
        <p:grpSpPr>
          <a:xfrm rot="0">
            <a:off x="11243005" y="2857043"/>
            <a:ext cx="329184" cy="257861"/>
            <a:chOff x="0" y="0"/>
            <a:chExt cx="438912" cy="343814"/>
          </a:xfrm>
        </p:grpSpPr>
        <p:sp>
          <p:nvSpPr>
            <p:cNvPr name="Freeform 57" id="57"/>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58" id="58"/>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02</a:t>
              </a:r>
            </a:p>
          </p:txBody>
        </p:sp>
      </p:grpSp>
      <p:grpSp>
        <p:nvGrpSpPr>
          <p:cNvPr name="Group 59" id="59"/>
          <p:cNvGrpSpPr/>
          <p:nvPr/>
        </p:nvGrpSpPr>
        <p:grpSpPr>
          <a:xfrm rot="0">
            <a:off x="6838798" y="3771900"/>
            <a:ext cx="4786884" cy="430120"/>
            <a:chOff x="0" y="0"/>
            <a:chExt cx="6382512" cy="573494"/>
          </a:xfrm>
        </p:grpSpPr>
        <p:sp>
          <p:nvSpPr>
            <p:cNvPr name="Freeform 60" id="60"/>
            <p:cNvSpPr/>
            <p:nvPr/>
          </p:nvSpPr>
          <p:spPr>
            <a:xfrm flipH="false" flipV="false" rot="0">
              <a:off x="0" y="0"/>
              <a:ext cx="6382512" cy="573494"/>
            </a:xfrm>
            <a:custGeom>
              <a:avLst/>
              <a:gdLst/>
              <a:ahLst/>
              <a:cxnLst/>
              <a:rect r="r" b="b" t="t" l="l"/>
              <a:pathLst>
                <a:path h="573494" w="6382512">
                  <a:moveTo>
                    <a:pt x="0" y="0"/>
                  </a:moveTo>
                  <a:lnTo>
                    <a:pt x="6382512" y="0"/>
                  </a:lnTo>
                  <a:lnTo>
                    <a:pt x="6382512" y="573494"/>
                  </a:lnTo>
                  <a:lnTo>
                    <a:pt x="0" y="573494"/>
                  </a:lnTo>
                  <a:close/>
                </a:path>
              </a:pathLst>
            </a:custGeom>
            <a:blipFill>
              <a:blip r:embed="rId4">
                <a:alphaModFix amt="0"/>
              </a:blip>
              <a:stretch>
                <a:fillRect l="0" t="-171889" r="0" b="-161815"/>
              </a:stretch>
            </a:blipFill>
          </p:spPr>
          <p:txBody>
            <a:bodyPr/>
            <a:p/>
          </p:txBody>
        </p:sp>
        <p:sp>
          <p:nvSpPr>
            <p:cNvPr name="TextBox 61" id="61"/>
            <p:cNvSpPr txBox="true"/>
            <p:nvPr/>
          </p:nvSpPr>
          <p:spPr>
            <a:xfrm>
              <a:off x="0" y="-9525"/>
              <a:ext cx="6382512"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Immersion Froide</a:t>
              </a:r>
            </a:p>
          </p:txBody>
        </p:sp>
      </p:grpSp>
      <p:grpSp>
        <p:nvGrpSpPr>
          <p:cNvPr name="Group 62" id="62"/>
          <p:cNvGrpSpPr/>
          <p:nvPr/>
        </p:nvGrpSpPr>
        <p:grpSpPr>
          <a:xfrm rot="0">
            <a:off x="6838798" y="4328770"/>
            <a:ext cx="4786884" cy="293380"/>
            <a:chOff x="0" y="0"/>
            <a:chExt cx="6382512" cy="391173"/>
          </a:xfrm>
        </p:grpSpPr>
        <p:sp>
          <p:nvSpPr>
            <p:cNvPr name="Freeform 63" id="63"/>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64" id="64"/>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Pic de </a:t>
              </a:r>
              <a:r>
                <a:rPr lang="en-US" sz="1350" b="true">
                  <a:solidFill>
                    <a:srgbClr val="FFFFFF"/>
                  </a:solidFill>
                  <a:latin typeface="Manrope Bold"/>
                  <a:ea typeface="Manrope Bold"/>
                  <a:cs typeface="Manrope Bold"/>
                  <a:sym typeface="Manrope Bold"/>
                </a:rPr>
                <a:t>Noradrénaline</a:t>
              </a:r>
              <a:r>
                <a:rPr lang="en-US" sz="1350">
                  <a:solidFill>
                    <a:srgbClr val="BCBFCC"/>
                  </a:solidFill>
                  <a:latin typeface="Manrope"/>
                  <a:ea typeface="Manrope"/>
                  <a:cs typeface="Manrope"/>
                  <a:sym typeface="Manrope"/>
                </a:rPr>
                <a:t> &amp; Dopamine</a:t>
              </a:r>
            </a:p>
          </p:txBody>
        </p:sp>
      </p:grpSp>
      <p:grpSp>
        <p:nvGrpSpPr>
          <p:cNvPr name="Group 65" id="65"/>
          <p:cNvGrpSpPr/>
          <p:nvPr/>
        </p:nvGrpSpPr>
        <p:grpSpPr>
          <a:xfrm rot="0">
            <a:off x="6838798" y="4703216"/>
            <a:ext cx="5187391" cy="293380"/>
            <a:chOff x="0" y="0"/>
            <a:chExt cx="6916522" cy="391173"/>
          </a:xfrm>
        </p:grpSpPr>
        <p:sp>
          <p:nvSpPr>
            <p:cNvPr name="Freeform 66" id="66"/>
            <p:cNvSpPr/>
            <p:nvPr/>
          </p:nvSpPr>
          <p:spPr>
            <a:xfrm flipH="false" flipV="false" rot="0">
              <a:off x="0" y="0"/>
              <a:ext cx="6916522" cy="391172"/>
            </a:xfrm>
            <a:custGeom>
              <a:avLst/>
              <a:gdLst/>
              <a:ahLst/>
              <a:cxnLst/>
              <a:rect r="r" b="b" t="t" l="l"/>
              <a:pathLst>
                <a:path h="391172" w="6916522">
                  <a:moveTo>
                    <a:pt x="0" y="0"/>
                  </a:moveTo>
                  <a:lnTo>
                    <a:pt x="6916522" y="0"/>
                  </a:lnTo>
                  <a:lnTo>
                    <a:pt x="6916522" y="391172"/>
                  </a:lnTo>
                  <a:lnTo>
                    <a:pt x="0" y="391172"/>
                  </a:lnTo>
                  <a:close/>
                </a:path>
              </a:pathLst>
            </a:custGeom>
            <a:blipFill>
              <a:blip r:embed="rId4">
                <a:alphaModFix amt="0"/>
              </a:blip>
              <a:stretch>
                <a:fillRect l="0" t="-298240" r="0" b="-290809"/>
              </a:stretch>
            </a:blipFill>
          </p:spPr>
          <p:txBody>
            <a:bodyPr/>
            <a:p/>
          </p:txBody>
        </p:sp>
        <p:sp>
          <p:nvSpPr>
            <p:cNvPr name="TextBox 67" id="67"/>
            <p:cNvSpPr txBox="true"/>
            <p:nvPr/>
          </p:nvSpPr>
          <p:spPr>
            <a:xfrm>
              <a:off x="0" y="0"/>
              <a:ext cx="691652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Activation Graisse Brune (BAT) &amp; Thermogenèse</a:t>
              </a:r>
            </a:p>
          </p:txBody>
        </p:sp>
      </p:grpSp>
      <p:grpSp>
        <p:nvGrpSpPr>
          <p:cNvPr name="Group 68" id="68"/>
          <p:cNvGrpSpPr/>
          <p:nvPr/>
        </p:nvGrpSpPr>
        <p:grpSpPr>
          <a:xfrm rot="0">
            <a:off x="6838798" y="5077663"/>
            <a:ext cx="4786884" cy="293380"/>
            <a:chOff x="0" y="0"/>
            <a:chExt cx="6382512" cy="391173"/>
          </a:xfrm>
        </p:grpSpPr>
        <p:sp>
          <p:nvSpPr>
            <p:cNvPr name="Freeform 69" id="69"/>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70" id="70"/>
            <p:cNvSpPr txBox="true"/>
            <p:nvPr/>
          </p:nvSpPr>
          <p:spPr>
            <a:xfrm>
              <a:off x="0" y="0"/>
              <a:ext cx="6382512"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Mitophagie</a:t>
              </a:r>
              <a:r>
                <a:rPr lang="en-US" sz="1350">
                  <a:solidFill>
                    <a:srgbClr val="BCBFCC"/>
                  </a:solidFill>
                  <a:latin typeface="Manrope"/>
                  <a:ea typeface="Manrope"/>
                  <a:cs typeface="Manrope"/>
                  <a:sym typeface="Manrope"/>
                </a:rPr>
                <a:t> (Nettoyage mitochondrial)</a:t>
              </a:r>
            </a:p>
          </p:txBody>
        </p:sp>
      </p:grpSp>
      <p:grpSp>
        <p:nvGrpSpPr>
          <p:cNvPr name="Group 71" id="71"/>
          <p:cNvGrpSpPr/>
          <p:nvPr/>
        </p:nvGrpSpPr>
        <p:grpSpPr>
          <a:xfrm rot="0">
            <a:off x="12082501" y="2490902"/>
            <a:ext cx="5347716" cy="3490570"/>
            <a:chOff x="0" y="0"/>
            <a:chExt cx="7130288" cy="4654093"/>
          </a:xfrm>
        </p:grpSpPr>
        <p:sp>
          <p:nvSpPr>
            <p:cNvPr name="Freeform 72" id="72"/>
            <p:cNvSpPr/>
            <p:nvPr/>
          </p:nvSpPr>
          <p:spPr>
            <a:xfrm flipH="false" flipV="false" rot="0">
              <a:off x="12700" y="12700"/>
              <a:ext cx="7104888" cy="4628642"/>
            </a:xfrm>
            <a:custGeom>
              <a:avLst/>
              <a:gdLst/>
              <a:ahLst/>
              <a:cxnLst/>
              <a:rect r="r" b="b" t="t" l="l"/>
              <a:pathLst>
                <a:path h="4628642" w="7104888">
                  <a:moveTo>
                    <a:pt x="0" y="0"/>
                  </a:moveTo>
                  <a:lnTo>
                    <a:pt x="7104888" y="0"/>
                  </a:lnTo>
                  <a:lnTo>
                    <a:pt x="7104888" y="4628642"/>
                  </a:lnTo>
                  <a:lnTo>
                    <a:pt x="0" y="4628642"/>
                  </a:lnTo>
                  <a:close/>
                </a:path>
              </a:pathLst>
            </a:custGeom>
            <a:solidFill>
              <a:srgbClr val="141419"/>
            </a:solidFill>
          </p:spPr>
          <p:txBody>
            <a:bodyPr/>
            <a:p/>
          </p:txBody>
        </p:sp>
        <p:sp>
          <p:nvSpPr>
            <p:cNvPr name="Freeform 73" id="73"/>
            <p:cNvSpPr/>
            <p:nvPr/>
          </p:nvSpPr>
          <p:spPr>
            <a:xfrm flipH="false" flipV="false" rot="0">
              <a:off x="0" y="0"/>
              <a:ext cx="7130288" cy="4654042"/>
            </a:xfrm>
            <a:custGeom>
              <a:avLst/>
              <a:gdLst/>
              <a:ahLst/>
              <a:cxnLst/>
              <a:rect r="r" b="b" t="t" l="l"/>
              <a:pathLst>
                <a:path h="4654042" w="7130288">
                  <a:moveTo>
                    <a:pt x="12700" y="0"/>
                  </a:moveTo>
                  <a:lnTo>
                    <a:pt x="7117588" y="0"/>
                  </a:lnTo>
                  <a:cubicBezTo>
                    <a:pt x="7124573" y="0"/>
                    <a:pt x="7130288" y="5715"/>
                    <a:pt x="7130288" y="12700"/>
                  </a:cubicBezTo>
                  <a:lnTo>
                    <a:pt x="7130288" y="4641342"/>
                  </a:lnTo>
                  <a:cubicBezTo>
                    <a:pt x="7130288" y="4648327"/>
                    <a:pt x="7124573" y="4654042"/>
                    <a:pt x="7117588"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7117588" y="4628642"/>
                  </a:lnTo>
                  <a:lnTo>
                    <a:pt x="7117588" y="4641342"/>
                  </a:lnTo>
                  <a:lnTo>
                    <a:pt x="7104888" y="4641342"/>
                  </a:lnTo>
                  <a:lnTo>
                    <a:pt x="7104888" y="12700"/>
                  </a:lnTo>
                  <a:lnTo>
                    <a:pt x="7117588" y="12700"/>
                  </a:lnTo>
                  <a:lnTo>
                    <a:pt x="7117588" y="25400"/>
                  </a:lnTo>
                  <a:lnTo>
                    <a:pt x="12700" y="25400"/>
                  </a:lnTo>
                  <a:close/>
                </a:path>
              </a:pathLst>
            </a:custGeom>
            <a:solidFill>
              <a:srgbClr val="40424D"/>
            </a:solidFill>
          </p:spPr>
          <p:txBody>
            <a:bodyPr/>
            <a:p/>
          </p:txBody>
        </p:sp>
      </p:grpSp>
      <p:grpSp>
        <p:nvGrpSpPr>
          <p:cNvPr name="Group 74" id="74"/>
          <p:cNvGrpSpPr/>
          <p:nvPr/>
        </p:nvGrpSpPr>
        <p:grpSpPr>
          <a:xfrm rot="0">
            <a:off x="12439117" y="2847518"/>
            <a:ext cx="704850" cy="704850"/>
            <a:chOff x="0" y="0"/>
            <a:chExt cx="939800" cy="939800"/>
          </a:xfrm>
        </p:grpSpPr>
        <p:sp>
          <p:nvSpPr>
            <p:cNvPr name="Freeform 75" id="75"/>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76" id="76"/>
          <p:cNvGrpSpPr/>
          <p:nvPr/>
        </p:nvGrpSpPr>
        <p:grpSpPr>
          <a:xfrm rot="0">
            <a:off x="12635179" y="3043580"/>
            <a:ext cx="314096" cy="314096"/>
            <a:chOff x="0" y="0"/>
            <a:chExt cx="418795" cy="418795"/>
          </a:xfrm>
        </p:grpSpPr>
        <p:sp>
          <p:nvSpPr>
            <p:cNvPr name="Freeform 77" id="77" descr="preencoded.png"/>
            <p:cNvSpPr/>
            <p:nvPr/>
          </p:nvSpPr>
          <p:spPr>
            <a:xfrm flipH="false" flipV="false" rot="0">
              <a:off x="0" y="0"/>
              <a:ext cx="418846" cy="418846"/>
            </a:xfrm>
            <a:custGeom>
              <a:avLst/>
              <a:gdLst/>
              <a:ahLst/>
              <a:cxnLst/>
              <a:rect r="r" b="b" t="t" l="l"/>
              <a:pathLst>
                <a:path h="418846" w="418846">
                  <a:moveTo>
                    <a:pt x="0" y="0"/>
                  </a:moveTo>
                  <a:lnTo>
                    <a:pt x="418846" y="0"/>
                  </a:lnTo>
                  <a:lnTo>
                    <a:pt x="418846" y="418846"/>
                  </a:lnTo>
                  <a:lnTo>
                    <a:pt x="0" y="418846"/>
                  </a:lnTo>
                  <a:lnTo>
                    <a:pt x="0" y="0"/>
                  </a:lnTo>
                  <a:close/>
                </a:path>
              </a:pathLst>
            </a:custGeom>
            <a:blipFill>
              <a:blip r:embed="rId9"/>
              <a:stretch>
                <a:fillRect l="0" t="0" r="12" b="12"/>
              </a:stretch>
            </a:blipFill>
          </p:spPr>
          <p:txBody>
            <a:bodyPr/>
            <a:p/>
          </p:txBody>
        </p:sp>
      </p:grpSp>
      <p:grpSp>
        <p:nvGrpSpPr>
          <p:cNvPr name="Group 78" id="78"/>
          <p:cNvGrpSpPr/>
          <p:nvPr/>
        </p:nvGrpSpPr>
        <p:grpSpPr>
          <a:xfrm rot="0">
            <a:off x="16852849" y="2857043"/>
            <a:ext cx="329184" cy="257861"/>
            <a:chOff x="0" y="0"/>
            <a:chExt cx="438912" cy="343814"/>
          </a:xfrm>
        </p:grpSpPr>
        <p:sp>
          <p:nvSpPr>
            <p:cNvPr name="Freeform 79" id="79"/>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80" id="80"/>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03</a:t>
              </a:r>
            </a:p>
          </p:txBody>
        </p:sp>
      </p:grpSp>
      <p:grpSp>
        <p:nvGrpSpPr>
          <p:cNvPr name="Group 81" id="81"/>
          <p:cNvGrpSpPr/>
          <p:nvPr/>
        </p:nvGrpSpPr>
        <p:grpSpPr>
          <a:xfrm rot="0">
            <a:off x="12448642" y="3771900"/>
            <a:ext cx="4786884" cy="430120"/>
            <a:chOff x="0" y="0"/>
            <a:chExt cx="6382512" cy="573494"/>
          </a:xfrm>
        </p:grpSpPr>
        <p:sp>
          <p:nvSpPr>
            <p:cNvPr name="Freeform 82" id="82"/>
            <p:cNvSpPr/>
            <p:nvPr/>
          </p:nvSpPr>
          <p:spPr>
            <a:xfrm flipH="false" flipV="false" rot="0">
              <a:off x="0" y="0"/>
              <a:ext cx="6382512" cy="573494"/>
            </a:xfrm>
            <a:custGeom>
              <a:avLst/>
              <a:gdLst/>
              <a:ahLst/>
              <a:cxnLst/>
              <a:rect r="r" b="b" t="t" l="l"/>
              <a:pathLst>
                <a:path h="573494" w="6382512">
                  <a:moveTo>
                    <a:pt x="0" y="0"/>
                  </a:moveTo>
                  <a:lnTo>
                    <a:pt x="6382512" y="0"/>
                  </a:lnTo>
                  <a:lnTo>
                    <a:pt x="6382512" y="573494"/>
                  </a:lnTo>
                  <a:lnTo>
                    <a:pt x="0" y="573494"/>
                  </a:lnTo>
                  <a:close/>
                </a:path>
              </a:pathLst>
            </a:custGeom>
            <a:blipFill>
              <a:blip r:embed="rId4">
                <a:alphaModFix amt="0"/>
              </a:blip>
              <a:stretch>
                <a:fillRect l="0" t="-171889" r="0" b="-161815"/>
              </a:stretch>
            </a:blipFill>
          </p:spPr>
          <p:txBody>
            <a:bodyPr/>
            <a:p/>
          </p:txBody>
        </p:sp>
        <p:sp>
          <p:nvSpPr>
            <p:cNvPr name="TextBox 83" id="83"/>
            <p:cNvSpPr txBox="true"/>
            <p:nvPr/>
          </p:nvSpPr>
          <p:spPr>
            <a:xfrm>
              <a:off x="0" y="-9525"/>
              <a:ext cx="6382512"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Photobiomodulation</a:t>
              </a:r>
            </a:p>
          </p:txBody>
        </p:sp>
      </p:grpSp>
      <p:grpSp>
        <p:nvGrpSpPr>
          <p:cNvPr name="Group 84" id="84"/>
          <p:cNvGrpSpPr/>
          <p:nvPr/>
        </p:nvGrpSpPr>
        <p:grpSpPr>
          <a:xfrm rot="0">
            <a:off x="12448642" y="4328770"/>
            <a:ext cx="4786884" cy="293380"/>
            <a:chOff x="0" y="0"/>
            <a:chExt cx="6382512" cy="391173"/>
          </a:xfrm>
        </p:grpSpPr>
        <p:sp>
          <p:nvSpPr>
            <p:cNvPr name="Freeform 85" id="85"/>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86" id="86"/>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Spectre Rouge / NIR (</a:t>
              </a:r>
              <a:r>
                <a:rPr lang="en-US" sz="1350" b="true">
                  <a:solidFill>
                    <a:srgbClr val="FFFFFF"/>
                  </a:solidFill>
                  <a:latin typeface="Manrope Bold"/>
                  <a:ea typeface="Manrope Bold"/>
                  <a:cs typeface="Manrope Bold"/>
                  <a:sym typeface="Manrope Bold"/>
                </a:rPr>
                <a:t>660-850 nm</a:t>
              </a:r>
              <a:r>
                <a:rPr lang="en-US" sz="1350">
                  <a:solidFill>
                    <a:srgbClr val="BCBFCC"/>
                  </a:solidFill>
                  <a:latin typeface="Manrope"/>
                  <a:ea typeface="Manrope"/>
                  <a:cs typeface="Manrope"/>
                  <a:sym typeface="Manrope"/>
                </a:rPr>
                <a:t>)</a:t>
              </a:r>
            </a:p>
          </p:txBody>
        </p:sp>
      </p:grpSp>
      <p:grpSp>
        <p:nvGrpSpPr>
          <p:cNvPr name="Group 87" id="87"/>
          <p:cNvGrpSpPr/>
          <p:nvPr/>
        </p:nvGrpSpPr>
        <p:grpSpPr>
          <a:xfrm rot="0">
            <a:off x="12448642" y="4703216"/>
            <a:ext cx="4786884" cy="293380"/>
            <a:chOff x="0" y="0"/>
            <a:chExt cx="6382512" cy="391173"/>
          </a:xfrm>
        </p:grpSpPr>
        <p:sp>
          <p:nvSpPr>
            <p:cNvPr name="Freeform 88" id="88"/>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89" id="89"/>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Activation Cytochrome C Oxydase (CCO)</a:t>
              </a:r>
            </a:p>
          </p:txBody>
        </p:sp>
      </p:grpSp>
      <p:grpSp>
        <p:nvGrpSpPr>
          <p:cNvPr name="Group 90" id="90"/>
          <p:cNvGrpSpPr/>
          <p:nvPr/>
        </p:nvGrpSpPr>
        <p:grpSpPr>
          <a:xfrm rot="0">
            <a:off x="12448642" y="5077663"/>
            <a:ext cx="4786884" cy="293380"/>
            <a:chOff x="0" y="0"/>
            <a:chExt cx="6382512" cy="391173"/>
          </a:xfrm>
        </p:grpSpPr>
        <p:sp>
          <p:nvSpPr>
            <p:cNvPr name="Freeform 91" id="91"/>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92" id="92"/>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Optimisation de la production d'</a:t>
              </a:r>
              <a:r>
                <a:rPr lang="en-US" sz="1350" b="true">
                  <a:solidFill>
                    <a:srgbClr val="FFFFFF"/>
                  </a:solidFill>
                  <a:latin typeface="Manrope Bold"/>
                  <a:ea typeface="Manrope Bold"/>
                  <a:cs typeface="Manrope Bold"/>
                  <a:sym typeface="Manrope Bold"/>
                </a:rPr>
                <a:t>ATP</a:t>
              </a:r>
            </a:p>
          </p:txBody>
        </p:sp>
      </p:grpSp>
      <p:grpSp>
        <p:nvGrpSpPr>
          <p:cNvPr name="Group 93" id="93"/>
          <p:cNvGrpSpPr/>
          <p:nvPr/>
        </p:nvGrpSpPr>
        <p:grpSpPr>
          <a:xfrm rot="0">
            <a:off x="847725" y="6240856"/>
            <a:ext cx="8163611" cy="3490570"/>
            <a:chOff x="0" y="0"/>
            <a:chExt cx="10884814" cy="4654093"/>
          </a:xfrm>
        </p:grpSpPr>
        <p:sp>
          <p:nvSpPr>
            <p:cNvPr name="Freeform 94" id="94"/>
            <p:cNvSpPr/>
            <p:nvPr/>
          </p:nvSpPr>
          <p:spPr>
            <a:xfrm flipH="false" flipV="false" rot="0">
              <a:off x="12700" y="12700"/>
              <a:ext cx="10859389" cy="4628642"/>
            </a:xfrm>
            <a:custGeom>
              <a:avLst/>
              <a:gdLst/>
              <a:ahLst/>
              <a:cxnLst/>
              <a:rect r="r" b="b" t="t" l="l"/>
              <a:pathLst>
                <a:path h="4628642" w="10859389">
                  <a:moveTo>
                    <a:pt x="0" y="0"/>
                  </a:moveTo>
                  <a:lnTo>
                    <a:pt x="10859389" y="0"/>
                  </a:lnTo>
                  <a:lnTo>
                    <a:pt x="10859389" y="4628642"/>
                  </a:lnTo>
                  <a:lnTo>
                    <a:pt x="0" y="4628642"/>
                  </a:lnTo>
                  <a:close/>
                </a:path>
              </a:pathLst>
            </a:custGeom>
            <a:solidFill>
              <a:srgbClr val="141419"/>
            </a:solidFill>
          </p:spPr>
          <p:txBody>
            <a:bodyPr/>
            <a:p/>
          </p:txBody>
        </p:sp>
        <p:sp>
          <p:nvSpPr>
            <p:cNvPr name="Freeform 95" id="95"/>
            <p:cNvSpPr/>
            <p:nvPr/>
          </p:nvSpPr>
          <p:spPr>
            <a:xfrm flipH="false" flipV="false" rot="0">
              <a:off x="0" y="0"/>
              <a:ext cx="10884789" cy="4654042"/>
            </a:xfrm>
            <a:custGeom>
              <a:avLst/>
              <a:gdLst/>
              <a:ahLst/>
              <a:cxnLst/>
              <a:rect r="r" b="b" t="t" l="l"/>
              <a:pathLst>
                <a:path h="4654042" w="10884789">
                  <a:moveTo>
                    <a:pt x="12700" y="0"/>
                  </a:moveTo>
                  <a:lnTo>
                    <a:pt x="10872089" y="0"/>
                  </a:lnTo>
                  <a:cubicBezTo>
                    <a:pt x="10879074" y="0"/>
                    <a:pt x="10884789" y="5715"/>
                    <a:pt x="10884789" y="12700"/>
                  </a:cubicBezTo>
                  <a:lnTo>
                    <a:pt x="10884789" y="4641342"/>
                  </a:lnTo>
                  <a:cubicBezTo>
                    <a:pt x="10884789" y="4648327"/>
                    <a:pt x="10879074" y="4654042"/>
                    <a:pt x="10872089"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10872089" y="4628642"/>
                  </a:lnTo>
                  <a:lnTo>
                    <a:pt x="10872089" y="4641342"/>
                  </a:lnTo>
                  <a:lnTo>
                    <a:pt x="10859389" y="4641342"/>
                  </a:lnTo>
                  <a:lnTo>
                    <a:pt x="10859389" y="12700"/>
                  </a:lnTo>
                  <a:lnTo>
                    <a:pt x="10872089" y="12700"/>
                  </a:lnTo>
                  <a:lnTo>
                    <a:pt x="10872089" y="25400"/>
                  </a:lnTo>
                  <a:lnTo>
                    <a:pt x="12700" y="25400"/>
                  </a:lnTo>
                  <a:close/>
                </a:path>
              </a:pathLst>
            </a:custGeom>
            <a:solidFill>
              <a:srgbClr val="40424D"/>
            </a:solidFill>
          </p:spPr>
          <p:txBody>
            <a:bodyPr/>
            <a:p/>
          </p:txBody>
        </p:sp>
      </p:grpSp>
      <p:grpSp>
        <p:nvGrpSpPr>
          <p:cNvPr name="Group 96" id="96"/>
          <p:cNvGrpSpPr/>
          <p:nvPr/>
        </p:nvGrpSpPr>
        <p:grpSpPr>
          <a:xfrm rot="0">
            <a:off x="1204341" y="6598844"/>
            <a:ext cx="704850" cy="704850"/>
            <a:chOff x="0" y="0"/>
            <a:chExt cx="939800" cy="939800"/>
          </a:xfrm>
        </p:grpSpPr>
        <p:sp>
          <p:nvSpPr>
            <p:cNvPr name="Freeform 97" id="97"/>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98" id="98"/>
          <p:cNvGrpSpPr/>
          <p:nvPr/>
        </p:nvGrpSpPr>
        <p:grpSpPr>
          <a:xfrm rot="0">
            <a:off x="1378458" y="6793535"/>
            <a:ext cx="356616" cy="314096"/>
            <a:chOff x="0" y="0"/>
            <a:chExt cx="475488" cy="418795"/>
          </a:xfrm>
        </p:grpSpPr>
        <p:sp>
          <p:nvSpPr>
            <p:cNvPr name="Freeform 99" id="99" descr="preencoded.png"/>
            <p:cNvSpPr/>
            <p:nvPr/>
          </p:nvSpPr>
          <p:spPr>
            <a:xfrm flipH="false" flipV="false" rot="0">
              <a:off x="0" y="0"/>
              <a:ext cx="475488" cy="418846"/>
            </a:xfrm>
            <a:custGeom>
              <a:avLst/>
              <a:gdLst/>
              <a:ahLst/>
              <a:cxnLst/>
              <a:rect r="r" b="b" t="t" l="l"/>
              <a:pathLst>
                <a:path h="418846" w="475488">
                  <a:moveTo>
                    <a:pt x="0" y="0"/>
                  </a:moveTo>
                  <a:lnTo>
                    <a:pt x="475488" y="0"/>
                  </a:lnTo>
                  <a:lnTo>
                    <a:pt x="475488" y="418846"/>
                  </a:lnTo>
                  <a:lnTo>
                    <a:pt x="0" y="418846"/>
                  </a:lnTo>
                  <a:lnTo>
                    <a:pt x="0" y="0"/>
                  </a:lnTo>
                  <a:close/>
                </a:path>
              </a:pathLst>
            </a:custGeom>
            <a:blipFill>
              <a:blip r:embed="rId10"/>
              <a:stretch>
                <a:fillRect l="459" t="0" r="-24" b="12"/>
              </a:stretch>
            </a:blipFill>
          </p:spPr>
          <p:txBody>
            <a:bodyPr/>
            <a:p/>
          </p:txBody>
        </p:sp>
      </p:grpSp>
      <p:grpSp>
        <p:nvGrpSpPr>
          <p:cNvPr name="Group 100" id="100"/>
          <p:cNvGrpSpPr/>
          <p:nvPr/>
        </p:nvGrpSpPr>
        <p:grpSpPr>
          <a:xfrm rot="0">
            <a:off x="8438083" y="6608369"/>
            <a:ext cx="329184" cy="257861"/>
            <a:chOff x="0" y="0"/>
            <a:chExt cx="438912" cy="343814"/>
          </a:xfrm>
        </p:grpSpPr>
        <p:sp>
          <p:nvSpPr>
            <p:cNvPr name="Freeform 101" id="101"/>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02" id="102"/>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04</a:t>
              </a:r>
            </a:p>
          </p:txBody>
        </p:sp>
      </p:grpSp>
      <p:grpSp>
        <p:nvGrpSpPr>
          <p:cNvPr name="Group 103" id="103"/>
          <p:cNvGrpSpPr/>
          <p:nvPr/>
        </p:nvGrpSpPr>
        <p:grpSpPr>
          <a:xfrm rot="0">
            <a:off x="1213866" y="7521854"/>
            <a:ext cx="7601407" cy="430120"/>
            <a:chOff x="0" y="0"/>
            <a:chExt cx="10135210" cy="573494"/>
          </a:xfrm>
        </p:grpSpPr>
        <p:sp>
          <p:nvSpPr>
            <p:cNvPr name="Freeform 104" id="104"/>
            <p:cNvSpPr/>
            <p:nvPr/>
          </p:nvSpPr>
          <p:spPr>
            <a:xfrm flipH="false" flipV="false" rot="0">
              <a:off x="0" y="0"/>
              <a:ext cx="10135210" cy="573494"/>
            </a:xfrm>
            <a:custGeom>
              <a:avLst/>
              <a:gdLst/>
              <a:ahLst/>
              <a:cxnLst/>
              <a:rect r="r" b="b" t="t" l="l"/>
              <a:pathLst>
                <a:path h="573494" w="10135210">
                  <a:moveTo>
                    <a:pt x="0" y="0"/>
                  </a:moveTo>
                  <a:lnTo>
                    <a:pt x="10135210" y="0"/>
                  </a:lnTo>
                  <a:lnTo>
                    <a:pt x="10135210" y="573494"/>
                  </a:lnTo>
                  <a:lnTo>
                    <a:pt x="0" y="573494"/>
                  </a:lnTo>
                  <a:close/>
                </a:path>
              </a:pathLst>
            </a:custGeom>
            <a:blipFill>
              <a:blip r:embed="rId4">
                <a:alphaModFix amt="0"/>
              </a:blip>
              <a:stretch>
                <a:fillRect l="0" t="-299390" r="0" b="-289316"/>
              </a:stretch>
            </a:blipFill>
          </p:spPr>
          <p:txBody>
            <a:bodyPr/>
            <a:p/>
          </p:txBody>
        </p:sp>
        <p:sp>
          <p:nvSpPr>
            <p:cNvPr name="TextBox 105" id="105"/>
            <p:cNvSpPr txBox="true"/>
            <p:nvPr/>
          </p:nvSpPr>
          <p:spPr>
            <a:xfrm>
              <a:off x="0" y="-9525"/>
              <a:ext cx="1013521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Hygiène CEM</a:t>
              </a:r>
            </a:p>
          </p:txBody>
        </p:sp>
      </p:grpSp>
      <p:grpSp>
        <p:nvGrpSpPr>
          <p:cNvPr name="Group 106" id="106"/>
          <p:cNvGrpSpPr/>
          <p:nvPr/>
        </p:nvGrpSpPr>
        <p:grpSpPr>
          <a:xfrm rot="0">
            <a:off x="1213866" y="8080096"/>
            <a:ext cx="7601407" cy="293380"/>
            <a:chOff x="0" y="0"/>
            <a:chExt cx="10135210" cy="391173"/>
          </a:xfrm>
        </p:grpSpPr>
        <p:sp>
          <p:nvSpPr>
            <p:cNvPr name="Freeform 107" id="107"/>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08" id="108"/>
            <p:cNvSpPr txBox="true"/>
            <p:nvPr/>
          </p:nvSpPr>
          <p:spPr>
            <a:xfrm>
              <a:off x="0" y="0"/>
              <a:ext cx="1013521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Réduire l'exposition aux champs non-natifs</a:t>
              </a:r>
            </a:p>
          </p:txBody>
        </p:sp>
      </p:grpSp>
      <p:grpSp>
        <p:nvGrpSpPr>
          <p:cNvPr name="Group 109" id="109"/>
          <p:cNvGrpSpPr/>
          <p:nvPr/>
        </p:nvGrpSpPr>
        <p:grpSpPr>
          <a:xfrm rot="0">
            <a:off x="1213866" y="8454542"/>
            <a:ext cx="7601407" cy="293380"/>
            <a:chOff x="0" y="0"/>
            <a:chExt cx="10135210" cy="391173"/>
          </a:xfrm>
        </p:grpSpPr>
        <p:sp>
          <p:nvSpPr>
            <p:cNvPr name="Freeform 110" id="110"/>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11" id="111"/>
            <p:cNvSpPr txBox="true"/>
            <p:nvPr/>
          </p:nvSpPr>
          <p:spPr>
            <a:xfrm>
              <a:off x="0" y="0"/>
              <a:ext cx="1013521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Mode Avion</a:t>
              </a:r>
              <a:r>
                <a:rPr lang="en-US" sz="1350">
                  <a:solidFill>
                    <a:srgbClr val="BCBFCC"/>
                  </a:solidFill>
                  <a:latin typeface="Manrope"/>
                  <a:ea typeface="Manrope"/>
                  <a:cs typeface="Manrope"/>
                  <a:sym typeface="Manrope"/>
                </a:rPr>
                <a:t> &amp; coupure Wi-Fi nocturne</a:t>
              </a:r>
            </a:p>
          </p:txBody>
        </p:sp>
      </p:grpSp>
      <p:grpSp>
        <p:nvGrpSpPr>
          <p:cNvPr name="Group 112" id="112"/>
          <p:cNvGrpSpPr/>
          <p:nvPr/>
        </p:nvGrpSpPr>
        <p:grpSpPr>
          <a:xfrm rot="0">
            <a:off x="1213866" y="8828989"/>
            <a:ext cx="7601407" cy="293380"/>
            <a:chOff x="0" y="0"/>
            <a:chExt cx="10135210" cy="391173"/>
          </a:xfrm>
        </p:grpSpPr>
        <p:sp>
          <p:nvSpPr>
            <p:cNvPr name="Freeform 113" id="113"/>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14" id="114"/>
            <p:cNvSpPr txBox="true"/>
            <p:nvPr/>
          </p:nvSpPr>
          <p:spPr>
            <a:xfrm>
              <a:off x="0" y="0"/>
              <a:ext cx="1013521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Protection du sommeil &amp; du système nerveux</a:t>
              </a:r>
            </a:p>
          </p:txBody>
        </p:sp>
      </p:grpSp>
      <p:grpSp>
        <p:nvGrpSpPr>
          <p:cNvPr name="Group 115" id="115"/>
          <p:cNvGrpSpPr/>
          <p:nvPr/>
        </p:nvGrpSpPr>
        <p:grpSpPr>
          <a:xfrm rot="0">
            <a:off x="9277579" y="6240856"/>
            <a:ext cx="8163611" cy="3490570"/>
            <a:chOff x="0" y="0"/>
            <a:chExt cx="10884814" cy="4654093"/>
          </a:xfrm>
        </p:grpSpPr>
        <p:sp>
          <p:nvSpPr>
            <p:cNvPr name="Freeform 116" id="116"/>
            <p:cNvSpPr/>
            <p:nvPr/>
          </p:nvSpPr>
          <p:spPr>
            <a:xfrm flipH="false" flipV="false" rot="0">
              <a:off x="12700" y="12700"/>
              <a:ext cx="10859389" cy="4628642"/>
            </a:xfrm>
            <a:custGeom>
              <a:avLst/>
              <a:gdLst/>
              <a:ahLst/>
              <a:cxnLst/>
              <a:rect r="r" b="b" t="t" l="l"/>
              <a:pathLst>
                <a:path h="4628642" w="10859389">
                  <a:moveTo>
                    <a:pt x="0" y="0"/>
                  </a:moveTo>
                  <a:lnTo>
                    <a:pt x="10859389" y="0"/>
                  </a:lnTo>
                  <a:lnTo>
                    <a:pt x="10859389" y="4628642"/>
                  </a:lnTo>
                  <a:lnTo>
                    <a:pt x="0" y="4628642"/>
                  </a:lnTo>
                  <a:close/>
                </a:path>
              </a:pathLst>
            </a:custGeom>
            <a:solidFill>
              <a:srgbClr val="141419"/>
            </a:solidFill>
          </p:spPr>
          <p:txBody>
            <a:bodyPr/>
            <a:p/>
          </p:txBody>
        </p:sp>
        <p:sp>
          <p:nvSpPr>
            <p:cNvPr name="Freeform 117" id="117"/>
            <p:cNvSpPr/>
            <p:nvPr/>
          </p:nvSpPr>
          <p:spPr>
            <a:xfrm flipH="false" flipV="false" rot="0">
              <a:off x="0" y="0"/>
              <a:ext cx="10884789" cy="4654042"/>
            </a:xfrm>
            <a:custGeom>
              <a:avLst/>
              <a:gdLst/>
              <a:ahLst/>
              <a:cxnLst/>
              <a:rect r="r" b="b" t="t" l="l"/>
              <a:pathLst>
                <a:path h="4654042" w="10884789">
                  <a:moveTo>
                    <a:pt x="12700" y="0"/>
                  </a:moveTo>
                  <a:lnTo>
                    <a:pt x="10872089" y="0"/>
                  </a:lnTo>
                  <a:cubicBezTo>
                    <a:pt x="10879074" y="0"/>
                    <a:pt x="10884789" y="5715"/>
                    <a:pt x="10884789" y="12700"/>
                  </a:cubicBezTo>
                  <a:lnTo>
                    <a:pt x="10884789" y="4641342"/>
                  </a:lnTo>
                  <a:cubicBezTo>
                    <a:pt x="10884789" y="4648327"/>
                    <a:pt x="10879074" y="4654042"/>
                    <a:pt x="10872089"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10872089" y="4628642"/>
                  </a:lnTo>
                  <a:lnTo>
                    <a:pt x="10872089" y="4641342"/>
                  </a:lnTo>
                  <a:lnTo>
                    <a:pt x="10859389" y="4641342"/>
                  </a:lnTo>
                  <a:lnTo>
                    <a:pt x="10859389" y="12700"/>
                  </a:lnTo>
                  <a:lnTo>
                    <a:pt x="10872089" y="12700"/>
                  </a:lnTo>
                  <a:lnTo>
                    <a:pt x="10872089" y="25400"/>
                  </a:lnTo>
                  <a:lnTo>
                    <a:pt x="12700" y="25400"/>
                  </a:lnTo>
                  <a:close/>
                </a:path>
              </a:pathLst>
            </a:custGeom>
            <a:solidFill>
              <a:srgbClr val="40424D"/>
            </a:solidFill>
          </p:spPr>
          <p:txBody>
            <a:bodyPr/>
            <a:p/>
          </p:txBody>
        </p:sp>
      </p:grpSp>
      <p:grpSp>
        <p:nvGrpSpPr>
          <p:cNvPr name="Group 118" id="118"/>
          <p:cNvGrpSpPr/>
          <p:nvPr/>
        </p:nvGrpSpPr>
        <p:grpSpPr>
          <a:xfrm rot="0">
            <a:off x="9634195" y="6598844"/>
            <a:ext cx="704850" cy="704850"/>
            <a:chOff x="0" y="0"/>
            <a:chExt cx="939800" cy="939800"/>
          </a:xfrm>
        </p:grpSpPr>
        <p:sp>
          <p:nvSpPr>
            <p:cNvPr name="Freeform 119" id="119"/>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120" id="120"/>
          <p:cNvGrpSpPr/>
          <p:nvPr/>
        </p:nvGrpSpPr>
        <p:grpSpPr>
          <a:xfrm rot="0">
            <a:off x="9786366" y="6793535"/>
            <a:ext cx="400507" cy="314096"/>
            <a:chOff x="0" y="0"/>
            <a:chExt cx="534010" cy="418795"/>
          </a:xfrm>
        </p:grpSpPr>
        <p:sp>
          <p:nvSpPr>
            <p:cNvPr name="Freeform 121" id="121" descr="preencoded.png"/>
            <p:cNvSpPr/>
            <p:nvPr/>
          </p:nvSpPr>
          <p:spPr>
            <a:xfrm flipH="false" flipV="false" rot="0">
              <a:off x="0" y="0"/>
              <a:ext cx="534035" cy="418846"/>
            </a:xfrm>
            <a:custGeom>
              <a:avLst/>
              <a:gdLst/>
              <a:ahLst/>
              <a:cxnLst/>
              <a:rect r="r" b="b" t="t" l="l"/>
              <a:pathLst>
                <a:path h="418846" w="534035">
                  <a:moveTo>
                    <a:pt x="0" y="0"/>
                  </a:moveTo>
                  <a:lnTo>
                    <a:pt x="534035" y="0"/>
                  </a:lnTo>
                  <a:lnTo>
                    <a:pt x="534035" y="418846"/>
                  </a:lnTo>
                  <a:lnTo>
                    <a:pt x="0" y="418846"/>
                  </a:lnTo>
                  <a:lnTo>
                    <a:pt x="0" y="0"/>
                  </a:lnTo>
                  <a:close/>
                </a:path>
              </a:pathLst>
            </a:custGeom>
            <a:blipFill>
              <a:blip r:embed="rId11"/>
              <a:stretch>
                <a:fillRect l="989" t="0" r="423" b="12"/>
              </a:stretch>
            </a:blipFill>
          </p:spPr>
          <p:txBody>
            <a:bodyPr/>
            <a:p/>
          </p:txBody>
        </p:sp>
      </p:grpSp>
      <p:grpSp>
        <p:nvGrpSpPr>
          <p:cNvPr name="Group 122" id="122"/>
          <p:cNvGrpSpPr/>
          <p:nvPr/>
        </p:nvGrpSpPr>
        <p:grpSpPr>
          <a:xfrm rot="0">
            <a:off x="16867937" y="6608369"/>
            <a:ext cx="329184" cy="257861"/>
            <a:chOff x="0" y="0"/>
            <a:chExt cx="438912" cy="343814"/>
          </a:xfrm>
        </p:grpSpPr>
        <p:sp>
          <p:nvSpPr>
            <p:cNvPr name="Freeform 123" id="123"/>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24" id="124"/>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05</a:t>
              </a:r>
            </a:p>
          </p:txBody>
        </p:sp>
      </p:grpSp>
      <p:grpSp>
        <p:nvGrpSpPr>
          <p:cNvPr name="Group 125" id="125"/>
          <p:cNvGrpSpPr/>
          <p:nvPr/>
        </p:nvGrpSpPr>
        <p:grpSpPr>
          <a:xfrm rot="0">
            <a:off x="9643720" y="7521854"/>
            <a:ext cx="7601407" cy="430120"/>
            <a:chOff x="0" y="0"/>
            <a:chExt cx="10135210" cy="573494"/>
          </a:xfrm>
        </p:grpSpPr>
        <p:sp>
          <p:nvSpPr>
            <p:cNvPr name="Freeform 126" id="126"/>
            <p:cNvSpPr/>
            <p:nvPr/>
          </p:nvSpPr>
          <p:spPr>
            <a:xfrm flipH="false" flipV="false" rot="0">
              <a:off x="0" y="0"/>
              <a:ext cx="10135210" cy="573494"/>
            </a:xfrm>
            <a:custGeom>
              <a:avLst/>
              <a:gdLst/>
              <a:ahLst/>
              <a:cxnLst/>
              <a:rect r="r" b="b" t="t" l="l"/>
              <a:pathLst>
                <a:path h="573494" w="10135210">
                  <a:moveTo>
                    <a:pt x="0" y="0"/>
                  </a:moveTo>
                  <a:lnTo>
                    <a:pt x="10135210" y="0"/>
                  </a:lnTo>
                  <a:lnTo>
                    <a:pt x="10135210" y="573494"/>
                  </a:lnTo>
                  <a:lnTo>
                    <a:pt x="0" y="573494"/>
                  </a:lnTo>
                  <a:close/>
                </a:path>
              </a:pathLst>
            </a:custGeom>
            <a:blipFill>
              <a:blip r:embed="rId4">
                <a:alphaModFix amt="0"/>
              </a:blip>
              <a:stretch>
                <a:fillRect l="0" t="-299390" r="0" b="-289316"/>
              </a:stretch>
            </a:blipFill>
          </p:spPr>
          <p:txBody>
            <a:bodyPr/>
            <a:p/>
          </p:txBody>
        </p:sp>
        <p:sp>
          <p:nvSpPr>
            <p:cNvPr name="TextBox 127" id="127"/>
            <p:cNvSpPr txBox="true"/>
            <p:nvPr/>
          </p:nvSpPr>
          <p:spPr>
            <a:xfrm>
              <a:off x="0" y="-9525"/>
              <a:ext cx="1013521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Hyperoxygénation</a:t>
              </a:r>
            </a:p>
          </p:txBody>
        </p:sp>
      </p:grpSp>
      <p:grpSp>
        <p:nvGrpSpPr>
          <p:cNvPr name="Group 128" id="128"/>
          <p:cNvGrpSpPr/>
          <p:nvPr/>
        </p:nvGrpSpPr>
        <p:grpSpPr>
          <a:xfrm rot="0">
            <a:off x="9643720" y="8080096"/>
            <a:ext cx="7601407" cy="293380"/>
            <a:chOff x="0" y="0"/>
            <a:chExt cx="10135210" cy="391173"/>
          </a:xfrm>
        </p:grpSpPr>
        <p:sp>
          <p:nvSpPr>
            <p:cNvPr name="Freeform 129" id="129"/>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30" id="130"/>
            <p:cNvSpPr txBox="true"/>
            <p:nvPr/>
          </p:nvSpPr>
          <p:spPr>
            <a:xfrm>
              <a:off x="0" y="0"/>
              <a:ext cx="1013521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OHB</a:t>
              </a:r>
              <a:r>
                <a:rPr lang="en-US" sz="1350">
                  <a:solidFill>
                    <a:srgbClr val="BCBFCC"/>
                  </a:solidFill>
                  <a:latin typeface="Manrope"/>
                  <a:ea typeface="Manrope"/>
                  <a:cs typeface="Manrope"/>
                  <a:sym typeface="Manrope"/>
                </a:rPr>
                <a:t> (Oxygénothérapie Hyperbare)</a:t>
              </a:r>
            </a:p>
          </p:txBody>
        </p:sp>
      </p:grpSp>
      <p:grpSp>
        <p:nvGrpSpPr>
          <p:cNvPr name="Group 131" id="131"/>
          <p:cNvGrpSpPr/>
          <p:nvPr/>
        </p:nvGrpSpPr>
        <p:grpSpPr>
          <a:xfrm rot="0">
            <a:off x="9643720" y="8454542"/>
            <a:ext cx="7601407" cy="293380"/>
            <a:chOff x="0" y="0"/>
            <a:chExt cx="10135210" cy="391173"/>
          </a:xfrm>
        </p:grpSpPr>
        <p:sp>
          <p:nvSpPr>
            <p:cNvPr name="Freeform 132" id="132"/>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33" id="133"/>
            <p:cNvSpPr txBox="true"/>
            <p:nvPr/>
          </p:nvSpPr>
          <p:spPr>
            <a:xfrm>
              <a:off x="0" y="0"/>
              <a:ext cx="1013521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IHHT</a:t>
              </a:r>
              <a:r>
                <a:rPr lang="en-US" sz="1350">
                  <a:solidFill>
                    <a:srgbClr val="BCBFCC"/>
                  </a:solidFill>
                  <a:latin typeface="Manrope"/>
                  <a:ea typeface="Manrope"/>
                  <a:cs typeface="Manrope"/>
                  <a:sym typeface="Manrope"/>
                </a:rPr>
                <a:t> (Hypoxie Intermittente)</a:t>
              </a:r>
            </a:p>
          </p:txBody>
        </p:sp>
      </p:grpSp>
      <p:grpSp>
        <p:nvGrpSpPr>
          <p:cNvPr name="Group 134" id="134"/>
          <p:cNvGrpSpPr/>
          <p:nvPr/>
        </p:nvGrpSpPr>
        <p:grpSpPr>
          <a:xfrm rot="0">
            <a:off x="9643720" y="8828989"/>
            <a:ext cx="7601407" cy="293380"/>
            <a:chOff x="0" y="0"/>
            <a:chExt cx="10135210" cy="391173"/>
          </a:xfrm>
        </p:grpSpPr>
        <p:sp>
          <p:nvSpPr>
            <p:cNvPr name="Freeform 135" id="135"/>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36" id="136"/>
            <p:cNvSpPr txBox="true"/>
            <p:nvPr/>
          </p:nvSpPr>
          <p:spPr>
            <a:xfrm>
              <a:off x="0" y="0"/>
              <a:ext cx="1013521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Stimulation angiogenèse &amp; neuroplasticité</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9525" y="-9525"/>
            <a:ext cx="18306593" cy="10306050"/>
            <a:chOff x="0" y="0"/>
            <a:chExt cx="24408790" cy="13741400"/>
          </a:xfrm>
        </p:grpSpPr>
        <p:sp>
          <p:nvSpPr>
            <p:cNvPr name="Freeform 7" id="7"/>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50505"/>
            </a:solidFill>
          </p:spPr>
          <p:txBody>
            <a:bodyPr/>
            <a:p/>
          </p:txBody>
        </p:sp>
      </p:grpSp>
      <p:grpSp>
        <p:nvGrpSpPr>
          <p:cNvPr name="Group 8" id="8"/>
          <p:cNvGrpSpPr/>
          <p:nvPr/>
        </p:nvGrpSpPr>
        <p:grpSpPr>
          <a:xfrm rot="0">
            <a:off x="857250" y="9672523"/>
            <a:ext cx="2072488" cy="257861"/>
            <a:chOff x="0" y="0"/>
            <a:chExt cx="2763317" cy="343814"/>
          </a:xfrm>
        </p:grpSpPr>
        <p:sp>
          <p:nvSpPr>
            <p:cNvPr name="Freeform 9" id="9"/>
            <p:cNvSpPr/>
            <p:nvPr/>
          </p:nvSpPr>
          <p:spPr>
            <a:xfrm flipH="false" flipV="false" rot="0">
              <a:off x="0" y="0"/>
              <a:ext cx="2763316" cy="343814"/>
            </a:xfrm>
            <a:custGeom>
              <a:avLst/>
              <a:gdLst/>
              <a:ahLst/>
              <a:cxnLst/>
              <a:rect r="r" b="b" t="t" l="l"/>
              <a:pathLst>
                <a:path h="343814" w="2763316">
                  <a:moveTo>
                    <a:pt x="0" y="0"/>
                  </a:moveTo>
                  <a:lnTo>
                    <a:pt x="2763316" y="0"/>
                  </a:lnTo>
                  <a:lnTo>
                    <a:pt x="2763316" y="343814"/>
                  </a:lnTo>
                  <a:lnTo>
                    <a:pt x="0" y="343814"/>
                  </a:lnTo>
                  <a:close/>
                </a:path>
              </a:pathLst>
            </a:custGeom>
            <a:blipFill>
              <a:blip r:embed="rId3">
                <a:alphaModFix amt="0"/>
              </a:blip>
              <a:stretch>
                <a:fillRect l="0" t="-106605" r="0" b="-106606"/>
              </a:stretch>
            </a:blipFill>
          </p:spPr>
          <p:txBody>
            <a:bodyPr/>
            <a:p/>
          </p:txBody>
        </p:sp>
        <p:sp>
          <p:nvSpPr>
            <p:cNvPr name="TextBox 10" id="10"/>
            <p:cNvSpPr txBox="true"/>
            <p:nvPr/>
          </p:nvSpPr>
          <p:spPr>
            <a:xfrm>
              <a:off x="0" y="-9525"/>
              <a:ext cx="2763317"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Dr. Addor Protocol™</a:t>
              </a:r>
            </a:p>
          </p:txBody>
        </p:sp>
      </p:grpSp>
      <p:grpSp>
        <p:nvGrpSpPr>
          <p:cNvPr name="Group 11" id="11"/>
          <p:cNvGrpSpPr/>
          <p:nvPr/>
        </p:nvGrpSpPr>
        <p:grpSpPr>
          <a:xfrm rot="0">
            <a:off x="16710203" y="9672523"/>
            <a:ext cx="843534" cy="257861"/>
            <a:chOff x="0" y="0"/>
            <a:chExt cx="1124712" cy="343814"/>
          </a:xfrm>
        </p:grpSpPr>
        <p:sp>
          <p:nvSpPr>
            <p:cNvPr name="Freeform 12" id="12"/>
            <p:cNvSpPr/>
            <p:nvPr/>
          </p:nvSpPr>
          <p:spPr>
            <a:xfrm flipH="false" flipV="false" rot="0">
              <a:off x="0" y="0"/>
              <a:ext cx="1124712" cy="343814"/>
            </a:xfrm>
            <a:custGeom>
              <a:avLst/>
              <a:gdLst/>
              <a:ahLst/>
              <a:cxnLst/>
              <a:rect r="r" b="b" t="t" l="l"/>
              <a:pathLst>
                <a:path h="343814" w="1124712">
                  <a:moveTo>
                    <a:pt x="0" y="0"/>
                  </a:moveTo>
                  <a:lnTo>
                    <a:pt x="1124712" y="0"/>
                  </a:lnTo>
                  <a:lnTo>
                    <a:pt x="1124712" y="343814"/>
                  </a:lnTo>
                  <a:lnTo>
                    <a:pt x="0" y="343814"/>
                  </a:lnTo>
                  <a:close/>
                </a:path>
              </a:pathLst>
            </a:custGeom>
            <a:blipFill>
              <a:blip r:embed="rId3">
                <a:alphaModFix amt="0"/>
              </a:blip>
              <a:stretch>
                <a:fillRect l="0" t="-13740" r="0" b="-13741"/>
              </a:stretch>
            </a:blipFill>
          </p:spPr>
          <p:txBody>
            <a:bodyPr/>
            <a:p/>
          </p:txBody>
        </p:sp>
        <p:sp>
          <p:nvSpPr>
            <p:cNvPr name="TextBox 13" id="13"/>
            <p:cNvSpPr txBox="true"/>
            <p:nvPr/>
          </p:nvSpPr>
          <p:spPr>
            <a:xfrm>
              <a:off x="0" y="-9525"/>
              <a:ext cx="11247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14 / 14</a:t>
              </a:r>
            </a:p>
          </p:txBody>
        </p:sp>
      </p:grpSp>
      <p:grpSp>
        <p:nvGrpSpPr>
          <p:cNvPr name="Group 14" id="14"/>
          <p:cNvGrpSpPr/>
          <p:nvPr/>
        </p:nvGrpSpPr>
        <p:grpSpPr>
          <a:xfrm rot="0">
            <a:off x="857250" y="714604"/>
            <a:ext cx="456743" cy="13716"/>
            <a:chOff x="0" y="0"/>
            <a:chExt cx="608990" cy="18288"/>
          </a:xfrm>
        </p:grpSpPr>
        <p:sp>
          <p:nvSpPr>
            <p:cNvPr name="Freeform 15" id="15"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4"/>
              <a:stretch>
                <a:fillRect l="1949" t="0" r="1945" b="0"/>
              </a:stretch>
            </a:blipFill>
          </p:spPr>
          <p:txBody>
            <a:bodyPr/>
            <a:p/>
          </p:txBody>
        </p:sp>
      </p:grpSp>
      <p:grpSp>
        <p:nvGrpSpPr>
          <p:cNvPr name="Group 16" id="16"/>
          <p:cNvGrpSpPr/>
          <p:nvPr/>
        </p:nvGrpSpPr>
        <p:grpSpPr>
          <a:xfrm rot="0">
            <a:off x="1485443" y="571957"/>
            <a:ext cx="2662276" cy="332327"/>
            <a:chOff x="0" y="0"/>
            <a:chExt cx="3549701" cy="443103"/>
          </a:xfrm>
        </p:grpSpPr>
        <p:sp>
          <p:nvSpPr>
            <p:cNvPr name="Freeform 17" id="17"/>
            <p:cNvSpPr/>
            <p:nvPr/>
          </p:nvSpPr>
          <p:spPr>
            <a:xfrm flipH="false" flipV="false" rot="0">
              <a:off x="0" y="0"/>
              <a:ext cx="3549700" cy="443104"/>
            </a:xfrm>
            <a:custGeom>
              <a:avLst/>
              <a:gdLst/>
              <a:ahLst/>
              <a:cxnLst/>
              <a:rect r="r" b="b" t="t" l="l"/>
              <a:pathLst>
                <a:path h="443104" w="3549700">
                  <a:moveTo>
                    <a:pt x="0" y="0"/>
                  </a:moveTo>
                  <a:lnTo>
                    <a:pt x="3549700" y="0"/>
                  </a:lnTo>
                  <a:lnTo>
                    <a:pt x="3549700" y="443104"/>
                  </a:lnTo>
                  <a:lnTo>
                    <a:pt x="0" y="443104"/>
                  </a:lnTo>
                  <a:close/>
                </a:path>
              </a:pathLst>
            </a:custGeom>
            <a:blipFill>
              <a:blip r:embed="rId3">
                <a:alphaModFix amt="0"/>
              </a:blip>
              <a:stretch>
                <a:fillRect l="0" t="-110901" r="0" b="-101287"/>
              </a:stretch>
            </a:blipFill>
          </p:spPr>
          <p:txBody>
            <a:bodyPr/>
            <a:p/>
          </p:txBody>
        </p:sp>
        <p:sp>
          <p:nvSpPr>
            <p:cNvPr name="TextBox 18" id="18"/>
            <p:cNvSpPr txBox="true"/>
            <p:nvPr/>
          </p:nvSpPr>
          <p:spPr>
            <a:xfrm>
              <a:off x="0" y="-9525"/>
              <a:ext cx="3549701" cy="452628"/>
            </a:xfrm>
            <a:prstGeom prst="rect">
              <a:avLst/>
            </a:prstGeom>
          </p:spPr>
          <p:txBody>
            <a:bodyPr anchor="ctr" rtlCol="false" tIns="0" lIns="0" bIns="0" rIns="0"/>
            <a:lstStyle/>
            <a:p>
              <a:pPr algn="l">
                <a:lnSpc>
                  <a:spcPts val="1800"/>
                </a:lnSpc>
              </a:pPr>
              <a:r>
                <a:rPr lang="en-US" b="true" sz="1500" spc="225">
                  <a:solidFill>
                    <a:srgbClr val="BCBFCC"/>
                  </a:solidFill>
                  <a:latin typeface="Manrope Bold"/>
                  <a:ea typeface="Manrope Bold"/>
                  <a:cs typeface="Manrope Bold"/>
                  <a:sym typeface="Manrope Bold"/>
                </a:rPr>
                <a:t>Synergie Anti-Âge</a:t>
              </a:r>
            </a:p>
          </p:txBody>
        </p:sp>
      </p:grpSp>
      <p:grpSp>
        <p:nvGrpSpPr>
          <p:cNvPr name="Group 19" id="19"/>
          <p:cNvGrpSpPr/>
          <p:nvPr/>
        </p:nvGrpSpPr>
        <p:grpSpPr>
          <a:xfrm rot="0">
            <a:off x="857250" y="986180"/>
            <a:ext cx="6644030" cy="1192568"/>
            <a:chOff x="0" y="0"/>
            <a:chExt cx="8858707" cy="1590091"/>
          </a:xfrm>
        </p:grpSpPr>
        <p:sp>
          <p:nvSpPr>
            <p:cNvPr name="Freeform 20" id="20"/>
            <p:cNvSpPr/>
            <p:nvPr/>
          </p:nvSpPr>
          <p:spPr>
            <a:xfrm flipH="false" flipV="false" rot="0">
              <a:off x="0" y="0"/>
              <a:ext cx="8858708" cy="1590091"/>
            </a:xfrm>
            <a:custGeom>
              <a:avLst/>
              <a:gdLst/>
              <a:ahLst/>
              <a:cxnLst/>
              <a:rect r="r" b="b" t="t" l="l"/>
              <a:pathLst>
                <a:path h="1590091" w="8858708">
                  <a:moveTo>
                    <a:pt x="0" y="0"/>
                  </a:moveTo>
                  <a:lnTo>
                    <a:pt x="8858708" y="0"/>
                  </a:lnTo>
                  <a:lnTo>
                    <a:pt x="8858708" y="1590091"/>
                  </a:lnTo>
                  <a:lnTo>
                    <a:pt x="0" y="1590091"/>
                  </a:lnTo>
                  <a:close/>
                </a:path>
              </a:pathLst>
            </a:custGeom>
            <a:blipFill>
              <a:blip r:embed="rId3">
                <a:alphaModFix amt="0"/>
              </a:blip>
              <a:stretch>
                <a:fillRect l="0" t="-79801" r="0" b="-37308"/>
              </a:stretch>
            </a:blipFill>
          </p:spPr>
          <p:txBody>
            <a:bodyPr/>
            <a:p/>
          </p:txBody>
        </p:sp>
        <p:sp>
          <p:nvSpPr>
            <p:cNvPr name="TextBox 21" id="21"/>
            <p:cNvSpPr txBox="true"/>
            <p:nvPr/>
          </p:nvSpPr>
          <p:spPr>
            <a:xfrm>
              <a:off x="0" y="9525"/>
              <a:ext cx="8858707" cy="1580566"/>
            </a:xfrm>
            <a:prstGeom prst="rect">
              <a:avLst/>
            </a:prstGeom>
          </p:spPr>
          <p:txBody>
            <a:bodyPr anchor="ctr" rtlCol="false" tIns="0" lIns="0" bIns="0" rIns="0"/>
            <a:lstStyle/>
            <a:p>
              <a:pPr algn="l">
                <a:lnSpc>
                  <a:spcPts val="6480"/>
                </a:lnSpc>
              </a:pPr>
              <a:r>
                <a:rPr lang="en-US" sz="5400" spc="-112">
                  <a:solidFill>
                    <a:srgbClr val="FFFFFF"/>
                  </a:solidFill>
                  <a:latin typeface="Manrope"/>
                  <a:ea typeface="Manrope"/>
                  <a:cs typeface="Manrope"/>
                  <a:sym typeface="Manrope"/>
                </a:rPr>
                <a:t>INTERVENTIONS</a:t>
              </a:r>
            </a:p>
          </p:txBody>
        </p:sp>
      </p:grpSp>
      <p:grpSp>
        <p:nvGrpSpPr>
          <p:cNvPr name="Group 22" id="22"/>
          <p:cNvGrpSpPr/>
          <p:nvPr/>
        </p:nvGrpSpPr>
        <p:grpSpPr>
          <a:xfrm rot="0">
            <a:off x="857250" y="1891875"/>
            <a:ext cx="7162495" cy="332327"/>
            <a:chOff x="0" y="0"/>
            <a:chExt cx="9549994" cy="443103"/>
          </a:xfrm>
        </p:grpSpPr>
        <p:sp>
          <p:nvSpPr>
            <p:cNvPr name="Freeform 23" id="23"/>
            <p:cNvSpPr/>
            <p:nvPr/>
          </p:nvSpPr>
          <p:spPr>
            <a:xfrm flipH="false" flipV="false" rot="0">
              <a:off x="0" y="0"/>
              <a:ext cx="9549994" cy="443104"/>
            </a:xfrm>
            <a:custGeom>
              <a:avLst/>
              <a:gdLst/>
              <a:ahLst/>
              <a:cxnLst/>
              <a:rect r="r" b="b" t="t" l="l"/>
              <a:pathLst>
                <a:path h="443104" w="9549994">
                  <a:moveTo>
                    <a:pt x="0" y="0"/>
                  </a:moveTo>
                  <a:lnTo>
                    <a:pt x="9549994" y="0"/>
                  </a:lnTo>
                  <a:lnTo>
                    <a:pt x="9549994" y="443104"/>
                  </a:lnTo>
                  <a:lnTo>
                    <a:pt x="0" y="443104"/>
                  </a:lnTo>
                  <a:close/>
                </a:path>
              </a:pathLst>
            </a:custGeom>
            <a:blipFill>
              <a:blip r:embed="rId3">
                <a:alphaModFix amt="0"/>
              </a:blip>
              <a:stretch>
                <a:fillRect l="0" t="-376821" r="0" b="-363080"/>
              </a:stretch>
            </a:blipFill>
          </p:spPr>
          <p:txBody>
            <a:bodyPr/>
            <a:p/>
          </p:txBody>
        </p:sp>
        <p:sp>
          <p:nvSpPr>
            <p:cNvPr name="TextBox 24" id="24"/>
            <p:cNvSpPr txBox="true"/>
            <p:nvPr/>
          </p:nvSpPr>
          <p:spPr>
            <a:xfrm>
              <a:off x="0" y="-9525"/>
              <a:ext cx="9549994" cy="452628"/>
            </a:xfrm>
            <a:prstGeom prst="rect">
              <a:avLst/>
            </a:prstGeom>
          </p:spPr>
          <p:txBody>
            <a:bodyPr anchor="ctr" rtlCol="false" tIns="0" lIns="0" bIns="0" rIns="0"/>
            <a:lstStyle/>
            <a:p>
              <a:pPr algn="l">
                <a:lnSpc>
                  <a:spcPts val="1800"/>
                </a:lnSpc>
              </a:pPr>
              <a:r>
                <a:rPr lang="en-US" b="true" sz="1500" spc="225">
                  <a:solidFill>
                    <a:srgbClr val="BCBFCC"/>
                  </a:solidFill>
                  <a:latin typeface="Manrope Bold"/>
                  <a:ea typeface="Manrope Bold"/>
                  <a:cs typeface="Manrope Bold"/>
                  <a:sym typeface="Manrope Bold"/>
                </a:rPr>
                <a:t>Précision moléculaire &amp; optimisation clinique.</a:t>
              </a:r>
            </a:p>
          </p:txBody>
        </p:sp>
      </p:grpSp>
      <p:grpSp>
        <p:nvGrpSpPr>
          <p:cNvPr name="Group 25" id="25"/>
          <p:cNvGrpSpPr/>
          <p:nvPr/>
        </p:nvGrpSpPr>
        <p:grpSpPr>
          <a:xfrm rot="0">
            <a:off x="17002354" y="1357884"/>
            <a:ext cx="429311" cy="571957"/>
            <a:chOff x="0" y="0"/>
            <a:chExt cx="572414" cy="762610"/>
          </a:xfrm>
        </p:grpSpPr>
        <p:sp>
          <p:nvSpPr>
            <p:cNvPr name="Freeform 26" id="26" descr="preencoded.png"/>
            <p:cNvSpPr/>
            <p:nvPr/>
          </p:nvSpPr>
          <p:spPr>
            <a:xfrm flipH="false" flipV="false" rot="0">
              <a:off x="0" y="0"/>
              <a:ext cx="572389" cy="762635"/>
            </a:xfrm>
            <a:custGeom>
              <a:avLst/>
              <a:gdLst/>
              <a:ahLst/>
              <a:cxnLst/>
              <a:rect r="r" b="b" t="t" l="l"/>
              <a:pathLst>
                <a:path h="762635" w="572389">
                  <a:moveTo>
                    <a:pt x="0" y="0"/>
                  </a:moveTo>
                  <a:lnTo>
                    <a:pt x="572389" y="0"/>
                  </a:lnTo>
                  <a:lnTo>
                    <a:pt x="572389" y="762635"/>
                  </a:lnTo>
                  <a:lnTo>
                    <a:pt x="0" y="762635"/>
                  </a:lnTo>
                  <a:lnTo>
                    <a:pt x="0" y="0"/>
                  </a:lnTo>
                  <a:close/>
                </a:path>
              </a:pathLst>
            </a:custGeom>
            <a:blipFill>
              <a:blip r:embed="rId5">
                <a:alphaModFix amt="50000"/>
              </a:blip>
              <a:stretch>
                <a:fillRect l="39" t="0" r="-230" b="3"/>
              </a:stretch>
            </a:blipFill>
          </p:spPr>
          <p:txBody>
            <a:bodyPr/>
            <a:p/>
          </p:txBody>
        </p:sp>
      </p:grpSp>
      <p:grpSp>
        <p:nvGrpSpPr>
          <p:cNvPr name="Group 27" id="27"/>
          <p:cNvGrpSpPr/>
          <p:nvPr/>
        </p:nvGrpSpPr>
        <p:grpSpPr>
          <a:xfrm rot="0">
            <a:off x="847725" y="2490902"/>
            <a:ext cx="5262677" cy="7091020"/>
            <a:chOff x="0" y="0"/>
            <a:chExt cx="7016902" cy="9454693"/>
          </a:xfrm>
        </p:grpSpPr>
        <p:sp>
          <p:nvSpPr>
            <p:cNvPr name="Freeform 28" id="28"/>
            <p:cNvSpPr/>
            <p:nvPr/>
          </p:nvSpPr>
          <p:spPr>
            <a:xfrm flipH="false" flipV="false" rot="0">
              <a:off x="12700" y="12700"/>
              <a:ext cx="6991477" cy="9429242"/>
            </a:xfrm>
            <a:custGeom>
              <a:avLst/>
              <a:gdLst/>
              <a:ahLst/>
              <a:cxnLst/>
              <a:rect r="r" b="b" t="t" l="l"/>
              <a:pathLst>
                <a:path h="9429242" w="6991477">
                  <a:moveTo>
                    <a:pt x="0" y="0"/>
                  </a:moveTo>
                  <a:lnTo>
                    <a:pt x="6991477" y="0"/>
                  </a:lnTo>
                  <a:lnTo>
                    <a:pt x="6991477" y="9429242"/>
                  </a:lnTo>
                  <a:lnTo>
                    <a:pt x="0" y="9429242"/>
                  </a:lnTo>
                  <a:close/>
                </a:path>
              </a:pathLst>
            </a:custGeom>
            <a:solidFill>
              <a:srgbClr val="141419"/>
            </a:solidFill>
          </p:spPr>
          <p:txBody>
            <a:bodyPr/>
            <a:p/>
          </p:txBody>
        </p:sp>
        <p:sp>
          <p:nvSpPr>
            <p:cNvPr name="Freeform 29" id="29"/>
            <p:cNvSpPr/>
            <p:nvPr/>
          </p:nvSpPr>
          <p:spPr>
            <a:xfrm flipH="false" flipV="false" rot="0">
              <a:off x="0" y="0"/>
              <a:ext cx="7016877" cy="9454642"/>
            </a:xfrm>
            <a:custGeom>
              <a:avLst/>
              <a:gdLst/>
              <a:ahLst/>
              <a:cxnLst/>
              <a:rect r="r" b="b" t="t" l="l"/>
              <a:pathLst>
                <a:path h="9454642" w="7016877">
                  <a:moveTo>
                    <a:pt x="12700" y="0"/>
                  </a:moveTo>
                  <a:lnTo>
                    <a:pt x="7004177" y="0"/>
                  </a:lnTo>
                  <a:cubicBezTo>
                    <a:pt x="7011162" y="0"/>
                    <a:pt x="7016877" y="5715"/>
                    <a:pt x="7016877" y="12700"/>
                  </a:cubicBezTo>
                  <a:lnTo>
                    <a:pt x="7016877" y="9441942"/>
                  </a:lnTo>
                  <a:cubicBezTo>
                    <a:pt x="7016877" y="9448927"/>
                    <a:pt x="7011162" y="9454642"/>
                    <a:pt x="7004177" y="9454642"/>
                  </a:cubicBezTo>
                  <a:lnTo>
                    <a:pt x="12700" y="9454642"/>
                  </a:lnTo>
                  <a:cubicBezTo>
                    <a:pt x="5715" y="9454642"/>
                    <a:pt x="0" y="9448927"/>
                    <a:pt x="0" y="9441942"/>
                  </a:cubicBezTo>
                  <a:lnTo>
                    <a:pt x="0" y="12700"/>
                  </a:lnTo>
                  <a:cubicBezTo>
                    <a:pt x="0" y="5715"/>
                    <a:pt x="5715" y="0"/>
                    <a:pt x="12700" y="0"/>
                  </a:cubicBezTo>
                  <a:moveTo>
                    <a:pt x="12700" y="25400"/>
                  </a:moveTo>
                  <a:lnTo>
                    <a:pt x="12700" y="12700"/>
                  </a:lnTo>
                  <a:lnTo>
                    <a:pt x="25400" y="12700"/>
                  </a:lnTo>
                  <a:lnTo>
                    <a:pt x="25400" y="9441942"/>
                  </a:lnTo>
                  <a:lnTo>
                    <a:pt x="12700" y="9441942"/>
                  </a:lnTo>
                  <a:lnTo>
                    <a:pt x="12700" y="9429242"/>
                  </a:lnTo>
                  <a:lnTo>
                    <a:pt x="7004177" y="9429242"/>
                  </a:lnTo>
                  <a:lnTo>
                    <a:pt x="7004177" y="9441942"/>
                  </a:lnTo>
                  <a:lnTo>
                    <a:pt x="6991477" y="9441942"/>
                  </a:lnTo>
                  <a:lnTo>
                    <a:pt x="6991477" y="12700"/>
                  </a:lnTo>
                  <a:lnTo>
                    <a:pt x="7004177" y="12700"/>
                  </a:lnTo>
                  <a:lnTo>
                    <a:pt x="7004177" y="25400"/>
                  </a:lnTo>
                  <a:lnTo>
                    <a:pt x="12700" y="25400"/>
                  </a:lnTo>
                  <a:close/>
                </a:path>
              </a:pathLst>
            </a:custGeom>
            <a:solidFill>
              <a:srgbClr val="40424D"/>
            </a:solidFill>
          </p:spPr>
          <p:txBody>
            <a:bodyPr/>
            <a:p/>
          </p:txBody>
        </p:sp>
      </p:grpSp>
      <p:grpSp>
        <p:nvGrpSpPr>
          <p:cNvPr name="Group 30" id="30"/>
          <p:cNvGrpSpPr/>
          <p:nvPr/>
        </p:nvGrpSpPr>
        <p:grpSpPr>
          <a:xfrm rot="0">
            <a:off x="1290752" y="2933929"/>
            <a:ext cx="818693" cy="818693"/>
            <a:chOff x="0" y="0"/>
            <a:chExt cx="1091590" cy="1091590"/>
          </a:xfrm>
        </p:grpSpPr>
        <p:sp>
          <p:nvSpPr>
            <p:cNvPr name="Freeform 31" id="31"/>
            <p:cNvSpPr/>
            <p:nvPr/>
          </p:nvSpPr>
          <p:spPr>
            <a:xfrm flipH="false" flipV="false" rot="0">
              <a:off x="12700" y="12700"/>
              <a:ext cx="1066165" cy="1066165"/>
            </a:xfrm>
            <a:custGeom>
              <a:avLst/>
              <a:gdLst/>
              <a:ahLst/>
              <a:cxnLst/>
              <a:rect r="r" b="b" t="t" l="l"/>
              <a:pathLst>
                <a:path h="1066165" w="1066165">
                  <a:moveTo>
                    <a:pt x="0" y="261239"/>
                  </a:moveTo>
                  <a:cubicBezTo>
                    <a:pt x="0" y="116967"/>
                    <a:pt x="116967" y="0"/>
                    <a:pt x="261239" y="0"/>
                  </a:cubicBezTo>
                  <a:lnTo>
                    <a:pt x="804926" y="0"/>
                  </a:lnTo>
                  <a:cubicBezTo>
                    <a:pt x="949198" y="0"/>
                    <a:pt x="1066165" y="116967"/>
                    <a:pt x="1066165" y="261239"/>
                  </a:cubicBezTo>
                  <a:lnTo>
                    <a:pt x="1066165" y="804926"/>
                  </a:lnTo>
                  <a:cubicBezTo>
                    <a:pt x="1066165" y="949198"/>
                    <a:pt x="949198" y="1066165"/>
                    <a:pt x="804926" y="1066165"/>
                  </a:cubicBezTo>
                  <a:lnTo>
                    <a:pt x="261239" y="1066165"/>
                  </a:lnTo>
                  <a:cubicBezTo>
                    <a:pt x="116967" y="1066165"/>
                    <a:pt x="0" y="949198"/>
                    <a:pt x="0" y="804926"/>
                  </a:cubicBezTo>
                  <a:close/>
                </a:path>
              </a:pathLst>
            </a:custGeom>
            <a:solidFill>
              <a:srgbClr val="FFFFFF">
                <a:alpha val="0"/>
              </a:srgbClr>
            </a:solidFill>
          </p:spPr>
          <p:txBody>
            <a:bodyPr/>
            <a:p/>
          </p:txBody>
        </p:sp>
      </p:grpSp>
      <p:grpSp>
        <p:nvGrpSpPr>
          <p:cNvPr name="Group 32" id="32"/>
          <p:cNvGrpSpPr/>
          <p:nvPr/>
        </p:nvGrpSpPr>
        <p:grpSpPr>
          <a:xfrm rot="0">
            <a:off x="1493672" y="3157423"/>
            <a:ext cx="414223" cy="371704"/>
            <a:chOff x="0" y="0"/>
            <a:chExt cx="552298" cy="495605"/>
          </a:xfrm>
        </p:grpSpPr>
        <p:sp>
          <p:nvSpPr>
            <p:cNvPr name="Freeform 33" id="33" descr="preencoded.png"/>
            <p:cNvSpPr/>
            <p:nvPr/>
          </p:nvSpPr>
          <p:spPr>
            <a:xfrm flipH="false" flipV="false" rot="0">
              <a:off x="0" y="0"/>
              <a:ext cx="552323" cy="495554"/>
            </a:xfrm>
            <a:custGeom>
              <a:avLst/>
              <a:gdLst/>
              <a:ahLst/>
              <a:cxnLst/>
              <a:rect r="r" b="b" t="t" l="l"/>
              <a:pathLst>
                <a:path h="495554" w="552323">
                  <a:moveTo>
                    <a:pt x="0" y="0"/>
                  </a:moveTo>
                  <a:lnTo>
                    <a:pt x="552323" y="0"/>
                  </a:lnTo>
                  <a:lnTo>
                    <a:pt x="552323" y="495554"/>
                  </a:lnTo>
                  <a:lnTo>
                    <a:pt x="0" y="495554"/>
                  </a:lnTo>
                  <a:lnTo>
                    <a:pt x="0" y="0"/>
                  </a:lnTo>
                  <a:close/>
                </a:path>
              </a:pathLst>
            </a:custGeom>
            <a:blipFill>
              <a:blip r:embed="rId6"/>
              <a:stretch>
                <a:fillRect l="0" t="471" r="4" b="325"/>
              </a:stretch>
            </a:blipFill>
          </p:spPr>
          <p:txBody>
            <a:bodyPr/>
            <a:p/>
          </p:txBody>
        </p:sp>
      </p:grpSp>
      <p:grpSp>
        <p:nvGrpSpPr>
          <p:cNvPr name="Group 34" id="34"/>
          <p:cNvGrpSpPr/>
          <p:nvPr/>
        </p:nvGrpSpPr>
        <p:grpSpPr>
          <a:xfrm rot="0">
            <a:off x="5412334" y="2943454"/>
            <a:ext cx="357988" cy="300380"/>
            <a:chOff x="0" y="0"/>
            <a:chExt cx="477317" cy="400507"/>
          </a:xfrm>
        </p:grpSpPr>
        <p:sp>
          <p:nvSpPr>
            <p:cNvPr name="Freeform 35" id="35"/>
            <p:cNvSpPr/>
            <p:nvPr/>
          </p:nvSpPr>
          <p:spPr>
            <a:xfrm flipH="false" flipV="false" rot="0">
              <a:off x="0" y="0"/>
              <a:ext cx="477316" cy="400508"/>
            </a:xfrm>
            <a:custGeom>
              <a:avLst/>
              <a:gdLst/>
              <a:ahLst/>
              <a:cxnLst/>
              <a:rect r="r" b="b" t="t" l="l"/>
              <a:pathLst>
                <a:path h="400508" w="477316">
                  <a:moveTo>
                    <a:pt x="0" y="0"/>
                  </a:moveTo>
                  <a:lnTo>
                    <a:pt x="477316" y="0"/>
                  </a:lnTo>
                  <a:lnTo>
                    <a:pt x="477316" y="400508"/>
                  </a:lnTo>
                  <a:lnTo>
                    <a:pt x="0" y="400508"/>
                  </a:lnTo>
                  <a:close/>
                </a:path>
              </a:pathLst>
            </a:custGeom>
            <a:blipFill>
              <a:blip r:embed="rId3">
                <a:alphaModFix amt="0"/>
              </a:blip>
              <a:stretch>
                <a:fillRect l="-57657" t="0" r="-57657" b="0"/>
              </a:stretch>
            </a:blipFill>
          </p:spPr>
          <p:txBody>
            <a:bodyPr/>
            <a:p/>
          </p:txBody>
        </p:sp>
        <p:sp>
          <p:nvSpPr>
            <p:cNvPr name="TextBox 36" id="36"/>
            <p:cNvSpPr txBox="true"/>
            <p:nvPr/>
          </p:nvSpPr>
          <p:spPr>
            <a:xfrm>
              <a:off x="0" y="-9525"/>
              <a:ext cx="477317" cy="410032"/>
            </a:xfrm>
            <a:prstGeom prst="rect">
              <a:avLst/>
            </a:prstGeom>
          </p:spPr>
          <p:txBody>
            <a:bodyPr anchor="ctr" rtlCol="false" tIns="0" lIns="0" bIns="0" rIns="0"/>
            <a:lstStyle/>
            <a:p>
              <a:pPr algn="l">
                <a:lnSpc>
                  <a:spcPts val="1800"/>
                </a:lnSpc>
              </a:pPr>
              <a:r>
                <a:rPr lang="en-US" sz="1500">
                  <a:solidFill>
                    <a:srgbClr val="40424D"/>
                  </a:solidFill>
                  <a:latin typeface="Courier New"/>
                  <a:ea typeface="Courier New"/>
                  <a:cs typeface="Courier New"/>
                  <a:sym typeface="Courier New"/>
                </a:rPr>
                <a:t>01</a:t>
              </a:r>
            </a:p>
          </p:txBody>
        </p:sp>
      </p:grpSp>
      <p:grpSp>
        <p:nvGrpSpPr>
          <p:cNvPr name="Group 37" id="37"/>
          <p:cNvGrpSpPr/>
          <p:nvPr/>
        </p:nvGrpSpPr>
        <p:grpSpPr>
          <a:xfrm rot="0">
            <a:off x="1290752" y="4762271"/>
            <a:ext cx="4376623" cy="32766"/>
            <a:chOff x="0" y="0"/>
            <a:chExt cx="5835498" cy="43688"/>
          </a:xfrm>
        </p:grpSpPr>
        <p:sp>
          <p:nvSpPr>
            <p:cNvPr name="Freeform 38" id="38"/>
            <p:cNvSpPr/>
            <p:nvPr/>
          </p:nvSpPr>
          <p:spPr>
            <a:xfrm flipH="false" flipV="false" rot="0">
              <a:off x="12700" y="12700"/>
              <a:ext cx="5810123" cy="18288"/>
            </a:xfrm>
            <a:custGeom>
              <a:avLst/>
              <a:gdLst/>
              <a:ahLst/>
              <a:cxnLst/>
              <a:rect r="r" b="b" t="t" l="l"/>
              <a:pathLst>
                <a:path h="18288" w="5810123">
                  <a:moveTo>
                    <a:pt x="0" y="0"/>
                  </a:moveTo>
                  <a:lnTo>
                    <a:pt x="5810123" y="0"/>
                  </a:lnTo>
                  <a:lnTo>
                    <a:pt x="5810123" y="18288"/>
                  </a:lnTo>
                  <a:lnTo>
                    <a:pt x="0" y="18288"/>
                  </a:lnTo>
                  <a:close/>
                </a:path>
              </a:pathLst>
            </a:custGeom>
            <a:solidFill>
              <a:srgbClr val="40424D"/>
            </a:solidFill>
          </p:spPr>
          <p:txBody>
            <a:bodyPr/>
            <a:p/>
          </p:txBody>
        </p:sp>
      </p:grpSp>
      <p:grpSp>
        <p:nvGrpSpPr>
          <p:cNvPr name="Group 39" id="39"/>
          <p:cNvGrpSpPr/>
          <p:nvPr/>
        </p:nvGrpSpPr>
        <p:grpSpPr>
          <a:xfrm rot="0">
            <a:off x="1300277" y="4085996"/>
            <a:ext cx="4476902" cy="527914"/>
            <a:chOff x="0" y="0"/>
            <a:chExt cx="5969203" cy="703885"/>
          </a:xfrm>
        </p:grpSpPr>
        <p:sp>
          <p:nvSpPr>
            <p:cNvPr name="Freeform 40" id="40"/>
            <p:cNvSpPr/>
            <p:nvPr/>
          </p:nvSpPr>
          <p:spPr>
            <a:xfrm flipH="false" flipV="false" rot="0">
              <a:off x="0" y="0"/>
              <a:ext cx="5969204" cy="703885"/>
            </a:xfrm>
            <a:custGeom>
              <a:avLst/>
              <a:gdLst/>
              <a:ahLst/>
              <a:cxnLst/>
              <a:rect r="r" b="b" t="t" l="l"/>
              <a:pathLst>
                <a:path h="703885" w="5969204">
                  <a:moveTo>
                    <a:pt x="0" y="0"/>
                  </a:moveTo>
                  <a:lnTo>
                    <a:pt x="5969204" y="0"/>
                  </a:lnTo>
                  <a:lnTo>
                    <a:pt x="5969204" y="703885"/>
                  </a:lnTo>
                  <a:lnTo>
                    <a:pt x="0" y="703885"/>
                  </a:lnTo>
                  <a:close/>
                </a:path>
              </a:pathLst>
            </a:custGeom>
            <a:blipFill>
              <a:blip r:embed="rId3">
                <a:alphaModFix amt="0"/>
              </a:blip>
              <a:stretch>
                <a:fillRect l="0" t="-120422" r="0" b="-110058"/>
              </a:stretch>
            </a:blipFill>
          </p:spPr>
          <p:txBody>
            <a:bodyPr/>
            <a:p/>
          </p:txBody>
        </p:sp>
        <p:sp>
          <p:nvSpPr>
            <p:cNvPr name="TextBox 41" id="41"/>
            <p:cNvSpPr txBox="true"/>
            <p:nvPr/>
          </p:nvSpPr>
          <p:spPr>
            <a:xfrm>
              <a:off x="0" y="9525"/>
              <a:ext cx="5969203" cy="694360"/>
            </a:xfrm>
            <a:prstGeom prst="rect">
              <a:avLst/>
            </a:prstGeom>
          </p:spPr>
          <p:txBody>
            <a:bodyPr anchor="ctr" rtlCol="false" tIns="0" lIns="0" bIns="0" rIns="0"/>
            <a:lstStyle/>
            <a:p>
              <a:pPr algn="l">
                <a:lnSpc>
                  <a:spcPts val="2879"/>
                </a:lnSpc>
              </a:pPr>
              <a:r>
                <a:rPr lang="en-US" b="true" sz="2400" spc="57">
                  <a:solidFill>
                    <a:srgbClr val="FFFFFF"/>
                  </a:solidFill>
                  <a:latin typeface="Manrope Bold"/>
                  <a:ea typeface="Manrope Bold"/>
                  <a:cs typeface="Manrope Bold"/>
                  <a:sym typeface="Manrope Bold"/>
                </a:rPr>
                <a:t>Suppléments</a:t>
              </a:r>
            </a:p>
          </p:txBody>
        </p:sp>
      </p:grpSp>
      <p:grpSp>
        <p:nvGrpSpPr>
          <p:cNvPr name="Group 42" id="42"/>
          <p:cNvGrpSpPr/>
          <p:nvPr/>
        </p:nvGrpSpPr>
        <p:grpSpPr>
          <a:xfrm rot="0">
            <a:off x="1300277" y="5072177"/>
            <a:ext cx="4530395" cy="263957"/>
            <a:chOff x="0" y="0"/>
            <a:chExt cx="6040526" cy="351942"/>
          </a:xfrm>
        </p:grpSpPr>
        <p:sp>
          <p:nvSpPr>
            <p:cNvPr name="Freeform 43" id="43"/>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44" id="44"/>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Sénolytiques</a:t>
              </a:r>
            </a:p>
          </p:txBody>
        </p:sp>
      </p:grpSp>
      <p:grpSp>
        <p:nvGrpSpPr>
          <p:cNvPr name="Group 45" id="45"/>
          <p:cNvGrpSpPr/>
          <p:nvPr/>
        </p:nvGrpSpPr>
        <p:grpSpPr>
          <a:xfrm rot="0">
            <a:off x="1300277" y="5364328"/>
            <a:ext cx="4530395" cy="332327"/>
            <a:chOff x="0" y="0"/>
            <a:chExt cx="6040526" cy="443103"/>
          </a:xfrm>
        </p:grpSpPr>
        <p:sp>
          <p:nvSpPr>
            <p:cNvPr name="Freeform 46" id="46"/>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47" id="47"/>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Quercétine, Fisétine</a:t>
              </a:r>
            </a:p>
          </p:txBody>
        </p:sp>
      </p:grpSp>
      <p:grpSp>
        <p:nvGrpSpPr>
          <p:cNvPr name="Group 48" id="48"/>
          <p:cNvGrpSpPr/>
          <p:nvPr/>
        </p:nvGrpSpPr>
        <p:grpSpPr>
          <a:xfrm rot="0">
            <a:off x="1300277" y="5951372"/>
            <a:ext cx="4530395" cy="263957"/>
            <a:chOff x="0" y="0"/>
            <a:chExt cx="6040526" cy="351942"/>
          </a:xfrm>
        </p:grpSpPr>
        <p:sp>
          <p:nvSpPr>
            <p:cNvPr name="Freeform 49" id="49"/>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50" id="50"/>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Mitochondriaux</a:t>
              </a:r>
            </a:p>
          </p:txBody>
        </p:sp>
      </p:grpSp>
      <p:grpSp>
        <p:nvGrpSpPr>
          <p:cNvPr name="Group 51" id="51"/>
          <p:cNvGrpSpPr/>
          <p:nvPr/>
        </p:nvGrpSpPr>
        <p:grpSpPr>
          <a:xfrm rot="0">
            <a:off x="1300277" y="6243523"/>
            <a:ext cx="4530395" cy="332327"/>
            <a:chOff x="0" y="0"/>
            <a:chExt cx="6040526" cy="443103"/>
          </a:xfrm>
        </p:grpSpPr>
        <p:sp>
          <p:nvSpPr>
            <p:cNvPr name="Freeform 52" id="52"/>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53" id="53"/>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NMN, NR, AKG, C60</a:t>
              </a:r>
            </a:p>
          </p:txBody>
        </p:sp>
      </p:grpSp>
      <p:grpSp>
        <p:nvGrpSpPr>
          <p:cNvPr name="Group 54" id="54"/>
          <p:cNvGrpSpPr/>
          <p:nvPr/>
        </p:nvGrpSpPr>
        <p:grpSpPr>
          <a:xfrm rot="0">
            <a:off x="1300277" y="6829196"/>
            <a:ext cx="4530395" cy="263957"/>
            <a:chOff x="0" y="0"/>
            <a:chExt cx="6040526" cy="351942"/>
          </a:xfrm>
        </p:grpSpPr>
        <p:sp>
          <p:nvSpPr>
            <p:cNvPr name="Freeform 55" id="55"/>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56" id="56"/>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Autophagie</a:t>
              </a:r>
            </a:p>
          </p:txBody>
        </p:sp>
      </p:grpSp>
      <p:grpSp>
        <p:nvGrpSpPr>
          <p:cNvPr name="Group 57" id="57"/>
          <p:cNvGrpSpPr/>
          <p:nvPr/>
        </p:nvGrpSpPr>
        <p:grpSpPr>
          <a:xfrm rot="0">
            <a:off x="1300277" y="7122719"/>
            <a:ext cx="4530395" cy="332327"/>
            <a:chOff x="0" y="0"/>
            <a:chExt cx="6040526" cy="443103"/>
          </a:xfrm>
        </p:grpSpPr>
        <p:sp>
          <p:nvSpPr>
            <p:cNvPr name="Freeform 58" id="58"/>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59" id="59"/>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Berbérine, EGCG, Spermidine </a:t>
              </a:r>
            </a:p>
          </p:txBody>
        </p:sp>
      </p:grpSp>
      <p:grpSp>
        <p:nvGrpSpPr>
          <p:cNvPr name="Group 60" id="60"/>
          <p:cNvGrpSpPr/>
          <p:nvPr/>
        </p:nvGrpSpPr>
        <p:grpSpPr>
          <a:xfrm rot="0">
            <a:off x="1300277" y="7708392"/>
            <a:ext cx="4530395" cy="263957"/>
            <a:chOff x="0" y="0"/>
            <a:chExt cx="6040526" cy="351942"/>
          </a:xfrm>
        </p:grpSpPr>
        <p:sp>
          <p:nvSpPr>
            <p:cNvPr name="Freeform 61" id="61"/>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62" id="62"/>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Anti-inflammatoires &amp; Cognitifs</a:t>
              </a:r>
            </a:p>
          </p:txBody>
        </p:sp>
      </p:grpSp>
      <p:grpSp>
        <p:nvGrpSpPr>
          <p:cNvPr name="Group 63" id="63"/>
          <p:cNvGrpSpPr/>
          <p:nvPr/>
        </p:nvGrpSpPr>
        <p:grpSpPr>
          <a:xfrm rot="0">
            <a:off x="1300277" y="8000543"/>
            <a:ext cx="4472788" cy="600760"/>
            <a:chOff x="0" y="0"/>
            <a:chExt cx="5963717" cy="801014"/>
          </a:xfrm>
        </p:grpSpPr>
        <p:sp>
          <p:nvSpPr>
            <p:cNvPr name="Freeform 64" id="64"/>
            <p:cNvSpPr/>
            <p:nvPr/>
          </p:nvSpPr>
          <p:spPr>
            <a:xfrm flipH="false" flipV="false" rot="0">
              <a:off x="0" y="0"/>
              <a:ext cx="5963716" cy="801014"/>
            </a:xfrm>
            <a:custGeom>
              <a:avLst/>
              <a:gdLst/>
              <a:ahLst/>
              <a:cxnLst/>
              <a:rect r="r" b="b" t="t" l="l"/>
              <a:pathLst>
                <a:path h="801014" w="5963716">
                  <a:moveTo>
                    <a:pt x="0" y="0"/>
                  </a:moveTo>
                  <a:lnTo>
                    <a:pt x="5963716" y="0"/>
                  </a:lnTo>
                  <a:lnTo>
                    <a:pt x="5963716" y="801014"/>
                  </a:lnTo>
                  <a:lnTo>
                    <a:pt x="0" y="801014"/>
                  </a:lnTo>
                  <a:close/>
                </a:path>
              </a:pathLst>
            </a:custGeom>
            <a:blipFill>
              <a:blip r:embed="rId3">
                <a:alphaModFix amt="0"/>
              </a:blip>
              <a:stretch>
                <a:fillRect l="0" t="-95070" r="0" b="-95070"/>
              </a:stretch>
            </a:blipFill>
          </p:spPr>
          <p:txBody>
            <a:bodyPr/>
            <a:p/>
          </p:txBody>
        </p:sp>
        <p:sp>
          <p:nvSpPr>
            <p:cNvPr name="TextBox 65" id="65"/>
            <p:cNvSpPr txBox="true"/>
            <p:nvPr/>
          </p:nvSpPr>
          <p:spPr>
            <a:xfrm>
              <a:off x="0" y="-9525"/>
              <a:ext cx="5963717" cy="810539"/>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Sulforaphane, Curcumine, TMG, Rhodiola, Citicoline, Hperzine A, Phosphatidylsérine </a:t>
              </a:r>
            </a:p>
          </p:txBody>
        </p:sp>
      </p:grpSp>
      <p:grpSp>
        <p:nvGrpSpPr>
          <p:cNvPr name="Group 66" id="66"/>
          <p:cNvGrpSpPr/>
          <p:nvPr/>
        </p:nvGrpSpPr>
        <p:grpSpPr>
          <a:xfrm rot="0">
            <a:off x="6515176" y="2490902"/>
            <a:ext cx="5262677" cy="7091020"/>
            <a:chOff x="0" y="0"/>
            <a:chExt cx="7016902" cy="9454693"/>
          </a:xfrm>
        </p:grpSpPr>
        <p:sp>
          <p:nvSpPr>
            <p:cNvPr name="Freeform 67" id="67"/>
            <p:cNvSpPr/>
            <p:nvPr/>
          </p:nvSpPr>
          <p:spPr>
            <a:xfrm flipH="false" flipV="false" rot="0">
              <a:off x="12700" y="12700"/>
              <a:ext cx="6991477" cy="9429242"/>
            </a:xfrm>
            <a:custGeom>
              <a:avLst/>
              <a:gdLst/>
              <a:ahLst/>
              <a:cxnLst/>
              <a:rect r="r" b="b" t="t" l="l"/>
              <a:pathLst>
                <a:path h="9429242" w="6991477">
                  <a:moveTo>
                    <a:pt x="0" y="0"/>
                  </a:moveTo>
                  <a:lnTo>
                    <a:pt x="6991477" y="0"/>
                  </a:lnTo>
                  <a:lnTo>
                    <a:pt x="6991477" y="9429242"/>
                  </a:lnTo>
                  <a:lnTo>
                    <a:pt x="0" y="9429242"/>
                  </a:lnTo>
                  <a:close/>
                </a:path>
              </a:pathLst>
            </a:custGeom>
            <a:solidFill>
              <a:srgbClr val="141419"/>
            </a:solidFill>
          </p:spPr>
          <p:txBody>
            <a:bodyPr/>
            <a:p/>
          </p:txBody>
        </p:sp>
        <p:sp>
          <p:nvSpPr>
            <p:cNvPr name="Freeform 68" id="68"/>
            <p:cNvSpPr/>
            <p:nvPr/>
          </p:nvSpPr>
          <p:spPr>
            <a:xfrm flipH="false" flipV="false" rot="0">
              <a:off x="0" y="0"/>
              <a:ext cx="7016877" cy="9454642"/>
            </a:xfrm>
            <a:custGeom>
              <a:avLst/>
              <a:gdLst/>
              <a:ahLst/>
              <a:cxnLst/>
              <a:rect r="r" b="b" t="t" l="l"/>
              <a:pathLst>
                <a:path h="9454642" w="7016877">
                  <a:moveTo>
                    <a:pt x="12700" y="0"/>
                  </a:moveTo>
                  <a:lnTo>
                    <a:pt x="7004177" y="0"/>
                  </a:lnTo>
                  <a:cubicBezTo>
                    <a:pt x="7011162" y="0"/>
                    <a:pt x="7016877" y="5715"/>
                    <a:pt x="7016877" y="12700"/>
                  </a:cubicBezTo>
                  <a:lnTo>
                    <a:pt x="7016877" y="9441942"/>
                  </a:lnTo>
                  <a:cubicBezTo>
                    <a:pt x="7016877" y="9448927"/>
                    <a:pt x="7011162" y="9454642"/>
                    <a:pt x="7004177" y="9454642"/>
                  </a:cubicBezTo>
                  <a:lnTo>
                    <a:pt x="12700" y="9454642"/>
                  </a:lnTo>
                  <a:cubicBezTo>
                    <a:pt x="5715" y="9454642"/>
                    <a:pt x="0" y="9448927"/>
                    <a:pt x="0" y="9441942"/>
                  </a:cubicBezTo>
                  <a:lnTo>
                    <a:pt x="0" y="12700"/>
                  </a:lnTo>
                  <a:cubicBezTo>
                    <a:pt x="0" y="5715"/>
                    <a:pt x="5715" y="0"/>
                    <a:pt x="12700" y="0"/>
                  </a:cubicBezTo>
                  <a:moveTo>
                    <a:pt x="12700" y="25400"/>
                  </a:moveTo>
                  <a:lnTo>
                    <a:pt x="12700" y="12700"/>
                  </a:lnTo>
                  <a:lnTo>
                    <a:pt x="25400" y="12700"/>
                  </a:lnTo>
                  <a:lnTo>
                    <a:pt x="25400" y="9441942"/>
                  </a:lnTo>
                  <a:lnTo>
                    <a:pt x="12700" y="9441942"/>
                  </a:lnTo>
                  <a:lnTo>
                    <a:pt x="12700" y="9429242"/>
                  </a:lnTo>
                  <a:lnTo>
                    <a:pt x="7004177" y="9429242"/>
                  </a:lnTo>
                  <a:lnTo>
                    <a:pt x="7004177" y="9441942"/>
                  </a:lnTo>
                  <a:lnTo>
                    <a:pt x="6991477" y="9441942"/>
                  </a:lnTo>
                  <a:lnTo>
                    <a:pt x="6991477" y="12700"/>
                  </a:lnTo>
                  <a:lnTo>
                    <a:pt x="7004177" y="12700"/>
                  </a:lnTo>
                  <a:lnTo>
                    <a:pt x="7004177" y="25400"/>
                  </a:lnTo>
                  <a:lnTo>
                    <a:pt x="12700" y="25400"/>
                  </a:lnTo>
                  <a:close/>
                </a:path>
              </a:pathLst>
            </a:custGeom>
            <a:solidFill>
              <a:srgbClr val="40424D"/>
            </a:solidFill>
          </p:spPr>
          <p:txBody>
            <a:bodyPr/>
            <a:p/>
          </p:txBody>
        </p:sp>
      </p:grpSp>
      <p:grpSp>
        <p:nvGrpSpPr>
          <p:cNvPr name="Group 69" id="69"/>
          <p:cNvGrpSpPr/>
          <p:nvPr/>
        </p:nvGrpSpPr>
        <p:grpSpPr>
          <a:xfrm rot="0">
            <a:off x="6958203" y="2933929"/>
            <a:ext cx="818693" cy="818693"/>
            <a:chOff x="0" y="0"/>
            <a:chExt cx="1091590" cy="1091590"/>
          </a:xfrm>
        </p:grpSpPr>
        <p:sp>
          <p:nvSpPr>
            <p:cNvPr name="Freeform 70" id="70"/>
            <p:cNvSpPr/>
            <p:nvPr/>
          </p:nvSpPr>
          <p:spPr>
            <a:xfrm flipH="false" flipV="false" rot="0">
              <a:off x="12700" y="12700"/>
              <a:ext cx="1066165" cy="1066165"/>
            </a:xfrm>
            <a:custGeom>
              <a:avLst/>
              <a:gdLst/>
              <a:ahLst/>
              <a:cxnLst/>
              <a:rect r="r" b="b" t="t" l="l"/>
              <a:pathLst>
                <a:path h="1066165" w="1066165">
                  <a:moveTo>
                    <a:pt x="0" y="261239"/>
                  </a:moveTo>
                  <a:cubicBezTo>
                    <a:pt x="0" y="116967"/>
                    <a:pt x="116967" y="0"/>
                    <a:pt x="261239" y="0"/>
                  </a:cubicBezTo>
                  <a:lnTo>
                    <a:pt x="804926" y="0"/>
                  </a:lnTo>
                  <a:cubicBezTo>
                    <a:pt x="949198" y="0"/>
                    <a:pt x="1066165" y="116967"/>
                    <a:pt x="1066165" y="261239"/>
                  </a:cubicBezTo>
                  <a:lnTo>
                    <a:pt x="1066165" y="804926"/>
                  </a:lnTo>
                  <a:cubicBezTo>
                    <a:pt x="1066165" y="949198"/>
                    <a:pt x="949198" y="1066165"/>
                    <a:pt x="804926" y="1066165"/>
                  </a:cubicBezTo>
                  <a:lnTo>
                    <a:pt x="261239" y="1066165"/>
                  </a:lnTo>
                  <a:cubicBezTo>
                    <a:pt x="116967" y="1066165"/>
                    <a:pt x="0" y="949198"/>
                    <a:pt x="0" y="804926"/>
                  </a:cubicBezTo>
                  <a:close/>
                </a:path>
              </a:pathLst>
            </a:custGeom>
            <a:solidFill>
              <a:srgbClr val="FFFFFF">
                <a:alpha val="0"/>
              </a:srgbClr>
            </a:solidFill>
          </p:spPr>
          <p:txBody>
            <a:bodyPr/>
            <a:p/>
          </p:txBody>
        </p:sp>
      </p:grpSp>
      <p:grpSp>
        <p:nvGrpSpPr>
          <p:cNvPr name="Group 71" id="71"/>
          <p:cNvGrpSpPr/>
          <p:nvPr/>
        </p:nvGrpSpPr>
        <p:grpSpPr>
          <a:xfrm rot="0">
            <a:off x="7159752" y="3157423"/>
            <a:ext cx="414223" cy="371704"/>
            <a:chOff x="0" y="0"/>
            <a:chExt cx="552298" cy="495605"/>
          </a:xfrm>
        </p:grpSpPr>
        <p:sp>
          <p:nvSpPr>
            <p:cNvPr name="Freeform 72" id="72" descr="preencoded.png"/>
            <p:cNvSpPr/>
            <p:nvPr/>
          </p:nvSpPr>
          <p:spPr>
            <a:xfrm flipH="false" flipV="false" rot="0">
              <a:off x="0" y="0"/>
              <a:ext cx="552323" cy="495554"/>
            </a:xfrm>
            <a:custGeom>
              <a:avLst/>
              <a:gdLst/>
              <a:ahLst/>
              <a:cxnLst/>
              <a:rect r="r" b="b" t="t" l="l"/>
              <a:pathLst>
                <a:path h="495554" w="552323">
                  <a:moveTo>
                    <a:pt x="0" y="0"/>
                  </a:moveTo>
                  <a:lnTo>
                    <a:pt x="552323" y="0"/>
                  </a:lnTo>
                  <a:lnTo>
                    <a:pt x="552323" y="495554"/>
                  </a:lnTo>
                  <a:lnTo>
                    <a:pt x="0" y="495554"/>
                  </a:lnTo>
                  <a:lnTo>
                    <a:pt x="0" y="0"/>
                  </a:lnTo>
                  <a:close/>
                </a:path>
              </a:pathLst>
            </a:custGeom>
            <a:blipFill>
              <a:blip r:embed="rId7"/>
              <a:stretch>
                <a:fillRect l="0" t="471" r="4" b="325"/>
              </a:stretch>
            </a:blipFill>
          </p:spPr>
          <p:txBody>
            <a:bodyPr/>
            <a:p/>
          </p:txBody>
        </p:sp>
      </p:grpSp>
      <p:grpSp>
        <p:nvGrpSpPr>
          <p:cNvPr name="Group 73" id="73"/>
          <p:cNvGrpSpPr/>
          <p:nvPr/>
        </p:nvGrpSpPr>
        <p:grpSpPr>
          <a:xfrm rot="0">
            <a:off x="11079785" y="2943454"/>
            <a:ext cx="357988" cy="300380"/>
            <a:chOff x="0" y="0"/>
            <a:chExt cx="477317" cy="400507"/>
          </a:xfrm>
        </p:grpSpPr>
        <p:sp>
          <p:nvSpPr>
            <p:cNvPr name="Freeform 74" id="74"/>
            <p:cNvSpPr/>
            <p:nvPr/>
          </p:nvSpPr>
          <p:spPr>
            <a:xfrm flipH="false" flipV="false" rot="0">
              <a:off x="0" y="0"/>
              <a:ext cx="477316" cy="400508"/>
            </a:xfrm>
            <a:custGeom>
              <a:avLst/>
              <a:gdLst/>
              <a:ahLst/>
              <a:cxnLst/>
              <a:rect r="r" b="b" t="t" l="l"/>
              <a:pathLst>
                <a:path h="400508" w="477316">
                  <a:moveTo>
                    <a:pt x="0" y="0"/>
                  </a:moveTo>
                  <a:lnTo>
                    <a:pt x="477316" y="0"/>
                  </a:lnTo>
                  <a:lnTo>
                    <a:pt x="477316" y="400508"/>
                  </a:lnTo>
                  <a:lnTo>
                    <a:pt x="0" y="400508"/>
                  </a:lnTo>
                  <a:close/>
                </a:path>
              </a:pathLst>
            </a:custGeom>
            <a:blipFill>
              <a:blip r:embed="rId3">
                <a:alphaModFix amt="0"/>
              </a:blip>
              <a:stretch>
                <a:fillRect l="-57657" t="0" r="-57657" b="0"/>
              </a:stretch>
            </a:blipFill>
          </p:spPr>
          <p:txBody>
            <a:bodyPr/>
            <a:p/>
          </p:txBody>
        </p:sp>
        <p:sp>
          <p:nvSpPr>
            <p:cNvPr name="TextBox 75" id="75"/>
            <p:cNvSpPr txBox="true"/>
            <p:nvPr/>
          </p:nvSpPr>
          <p:spPr>
            <a:xfrm>
              <a:off x="0" y="-9525"/>
              <a:ext cx="477317" cy="410032"/>
            </a:xfrm>
            <a:prstGeom prst="rect">
              <a:avLst/>
            </a:prstGeom>
          </p:spPr>
          <p:txBody>
            <a:bodyPr anchor="ctr" rtlCol="false" tIns="0" lIns="0" bIns="0" rIns="0"/>
            <a:lstStyle/>
            <a:p>
              <a:pPr algn="l">
                <a:lnSpc>
                  <a:spcPts val="1800"/>
                </a:lnSpc>
              </a:pPr>
              <a:r>
                <a:rPr lang="en-US" sz="1500">
                  <a:solidFill>
                    <a:srgbClr val="40424D"/>
                  </a:solidFill>
                  <a:latin typeface="Courier New"/>
                  <a:ea typeface="Courier New"/>
                  <a:cs typeface="Courier New"/>
                  <a:sym typeface="Courier New"/>
                </a:rPr>
                <a:t>02</a:t>
              </a:r>
            </a:p>
          </p:txBody>
        </p:sp>
      </p:grpSp>
      <p:grpSp>
        <p:nvGrpSpPr>
          <p:cNvPr name="Group 76" id="76"/>
          <p:cNvGrpSpPr/>
          <p:nvPr/>
        </p:nvGrpSpPr>
        <p:grpSpPr>
          <a:xfrm rot="0">
            <a:off x="6958203" y="5234102"/>
            <a:ext cx="4376623" cy="32766"/>
            <a:chOff x="0" y="0"/>
            <a:chExt cx="5835498" cy="43688"/>
          </a:xfrm>
        </p:grpSpPr>
        <p:sp>
          <p:nvSpPr>
            <p:cNvPr name="Freeform 77" id="77"/>
            <p:cNvSpPr/>
            <p:nvPr/>
          </p:nvSpPr>
          <p:spPr>
            <a:xfrm flipH="false" flipV="false" rot="0">
              <a:off x="12700" y="12700"/>
              <a:ext cx="5810123" cy="18288"/>
            </a:xfrm>
            <a:custGeom>
              <a:avLst/>
              <a:gdLst/>
              <a:ahLst/>
              <a:cxnLst/>
              <a:rect r="r" b="b" t="t" l="l"/>
              <a:pathLst>
                <a:path h="18288" w="5810123">
                  <a:moveTo>
                    <a:pt x="0" y="0"/>
                  </a:moveTo>
                  <a:lnTo>
                    <a:pt x="5810123" y="0"/>
                  </a:lnTo>
                  <a:lnTo>
                    <a:pt x="5810123" y="18288"/>
                  </a:lnTo>
                  <a:lnTo>
                    <a:pt x="0" y="18288"/>
                  </a:lnTo>
                  <a:close/>
                </a:path>
              </a:pathLst>
            </a:custGeom>
            <a:solidFill>
              <a:srgbClr val="40424D"/>
            </a:solidFill>
          </p:spPr>
          <p:txBody>
            <a:bodyPr/>
            <a:p/>
          </p:txBody>
        </p:sp>
      </p:grpSp>
      <p:grpSp>
        <p:nvGrpSpPr>
          <p:cNvPr name="Group 78" id="78"/>
          <p:cNvGrpSpPr/>
          <p:nvPr/>
        </p:nvGrpSpPr>
        <p:grpSpPr>
          <a:xfrm rot="0">
            <a:off x="6967728" y="4085996"/>
            <a:ext cx="4476902" cy="945033"/>
            <a:chOff x="0" y="0"/>
            <a:chExt cx="5969203" cy="1260044"/>
          </a:xfrm>
        </p:grpSpPr>
        <p:sp>
          <p:nvSpPr>
            <p:cNvPr name="Freeform 79" id="79"/>
            <p:cNvSpPr/>
            <p:nvPr/>
          </p:nvSpPr>
          <p:spPr>
            <a:xfrm flipH="false" flipV="false" rot="0">
              <a:off x="0" y="0"/>
              <a:ext cx="5969204" cy="1260045"/>
            </a:xfrm>
            <a:custGeom>
              <a:avLst/>
              <a:gdLst/>
              <a:ahLst/>
              <a:cxnLst/>
              <a:rect r="r" b="b" t="t" l="l"/>
              <a:pathLst>
                <a:path h="1260045" w="5969204">
                  <a:moveTo>
                    <a:pt x="0" y="0"/>
                  </a:moveTo>
                  <a:lnTo>
                    <a:pt x="5969204" y="0"/>
                  </a:lnTo>
                  <a:lnTo>
                    <a:pt x="5969204" y="1260045"/>
                  </a:lnTo>
                  <a:lnTo>
                    <a:pt x="0" y="1260045"/>
                  </a:lnTo>
                  <a:close/>
                </a:path>
              </a:pathLst>
            </a:custGeom>
            <a:blipFill>
              <a:blip r:embed="rId3">
                <a:alphaModFix amt="0"/>
              </a:blip>
              <a:stretch>
                <a:fillRect l="0" t="-42306" r="0" b="-42306"/>
              </a:stretch>
            </a:blipFill>
          </p:spPr>
          <p:txBody>
            <a:bodyPr/>
            <a:p/>
          </p:txBody>
        </p:sp>
        <p:sp>
          <p:nvSpPr>
            <p:cNvPr name="TextBox 80" id="80"/>
            <p:cNvSpPr txBox="true"/>
            <p:nvPr/>
          </p:nvSpPr>
          <p:spPr>
            <a:xfrm>
              <a:off x="0" y="9525"/>
              <a:ext cx="5969203" cy="1250519"/>
            </a:xfrm>
            <a:prstGeom prst="rect">
              <a:avLst/>
            </a:prstGeom>
          </p:spPr>
          <p:txBody>
            <a:bodyPr anchor="ctr" rtlCol="false" tIns="0" lIns="0" bIns="0" rIns="0"/>
            <a:lstStyle/>
            <a:p>
              <a:pPr algn="l">
                <a:lnSpc>
                  <a:spcPts val="2879"/>
                </a:lnSpc>
              </a:pPr>
              <a:r>
                <a:rPr lang="en-US" b="true" sz="2400" spc="57">
                  <a:solidFill>
                    <a:srgbClr val="FFFFFF"/>
                  </a:solidFill>
                  <a:latin typeface="Manrope Bold"/>
                  <a:ea typeface="Manrope Bold"/>
                  <a:cs typeface="Manrope Bold"/>
                  <a:sym typeface="Manrope Bold"/>
                </a:rPr>
                <a:t>Médicaments Repositionnés</a:t>
              </a:r>
            </a:p>
          </p:txBody>
        </p:sp>
      </p:grpSp>
      <p:grpSp>
        <p:nvGrpSpPr>
          <p:cNvPr name="Group 81" id="81"/>
          <p:cNvGrpSpPr/>
          <p:nvPr/>
        </p:nvGrpSpPr>
        <p:grpSpPr>
          <a:xfrm rot="0">
            <a:off x="6967728" y="5544007"/>
            <a:ext cx="4530395" cy="263957"/>
            <a:chOff x="0" y="0"/>
            <a:chExt cx="6040526" cy="351942"/>
          </a:xfrm>
        </p:grpSpPr>
        <p:sp>
          <p:nvSpPr>
            <p:cNvPr name="Freeform 82" id="82"/>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83" id="83"/>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Voies Métaboliques</a:t>
              </a:r>
            </a:p>
          </p:txBody>
        </p:sp>
      </p:grpSp>
      <p:grpSp>
        <p:nvGrpSpPr>
          <p:cNvPr name="Group 84" id="84"/>
          <p:cNvGrpSpPr/>
          <p:nvPr/>
        </p:nvGrpSpPr>
        <p:grpSpPr>
          <a:xfrm rot="0">
            <a:off x="6967728" y="5836158"/>
            <a:ext cx="4530395" cy="332327"/>
            <a:chOff x="0" y="0"/>
            <a:chExt cx="6040526" cy="443103"/>
          </a:xfrm>
        </p:grpSpPr>
        <p:sp>
          <p:nvSpPr>
            <p:cNvPr name="Freeform 85" id="85"/>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86" id="86"/>
            <p:cNvSpPr txBox="true"/>
            <p:nvPr/>
          </p:nvSpPr>
          <p:spPr>
            <a:xfrm>
              <a:off x="0" y="-9525"/>
              <a:ext cx="6040526" cy="452628"/>
            </a:xfrm>
            <a:prstGeom prst="rect">
              <a:avLst/>
            </a:prstGeom>
          </p:spPr>
          <p:txBody>
            <a:bodyPr anchor="ctr" rtlCol="false" tIns="0" lIns="0" bIns="0" rIns="0"/>
            <a:lstStyle/>
            <a:p>
              <a:pPr algn="l">
                <a:lnSpc>
                  <a:spcPts val="1800"/>
                </a:lnSpc>
              </a:pPr>
              <a:r>
                <a:rPr lang="en-US" sz="1500" b="true">
                  <a:solidFill>
                    <a:srgbClr val="FFFFFF"/>
                  </a:solidFill>
                  <a:latin typeface="Manrope Bold"/>
                  <a:ea typeface="Manrope Bold"/>
                  <a:cs typeface="Manrope Bold"/>
                  <a:sym typeface="Manrope Bold"/>
                </a:rPr>
                <a:t>Rapamycine</a:t>
              </a:r>
              <a:r>
                <a:rPr lang="en-US" sz="1500">
                  <a:solidFill>
                    <a:srgbClr val="D3D6E0"/>
                  </a:solidFill>
                  <a:latin typeface="Manrope"/>
                  <a:ea typeface="Manrope"/>
                  <a:cs typeface="Manrope"/>
                  <a:sym typeface="Manrope"/>
                </a:rPr>
                <a:t> (mTOR)</a:t>
              </a:r>
            </a:p>
          </p:txBody>
        </p:sp>
      </p:grpSp>
      <p:grpSp>
        <p:nvGrpSpPr>
          <p:cNvPr name="Group 87" id="87"/>
          <p:cNvGrpSpPr/>
          <p:nvPr/>
        </p:nvGrpSpPr>
        <p:grpSpPr>
          <a:xfrm rot="0">
            <a:off x="6967728" y="6136538"/>
            <a:ext cx="4530395" cy="332327"/>
            <a:chOff x="0" y="0"/>
            <a:chExt cx="6040526" cy="443103"/>
          </a:xfrm>
        </p:grpSpPr>
        <p:sp>
          <p:nvSpPr>
            <p:cNvPr name="Freeform 88" id="88"/>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89" id="89"/>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Metformine</a:t>
              </a:r>
              <a:r>
                <a:rPr lang="en-US" sz="1500">
                  <a:solidFill>
                    <a:srgbClr val="D3D6E0"/>
                  </a:solidFill>
                  <a:latin typeface="Manrope"/>
                  <a:ea typeface="Manrope"/>
                  <a:cs typeface="Manrope"/>
                  <a:sym typeface="Manrope"/>
                </a:rPr>
                <a:t> (AMPK)</a:t>
              </a:r>
            </a:p>
          </p:txBody>
        </p:sp>
      </p:grpSp>
      <p:grpSp>
        <p:nvGrpSpPr>
          <p:cNvPr name="Group 90" id="90"/>
          <p:cNvGrpSpPr/>
          <p:nvPr/>
        </p:nvGrpSpPr>
        <p:grpSpPr>
          <a:xfrm rot="0">
            <a:off x="6967728" y="6436919"/>
            <a:ext cx="4530395" cy="332327"/>
            <a:chOff x="0" y="0"/>
            <a:chExt cx="6040526" cy="443103"/>
          </a:xfrm>
        </p:grpSpPr>
        <p:sp>
          <p:nvSpPr>
            <p:cNvPr name="Freeform 91" id="91"/>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92" id="92"/>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Acarbose, </a:t>
              </a:r>
              <a:r>
                <a:rPr lang="en-US" sz="1500" b="true">
                  <a:solidFill>
                    <a:srgbClr val="D3D6E0"/>
                  </a:solidFill>
                  <a:latin typeface="Manrope Bold"/>
                  <a:ea typeface="Manrope Bold"/>
                  <a:cs typeface="Manrope Bold"/>
                  <a:sym typeface="Manrope Bold"/>
                </a:rPr>
                <a:t>GLP-1 </a:t>
              </a:r>
              <a:r>
                <a:rPr lang="en-US" sz="1500">
                  <a:solidFill>
                    <a:srgbClr val="D3D6E0"/>
                  </a:solidFill>
                  <a:latin typeface="Manrope"/>
                  <a:ea typeface="Manrope"/>
                  <a:cs typeface="Manrope"/>
                  <a:sym typeface="Manrope"/>
                </a:rPr>
                <a:t>(Glucose)</a:t>
              </a:r>
            </a:p>
          </p:txBody>
        </p:sp>
      </p:grpSp>
      <p:grpSp>
        <p:nvGrpSpPr>
          <p:cNvPr name="Group 93" id="93"/>
          <p:cNvGrpSpPr/>
          <p:nvPr/>
        </p:nvGrpSpPr>
        <p:grpSpPr>
          <a:xfrm rot="0">
            <a:off x="6967728" y="7022592"/>
            <a:ext cx="4530395" cy="263957"/>
            <a:chOff x="0" y="0"/>
            <a:chExt cx="6040526" cy="351942"/>
          </a:xfrm>
        </p:grpSpPr>
        <p:sp>
          <p:nvSpPr>
            <p:cNvPr name="Freeform 94" id="94"/>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95" id="95"/>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Neuro &amp; Vasculaire</a:t>
              </a:r>
            </a:p>
          </p:txBody>
        </p:sp>
      </p:grpSp>
      <p:grpSp>
        <p:nvGrpSpPr>
          <p:cNvPr name="Group 96" id="96"/>
          <p:cNvGrpSpPr/>
          <p:nvPr/>
        </p:nvGrpSpPr>
        <p:grpSpPr>
          <a:xfrm rot="0">
            <a:off x="6967728" y="7314743"/>
            <a:ext cx="4530395" cy="332327"/>
            <a:chOff x="0" y="0"/>
            <a:chExt cx="6040526" cy="443103"/>
          </a:xfrm>
        </p:grpSpPr>
        <p:sp>
          <p:nvSpPr>
            <p:cNvPr name="Freeform 97" id="97"/>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98" id="98"/>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LDN, Sélégiline</a:t>
              </a:r>
            </a:p>
          </p:txBody>
        </p:sp>
      </p:grpSp>
      <p:grpSp>
        <p:nvGrpSpPr>
          <p:cNvPr name="Group 99" id="99"/>
          <p:cNvGrpSpPr/>
          <p:nvPr/>
        </p:nvGrpSpPr>
        <p:grpSpPr>
          <a:xfrm rot="0">
            <a:off x="6967728" y="7615123"/>
            <a:ext cx="5092751" cy="332327"/>
            <a:chOff x="0" y="0"/>
            <a:chExt cx="6790334" cy="443103"/>
          </a:xfrm>
        </p:grpSpPr>
        <p:sp>
          <p:nvSpPr>
            <p:cNvPr name="Freeform 100" id="100"/>
            <p:cNvSpPr/>
            <p:nvPr/>
          </p:nvSpPr>
          <p:spPr>
            <a:xfrm flipH="false" flipV="false" rot="0">
              <a:off x="0" y="0"/>
              <a:ext cx="6790334" cy="443104"/>
            </a:xfrm>
            <a:custGeom>
              <a:avLst/>
              <a:gdLst/>
              <a:ahLst/>
              <a:cxnLst/>
              <a:rect r="r" b="b" t="t" l="l"/>
              <a:pathLst>
                <a:path h="443104" w="6790334">
                  <a:moveTo>
                    <a:pt x="0" y="0"/>
                  </a:moveTo>
                  <a:lnTo>
                    <a:pt x="6790334" y="0"/>
                  </a:lnTo>
                  <a:lnTo>
                    <a:pt x="6790334" y="443104"/>
                  </a:lnTo>
                  <a:lnTo>
                    <a:pt x="0" y="443104"/>
                  </a:lnTo>
                  <a:close/>
                </a:path>
              </a:pathLst>
            </a:custGeom>
            <a:blipFill>
              <a:blip r:embed="rId3">
                <a:alphaModFix amt="0"/>
              </a:blip>
              <a:stretch>
                <a:fillRect l="0" t="-253404" r="0" b="-243791"/>
              </a:stretch>
            </a:blipFill>
          </p:spPr>
          <p:txBody>
            <a:bodyPr/>
            <a:p/>
          </p:txBody>
        </p:sp>
        <p:sp>
          <p:nvSpPr>
            <p:cNvPr name="TextBox 101" id="101"/>
            <p:cNvSpPr txBox="true"/>
            <p:nvPr/>
          </p:nvSpPr>
          <p:spPr>
            <a:xfrm>
              <a:off x="0" y="-9525"/>
              <a:ext cx="6790334"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Tadalafil, Statines/IECA/ARA (si indiqué)</a:t>
              </a:r>
            </a:p>
          </p:txBody>
        </p:sp>
      </p:grpSp>
      <p:grpSp>
        <p:nvGrpSpPr>
          <p:cNvPr name="Group 102" id="102"/>
          <p:cNvGrpSpPr/>
          <p:nvPr/>
        </p:nvGrpSpPr>
        <p:grpSpPr>
          <a:xfrm rot="0">
            <a:off x="12182627" y="2490902"/>
            <a:ext cx="5262677" cy="7091020"/>
            <a:chOff x="0" y="0"/>
            <a:chExt cx="7016902" cy="9454693"/>
          </a:xfrm>
        </p:grpSpPr>
        <p:sp>
          <p:nvSpPr>
            <p:cNvPr name="Freeform 103" id="103"/>
            <p:cNvSpPr/>
            <p:nvPr/>
          </p:nvSpPr>
          <p:spPr>
            <a:xfrm flipH="false" flipV="false" rot="0">
              <a:off x="12700" y="12700"/>
              <a:ext cx="6991477" cy="9429242"/>
            </a:xfrm>
            <a:custGeom>
              <a:avLst/>
              <a:gdLst/>
              <a:ahLst/>
              <a:cxnLst/>
              <a:rect r="r" b="b" t="t" l="l"/>
              <a:pathLst>
                <a:path h="9429242" w="6991477">
                  <a:moveTo>
                    <a:pt x="0" y="0"/>
                  </a:moveTo>
                  <a:lnTo>
                    <a:pt x="6991477" y="0"/>
                  </a:lnTo>
                  <a:lnTo>
                    <a:pt x="6991477" y="9429242"/>
                  </a:lnTo>
                  <a:lnTo>
                    <a:pt x="0" y="9429242"/>
                  </a:lnTo>
                  <a:close/>
                </a:path>
              </a:pathLst>
            </a:custGeom>
            <a:solidFill>
              <a:srgbClr val="141419"/>
            </a:solidFill>
          </p:spPr>
          <p:txBody>
            <a:bodyPr/>
            <a:p/>
          </p:txBody>
        </p:sp>
        <p:sp>
          <p:nvSpPr>
            <p:cNvPr name="Freeform 104" id="104"/>
            <p:cNvSpPr/>
            <p:nvPr/>
          </p:nvSpPr>
          <p:spPr>
            <a:xfrm flipH="false" flipV="false" rot="0">
              <a:off x="0" y="0"/>
              <a:ext cx="7016877" cy="9454642"/>
            </a:xfrm>
            <a:custGeom>
              <a:avLst/>
              <a:gdLst/>
              <a:ahLst/>
              <a:cxnLst/>
              <a:rect r="r" b="b" t="t" l="l"/>
              <a:pathLst>
                <a:path h="9454642" w="7016877">
                  <a:moveTo>
                    <a:pt x="12700" y="0"/>
                  </a:moveTo>
                  <a:lnTo>
                    <a:pt x="7004177" y="0"/>
                  </a:lnTo>
                  <a:cubicBezTo>
                    <a:pt x="7011162" y="0"/>
                    <a:pt x="7016877" y="5715"/>
                    <a:pt x="7016877" y="12700"/>
                  </a:cubicBezTo>
                  <a:lnTo>
                    <a:pt x="7016877" y="9441942"/>
                  </a:lnTo>
                  <a:cubicBezTo>
                    <a:pt x="7016877" y="9448927"/>
                    <a:pt x="7011162" y="9454642"/>
                    <a:pt x="7004177" y="9454642"/>
                  </a:cubicBezTo>
                  <a:lnTo>
                    <a:pt x="12700" y="9454642"/>
                  </a:lnTo>
                  <a:cubicBezTo>
                    <a:pt x="5715" y="9454642"/>
                    <a:pt x="0" y="9448927"/>
                    <a:pt x="0" y="9441942"/>
                  </a:cubicBezTo>
                  <a:lnTo>
                    <a:pt x="0" y="12700"/>
                  </a:lnTo>
                  <a:cubicBezTo>
                    <a:pt x="0" y="5715"/>
                    <a:pt x="5715" y="0"/>
                    <a:pt x="12700" y="0"/>
                  </a:cubicBezTo>
                  <a:moveTo>
                    <a:pt x="12700" y="25400"/>
                  </a:moveTo>
                  <a:lnTo>
                    <a:pt x="12700" y="12700"/>
                  </a:lnTo>
                  <a:lnTo>
                    <a:pt x="25400" y="12700"/>
                  </a:lnTo>
                  <a:lnTo>
                    <a:pt x="25400" y="9441942"/>
                  </a:lnTo>
                  <a:lnTo>
                    <a:pt x="12700" y="9441942"/>
                  </a:lnTo>
                  <a:lnTo>
                    <a:pt x="12700" y="9429242"/>
                  </a:lnTo>
                  <a:lnTo>
                    <a:pt x="7004177" y="9429242"/>
                  </a:lnTo>
                  <a:lnTo>
                    <a:pt x="7004177" y="9441942"/>
                  </a:lnTo>
                  <a:lnTo>
                    <a:pt x="6991477" y="9441942"/>
                  </a:lnTo>
                  <a:lnTo>
                    <a:pt x="6991477" y="12700"/>
                  </a:lnTo>
                  <a:lnTo>
                    <a:pt x="7004177" y="12700"/>
                  </a:lnTo>
                  <a:lnTo>
                    <a:pt x="7004177" y="25400"/>
                  </a:lnTo>
                  <a:lnTo>
                    <a:pt x="12700" y="25400"/>
                  </a:lnTo>
                  <a:close/>
                </a:path>
              </a:pathLst>
            </a:custGeom>
            <a:solidFill>
              <a:srgbClr val="40424D"/>
            </a:solidFill>
          </p:spPr>
          <p:txBody>
            <a:bodyPr/>
            <a:p/>
          </p:txBody>
        </p:sp>
      </p:grpSp>
      <p:grpSp>
        <p:nvGrpSpPr>
          <p:cNvPr name="Group 105" id="105"/>
          <p:cNvGrpSpPr/>
          <p:nvPr/>
        </p:nvGrpSpPr>
        <p:grpSpPr>
          <a:xfrm rot="0">
            <a:off x="12625654" y="2933929"/>
            <a:ext cx="818693" cy="818693"/>
            <a:chOff x="0" y="0"/>
            <a:chExt cx="1091590" cy="1091590"/>
          </a:xfrm>
        </p:grpSpPr>
        <p:sp>
          <p:nvSpPr>
            <p:cNvPr name="Freeform 106" id="106"/>
            <p:cNvSpPr/>
            <p:nvPr/>
          </p:nvSpPr>
          <p:spPr>
            <a:xfrm flipH="false" flipV="false" rot="0">
              <a:off x="12700" y="12700"/>
              <a:ext cx="1066165" cy="1066165"/>
            </a:xfrm>
            <a:custGeom>
              <a:avLst/>
              <a:gdLst/>
              <a:ahLst/>
              <a:cxnLst/>
              <a:rect r="r" b="b" t="t" l="l"/>
              <a:pathLst>
                <a:path h="1066165" w="1066165">
                  <a:moveTo>
                    <a:pt x="0" y="261239"/>
                  </a:moveTo>
                  <a:cubicBezTo>
                    <a:pt x="0" y="116967"/>
                    <a:pt x="116967" y="0"/>
                    <a:pt x="261239" y="0"/>
                  </a:cubicBezTo>
                  <a:lnTo>
                    <a:pt x="804926" y="0"/>
                  </a:lnTo>
                  <a:cubicBezTo>
                    <a:pt x="949198" y="0"/>
                    <a:pt x="1066165" y="116967"/>
                    <a:pt x="1066165" y="261239"/>
                  </a:cubicBezTo>
                  <a:lnTo>
                    <a:pt x="1066165" y="804926"/>
                  </a:lnTo>
                  <a:cubicBezTo>
                    <a:pt x="1066165" y="949198"/>
                    <a:pt x="949198" y="1066165"/>
                    <a:pt x="804926" y="1066165"/>
                  </a:cubicBezTo>
                  <a:lnTo>
                    <a:pt x="261239" y="1066165"/>
                  </a:lnTo>
                  <a:cubicBezTo>
                    <a:pt x="116967" y="1066165"/>
                    <a:pt x="0" y="949198"/>
                    <a:pt x="0" y="804926"/>
                  </a:cubicBezTo>
                  <a:close/>
                </a:path>
              </a:pathLst>
            </a:custGeom>
            <a:solidFill>
              <a:srgbClr val="FFFFFF">
                <a:alpha val="0"/>
              </a:srgbClr>
            </a:solidFill>
          </p:spPr>
          <p:txBody>
            <a:bodyPr/>
            <a:p/>
          </p:txBody>
        </p:sp>
      </p:grpSp>
      <p:grpSp>
        <p:nvGrpSpPr>
          <p:cNvPr name="Group 107" id="107"/>
          <p:cNvGrpSpPr/>
          <p:nvPr/>
        </p:nvGrpSpPr>
        <p:grpSpPr>
          <a:xfrm rot="0">
            <a:off x="12799771" y="3157423"/>
            <a:ext cx="471830" cy="371704"/>
            <a:chOff x="0" y="0"/>
            <a:chExt cx="629107" cy="495605"/>
          </a:xfrm>
        </p:grpSpPr>
        <p:sp>
          <p:nvSpPr>
            <p:cNvPr name="Freeform 108" id="108" descr="preencoded.png"/>
            <p:cNvSpPr/>
            <p:nvPr/>
          </p:nvSpPr>
          <p:spPr>
            <a:xfrm flipH="false" flipV="false" rot="0">
              <a:off x="0" y="0"/>
              <a:ext cx="629158" cy="495554"/>
            </a:xfrm>
            <a:custGeom>
              <a:avLst/>
              <a:gdLst/>
              <a:ahLst/>
              <a:cxnLst/>
              <a:rect r="r" b="b" t="t" l="l"/>
              <a:pathLst>
                <a:path h="495554" w="629158">
                  <a:moveTo>
                    <a:pt x="0" y="0"/>
                  </a:moveTo>
                  <a:lnTo>
                    <a:pt x="629158" y="0"/>
                  </a:lnTo>
                  <a:lnTo>
                    <a:pt x="629158" y="495554"/>
                  </a:lnTo>
                  <a:lnTo>
                    <a:pt x="0" y="495554"/>
                  </a:lnTo>
                  <a:lnTo>
                    <a:pt x="0" y="0"/>
                  </a:lnTo>
                  <a:close/>
                </a:path>
              </a:pathLst>
            </a:custGeom>
            <a:blipFill>
              <a:blip r:embed="rId8"/>
              <a:stretch>
                <a:fillRect l="763" t="0" r="771" b="-738"/>
              </a:stretch>
            </a:blipFill>
          </p:spPr>
          <p:txBody>
            <a:bodyPr/>
            <a:p/>
          </p:txBody>
        </p:sp>
      </p:grpSp>
      <p:grpSp>
        <p:nvGrpSpPr>
          <p:cNvPr name="Group 109" id="109"/>
          <p:cNvGrpSpPr/>
          <p:nvPr/>
        </p:nvGrpSpPr>
        <p:grpSpPr>
          <a:xfrm rot="0">
            <a:off x="16747236" y="2943454"/>
            <a:ext cx="357988" cy="300380"/>
            <a:chOff x="0" y="0"/>
            <a:chExt cx="477317" cy="400507"/>
          </a:xfrm>
        </p:grpSpPr>
        <p:sp>
          <p:nvSpPr>
            <p:cNvPr name="Freeform 110" id="110"/>
            <p:cNvSpPr/>
            <p:nvPr/>
          </p:nvSpPr>
          <p:spPr>
            <a:xfrm flipH="false" flipV="false" rot="0">
              <a:off x="0" y="0"/>
              <a:ext cx="477316" cy="400508"/>
            </a:xfrm>
            <a:custGeom>
              <a:avLst/>
              <a:gdLst/>
              <a:ahLst/>
              <a:cxnLst/>
              <a:rect r="r" b="b" t="t" l="l"/>
              <a:pathLst>
                <a:path h="400508" w="477316">
                  <a:moveTo>
                    <a:pt x="0" y="0"/>
                  </a:moveTo>
                  <a:lnTo>
                    <a:pt x="477316" y="0"/>
                  </a:lnTo>
                  <a:lnTo>
                    <a:pt x="477316" y="400508"/>
                  </a:lnTo>
                  <a:lnTo>
                    <a:pt x="0" y="400508"/>
                  </a:lnTo>
                  <a:close/>
                </a:path>
              </a:pathLst>
            </a:custGeom>
            <a:blipFill>
              <a:blip r:embed="rId3">
                <a:alphaModFix amt="0"/>
              </a:blip>
              <a:stretch>
                <a:fillRect l="-57657" t="0" r="-57657" b="0"/>
              </a:stretch>
            </a:blipFill>
          </p:spPr>
          <p:txBody>
            <a:bodyPr/>
            <a:p/>
          </p:txBody>
        </p:sp>
        <p:sp>
          <p:nvSpPr>
            <p:cNvPr name="TextBox 111" id="111"/>
            <p:cNvSpPr txBox="true"/>
            <p:nvPr/>
          </p:nvSpPr>
          <p:spPr>
            <a:xfrm>
              <a:off x="0" y="-9525"/>
              <a:ext cx="477317" cy="410032"/>
            </a:xfrm>
            <a:prstGeom prst="rect">
              <a:avLst/>
            </a:prstGeom>
          </p:spPr>
          <p:txBody>
            <a:bodyPr anchor="ctr" rtlCol="false" tIns="0" lIns="0" bIns="0" rIns="0"/>
            <a:lstStyle/>
            <a:p>
              <a:pPr algn="l">
                <a:lnSpc>
                  <a:spcPts val="1800"/>
                </a:lnSpc>
              </a:pPr>
              <a:r>
                <a:rPr lang="en-US" sz="1500">
                  <a:solidFill>
                    <a:srgbClr val="40424D"/>
                  </a:solidFill>
                  <a:latin typeface="Courier New"/>
                  <a:ea typeface="Courier New"/>
                  <a:cs typeface="Courier New"/>
                  <a:sym typeface="Courier New"/>
                </a:rPr>
                <a:t>03</a:t>
              </a:r>
            </a:p>
          </p:txBody>
        </p:sp>
      </p:grpSp>
      <p:grpSp>
        <p:nvGrpSpPr>
          <p:cNvPr name="Group 112" id="112"/>
          <p:cNvGrpSpPr/>
          <p:nvPr/>
        </p:nvGrpSpPr>
        <p:grpSpPr>
          <a:xfrm rot="0">
            <a:off x="12625654" y="5234102"/>
            <a:ext cx="4376623" cy="32766"/>
            <a:chOff x="0" y="0"/>
            <a:chExt cx="5835498" cy="43688"/>
          </a:xfrm>
        </p:grpSpPr>
        <p:sp>
          <p:nvSpPr>
            <p:cNvPr name="Freeform 113" id="113"/>
            <p:cNvSpPr/>
            <p:nvPr/>
          </p:nvSpPr>
          <p:spPr>
            <a:xfrm flipH="false" flipV="false" rot="0">
              <a:off x="12700" y="12700"/>
              <a:ext cx="5810123" cy="18288"/>
            </a:xfrm>
            <a:custGeom>
              <a:avLst/>
              <a:gdLst/>
              <a:ahLst/>
              <a:cxnLst/>
              <a:rect r="r" b="b" t="t" l="l"/>
              <a:pathLst>
                <a:path h="18288" w="5810123">
                  <a:moveTo>
                    <a:pt x="0" y="0"/>
                  </a:moveTo>
                  <a:lnTo>
                    <a:pt x="5810123" y="0"/>
                  </a:lnTo>
                  <a:lnTo>
                    <a:pt x="5810123" y="18288"/>
                  </a:lnTo>
                  <a:lnTo>
                    <a:pt x="0" y="18288"/>
                  </a:lnTo>
                  <a:close/>
                </a:path>
              </a:pathLst>
            </a:custGeom>
            <a:solidFill>
              <a:srgbClr val="40424D"/>
            </a:solidFill>
          </p:spPr>
          <p:txBody>
            <a:bodyPr/>
            <a:p/>
          </p:txBody>
        </p:sp>
      </p:grpSp>
      <p:grpSp>
        <p:nvGrpSpPr>
          <p:cNvPr name="Group 114" id="114"/>
          <p:cNvGrpSpPr/>
          <p:nvPr/>
        </p:nvGrpSpPr>
        <p:grpSpPr>
          <a:xfrm rot="0">
            <a:off x="12635179" y="4085996"/>
            <a:ext cx="4476902" cy="945033"/>
            <a:chOff x="0" y="0"/>
            <a:chExt cx="5969203" cy="1260044"/>
          </a:xfrm>
        </p:grpSpPr>
        <p:sp>
          <p:nvSpPr>
            <p:cNvPr name="Freeform 115" id="115"/>
            <p:cNvSpPr/>
            <p:nvPr/>
          </p:nvSpPr>
          <p:spPr>
            <a:xfrm flipH="false" flipV="false" rot="0">
              <a:off x="0" y="0"/>
              <a:ext cx="5969204" cy="1260045"/>
            </a:xfrm>
            <a:custGeom>
              <a:avLst/>
              <a:gdLst/>
              <a:ahLst/>
              <a:cxnLst/>
              <a:rect r="r" b="b" t="t" l="l"/>
              <a:pathLst>
                <a:path h="1260045" w="5969204">
                  <a:moveTo>
                    <a:pt x="0" y="0"/>
                  </a:moveTo>
                  <a:lnTo>
                    <a:pt x="5969204" y="0"/>
                  </a:lnTo>
                  <a:lnTo>
                    <a:pt x="5969204" y="1260045"/>
                  </a:lnTo>
                  <a:lnTo>
                    <a:pt x="0" y="1260045"/>
                  </a:lnTo>
                  <a:close/>
                </a:path>
              </a:pathLst>
            </a:custGeom>
            <a:blipFill>
              <a:blip r:embed="rId3">
                <a:alphaModFix amt="0"/>
              </a:blip>
              <a:stretch>
                <a:fillRect l="0" t="-42306" r="0" b="-42306"/>
              </a:stretch>
            </a:blipFill>
          </p:spPr>
          <p:txBody>
            <a:bodyPr/>
            <a:p/>
          </p:txBody>
        </p:sp>
        <p:sp>
          <p:nvSpPr>
            <p:cNvPr name="TextBox 116" id="116"/>
            <p:cNvSpPr txBox="true"/>
            <p:nvPr/>
          </p:nvSpPr>
          <p:spPr>
            <a:xfrm>
              <a:off x="0" y="9525"/>
              <a:ext cx="5969203" cy="1250519"/>
            </a:xfrm>
            <a:prstGeom prst="rect">
              <a:avLst/>
            </a:prstGeom>
          </p:spPr>
          <p:txBody>
            <a:bodyPr anchor="ctr" rtlCol="false" tIns="0" lIns="0" bIns="0" rIns="0"/>
            <a:lstStyle/>
            <a:p>
              <a:pPr algn="l">
                <a:lnSpc>
                  <a:spcPts val="2879"/>
                </a:lnSpc>
              </a:pPr>
              <a:r>
                <a:rPr lang="en-US" b="true" sz="2400" spc="57">
                  <a:solidFill>
                    <a:srgbClr val="FFFFFF"/>
                  </a:solidFill>
                  <a:latin typeface="Manrope Bold"/>
                  <a:ea typeface="Manrope Bold"/>
                  <a:cs typeface="Manrope Bold"/>
                  <a:sym typeface="Manrope Bold"/>
                </a:rPr>
                <a:t>Optimisation Hormonale (THS)</a:t>
              </a:r>
            </a:p>
          </p:txBody>
        </p:sp>
      </p:grpSp>
      <p:grpSp>
        <p:nvGrpSpPr>
          <p:cNvPr name="Group 117" id="117"/>
          <p:cNvGrpSpPr/>
          <p:nvPr/>
        </p:nvGrpSpPr>
        <p:grpSpPr>
          <a:xfrm rot="0">
            <a:off x="12635179" y="5544007"/>
            <a:ext cx="4530395" cy="263957"/>
            <a:chOff x="0" y="0"/>
            <a:chExt cx="6040526" cy="351942"/>
          </a:xfrm>
        </p:grpSpPr>
        <p:sp>
          <p:nvSpPr>
            <p:cNvPr name="Freeform 118" id="118"/>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119" id="119"/>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Hormones Sexuelles</a:t>
              </a:r>
            </a:p>
          </p:txBody>
        </p:sp>
      </p:grpSp>
      <p:grpSp>
        <p:nvGrpSpPr>
          <p:cNvPr name="Group 120" id="120"/>
          <p:cNvGrpSpPr/>
          <p:nvPr/>
        </p:nvGrpSpPr>
        <p:grpSpPr>
          <a:xfrm rot="0">
            <a:off x="12635179" y="5836158"/>
            <a:ext cx="4530395" cy="332327"/>
            <a:chOff x="0" y="0"/>
            <a:chExt cx="6040526" cy="443103"/>
          </a:xfrm>
        </p:grpSpPr>
        <p:sp>
          <p:nvSpPr>
            <p:cNvPr name="Freeform 121" id="121"/>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122" id="122"/>
            <p:cNvSpPr txBox="true"/>
            <p:nvPr/>
          </p:nvSpPr>
          <p:spPr>
            <a:xfrm>
              <a:off x="0" y="-9525"/>
              <a:ext cx="6040526" cy="452628"/>
            </a:xfrm>
            <a:prstGeom prst="rect">
              <a:avLst/>
            </a:prstGeom>
          </p:spPr>
          <p:txBody>
            <a:bodyPr anchor="ctr" rtlCol="false" tIns="0" lIns="0" bIns="0" rIns="0"/>
            <a:lstStyle/>
            <a:p>
              <a:pPr algn="l">
                <a:lnSpc>
                  <a:spcPts val="1800"/>
                </a:lnSpc>
              </a:pPr>
              <a:r>
                <a:rPr lang="en-US" sz="1500" b="true">
                  <a:solidFill>
                    <a:srgbClr val="FFFFFF"/>
                  </a:solidFill>
                  <a:latin typeface="Manrope Bold"/>
                  <a:ea typeface="Manrope Bold"/>
                  <a:cs typeface="Manrope Bold"/>
                  <a:sym typeface="Manrope Bold"/>
                </a:rPr>
                <a:t>Testostérone</a:t>
              </a:r>
              <a:r>
                <a:rPr lang="en-US" sz="1500">
                  <a:solidFill>
                    <a:srgbClr val="D3D6E0"/>
                  </a:solidFill>
                  <a:latin typeface="Manrope"/>
                  <a:ea typeface="Manrope"/>
                  <a:cs typeface="Manrope"/>
                  <a:sym typeface="Manrope"/>
                </a:rPr>
                <a:t> (Hommes)</a:t>
              </a:r>
            </a:p>
          </p:txBody>
        </p:sp>
      </p:grpSp>
      <p:grpSp>
        <p:nvGrpSpPr>
          <p:cNvPr name="Group 123" id="123"/>
          <p:cNvGrpSpPr/>
          <p:nvPr/>
        </p:nvGrpSpPr>
        <p:grpSpPr>
          <a:xfrm rot="0">
            <a:off x="12635179" y="6136538"/>
            <a:ext cx="4530395" cy="332327"/>
            <a:chOff x="0" y="0"/>
            <a:chExt cx="6040526" cy="443103"/>
          </a:xfrm>
        </p:grpSpPr>
        <p:sp>
          <p:nvSpPr>
            <p:cNvPr name="Freeform 124" id="124"/>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125" id="125"/>
            <p:cNvSpPr txBox="true"/>
            <p:nvPr/>
          </p:nvSpPr>
          <p:spPr>
            <a:xfrm>
              <a:off x="0" y="-9525"/>
              <a:ext cx="6040526" cy="452628"/>
            </a:xfrm>
            <a:prstGeom prst="rect">
              <a:avLst/>
            </a:prstGeom>
          </p:spPr>
          <p:txBody>
            <a:bodyPr anchor="ctr" rtlCol="false" tIns="0" lIns="0" bIns="0" rIns="0"/>
            <a:lstStyle/>
            <a:p>
              <a:pPr algn="l">
                <a:lnSpc>
                  <a:spcPts val="1800"/>
                </a:lnSpc>
              </a:pPr>
              <a:r>
                <a:rPr lang="en-US" sz="1500" b="true">
                  <a:solidFill>
                    <a:srgbClr val="FFFFFF"/>
                  </a:solidFill>
                  <a:latin typeface="Manrope Bold"/>
                  <a:ea typeface="Manrope Bold"/>
                  <a:cs typeface="Manrope Bold"/>
                  <a:sym typeface="Manrope Bold"/>
                </a:rPr>
                <a:t>Estradiol + Progestérone</a:t>
              </a:r>
              <a:r>
                <a:rPr lang="en-US" sz="1500">
                  <a:solidFill>
                    <a:srgbClr val="D3D6E0"/>
                  </a:solidFill>
                  <a:latin typeface="Manrope"/>
                  <a:ea typeface="Manrope"/>
                  <a:cs typeface="Manrope"/>
                  <a:sym typeface="Manrope"/>
                </a:rPr>
                <a:t> (Femmes)</a:t>
              </a:r>
            </a:p>
          </p:txBody>
        </p:sp>
      </p:grpSp>
      <p:grpSp>
        <p:nvGrpSpPr>
          <p:cNvPr name="Group 126" id="126"/>
          <p:cNvGrpSpPr/>
          <p:nvPr/>
        </p:nvGrpSpPr>
        <p:grpSpPr>
          <a:xfrm rot="0">
            <a:off x="12635179" y="6722212"/>
            <a:ext cx="4530395" cy="263957"/>
            <a:chOff x="0" y="0"/>
            <a:chExt cx="6040526" cy="351942"/>
          </a:xfrm>
        </p:grpSpPr>
        <p:sp>
          <p:nvSpPr>
            <p:cNvPr name="Freeform 127" id="127"/>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128" id="128"/>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Soutien Global</a:t>
              </a:r>
            </a:p>
          </p:txBody>
        </p:sp>
      </p:grpSp>
      <p:grpSp>
        <p:nvGrpSpPr>
          <p:cNvPr name="Group 129" id="129"/>
          <p:cNvGrpSpPr/>
          <p:nvPr/>
        </p:nvGrpSpPr>
        <p:grpSpPr>
          <a:xfrm rot="0">
            <a:off x="12635179" y="7015734"/>
            <a:ext cx="4530395" cy="332327"/>
            <a:chOff x="0" y="0"/>
            <a:chExt cx="6040526" cy="443103"/>
          </a:xfrm>
        </p:grpSpPr>
        <p:sp>
          <p:nvSpPr>
            <p:cNvPr name="Freeform 130" id="130"/>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131" id="131"/>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DHEA, Prégnénolone</a:t>
              </a:r>
            </a:p>
          </p:txBody>
        </p:sp>
      </p:grpSp>
      <p:grpSp>
        <p:nvGrpSpPr>
          <p:cNvPr name="Group 132" id="132"/>
          <p:cNvGrpSpPr/>
          <p:nvPr/>
        </p:nvGrpSpPr>
        <p:grpSpPr>
          <a:xfrm rot="0">
            <a:off x="12635179" y="7314743"/>
            <a:ext cx="4530395" cy="332327"/>
            <a:chOff x="0" y="0"/>
            <a:chExt cx="6040526" cy="443103"/>
          </a:xfrm>
        </p:grpSpPr>
        <p:sp>
          <p:nvSpPr>
            <p:cNvPr name="Freeform 133" id="133"/>
            <p:cNvSpPr/>
            <p:nvPr/>
          </p:nvSpPr>
          <p:spPr>
            <a:xfrm flipH="false" flipV="false" rot="0">
              <a:off x="0" y="0"/>
              <a:ext cx="6040526" cy="443104"/>
            </a:xfrm>
            <a:custGeom>
              <a:avLst/>
              <a:gdLst/>
              <a:ahLst/>
              <a:cxnLst/>
              <a:rect r="r" b="b" t="t" l="l"/>
              <a:pathLst>
                <a:path h="443104" w="6040526">
                  <a:moveTo>
                    <a:pt x="0" y="0"/>
                  </a:moveTo>
                  <a:lnTo>
                    <a:pt x="6040526" y="0"/>
                  </a:lnTo>
                  <a:lnTo>
                    <a:pt x="6040526" y="443104"/>
                  </a:lnTo>
                  <a:lnTo>
                    <a:pt x="0" y="443104"/>
                  </a:lnTo>
                  <a:close/>
                </a:path>
              </a:pathLst>
            </a:custGeom>
            <a:blipFill>
              <a:blip r:embed="rId3">
                <a:alphaModFix amt="0"/>
              </a:blip>
              <a:stretch>
                <a:fillRect l="0" t="-220432" r="0" b="-210819"/>
              </a:stretch>
            </a:blipFill>
          </p:spPr>
          <p:txBody>
            <a:bodyPr/>
            <a:p/>
          </p:txBody>
        </p:sp>
        <p:sp>
          <p:nvSpPr>
            <p:cNvPr name="TextBox 134" id="134"/>
            <p:cNvSpPr txBox="true"/>
            <p:nvPr/>
          </p:nvSpPr>
          <p:spPr>
            <a:xfrm>
              <a:off x="0" y="-9525"/>
              <a:ext cx="6040526" cy="452628"/>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Mélatonine, Ocytocine</a:t>
              </a:r>
            </a:p>
          </p:txBody>
        </p:sp>
      </p:grpSp>
      <p:grpSp>
        <p:nvGrpSpPr>
          <p:cNvPr name="Group 135" id="135"/>
          <p:cNvGrpSpPr/>
          <p:nvPr/>
        </p:nvGrpSpPr>
        <p:grpSpPr>
          <a:xfrm rot="0">
            <a:off x="12635179" y="7900416"/>
            <a:ext cx="4530395" cy="263957"/>
            <a:chOff x="0" y="0"/>
            <a:chExt cx="6040526" cy="351942"/>
          </a:xfrm>
        </p:grpSpPr>
        <p:sp>
          <p:nvSpPr>
            <p:cNvPr name="Freeform 136" id="136"/>
            <p:cNvSpPr/>
            <p:nvPr/>
          </p:nvSpPr>
          <p:spPr>
            <a:xfrm flipH="false" flipV="false" rot="0">
              <a:off x="0" y="0"/>
              <a:ext cx="6040526" cy="351942"/>
            </a:xfrm>
            <a:custGeom>
              <a:avLst/>
              <a:gdLst/>
              <a:ahLst/>
              <a:cxnLst/>
              <a:rect r="r" b="b" t="t" l="l"/>
              <a:pathLst>
                <a:path h="351942" w="6040526">
                  <a:moveTo>
                    <a:pt x="0" y="0"/>
                  </a:moveTo>
                  <a:lnTo>
                    <a:pt x="6040526" y="0"/>
                  </a:lnTo>
                  <a:lnTo>
                    <a:pt x="6040526" y="351942"/>
                  </a:lnTo>
                  <a:lnTo>
                    <a:pt x="0" y="351942"/>
                  </a:lnTo>
                  <a:close/>
                </a:path>
              </a:pathLst>
            </a:custGeom>
            <a:blipFill>
              <a:blip r:embed="rId3">
                <a:alphaModFix amt="0"/>
              </a:blip>
              <a:stretch>
                <a:fillRect l="0" t="-288182" r="0" b="-280676"/>
              </a:stretch>
            </a:blipFill>
          </p:spPr>
          <p:txBody>
            <a:bodyPr/>
            <a:p/>
          </p:txBody>
        </p:sp>
        <p:sp>
          <p:nvSpPr>
            <p:cNvPr name="TextBox 137" id="137"/>
            <p:cNvSpPr txBox="true"/>
            <p:nvPr/>
          </p:nvSpPr>
          <p:spPr>
            <a:xfrm>
              <a:off x="0" y="0"/>
              <a:ext cx="6040526" cy="351942"/>
            </a:xfrm>
            <a:prstGeom prst="rect">
              <a:avLst/>
            </a:prstGeom>
          </p:spPr>
          <p:txBody>
            <a:bodyPr anchor="ctr" rtlCol="false" tIns="0" lIns="0" bIns="0" rIns="0"/>
            <a:lstStyle/>
            <a:p>
              <a:pPr algn="l">
                <a:lnSpc>
                  <a:spcPts val="1439"/>
                </a:lnSpc>
              </a:pPr>
              <a:r>
                <a:rPr lang="en-US" b="true" sz="1200" spc="112">
                  <a:solidFill>
                    <a:srgbClr val="9DA2B3"/>
                  </a:solidFill>
                  <a:latin typeface="Manrope Bold"/>
                  <a:ea typeface="Manrope Bold"/>
                  <a:cs typeface="Manrope Bold"/>
                  <a:sym typeface="Manrope Bold"/>
                </a:rPr>
                <a:t>Standard de Qualité</a:t>
              </a:r>
            </a:p>
          </p:txBody>
        </p:sp>
      </p:grpSp>
      <p:grpSp>
        <p:nvGrpSpPr>
          <p:cNvPr name="Group 138" id="138"/>
          <p:cNvGrpSpPr/>
          <p:nvPr/>
        </p:nvGrpSpPr>
        <p:grpSpPr>
          <a:xfrm rot="0">
            <a:off x="12635179" y="8193938"/>
            <a:ext cx="4472788" cy="600760"/>
            <a:chOff x="0" y="0"/>
            <a:chExt cx="5963717" cy="801014"/>
          </a:xfrm>
        </p:grpSpPr>
        <p:sp>
          <p:nvSpPr>
            <p:cNvPr name="Freeform 139" id="139"/>
            <p:cNvSpPr/>
            <p:nvPr/>
          </p:nvSpPr>
          <p:spPr>
            <a:xfrm flipH="false" flipV="false" rot="0">
              <a:off x="0" y="0"/>
              <a:ext cx="5963716" cy="801014"/>
            </a:xfrm>
            <a:custGeom>
              <a:avLst/>
              <a:gdLst/>
              <a:ahLst/>
              <a:cxnLst/>
              <a:rect r="r" b="b" t="t" l="l"/>
              <a:pathLst>
                <a:path h="801014" w="5963716">
                  <a:moveTo>
                    <a:pt x="0" y="0"/>
                  </a:moveTo>
                  <a:lnTo>
                    <a:pt x="5963716" y="0"/>
                  </a:lnTo>
                  <a:lnTo>
                    <a:pt x="5963716" y="801014"/>
                  </a:lnTo>
                  <a:lnTo>
                    <a:pt x="0" y="801014"/>
                  </a:lnTo>
                  <a:close/>
                </a:path>
              </a:pathLst>
            </a:custGeom>
            <a:blipFill>
              <a:blip r:embed="rId3">
                <a:alphaModFix amt="0"/>
              </a:blip>
              <a:stretch>
                <a:fillRect l="0" t="-95070" r="0" b="-95070"/>
              </a:stretch>
            </a:blipFill>
          </p:spPr>
          <p:txBody>
            <a:bodyPr/>
            <a:p/>
          </p:txBody>
        </p:sp>
        <p:sp>
          <p:nvSpPr>
            <p:cNvPr name="TextBox 140" id="140"/>
            <p:cNvSpPr txBox="true"/>
            <p:nvPr/>
          </p:nvSpPr>
          <p:spPr>
            <a:xfrm>
              <a:off x="0" y="-9525"/>
              <a:ext cx="5963717" cy="810539"/>
            </a:xfrm>
            <a:prstGeom prst="rect">
              <a:avLst/>
            </a:prstGeom>
          </p:spPr>
          <p:txBody>
            <a:bodyPr anchor="ctr" rtlCol="false" tIns="0" lIns="0" bIns="0" rIns="0"/>
            <a:lstStyle/>
            <a:p>
              <a:pPr algn="l">
                <a:lnSpc>
                  <a:spcPts val="1800"/>
                </a:lnSpc>
              </a:pPr>
              <a:r>
                <a:rPr lang="en-US" sz="1500">
                  <a:solidFill>
                    <a:srgbClr val="D3D6E0"/>
                  </a:solidFill>
                  <a:latin typeface="Manrope"/>
                  <a:ea typeface="Manrope"/>
                  <a:cs typeface="Manrope"/>
                  <a:sym typeface="Manrope"/>
                </a:rPr>
                <a:t>Bio-identiques uniquement, formes adaptées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9525" y="-9525"/>
            <a:ext cx="18306593" cy="10306050"/>
            <a:chOff x="0" y="0"/>
            <a:chExt cx="24408790" cy="13741400"/>
          </a:xfrm>
        </p:grpSpPr>
        <p:sp>
          <p:nvSpPr>
            <p:cNvPr name="Freeform 7" id="7"/>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8" id="8"/>
          <p:cNvGrpSpPr/>
          <p:nvPr/>
        </p:nvGrpSpPr>
        <p:grpSpPr>
          <a:xfrm rot="0">
            <a:off x="0" y="0"/>
            <a:ext cx="5715457" cy="10287000"/>
            <a:chOff x="0" y="0"/>
            <a:chExt cx="7620610" cy="13716000"/>
          </a:xfrm>
        </p:grpSpPr>
        <p:sp>
          <p:nvSpPr>
            <p:cNvPr name="Freeform 9" id="9"/>
            <p:cNvSpPr/>
            <p:nvPr/>
          </p:nvSpPr>
          <p:spPr>
            <a:xfrm flipH="false" flipV="false" rot="0">
              <a:off x="0" y="0"/>
              <a:ext cx="7620635" cy="13716000"/>
            </a:xfrm>
            <a:custGeom>
              <a:avLst/>
              <a:gdLst/>
              <a:ahLst/>
              <a:cxnLst/>
              <a:rect r="r" b="b" t="t" l="l"/>
              <a:pathLst>
                <a:path h="13716000" w="7620635">
                  <a:moveTo>
                    <a:pt x="0" y="0"/>
                  </a:moveTo>
                  <a:lnTo>
                    <a:pt x="7620635" y="0"/>
                  </a:lnTo>
                  <a:lnTo>
                    <a:pt x="7620635" y="13716000"/>
                  </a:lnTo>
                  <a:lnTo>
                    <a:pt x="0" y="13716000"/>
                  </a:lnTo>
                  <a:close/>
                </a:path>
              </a:pathLst>
            </a:custGeom>
            <a:solidFill>
              <a:srgbClr val="1E1E24">
                <a:alpha val="15686"/>
              </a:srgbClr>
            </a:solidFill>
          </p:spPr>
          <p:txBody>
            <a:bodyPr/>
            <a:p/>
          </p:txBody>
        </p:sp>
      </p:grpSp>
      <p:grpSp>
        <p:nvGrpSpPr>
          <p:cNvPr name="Group 10" id="10"/>
          <p:cNvGrpSpPr/>
          <p:nvPr/>
        </p:nvGrpSpPr>
        <p:grpSpPr>
          <a:xfrm rot="0">
            <a:off x="5692216" y="-9525"/>
            <a:ext cx="32766" cy="10306050"/>
            <a:chOff x="0" y="0"/>
            <a:chExt cx="43688" cy="13741400"/>
          </a:xfrm>
        </p:grpSpPr>
        <p:sp>
          <p:nvSpPr>
            <p:cNvPr name="Freeform 11" id="11"/>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2" id="12"/>
          <p:cNvGrpSpPr/>
          <p:nvPr/>
        </p:nvGrpSpPr>
        <p:grpSpPr>
          <a:xfrm rot="0">
            <a:off x="571957" y="571957"/>
            <a:ext cx="4729277" cy="332327"/>
            <a:chOff x="0" y="0"/>
            <a:chExt cx="6305702" cy="443103"/>
          </a:xfrm>
        </p:grpSpPr>
        <p:sp>
          <p:nvSpPr>
            <p:cNvPr name="Freeform 13" id="13"/>
            <p:cNvSpPr/>
            <p:nvPr/>
          </p:nvSpPr>
          <p:spPr>
            <a:xfrm flipH="false" flipV="false" rot="0">
              <a:off x="0" y="0"/>
              <a:ext cx="6305702" cy="443104"/>
            </a:xfrm>
            <a:custGeom>
              <a:avLst/>
              <a:gdLst/>
              <a:ahLst/>
              <a:cxnLst/>
              <a:rect r="r" b="b" t="t" l="l"/>
              <a:pathLst>
                <a:path h="443104" w="6305702">
                  <a:moveTo>
                    <a:pt x="0" y="0"/>
                  </a:moveTo>
                  <a:lnTo>
                    <a:pt x="6305702" y="0"/>
                  </a:lnTo>
                  <a:lnTo>
                    <a:pt x="6305702" y="443104"/>
                  </a:lnTo>
                  <a:lnTo>
                    <a:pt x="0" y="443104"/>
                  </a:lnTo>
                  <a:close/>
                </a:path>
              </a:pathLst>
            </a:custGeom>
            <a:blipFill>
              <a:blip r:embed="rId3">
                <a:alphaModFix amt="0"/>
              </a:blip>
              <a:stretch>
                <a:fillRect l="0" t="-232093" r="0" b="-222480"/>
              </a:stretch>
            </a:blipFill>
          </p:spPr>
          <p:txBody>
            <a:bodyPr/>
            <a:p/>
          </p:txBody>
        </p:sp>
        <p:sp>
          <p:nvSpPr>
            <p:cNvPr name="TextBox 14" id="14"/>
            <p:cNvSpPr txBox="true"/>
            <p:nvPr/>
          </p:nvSpPr>
          <p:spPr>
            <a:xfrm>
              <a:off x="0" y="-9525"/>
              <a:ext cx="6305702"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Alignement Profond</a:t>
              </a:r>
            </a:p>
          </p:txBody>
        </p:sp>
      </p:grpSp>
      <p:grpSp>
        <p:nvGrpSpPr>
          <p:cNvPr name="Group 15" id="15"/>
          <p:cNvGrpSpPr/>
          <p:nvPr/>
        </p:nvGrpSpPr>
        <p:grpSpPr>
          <a:xfrm rot="0">
            <a:off x="562432" y="562432"/>
            <a:ext cx="304343" cy="32766"/>
            <a:chOff x="0" y="0"/>
            <a:chExt cx="405790" cy="43688"/>
          </a:xfrm>
        </p:grpSpPr>
        <p:sp>
          <p:nvSpPr>
            <p:cNvPr name="Freeform 16" id="16"/>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7" id="17"/>
          <p:cNvGrpSpPr/>
          <p:nvPr/>
        </p:nvGrpSpPr>
        <p:grpSpPr>
          <a:xfrm rot="0">
            <a:off x="561975" y="823078"/>
            <a:ext cx="4673041" cy="1405772"/>
            <a:chOff x="0" y="0"/>
            <a:chExt cx="6230722" cy="1874363"/>
          </a:xfrm>
        </p:grpSpPr>
        <p:sp>
          <p:nvSpPr>
            <p:cNvPr name="Freeform 18" id="18"/>
            <p:cNvSpPr/>
            <p:nvPr/>
          </p:nvSpPr>
          <p:spPr>
            <a:xfrm flipH="false" flipV="false" rot="0">
              <a:off x="0" y="0"/>
              <a:ext cx="6230722" cy="1874363"/>
            </a:xfrm>
            <a:custGeom>
              <a:avLst/>
              <a:gdLst/>
              <a:ahLst/>
              <a:cxnLst/>
              <a:rect r="r" b="b" t="t" l="l"/>
              <a:pathLst>
                <a:path h="1874363" w="6230722">
                  <a:moveTo>
                    <a:pt x="0" y="0"/>
                  </a:moveTo>
                  <a:lnTo>
                    <a:pt x="6230722" y="0"/>
                  </a:lnTo>
                  <a:lnTo>
                    <a:pt x="6230722" y="1874363"/>
                  </a:lnTo>
                  <a:lnTo>
                    <a:pt x="0" y="1874363"/>
                  </a:lnTo>
                  <a:close/>
                </a:path>
              </a:pathLst>
            </a:custGeom>
            <a:blipFill>
              <a:blip r:embed="rId3">
                <a:alphaModFix amt="0"/>
              </a:blip>
              <a:stretch>
                <a:fillRect l="0" t="-46477" r="0" b="16933"/>
              </a:stretch>
            </a:blipFill>
          </p:spPr>
          <p:txBody>
            <a:bodyPr/>
            <a:p/>
          </p:txBody>
        </p:sp>
        <p:sp>
          <p:nvSpPr>
            <p:cNvPr name="TextBox 19" id="19"/>
            <p:cNvSpPr txBox="true"/>
            <p:nvPr/>
          </p:nvSpPr>
          <p:spPr>
            <a:xfrm>
              <a:off x="0" y="0"/>
              <a:ext cx="6230722" cy="1874363"/>
            </a:xfrm>
            <a:prstGeom prst="rect">
              <a:avLst/>
            </a:prstGeom>
          </p:spPr>
          <p:txBody>
            <a:bodyPr anchor="ctr" rtlCol="false" tIns="0" lIns="0" bIns="0" rIns="0"/>
            <a:lstStyle/>
            <a:p>
              <a:pPr algn="l">
                <a:lnSpc>
                  <a:spcPts val="4559"/>
                </a:lnSpc>
              </a:pPr>
              <a:r>
                <a:rPr lang="en-US" sz="3799" spc="-474">
                  <a:solidFill>
                    <a:srgbClr val="FFFFFF"/>
                  </a:solidFill>
                  <a:latin typeface="Manrope"/>
                  <a:ea typeface="Manrope"/>
                  <a:cs typeface="Manrope"/>
                  <a:sym typeface="Manrope"/>
                </a:rPr>
                <a:t>RÉGÉNÉRATION  &amp;</a:t>
              </a:r>
            </a:p>
            <a:p>
              <a:pPr algn="l">
                <a:lnSpc>
                  <a:spcPts val="4559"/>
                </a:lnSpc>
              </a:pPr>
              <a:r>
                <a:rPr lang="en-US" sz="3799" spc="-474">
                  <a:solidFill>
                    <a:srgbClr val="FFFFFF"/>
                  </a:solidFill>
                  <a:latin typeface="Manrope"/>
                  <a:ea typeface="Manrope"/>
                  <a:cs typeface="Manrope"/>
                  <a:sym typeface="Manrope"/>
                </a:rPr>
                <a:t> HARMONIE</a:t>
              </a:r>
            </a:p>
          </p:txBody>
        </p:sp>
      </p:grpSp>
      <p:grpSp>
        <p:nvGrpSpPr>
          <p:cNvPr name="Group 20" id="20"/>
          <p:cNvGrpSpPr/>
          <p:nvPr/>
        </p:nvGrpSpPr>
        <p:grpSpPr>
          <a:xfrm rot="0">
            <a:off x="562432" y="2197203"/>
            <a:ext cx="4673041" cy="841391"/>
            <a:chOff x="0" y="0"/>
            <a:chExt cx="6230722" cy="1121854"/>
          </a:xfrm>
        </p:grpSpPr>
        <p:sp>
          <p:nvSpPr>
            <p:cNvPr name="Freeform 21" id="21"/>
            <p:cNvSpPr/>
            <p:nvPr/>
          </p:nvSpPr>
          <p:spPr>
            <a:xfrm flipH="false" flipV="false" rot="0">
              <a:off x="0" y="0"/>
              <a:ext cx="6230722" cy="1121855"/>
            </a:xfrm>
            <a:custGeom>
              <a:avLst/>
              <a:gdLst/>
              <a:ahLst/>
              <a:cxnLst/>
              <a:rect r="r" b="b" t="t" l="l"/>
              <a:pathLst>
                <a:path h="1121855" w="6230722">
                  <a:moveTo>
                    <a:pt x="0" y="0"/>
                  </a:moveTo>
                  <a:lnTo>
                    <a:pt x="6230722" y="0"/>
                  </a:lnTo>
                  <a:lnTo>
                    <a:pt x="6230722" y="1121855"/>
                  </a:lnTo>
                  <a:lnTo>
                    <a:pt x="0" y="1121855"/>
                  </a:lnTo>
                  <a:close/>
                </a:path>
              </a:pathLst>
            </a:custGeom>
            <a:blipFill>
              <a:blip r:embed="rId3">
                <a:alphaModFix amt="0"/>
              </a:blip>
              <a:stretch>
                <a:fillRect l="0" t="-60618" r="0" b="-55819"/>
              </a:stretch>
            </a:blipFill>
          </p:spPr>
          <p:txBody>
            <a:bodyPr/>
            <a:p/>
          </p:txBody>
        </p:sp>
        <p:sp>
          <p:nvSpPr>
            <p:cNvPr name="TextBox 22" id="22"/>
            <p:cNvSpPr txBox="true"/>
            <p:nvPr/>
          </p:nvSpPr>
          <p:spPr>
            <a:xfrm>
              <a:off x="0" y="-9525"/>
              <a:ext cx="6230722" cy="11313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La joie et l'harmonie intérieure comme thérapie de fond.</a:t>
              </a:r>
            </a:p>
          </p:txBody>
        </p:sp>
      </p:grpSp>
      <p:grpSp>
        <p:nvGrpSpPr>
          <p:cNvPr name="Group 23" id="23"/>
          <p:cNvGrpSpPr/>
          <p:nvPr/>
        </p:nvGrpSpPr>
        <p:grpSpPr>
          <a:xfrm rot="0">
            <a:off x="571957" y="3317900"/>
            <a:ext cx="4729277" cy="293380"/>
            <a:chOff x="0" y="0"/>
            <a:chExt cx="6305702" cy="391173"/>
          </a:xfrm>
        </p:grpSpPr>
        <p:sp>
          <p:nvSpPr>
            <p:cNvPr name="Freeform 24" id="24"/>
            <p:cNvSpPr/>
            <p:nvPr/>
          </p:nvSpPr>
          <p:spPr>
            <a:xfrm flipH="false" flipV="false" rot="0">
              <a:off x="0" y="0"/>
              <a:ext cx="6305702" cy="391173"/>
            </a:xfrm>
            <a:custGeom>
              <a:avLst/>
              <a:gdLst/>
              <a:ahLst/>
              <a:cxnLst/>
              <a:rect r="r" b="b" t="t" l="l"/>
              <a:pathLst>
                <a:path h="391173" w="6305702">
                  <a:moveTo>
                    <a:pt x="0" y="0"/>
                  </a:moveTo>
                  <a:lnTo>
                    <a:pt x="6305702" y="0"/>
                  </a:lnTo>
                  <a:lnTo>
                    <a:pt x="6305702" y="391173"/>
                  </a:lnTo>
                  <a:lnTo>
                    <a:pt x="0" y="391173"/>
                  </a:lnTo>
                  <a:close/>
                </a:path>
              </a:pathLst>
            </a:custGeom>
            <a:blipFill>
              <a:blip r:embed="rId3">
                <a:alphaModFix amt="0"/>
              </a:blip>
              <a:stretch>
                <a:fillRect l="0" t="-275060" r="0" b="-253136"/>
              </a:stretch>
            </a:blipFill>
          </p:spPr>
          <p:txBody>
            <a:bodyPr/>
            <a:p/>
          </p:txBody>
        </p:sp>
        <p:sp>
          <p:nvSpPr>
            <p:cNvPr name="TextBox 25" id="25"/>
            <p:cNvSpPr txBox="true"/>
            <p:nvPr/>
          </p:nvSpPr>
          <p:spPr>
            <a:xfrm>
              <a:off x="0" y="0"/>
              <a:ext cx="63057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Piliers de Restauration</a:t>
              </a:r>
            </a:p>
          </p:txBody>
        </p:sp>
      </p:grpSp>
      <p:grpSp>
        <p:nvGrpSpPr>
          <p:cNvPr name="Group 26" id="26"/>
          <p:cNvGrpSpPr/>
          <p:nvPr/>
        </p:nvGrpSpPr>
        <p:grpSpPr>
          <a:xfrm rot="0">
            <a:off x="562432" y="3765118"/>
            <a:ext cx="2219096" cy="1376934"/>
            <a:chOff x="0" y="0"/>
            <a:chExt cx="2958795" cy="1835912"/>
          </a:xfrm>
        </p:grpSpPr>
        <p:sp>
          <p:nvSpPr>
            <p:cNvPr name="Freeform 27" id="27"/>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28" id="28"/>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29" id="29"/>
          <p:cNvGrpSpPr/>
          <p:nvPr/>
        </p:nvGrpSpPr>
        <p:grpSpPr>
          <a:xfrm rot="0">
            <a:off x="814730" y="4017416"/>
            <a:ext cx="1829714" cy="293380"/>
            <a:chOff x="0" y="0"/>
            <a:chExt cx="2439619" cy="391173"/>
          </a:xfrm>
        </p:grpSpPr>
        <p:sp>
          <p:nvSpPr>
            <p:cNvPr name="Freeform 30" id="30"/>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31" id="31"/>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Physique</a:t>
              </a:r>
            </a:p>
          </p:txBody>
        </p:sp>
      </p:grpSp>
      <p:grpSp>
        <p:nvGrpSpPr>
          <p:cNvPr name="Group 32" id="32"/>
          <p:cNvGrpSpPr/>
          <p:nvPr/>
        </p:nvGrpSpPr>
        <p:grpSpPr>
          <a:xfrm rot="0">
            <a:off x="814730" y="4331513"/>
            <a:ext cx="1800911" cy="625907"/>
            <a:chOff x="0" y="0"/>
            <a:chExt cx="2401214" cy="834542"/>
          </a:xfrm>
        </p:grpSpPr>
        <p:sp>
          <p:nvSpPr>
            <p:cNvPr name="Freeform 33" id="33"/>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34" id="34"/>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Mobilité, fascias, libération des tensions somatiques.</a:t>
              </a:r>
            </a:p>
          </p:txBody>
        </p:sp>
      </p:grpSp>
      <p:grpSp>
        <p:nvGrpSpPr>
          <p:cNvPr name="Group 35" id="35"/>
          <p:cNvGrpSpPr/>
          <p:nvPr/>
        </p:nvGrpSpPr>
        <p:grpSpPr>
          <a:xfrm rot="0">
            <a:off x="2927071" y="3765118"/>
            <a:ext cx="2219096" cy="1376934"/>
            <a:chOff x="0" y="0"/>
            <a:chExt cx="2958795" cy="1835912"/>
          </a:xfrm>
        </p:grpSpPr>
        <p:sp>
          <p:nvSpPr>
            <p:cNvPr name="Freeform 36" id="36"/>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37" id="37"/>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38" id="38"/>
          <p:cNvGrpSpPr/>
          <p:nvPr/>
        </p:nvGrpSpPr>
        <p:grpSpPr>
          <a:xfrm rot="0">
            <a:off x="3179369" y="4017416"/>
            <a:ext cx="1829714" cy="293380"/>
            <a:chOff x="0" y="0"/>
            <a:chExt cx="2439619" cy="391173"/>
          </a:xfrm>
        </p:grpSpPr>
        <p:sp>
          <p:nvSpPr>
            <p:cNvPr name="Freeform 39" id="39"/>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0" id="40"/>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Nerveux</a:t>
              </a:r>
            </a:p>
          </p:txBody>
        </p:sp>
      </p:grpSp>
      <p:grpSp>
        <p:nvGrpSpPr>
          <p:cNvPr name="Group 41" id="41"/>
          <p:cNvGrpSpPr/>
          <p:nvPr/>
        </p:nvGrpSpPr>
        <p:grpSpPr>
          <a:xfrm rot="0">
            <a:off x="3179369" y="4331513"/>
            <a:ext cx="1800911" cy="625907"/>
            <a:chOff x="0" y="0"/>
            <a:chExt cx="2401214" cy="834542"/>
          </a:xfrm>
        </p:grpSpPr>
        <p:sp>
          <p:nvSpPr>
            <p:cNvPr name="Freeform 42" id="42"/>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43" id="43"/>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Reset vagal &amp; activation du système parasympathique.</a:t>
              </a:r>
            </a:p>
          </p:txBody>
        </p:sp>
      </p:grpSp>
      <p:grpSp>
        <p:nvGrpSpPr>
          <p:cNvPr name="Group 44" id="44"/>
          <p:cNvGrpSpPr/>
          <p:nvPr/>
        </p:nvGrpSpPr>
        <p:grpSpPr>
          <a:xfrm rot="0">
            <a:off x="562432" y="5294452"/>
            <a:ext cx="2219096" cy="1376934"/>
            <a:chOff x="0" y="0"/>
            <a:chExt cx="2958795" cy="1835912"/>
          </a:xfrm>
        </p:grpSpPr>
        <p:sp>
          <p:nvSpPr>
            <p:cNvPr name="Freeform 45" id="45"/>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46" id="46"/>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47" id="47"/>
          <p:cNvGrpSpPr/>
          <p:nvPr/>
        </p:nvGrpSpPr>
        <p:grpSpPr>
          <a:xfrm rot="0">
            <a:off x="814730" y="5546750"/>
            <a:ext cx="1829714" cy="293380"/>
            <a:chOff x="0" y="0"/>
            <a:chExt cx="2439619" cy="391173"/>
          </a:xfrm>
        </p:grpSpPr>
        <p:sp>
          <p:nvSpPr>
            <p:cNvPr name="Freeform 48" id="48"/>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9" id="49"/>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Communauté</a:t>
              </a:r>
            </a:p>
          </p:txBody>
        </p:sp>
      </p:grpSp>
      <p:grpSp>
        <p:nvGrpSpPr>
          <p:cNvPr name="Group 50" id="50"/>
          <p:cNvGrpSpPr/>
          <p:nvPr/>
        </p:nvGrpSpPr>
        <p:grpSpPr>
          <a:xfrm rot="0">
            <a:off x="814730" y="5860847"/>
            <a:ext cx="1800911" cy="625907"/>
            <a:chOff x="0" y="0"/>
            <a:chExt cx="2401214" cy="834542"/>
          </a:xfrm>
        </p:grpSpPr>
        <p:sp>
          <p:nvSpPr>
            <p:cNvPr name="Freeform 51" id="51"/>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52" id="52"/>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Lien social, sécurité émotionnelle et appartenance.</a:t>
              </a:r>
            </a:p>
          </p:txBody>
        </p:sp>
      </p:grpSp>
      <p:grpSp>
        <p:nvGrpSpPr>
          <p:cNvPr name="Group 53" id="53"/>
          <p:cNvGrpSpPr/>
          <p:nvPr/>
        </p:nvGrpSpPr>
        <p:grpSpPr>
          <a:xfrm rot="0">
            <a:off x="2927071" y="5294452"/>
            <a:ext cx="2219096" cy="1376934"/>
            <a:chOff x="0" y="0"/>
            <a:chExt cx="2958795" cy="1835912"/>
          </a:xfrm>
        </p:grpSpPr>
        <p:sp>
          <p:nvSpPr>
            <p:cNvPr name="Freeform 54" id="54"/>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55" id="55"/>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56" id="56"/>
          <p:cNvGrpSpPr/>
          <p:nvPr/>
        </p:nvGrpSpPr>
        <p:grpSpPr>
          <a:xfrm rot="0">
            <a:off x="3179369" y="5546750"/>
            <a:ext cx="1829714" cy="293380"/>
            <a:chOff x="0" y="0"/>
            <a:chExt cx="2439619" cy="391173"/>
          </a:xfrm>
        </p:grpSpPr>
        <p:sp>
          <p:nvSpPr>
            <p:cNvPr name="Freeform 57" id="57"/>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58" id="58"/>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Tech</a:t>
              </a:r>
            </a:p>
          </p:txBody>
        </p:sp>
      </p:grpSp>
      <p:grpSp>
        <p:nvGrpSpPr>
          <p:cNvPr name="Group 59" id="59"/>
          <p:cNvGrpSpPr/>
          <p:nvPr/>
        </p:nvGrpSpPr>
        <p:grpSpPr>
          <a:xfrm rot="0">
            <a:off x="3179369" y="5860847"/>
            <a:ext cx="1800911" cy="625907"/>
            <a:chOff x="0" y="0"/>
            <a:chExt cx="2401214" cy="834542"/>
          </a:xfrm>
        </p:grpSpPr>
        <p:sp>
          <p:nvSpPr>
            <p:cNvPr name="Freeform 60" id="60"/>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61" id="61"/>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CEMP (Champs Électromagnétiques Pulsés).</a:t>
              </a:r>
            </a:p>
          </p:txBody>
        </p:sp>
      </p:grpSp>
      <p:grpSp>
        <p:nvGrpSpPr>
          <p:cNvPr name="Group 62" id="62"/>
          <p:cNvGrpSpPr/>
          <p:nvPr/>
        </p:nvGrpSpPr>
        <p:grpSpPr>
          <a:xfrm rot="0">
            <a:off x="562432" y="7848371"/>
            <a:ext cx="4576877" cy="1876196"/>
            <a:chOff x="0" y="0"/>
            <a:chExt cx="6102502" cy="2501595"/>
          </a:xfrm>
        </p:grpSpPr>
        <p:sp>
          <p:nvSpPr>
            <p:cNvPr name="Freeform 63" id="63"/>
            <p:cNvSpPr/>
            <p:nvPr/>
          </p:nvSpPr>
          <p:spPr>
            <a:xfrm flipH="false" flipV="false" rot="0">
              <a:off x="12700" y="12700"/>
              <a:ext cx="6077077" cy="2476246"/>
            </a:xfrm>
            <a:custGeom>
              <a:avLst/>
              <a:gdLst/>
              <a:ahLst/>
              <a:cxnLst/>
              <a:rect r="r" b="b" t="t" l="l"/>
              <a:pathLst>
                <a:path h="2476246" w="6077077">
                  <a:moveTo>
                    <a:pt x="0" y="0"/>
                  </a:moveTo>
                  <a:lnTo>
                    <a:pt x="6077077" y="0"/>
                  </a:lnTo>
                  <a:lnTo>
                    <a:pt x="6077077" y="2476246"/>
                  </a:lnTo>
                  <a:lnTo>
                    <a:pt x="0" y="2476246"/>
                  </a:lnTo>
                  <a:close/>
                </a:path>
              </a:pathLst>
            </a:custGeom>
            <a:solidFill>
              <a:srgbClr val="40424D">
                <a:alpha val="784"/>
              </a:srgbClr>
            </a:solidFill>
          </p:spPr>
          <p:txBody>
            <a:bodyPr/>
            <a:p/>
          </p:txBody>
        </p:sp>
        <p:sp>
          <p:nvSpPr>
            <p:cNvPr name="Freeform 64" id="64"/>
            <p:cNvSpPr/>
            <p:nvPr/>
          </p:nvSpPr>
          <p:spPr>
            <a:xfrm flipH="false" flipV="false" rot="0">
              <a:off x="0" y="0"/>
              <a:ext cx="6102477" cy="2501646"/>
            </a:xfrm>
            <a:custGeom>
              <a:avLst/>
              <a:gdLst/>
              <a:ahLst/>
              <a:cxnLst/>
              <a:rect r="r" b="b" t="t" l="l"/>
              <a:pathLst>
                <a:path h="2501646" w="6102477">
                  <a:moveTo>
                    <a:pt x="12700" y="0"/>
                  </a:moveTo>
                  <a:lnTo>
                    <a:pt x="6089777" y="0"/>
                  </a:lnTo>
                  <a:cubicBezTo>
                    <a:pt x="6096762" y="0"/>
                    <a:pt x="6102477" y="5715"/>
                    <a:pt x="6102477" y="12700"/>
                  </a:cubicBezTo>
                  <a:lnTo>
                    <a:pt x="6102477" y="2488946"/>
                  </a:lnTo>
                  <a:cubicBezTo>
                    <a:pt x="6102477" y="2495931"/>
                    <a:pt x="6096762" y="2501646"/>
                    <a:pt x="6089777" y="2501646"/>
                  </a:cubicBezTo>
                  <a:lnTo>
                    <a:pt x="12700" y="2501646"/>
                  </a:lnTo>
                  <a:cubicBezTo>
                    <a:pt x="5715" y="2501646"/>
                    <a:pt x="0" y="2495931"/>
                    <a:pt x="0" y="2488946"/>
                  </a:cubicBezTo>
                  <a:lnTo>
                    <a:pt x="0" y="12700"/>
                  </a:lnTo>
                  <a:cubicBezTo>
                    <a:pt x="0" y="5715"/>
                    <a:pt x="5715" y="0"/>
                    <a:pt x="12700" y="0"/>
                  </a:cubicBezTo>
                  <a:moveTo>
                    <a:pt x="12700" y="25400"/>
                  </a:moveTo>
                  <a:lnTo>
                    <a:pt x="12700" y="12700"/>
                  </a:lnTo>
                  <a:lnTo>
                    <a:pt x="25400" y="12700"/>
                  </a:lnTo>
                  <a:lnTo>
                    <a:pt x="25400" y="2488946"/>
                  </a:lnTo>
                  <a:lnTo>
                    <a:pt x="12700" y="2488946"/>
                  </a:lnTo>
                  <a:lnTo>
                    <a:pt x="12700" y="2476246"/>
                  </a:lnTo>
                  <a:lnTo>
                    <a:pt x="6089777" y="2476246"/>
                  </a:lnTo>
                  <a:lnTo>
                    <a:pt x="6089777" y="2488946"/>
                  </a:lnTo>
                  <a:lnTo>
                    <a:pt x="6077077" y="2488946"/>
                  </a:lnTo>
                  <a:lnTo>
                    <a:pt x="6077077" y="12700"/>
                  </a:lnTo>
                  <a:lnTo>
                    <a:pt x="6089777" y="12700"/>
                  </a:lnTo>
                  <a:lnTo>
                    <a:pt x="6089777" y="25400"/>
                  </a:lnTo>
                  <a:lnTo>
                    <a:pt x="12700" y="25400"/>
                  </a:lnTo>
                  <a:close/>
                </a:path>
              </a:pathLst>
            </a:custGeom>
            <a:solidFill>
              <a:srgbClr val="40424D"/>
            </a:solidFill>
          </p:spPr>
          <p:txBody>
            <a:bodyPr/>
            <a:p/>
          </p:txBody>
        </p:sp>
      </p:grpSp>
      <p:grpSp>
        <p:nvGrpSpPr>
          <p:cNvPr name="Group 65" id="65"/>
          <p:cNvGrpSpPr/>
          <p:nvPr/>
        </p:nvGrpSpPr>
        <p:grpSpPr>
          <a:xfrm rot="0">
            <a:off x="562432" y="7848371"/>
            <a:ext cx="61570" cy="1876196"/>
            <a:chOff x="0" y="0"/>
            <a:chExt cx="82093" cy="2501595"/>
          </a:xfrm>
        </p:grpSpPr>
        <p:sp>
          <p:nvSpPr>
            <p:cNvPr name="Freeform 66" id="66"/>
            <p:cNvSpPr/>
            <p:nvPr/>
          </p:nvSpPr>
          <p:spPr>
            <a:xfrm flipH="false" flipV="false" rot="0">
              <a:off x="12700" y="12700"/>
              <a:ext cx="56642" cy="2476246"/>
            </a:xfrm>
            <a:custGeom>
              <a:avLst/>
              <a:gdLst/>
              <a:ahLst/>
              <a:cxnLst/>
              <a:rect r="r" b="b" t="t" l="l"/>
              <a:pathLst>
                <a:path h="2476246" w="56642">
                  <a:moveTo>
                    <a:pt x="0" y="0"/>
                  </a:moveTo>
                  <a:lnTo>
                    <a:pt x="56642" y="0"/>
                  </a:lnTo>
                  <a:lnTo>
                    <a:pt x="56642" y="2476246"/>
                  </a:lnTo>
                  <a:lnTo>
                    <a:pt x="0" y="2476246"/>
                  </a:lnTo>
                  <a:close/>
                </a:path>
              </a:pathLst>
            </a:custGeom>
            <a:solidFill>
              <a:srgbClr val="FFFFFF"/>
            </a:solidFill>
          </p:spPr>
          <p:txBody>
            <a:bodyPr/>
            <a:p/>
          </p:txBody>
        </p:sp>
      </p:grpSp>
      <p:grpSp>
        <p:nvGrpSpPr>
          <p:cNvPr name="Group 67" id="67"/>
          <p:cNvGrpSpPr/>
          <p:nvPr/>
        </p:nvGrpSpPr>
        <p:grpSpPr>
          <a:xfrm rot="0">
            <a:off x="899770" y="8158277"/>
            <a:ext cx="171450" cy="229057"/>
            <a:chOff x="0" y="0"/>
            <a:chExt cx="228600" cy="305410"/>
          </a:xfrm>
        </p:grpSpPr>
        <p:sp>
          <p:nvSpPr>
            <p:cNvPr name="Freeform 68" id="68" descr="preencoded.png"/>
            <p:cNvSpPr/>
            <p:nvPr/>
          </p:nvSpPr>
          <p:spPr>
            <a:xfrm flipH="false" flipV="false" rot="0">
              <a:off x="0" y="0"/>
              <a:ext cx="228600" cy="305435"/>
            </a:xfrm>
            <a:custGeom>
              <a:avLst/>
              <a:gdLst/>
              <a:ahLst/>
              <a:cxnLst/>
              <a:rect r="r" b="b" t="t" l="l"/>
              <a:pathLst>
                <a:path h="305435" w="228600">
                  <a:moveTo>
                    <a:pt x="0" y="0"/>
                  </a:moveTo>
                  <a:lnTo>
                    <a:pt x="228600" y="0"/>
                  </a:lnTo>
                  <a:lnTo>
                    <a:pt x="228600" y="305435"/>
                  </a:lnTo>
                  <a:lnTo>
                    <a:pt x="0" y="305435"/>
                  </a:lnTo>
                  <a:lnTo>
                    <a:pt x="0" y="0"/>
                  </a:lnTo>
                  <a:close/>
                </a:path>
              </a:pathLst>
            </a:custGeom>
            <a:blipFill>
              <a:blip r:embed="rId4"/>
              <a:stretch>
                <a:fillRect l="0" t="12573" r="0" b="12582"/>
              </a:stretch>
            </a:blipFill>
          </p:spPr>
          <p:txBody>
            <a:bodyPr/>
            <a:p/>
          </p:txBody>
        </p:sp>
      </p:grpSp>
      <p:grpSp>
        <p:nvGrpSpPr>
          <p:cNvPr name="Group 69" id="69"/>
          <p:cNvGrpSpPr/>
          <p:nvPr/>
        </p:nvGrpSpPr>
        <p:grpSpPr>
          <a:xfrm rot="0">
            <a:off x="1186434" y="8158277"/>
            <a:ext cx="1984705" cy="293380"/>
            <a:chOff x="0" y="0"/>
            <a:chExt cx="2646274" cy="391173"/>
          </a:xfrm>
        </p:grpSpPr>
        <p:sp>
          <p:nvSpPr>
            <p:cNvPr name="Freeform 70" id="70"/>
            <p:cNvSpPr/>
            <p:nvPr/>
          </p:nvSpPr>
          <p:spPr>
            <a:xfrm flipH="false" flipV="false" rot="0">
              <a:off x="0" y="0"/>
              <a:ext cx="2646274" cy="391173"/>
            </a:xfrm>
            <a:custGeom>
              <a:avLst/>
              <a:gdLst/>
              <a:ahLst/>
              <a:cxnLst/>
              <a:rect r="r" b="b" t="t" l="l"/>
              <a:pathLst>
                <a:path h="391173" w="2646274">
                  <a:moveTo>
                    <a:pt x="0" y="0"/>
                  </a:moveTo>
                  <a:lnTo>
                    <a:pt x="2646274" y="0"/>
                  </a:lnTo>
                  <a:lnTo>
                    <a:pt x="2646274" y="391173"/>
                  </a:lnTo>
                  <a:lnTo>
                    <a:pt x="0" y="391173"/>
                  </a:lnTo>
                  <a:close/>
                </a:path>
              </a:pathLst>
            </a:custGeom>
            <a:blipFill>
              <a:blip r:embed="rId3">
                <a:alphaModFix amt="0"/>
              </a:blip>
              <a:stretch>
                <a:fillRect l="0" t="-92778" r="0" b="-70853"/>
              </a:stretch>
            </a:blipFill>
          </p:spPr>
          <p:txBody>
            <a:bodyPr/>
            <a:p/>
          </p:txBody>
        </p:sp>
        <p:sp>
          <p:nvSpPr>
            <p:cNvPr name="TextBox 71" id="71"/>
            <p:cNvSpPr txBox="true"/>
            <p:nvPr/>
          </p:nvSpPr>
          <p:spPr>
            <a:xfrm>
              <a:off x="0" y="0"/>
              <a:ext cx="2646274"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Le Pouvoir du Sens</a:t>
              </a:r>
            </a:p>
          </p:txBody>
        </p:sp>
      </p:grpSp>
      <p:grpSp>
        <p:nvGrpSpPr>
          <p:cNvPr name="Group 72" id="72"/>
          <p:cNvGrpSpPr/>
          <p:nvPr/>
        </p:nvGrpSpPr>
        <p:grpSpPr>
          <a:xfrm rot="0">
            <a:off x="899770" y="8501177"/>
            <a:ext cx="4087368" cy="293380"/>
            <a:chOff x="0" y="0"/>
            <a:chExt cx="5449824" cy="391173"/>
          </a:xfrm>
        </p:grpSpPr>
        <p:sp>
          <p:nvSpPr>
            <p:cNvPr name="Freeform 73" id="73"/>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74" id="74"/>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Réduction du cortisol systémique</a:t>
              </a:r>
            </a:p>
          </p:txBody>
        </p:sp>
      </p:grpSp>
      <p:grpSp>
        <p:nvGrpSpPr>
          <p:cNvPr name="Group 75" id="75"/>
          <p:cNvGrpSpPr/>
          <p:nvPr/>
        </p:nvGrpSpPr>
        <p:grpSpPr>
          <a:xfrm rot="0">
            <a:off x="899770" y="8844077"/>
            <a:ext cx="4272534" cy="293380"/>
            <a:chOff x="0" y="0"/>
            <a:chExt cx="5696712" cy="391173"/>
          </a:xfrm>
        </p:grpSpPr>
        <p:sp>
          <p:nvSpPr>
            <p:cNvPr name="Freeform 76" id="76"/>
            <p:cNvSpPr/>
            <p:nvPr/>
          </p:nvSpPr>
          <p:spPr>
            <a:xfrm flipH="false" flipV="false" rot="0">
              <a:off x="0" y="0"/>
              <a:ext cx="5696712" cy="391173"/>
            </a:xfrm>
            <a:custGeom>
              <a:avLst/>
              <a:gdLst/>
              <a:ahLst/>
              <a:cxnLst/>
              <a:rect r="r" b="b" t="t" l="l"/>
              <a:pathLst>
                <a:path h="391173" w="5696712">
                  <a:moveTo>
                    <a:pt x="0" y="0"/>
                  </a:moveTo>
                  <a:lnTo>
                    <a:pt x="5696712" y="0"/>
                  </a:lnTo>
                  <a:lnTo>
                    <a:pt x="5696712" y="391173"/>
                  </a:lnTo>
                  <a:lnTo>
                    <a:pt x="0" y="391173"/>
                  </a:lnTo>
                  <a:close/>
                </a:path>
              </a:pathLst>
            </a:custGeom>
            <a:blipFill>
              <a:blip r:embed="rId3">
                <a:alphaModFix amt="0"/>
              </a:blip>
              <a:stretch>
                <a:fillRect l="0" t="-244725" r="0" b="-222801"/>
              </a:stretch>
            </a:blipFill>
          </p:spPr>
          <p:txBody>
            <a:bodyPr/>
            <a:p/>
          </p:txBody>
        </p:sp>
        <p:sp>
          <p:nvSpPr>
            <p:cNvPr name="TextBox 77" id="77"/>
            <p:cNvSpPr txBox="true"/>
            <p:nvPr/>
          </p:nvSpPr>
          <p:spPr>
            <a:xfrm>
              <a:off x="0" y="0"/>
              <a:ext cx="5696712"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Amélioration de la cohérence cardiaque</a:t>
              </a:r>
            </a:p>
          </p:txBody>
        </p:sp>
      </p:grpSp>
      <p:grpSp>
        <p:nvGrpSpPr>
          <p:cNvPr name="Group 78" id="78"/>
          <p:cNvGrpSpPr/>
          <p:nvPr/>
        </p:nvGrpSpPr>
        <p:grpSpPr>
          <a:xfrm rot="0">
            <a:off x="899770" y="9186977"/>
            <a:ext cx="4087368" cy="293380"/>
            <a:chOff x="0" y="0"/>
            <a:chExt cx="5449824" cy="391173"/>
          </a:xfrm>
        </p:grpSpPr>
        <p:sp>
          <p:nvSpPr>
            <p:cNvPr name="Freeform 79" id="79"/>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80" id="80"/>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Sensation de sécurité profonde</a:t>
              </a:r>
            </a:p>
          </p:txBody>
        </p:sp>
      </p:grpSp>
      <p:grpSp>
        <p:nvGrpSpPr>
          <p:cNvPr name="Group 81" id="81"/>
          <p:cNvGrpSpPr/>
          <p:nvPr/>
        </p:nvGrpSpPr>
        <p:grpSpPr>
          <a:xfrm rot="0">
            <a:off x="6572707" y="678942"/>
            <a:ext cx="456743" cy="13716"/>
            <a:chOff x="0" y="0"/>
            <a:chExt cx="608990" cy="18288"/>
          </a:xfrm>
        </p:grpSpPr>
        <p:sp>
          <p:nvSpPr>
            <p:cNvPr name="Freeform 82" id="82"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83" id="83"/>
          <p:cNvGrpSpPr/>
          <p:nvPr/>
        </p:nvGrpSpPr>
        <p:grpSpPr>
          <a:xfrm rot="0">
            <a:off x="7200900" y="571957"/>
            <a:ext cx="2739085" cy="293380"/>
            <a:chOff x="0" y="0"/>
            <a:chExt cx="3652114" cy="391173"/>
          </a:xfrm>
        </p:grpSpPr>
        <p:sp>
          <p:nvSpPr>
            <p:cNvPr name="Freeform 84" id="84"/>
            <p:cNvSpPr/>
            <p:nvPr/>
          </p:nvSpPr>
          <p:spPr>
            <a:xfrm flipH="false" flipV="false" rot="0">
              <a:off x="0" y="0"/>
              <a:ext cx="3652114" cy="391173"/>
            </a:xfrm>
            <a:custGeom>
              <a:avLst/>
              <a:gdLst/>
              <a:ahLst/>
              <a:cxnLst/>
              <a:rect r="r" b="b" t="t" l="l"/>
              <a:pathLst>
                <a:path h="391173" w="3652114">
                  <a:moveTo>
                    <a:pt x="0" y="0"/>
                  </a:moveTo>
                  <a:lnTo>
                    <a:pt x="3652114" y="0"/>
                  </a:lnTo>
                  <a:lnTo>
                    <a:pt x="3652114" y="391173"/>
                  </a:lnTo>
                  <a:lnTo>
                    <a:pt x="0" y="391173"/>
                  </a:lnTo>
                  <a:close/>
                </a:path>
              </a:pathLst>
            </a:custGeom>
            <a:blipFill>
              <a:blip r:embed="rId3">
                <a:alphaModFix amt="0"/>
              </a:blip>
              <a:stretch>
                <a:fillRect l="0" t="-142880" r="0" b="-120956"/>
              </a:stretch>
            </a:blipFill>
          </p:spPr>
          <p:txBody>
            <a:bodyPr/>
            <a:p/>
          </p:txBody>
        </p:sp>
        <p:sp>
          <p:nvSpPr>
            <p:cNvPr name="TextBox 85" id="85"/>
            <p:cNvSpPr txBox="true"/>
            <p:nvPr/>
          </p:nvSpPr>
          <p:spPr>
            <a:xfrm>
              <a:off x="0" y="0"/>
              <a:ext cx="3652114"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Science &amp; Pratiques</a:t>
              </a:r>
            </a:p>
          </p:txBody>
        </p:sp>
      </p:grpSp>
      <p:grpSp>
        <p:nvGrpSpPr>
          <p:cNvPr name="Group 86" id="86"/>
          <p:cNvGrpSpPr/>
          <p:nvPr/>
        </p:nvGrpSpPr>
        <p:grpSpPr>
          <a:xfrm rot="0">
            <a:off x="16590874" y="571957"/>
            <a:ext cx="957377" cy="332327"/>
            <a:chOff x="0" y="0"/>
            <a:chExt cx="1276502" cy="443103"/>
          </a:xfrm>
        </p:grpSpPr>
        <p:sp>
          <p:nvSpPr>
            <p:cNvPr name="Freeform 87" id="87"/>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3">
                <a:alphaModFix amt="0"/>
              </a:blip>
              <a:stretch>
                <a:fillRect l="0" t="-13003" r="0" b="737"/>
              </a:stretch>
            </a:blipFill>
          </p:spPr>
          <p:txBody>
            <a:bodyPr/>
            <a:p/>
          </p:txBody>
        </p:sp>
        <p:sp>
          <p:nvSpPr>
            <p:cNvPr name="TextBox 88" id="88"/>
            <p:cNvSpPr txBox="true"/>
            <p:nvPr/>
          </p:nvSpPr>
          <p:spPr>
            <a:xfrm>
              <a:off x="0" y="-9525"/>
              <a:ext cx="1276502" cy="452628"/>
            </a:xfrm>
            <a:prstGeom prst="rect">
              <a:avLst/>
            </a:prstGeom>
          </p:spPr>
          <p:txBody>
            <a:bodyPr anchor="ctr" rtlCol="false" tIns="0" lIns="0" bIns="0" rIns="0"/>
            <a:lstStyle/>
            <a:p>
              <a:pPr algn="l">
                <a:lnSpc>
                  <a:spcPts val="1800"/>
                </a:lnSpc>
              </a:pPr>
              <a:r>
                <a:rPr lang="en-US" sz="1500">
                  <a:solidFill>
                    <a:srgbClr val="6B7280"/>
                  </a:solidFill>
                  <a:latin typeface="Manrope"/>
                  <a:ea typeface="Manrope"/>
                  <a:cs typeface="Manrope"/>
                  <a:sym typeface="Manrope"/>
                </a:rPr>
                <a:t>15 / 20</a:t>
              </a:r>
            </a:p>
          </p:txBody>
        </p:sp>
      </p:grpSp>
      <p:grpSp>
        <p:nvGrpSpPr>
          <p:cNvPr name="Group 89" id="89"/>
          <p:cNvGrpSpPr/>
          <p:nvPr/>
        </p:nvGrpSpPr>
        <p:grpSpPr>
          <a:xfrm rot="0">
            <a:off x="6563182" y="4033952"/>
            <a:ext cx="10878007" cy="32766"/>
            <a:chOff x="0" y="0"/>
            <a:chExt cx="14504010" cy="43688"/>
          </a:xfrm>
        </p:grpSpPr>
        <p:sp>
          <p:nvSpPr>
            <p:cNvPr name="Freeform 90" id="90"/>
            <p:cNvSpPr/>
            <p:nvPr/>
          </p:nvSpPr>
          <p:spPr>
            <a:xfrm flipH="false" flipV="false" rot="0">
              <a:off x="12700" y="12700"/>
              <a:ext cx="14478636" cy="18288"/>
            </a:xfrm>
            <a:custGeom>
              <a:avLst/>
              <a:gdLst/>
              <a:ahLst/>
              <a:cxnLst/>
              <a:rect r="r" b="b" t="t" l="l"/>
              <a:pathLst>
                <a:path h="18288" w="14478636">
                  <a:moveTo>
                    <a:pt x="0" y="0"/>
                  </a:moveTo>
                  <a:lnTo>
                    <a:pt x="14478636" y="0"/>
                  </a:lnTo>
                  <a:lnTo>
                    <a:pt x="14478636" y="18288"/>
                  </a:lnTo>
                  <a:lnTo>
                    <a:pt x="0" y="18288"/>
                  </a:lnTo>
                  <a:close/>
                </a:path>
              </a:pathLst>
            </a:custGeom>
            <a:solidFill>
              <a:srgbClr val="40424D"/>
            </a:solidFill>
          </p:spPr>
          <p:txBody>
            <a:bodyPr/>
            <a:p/>
          </p:txBody>
        </p:sp>
      </p:grpSp>
      <p:grpSp>
        <p:nvGrpSpPr>
          <p:cNvPr name="Group 91" id="91"/>
          <p:cNvGrpSpPr/>
          <p:nvPr/>
        </p:nvGrpSpPr>
        <p:grpSpPr>
          <a:xfrm rot="0">
            <a:off x="6563182" y="1190625"/>
            <a:ext cx="876300" cy="876300"/>
            <a:chOff x="0" y="0"/>
            <a:chExt cx="1168400" cy="1168400"/>
          </a:xfrm>
        </p:grpSpPr>
        <p:sp>
          <p:nvSpPr>
            <p:cNvPr name="Freeform 92" id="92"/>
            <p:cNvSpPr/>
            <p:nvPr/>
          </p:nvSpPr>
          <p:spPr>
            <a:xfrm flipH="false" flipV="false" rot="0">
              <a:off x="12700" y="12700"/>
              <a:ext cx="1143000" cy="1143000"/>
            </a:xfrm>
            <a:custGeom>
              <a:avLst/>
              <a:gdLst/>
              <a:ahLst/>
              <a:cxnLst/>
              <a:rect r="r" b="b" t="t" l="l"/>
              <a:pathLst>
                <a:path h="1143000" w="1143000">
                  <a:moveTo>
                    <a:pt x="0" y="0"/>
                  </a:moveTo>
                  <a:lnTo>
                    <a:pt x="1143000" y="0"/>
                  </a:lnTo>
                  <a:lnTo>
                    <a:pt x="1143000" y="1143000"/>
                  </a:lnTo>
                  <a:lnTo>
                    <a:pt x="0" y="1143000"/>
                  </a:lnTo>
                  <a:close/>
                </a:path>
              </a:pathLst>
            </a:custGeom>
            <a:solidFill>
              <a:srgbClr val="FFFFFF"/>
            </a:solidFill>
          </p:spPr>
          <p:txBody>
            <a:bodyPr/>
            <a:p/>
          </p:txBody>
        </p:sp>
      </p:grpSp>
      <p:grpSp>
        <p:nvGrpSpPr>
          <p:cNvPr name="Group 93" id="93"/>
          <p:cNvGrpSpPr/>
          <p:nvPr/>
        </p:nvGrpSpPr>
        <p:grpSpPr>
          <a:xfrm rot="0">
            <a:off x="6808622" y="1458011"/>
            <a:ext cx="385420" cy="342900"/>
            <a:chOff x="0" y="0"/>
            <a:chExt cx="513893" cy="457200"/>
          </a:xfrm>
        </p:grpSpPr>
        <p:sp>
          <p:nvSpPr>
            <p:cNvPr name="Freeform 94" id="94" descr="preencoded.png"/>
            <p:cNvSpPr/>
            <p:nvPr/>
          </p:nvSpPr>
          <p:spPr>
            <a:xfrm flipH="false" flipV="false" rot="0">
              <a:off x="0" y="0"/>
              <a:ext cx="513842" cy="457200"/>
            </a:xfrm>
            <a:custGeom>
              <a:avLst/>
              <a:gdLst/>
              <a:ahLst/>
              <a:cxnLst/>
              <a:rect r="r" b="b" t="t" l="l"/>
              <a:pathLst>
                <a:path h="457200" w="513842">
                  <a:moveTo>
                    <a:pt x="0" y="0"/>
                  </a:moveTo>
                  <a:lnTo>
                    <a:pt x="513842" y="0"/>
                  </a:lnTo>
                  <a:lnTo>
                    <a:pt x="513842" y="457200"/>
                  </a:lnTo>
                  <a:lnTo>
                    <a:pt x="0" y="457200"/>
                  </a:lnTo>
                  <a:lnTo>
                    <a:pt x="0" y="0"/>
                  </a:lnTo>
                  <a:close/>
                </a:path>
              </a:pathLst>
            </a:custGeom>
            <a:blipFill>
              <a:blip r:embed="rId6"/>
              <a:stretch>
                <a:fillRect l="0" t="44" r="-9" b="-402"/>
              </a:stretch>
            </a:blipFill>
          </p:spPr>
          <p:txBody>
            <a:bodyPr/>
            <a:p/>
          </p:txBody>
        </p:sp>
      </p:grpSp>
      <p:grpSp>
        <p:nvGrpSpPr>
          <p:cNvPr name="Group 95" id="95"/>
          <p:cNvGrpSpPr/>
          <p:nvPr/>
        </p:nvGrpSpPr>
        <p:grpSpPr>
          <a:xfrm rot="0">
            <a:off x="7772857" y="1552575"/>
            <a:ext cx="9830257" cy="596284"/>
            <a:chOff x="0" y="0"/>
            <a:chExt cx="13107010" cy="795045"/>
          </a:xfrm>
        </p:grpSpPr>
        <p:sp>
          <p:nvSpPr>
            <p:cNvPr name="Freeform 96" id="96"/>
            <p:cNvSpPr/>
            <p:nvPr/>
          </p:nvSpPr>
          <p:spPr>
            <a:xfrm flipH="false" flipV="false" rot="0">
              <a:off x="0" y="0"/>
              <a:ext cx="13107011" cy="795046"/>
            </a:xfrm>
            <a:custGeom>
              <a:avLst/>
              <a:gdLst/>
              <a:ahLst/>
              <a:cxnLst/>
              <a:rect r="r" b="b" t="t" l="l"/>
              <a:pathLst>
                <a:path h="795046" w="13107011">
                  <a:moveTo>
                    <a:pt x="0" y="0"/>
                  </a:moveTo>
                  <a:lnTo>
                    <a:pt x="13107011" y="0"/>
                  </a:lnTo>
                  <a:lnTo>
                    <a:pt x="13107011" y="795046"/>
                  </a:lnTo>
                  <a:lnTo>
                    <a:pt x="0" y="795046"/>
                  </a:lnTo>
                  <a:close/>
                </a:path>
              </a:pathLst>
            </a:custGeom>
            <a:blipFill>
              <a:blip r:embed="rId3">
                <a:alphaModFix amt="0"/>
              </a:blip>
              <a:stretch>
                <a:fillRect l="0" t="-282813" r="0" b="-259641"/>
              </a:stretch>
            </a:blipFill>
          </p:spPr>
          <p:txBody>
            <a:bodyPr/>
            <a:p/>
          </p:txBody>
        </p:sp>
        <p:sp>
          <p:nvSpPr>
            <p:cNvPr name="TextBox 97" id="97"/>
            <p:cNvSpPr txBox="true"/>
            <p:nvPr/>
          </p:nvSpPr>
          <p:spPr>
            <a:xfrm>
              <a:off x="0" y="0"/>
              <a:ext cx="13107010"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L'Activation Parasympathique</a:t>
              </a:r>
            </a:p>
          </p:txBody>
        </p:sp>
      </p:grpSp>
      <p:grpSp>
        <p:nvGrpSpPr>
          <p:cNvPr name="Group 98" id="98"/>
          <p:cNvGrpSpPr/>
          <p:nvPr/>
        </p:nvGrpSpPr>
        <p:grpSpPr>
          <a:xfrm rot="0">
            <a:off x="7772857" y="2228850"/>
            <a:ext cx="9772650" cy="986181"/>
            <a:chOff x="0" y="0"/>
            <a:chExt cx="13030200" cy="1314908"/>
          </a:xfrm>
        </p:grpSpPr>
        <p:sp>
          <p:nvSpPr>
            <p:cNvPr name="Freeform 99" id="99"/>
            <p:cNvSpPr/>
            <p:nvPr/>
          </p:nvSpPr>
          <p:spPr>
            <a:xfrm flipH="false" flipV="false" rot="0">
              <a:off x="0" y="0"/>
              <a:ext cx="13030200" cy="1314909"/>
            </a:xfrm>
            <a:custGeom>
              <a:avLst/>
              <a:gdLst/>
              <a:ahLst/>
              <a:cxnLst/>
              <a:rect r="r" b="b" t="t" l="l"/>
              <a:pathLst>
                <a:path h="1314909" w="13030200">
                  <a:moveTo>
                    <a:pt x="0" y="0"/>
                  </a:moveTo>
                  <a:lnTo>
                    <a:pt x="13030200" y="0"/>
                  </a:lnTo>
                  <a:lnTo>
                    <a:pt x="13030200" y="1314909"/>
                  </a:lnTo>
                  <a:lnTo>
                    <a:pt x="0" y="1314909"/>
                  </a:lnTo>
                  <a:close/>
                </a:path>
              </a:pathLst>
            </a:custGeom>
            <a:blipFill>
              <a:blip r:embed="rId3">
                <a:alphaModFix amt="0"/>
              </a:blip>
              <a:stretch>
                <a:fillRect l="0" t="-143088" r="0" b="-143088"/>
              </a:stretch>
            </a:blipFill>
          </p:spPr>
          <p:txBody>
            <a:bodyPr/>
            <a:p/>
          </p:txBody>
        </p:sp>
        <p:sp>
          <p:nvSpPr>
            <p:cNvPr name="TextBox 100" id="100"/>
            <p:cNvSpPr txBox="true"/>
            <p:nvPr/>
          </p:nvSpPr>
          <p:spPr>
            <a:xfrm>
              <a:off x="0" y="-9525"/>
              <a:ext cx="13030200" cy="1324433"/>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La véritable régénération ne peut se produire que lorsque le corps quitte le mode "survie" (sympathique) pour entrer en mode "repos et réparation" (parasympathique). C'est la condition sine qua non de la longévité cellulaire.</a:t>
              </a:r>
            </a:p>
          </p:txBody>
        </p:sp>
      </p:grpSp>
      <p:grpSp>
        <p:nvGrpSpPr>
          <p:cNvPr name="Group 101" id="101"/>
          <p:cNvGrpSpPr/>
          <p:nvPr/>
        </p:nvGrpSpPr>
        <p:grpSpPr>
          <a:xfrm rot="0">
            <a:off x="7763332" y="3308375"/>
            <a:ext cx="1219200" cy="405842"/>
            <a:chOff x="0" y="0"/>
            <a:chExt cx="1625600" cy="541122"/>
          </a:xfrm>
        </p:grpSpPr>
        <p:sp>
          <p:nvSpPr>
            <p:cNvPr name="Freeform 102" id="102"/>
            <p:cNvSpPr/>
            <p:nvPr/>
          </p:nvSpPr>
          <p:spPr>
            <a:xfrm flipH="false" flipV="false" rot="0">
              <a:off x="0" y="0"/>
              <a:ext cx="1625600" cy="541147"/>
            </a:xfrm>
            <a:custGeom>
              <a:avLst/>
              <a:gdLst/>
              <a:ahLst/>
              <a:cxnLst/>
              <a:rect r="r" b="b" t="t" l="l"/>
              <a:pathLst>
                <a:path h="541147" w="1625600">
                  <a:moveTo>
                    <a:pt x="12700" y="0"/>
                  </a:moveTo>
                  <a:lnTo>
                    <a:pt x="1612900" y="0"/>
                  </a:lnTo>
                  <a:cubicBezTo>
                    <a:pt x="1619885" y="0"/>
                    <a:pt x="1625600" y="5715"/>
                    <a:pt x="1625600" y="12700"/>
                  </a:cubicBezTo>
                  <a:lnTo>
                    <a:pt x="1625600" y="528447"/>
                  </a:lnTo>
                  <a:cubicBezTo>
                    <a:pt x="1625600" y="535432"/>
                    <a:pt x="1619885" y="541147"/>
                    <a:pt x="1612900"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612900" y="515747"/>
                  </a:lnTo>
                  <a:lnTo>
                    <a:pt x="1612900" y="528447"/>
                  </a:lnTo>
                  <a:lnTo>
                    <a:pt x="1600200" y="528447"/>
                  </a:lnTo>
                  <a:lnTo>
                    <a:pt x="1600200" y="12700"/>
                  </a:lnTo>
                  <a:lnTo>
                    <a:pt x="1612900" y="12700"/>
                  </a:lnTo>
                  <a:lnTo>
                    <a:pt x="1612900" y="25400"/>
                  </a:lnTo>
                  <a:lnTo>
                    <a:pt x="12700" y="25400"/>
                  </a:lnTo>
                  <a:close/>
                </a:path>
              </a:pathLst>
            </a:custGeom>
            <a:solidFill>
              <a:srgbClr val="40424D"/>
            </a:solidFill>
          </p:spPr>
          <p:txBody>
            <a:bodyPr/>
            <a:p/>
          </p:txBody>
        </p:sp>
        <p:sp>
          <p:nvSpPr>
            <p:cNvPr name="TextBox 103" id="103"/>
            <p:cNvSpPr txBox="true"/>
            <p:nvPr/>
          </p:nvSpPr>
          <p:spPr>
            <a:xfrm>
              <a:off x="0" y="0"/>
              <a:ext cx="1625600"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Reset Vagal</a:t>
              </a:r>
            </a:p>
          </p:txBody>
        </p:sp>
      </p:grpSp>
      <p:grpSp>
        <p:nvGrpSpPr>
          <p:cNvPr name="Group 104" id="104"/>
          <p:cNvGrpSpPr/>
          <p:nvPr/>
        </p:nvGrpSpPr>
        <p:grpSpPr>
          <a:xfrm rot="0">
            <a:off x="9100642" y="3308375"/>
            <a:ext cx="1334414" cy="405842"/>
            <a:chOff x="0" y="0"/>
            <a:chExt cx="1779219" cy="541122"/>
          </a:xfrm>
        </p:grpSpPr>
        <p:sp>
          <p:nvSpPr>
            <p:cNvPr name="Freeform 105" id="105"/>
            <p:cNvSpPr/>
            <p:nvPr/>
          </p:nvSpPr>
          <p:spPr>
            <a:xfrm flipH="false" flipV="false" rot="0">
              <a:off x="0" y="0"/>
              <a:ext cx="1779270" cy="541147"/>
            </a:xfrm>
            <a:custGeom>
              <a:avLst/>
              <a:gdLst/>
              <a:ahLst/>
              <a:cxnLst/>
              <a:rect r="r" b="b" t="t" l="l"/>
              <a:pathLst>
                <a:path h="541147" w="1779270">
                  <a:moveTo>
                    <a:pt x="12700" y="0"/>
                  </a:moveTo>
                  <a:lnTo>
                    <a:pt x="1766570" y="0"/>
                  </a:lnTo>
                  <a:cubicBezTo>
                    <a:pt x="1773555" y="0"/>
                    <a:pt x="1779270" y="5715"/>
                    <a:pt x="1779270" y="12700"/>
                  </a:cubicBezTo>
                  <a:lnTo>
                    <a:pt x="1779270" y="528447"/>
                  </a:lnTo>
                  <a:cubicBezTo>
                    <a:pt x="1779270" y="535432"/>
                    <a:pt x="1773555" y="541147"/>
                    <a:pt x="1766570"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766570" y="515747"/>
                  </a:lnTo>
                  <a:lnTo>
                    <a:pt x="1766570" y="528447"/>
                  </a:lnTo>
                  <a:lnTo>
                    <a:pt x="1753870" y="528447"/>
                  </a:lnTo>
                  <a:lnTo>
                    <a:pt x="1753870" y="12700"/>
                  </a:lnTo>
                  <a:lnTo>
                    <a:pt x="1766570" y="12700"/>
                  </a:lnTo>
                  <a:lnTo>
                    <a:pt x="1766570" y="25400"/>
                  </a:lnTo>
                  <a:lnTo>
                    <a:pt x="12700" y="25400"/>
                  </a:lnTo>
                  <a:close/>
                </a:path>
              </a:pathLst>
            </a:custGeom>
            <a:solidFill>
              <a:srgbClr val="40424D"/>
            </a:solidFill>
          </p:spPr>
          <p:txBody>
            <a:bodyPr/>
            <a:p/>
          </p:txBody>
        </p:sp>
        <p:sp>
          <p:nvSpPr>
            <p:cNvPr name="TextBox 106" id="106"/>
            <p:cNvSpPr txBox="true"/>
            <p:nvPr/>
          </p:nvSpPr>
          <p:spPr>
            <a:xfrm>
              <a:off x="0" y="0"/>
              <a:ext cx="1779219"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Homéostasie</a:t>
              </a:r>
            </a:p>
          </p:txBody>
        </p:sp>
      </p:grpSp>
      <p:grpSp>
        <p:nvGrpSpPr>
          <p:cNvPr name="Group 107" id="107"/>
          <p:cNvGrpSpPr/>
          <p:nvPr/>
        </p:nvGrpSpPr>
        <p:grpSpPr>
          <a:xfrm rot="0">
            <a:off x="10547680" y="3308375"/>
            <a:ext cx="991514" cy="405842"/>
            <a:chOff x="0" y="0"/>
            <a:chExt cx="1322019" cy="541122"/>
          </a:xfrm>
        </p:grpSpPr>
        <p:sp>
          <p:nvSpPr>
            <p:cNvPr name="Freeform 108" id="108"/>
            <p:cNvSpPr/>
            <p:nvPr/>
          </p:nvSpPr>
          <p:spPr>
            <a:xfrm flipH="false" flipV="false" rot="0">
              <a:off x="0" y="0"/>
              <a:ext cx="1322070" cy="541147"/>
            </a:xfrm>
            <a:custGeom>
              <a:avLst/>
              <a:gdLst/>
              <a:ahLst/>
              <a:cxnLst/>
              <a:rect r="r" b="b" t="t" l="l"/>
              <a:pathLst>
                <a:path h="541147" w="1322070">
                  <a:moveTo>
                    <a:pt x="12700" y="0"/>
                  </a:moveTo>
                  <a:lnTo>
                    <a:pt x="1309370" y="0"/>
                  </a:lnTo>
                  <a:cubicBezTo>
                    <a:pt x="1316355" y="0"/>
                    <a:pt x="1322070" y="5715"/>
                    <a:pt x="1322070" y="12700"/>
                  </a:cubicBezTo>
                  <a:lnTo>
                    <a:pt x="1322070" y="528447"/>
                  </a:lnTo>
                  <a:cubicBezTo>
                    <a:pt x="1322070" y="535432"/>
                    <a:pt x="1316355" y="541147"/>
                    <a:pt x="1309370"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309370" y="515747"/>
                  </a:lnTo>
                  <a:lnTo>
                    <a:pt x="1309370" y="528447"/>
                  </a:lnTo>
                  <a:lnTo>
                    <a:pt x="1296670" y="528447"/>
                  </a:lnTo>
                  <a:lnTo>
                    <a:pt x="1296670" y="12700"/>
                  </a:lnTo>
                  <a:lnTo>
                    <a:pt x="1309370" y="12700"/>
                  </a:lnTo>
                  <a:lnTo>
                    <a:pt x="1309370" y="25400"/>
                  </a:lnTo>
                  <a:lnTo>
                    <a:pt x="12700" y="25400"/>
                  </a:lnTo>
                  <a:close/>
                </a:path>
              </a:pathLst>
            </a:custGeom>
            <a:solidFill>
              <a:srgbClr val="40424D"/>
            </a:solidFill>
          </p:spPr>
          <p:txBody>
            <a:bodyPr/>
            <a:p/>
          </p:txBody>
        </p:sp>
        <p:sp>
          <p:nvSpPr>
            <p:cNvPr name="TextBox 109" id="109"/>
            <p:cNvSpPr txBox="true"/>
            <p:nvPr/>
          </p:nvSpPr>
          <p:spPr>
            <a:xfrm>
              <a:off x="0" y="0"/>
              <a:ext cx="1322019"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Sérénité</a:t>
              </a:r>
            </a:p>
          </p:txBody>
        </p:sp>
      </p:grpSp>
      <p:grpSp>
        <p:nvGrpSpPr>
          <p:cNvPr name="Group 110" id="110"/>
          <p:cNvGrpSpPr/>
          <p:nvPr/>
        </p:nvGrpSpPr>
        <p:grpSpPr>
          <a:xfrm rot="0">
            <a:off x="11653190" y="3308375"/>
            <a:ext cx="662330" cy="405842"/>
            <a:chOff x="0" y="0"/>
            <a:chExt cx="883107" cy="541122"/>
          </a:xfrm>
        </p:grpSpPr>
        <p:sp>
          <p:nvSpPr>
            <p:cNvPr name="Freeform 111" id="111"/>
            <p:cNvSpPr/>
            <p:nvPr/>
          </p:nvSpPr>
          <p:spPr>
            <a:xfrm flipH="false" flipV="false" rot="0">
              <a:off x="0" y="0"/>
              <a:ext cx="883158" cy="541147"/>
            </a:xfrm>
            <a:custGeom>
              <a:avLst/>
              <a:gdLst/>
              <a:ahLst/>
              <a:cxnLst/>
              <a:rect r="r" b="b" t="t" l="l"/>
              <a:pathLst>
                <a:path h="541147" w="883158">
                  <a:moveTo>
                    <a:pt x="12700" y="0"/>
                  </a:moveTo>
                  <a:lnTo>
                    <a:pt x="870458" y="0"/>
                  </a:lnTo>
                  <a:cubicBezTo>
                    <a:pt x="877443" y="0"/>
                    <a:pt x="883158" y="5715"/>
                    <a:pt x="883158" y="12700"/>
                  </a:cubicBezTo>
                  <a:lnTo>
                    <a:pt x="883158" y="528447"/>
                  </a:lnTo>
                  <a:cubicBezTo>
                    <a:pt x="883158" y="535432"/>
                    <a:pt x="877443" y="541147"/>
                    <a:pt x="870458"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870458" y="515747"/>
                  </a:lnTo>
                  <a:lnTo>
                    <a:pt x="870458" y="528447"/>
                  </a:lnTo>
                  <a:lnTo>
                    <a:pt x="857758" y="528447"/>
                  </a:lnTo>
                  <a:lnTo>
                    <a:pt x="857758" y="12700"/>
                  </a:lnTo>
                  <a:lnTo>
                    <a:pt x="870458" y="12700"/>
                  </a:lnTo>
                  <a:lnTo>
                    <a:pt x="870458" y="25400"/>
                  </a:lnTo>
                  <a:lnTo>
                    <a:pt x="12700" y="25400"/>
                  </a:lnTo>
                  <a:close/>
                </a:path>
              </a:pathLst>
            </a:custGeom>
            <a:solidFill>
              <a:srgbClr val="40424D"/>
            </a:solidFill>
          </p:spPr>
          <p:txBody>
            <a:bodyPr/>
            <a:p/>
          </p:txBody>
        </p:sp>
        <p:sp>
          <p:nvSpPr>
            <p:cNvPr name="TextBox 112" id="112"/>
            <p:cNvSpPr txBox="true"/>
            <p:nvPr/>
          </p:nvSpPr>
          <p:spPr>
            <a:xfrm>
              <a:off x="0" y="0"/>
              <a:ext cx="88310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Joie</a:t>
              </a:r>
            </a:p>
          </p:txBody>
        </p:sp>
      </p:grpSp>
      <p:grpSp>
        <p:nvGrpSpPr>
          <p:cNvPr name="Group 113" id="113"/>
          <p:cNvGrpSpPr/>
          <p:nvPr/>
        </p:nvGrpSpPr>
        <p:grpSpPr>
          <a:xfrm rot="0">
            <a:off x="6944411" y="4397350"/>
            <a:ext cx="10658704" cy="430120"/>
            <a:chOff x="0" y="0"/>
            <a:chExt cx="14211605" cy="573494"/>
          </a:xfrm>
        </p:grpSpPr>
        <p:sp>
          <p:nvSpPr>
            <p:cNvPr name="Freeform 114" id="114"/>
            <p:cNvSpPr/>
            <p:nvPr/>
          </p:nvSpPr>
          <p:spPr>
            <a:xfrm flipH="false" flipV="false" rot="0">
              <a:off x="0" y="0"/>
              <a:ext cx="14211604" cy="573494"/>
            </a:xfrm>
            <a:custGeom>
              <a:avLst/>
              <a:gdLst/>
              <a:ahLst/>
              <a:cxnLst/>
              <a:rect r="r" b="b" t="t" l="l"/>
              <a:pathLst>
                <a:path h="573494" w="14211604">
                  <a:moveTo>
                    <a:pt x="0" y="0"/>
                  </a:moveTo>
                  <a:lnTo>
                    <a:pt x="14211604" y="0"/>
                  </a:lnTo>
                  <a:lnTo>
                    <a:pt x="14211604" y="573494"/>
                  </a:lnTo>
                  <a:lnTo>
                    <a:pt x="0" y="573494"/>
                  </a:lnTo>
                  <a:close/>
                </a:path>
              </a:pathLst>
            </a:custGeom>
            <a:blipFill>
              <a:blip r:embed="rId3">
                <a:alphaModFix amt="0"/>
              </a:blip>
              <a:stretch>
                <a:fillRect l="0" t="-436295" r="0" b="-429410"/>
              </a:stretch>
            </a:blipFill>
          </p:spPr>
          <p:txBody>
            <a:bodyPr/>
            <a:p/>
          </p:txBody>
        </p:sp>
        <p:sp>
          <p:nvSpPr>
            <p:cNvPr name="TextBox 115" id="115"/>
            <p:cNvSpPr txBox="true"/>
            <p:nvPr/>
          </p:nvSpPr>
          <p:spPr>
            <a:xfrm>
              <a:off x="0" y="-9525"/>
              <a:ext cx="14211605"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Protocoles de Réalignement</a:t>
              </a:r>
            </a:p>
          </p:txBody>
        </p:sp>
      </p:grpSp>
      <p:grpSp>
        <p:nvGrpSpPr>
          <p:cNvPr name="Group 116" id="116"/>
          <p:cNvGrpSpPr/>
          <p:nvPr/>
        </p:nvGrpSpPr>
        <p:grpSpPr>
          <a:xfrm rot="0">
            <a:off x="6572707" y="4854092"/>
            <a:ext cx="11030407" cy="293380"/>
            <a:chOff x="0" y="0"/>
            <a:chExt cx="14707210" cy="391173"/>
          </a:xfrm>
        </p:grpSpPr>
        <p:sp>
          <p:nvSpPr>
            <p:cNvPr name="Freeform 117" id="117"/>
            <p:cNvSpPr/>
            <p:nvPr/>
          </p:nvSpPr>
          <p:spPr>
            <a:xfrm flipH="false" flipV="false" rot="0">
              <a:off x="0" y="0"/>
              <a:ext cx="14707211" cy="391173"/>
            </a:xfrm>
            <a:custGeom>
              <a:avLst/>
              <a:gdLst/>
              <a:ahLst/>
              <a:cxnLst/>
              <a:rect r="r" b="b" t="t" l="l"/>
              <a:pathLst>
                <a:path h="391173" w="14707211">
                  <a:moveTo>
                    <a:pt x="0" y="0"/>
                  </a:moveTo>
                  <a:lnTo>
                    <a:pt x="14707211" y="0"/>
                  </a:lnTo>
                  <a:lnTo>
                    <a:pt x="14707211" y="391173"/>
                  </a:lnTo>
                  <a:lnTo>
                    <a:pt x="0" y="391173"/>
                  </a:lnTo>
                  <a:close/>
                </a:path>
              </a:pathLst>
            </a:custGeom>
            <a:blipFill>
              <a:blip r:embed="rId3">
                <a:alphaModFix amt="0"/>
              </a:blip>
              <a:stretch>
                <a:fillRect l="0" t="-693555" r="0" b="-671630"/>
              </a:stretch>
            </a:blipFill>
          </p:spPr>
          <p:txBody>
            <a:bodyPr/>
            <a:p/>
          </p:txBody>
        </p:sp>
        <p:sp>
          <p:nvSpPr>
            <p:cNvPr name="TextBox 118" id="118"/>
            <p:cNvSpPr txBox="true"/>
            <p:nvPr/>
          </p:nvSpPr>
          <p:spPr>
            <a:xfrm>
              <a:off x="0" y="0"/>
              <a:ext cx="14707210"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Stratégies pour cultiver l'harmonie et la résilience interne.</a:t>
              </a:r>
            </a:p>
          </p:txBody>
        </p:sp>
      </p:grpSp>
      <p:grpSp>
        <p:nvGrpSpPr>
          <p:cNvPr name="Group 119" id="119"/>
          <p:cNvGrpSpPr/>
          <p:nvPr/>
        </p:nvGrpSpPr>
        <p:grpSpPr>
          <a:xfrm rot="0">
            <a:off x="6563182" y="5530367"/>
            <a:ext cx="5334000" cy="947623"/>
            <a:chOff x="0" y="0"/>
            <a:chExt cx="7112000" cy="1263498"/>
          </a:xfrm>
        </p:grpSpPr>
        <p:sp>
          <p:nvSpPr>
            <p:cNvPr name="Freeform 120" id="120"/>
            <p:cNvSpPr/>
            <p:nvPr/>
          </p:nvSpPr>
          <p:spPr>
            <a:xfrm flipH="false" flipV="false" rot="0">
              <a:off x="12700" y="12700"/>
              <a:ext cx="7086600" cy="1238123"/>
            </a:xfrm>
            <a:custGeom>
              <a:avLst/>
              <a:gdLst/>
              <a:ahLst/>
              <a:cxnLst/>
              <a:rect r="r" b="b" t="t" l="l"/>
              <a:pathLst>
                <a:path h="1238123" w="7086600">
                  <a:moveTo>
                    <a:pt x="0" y="0"/>
                  </a:moveTo>
                  <a:lnTo>
                    <a:pt x="7086600" y="0"/>
                  </a:lnTo>
                  <a:lnTo>
                    <a:pt x="7086600" y="1238123"/>
                  </a:lnTo>
                  <a:lnTo>
                    <a:pt x="0" y="1238123"/>
                  </a:lnTo>
                  <a:close/>
                </a:path>
              </a:pathLst>
            </a:custGeom>
            <a:solidFill>
              <a:srgbClr val="FFFFFF">
                <a:alpha val="0"/>
              </a:srgbClr>
            </a:solidFill>
          </p:spPr>
          <p:txBody>
            <a:bodyPr/>
            <a:p/>
          </p:txBody>
        </p:sp>
      </p:grpSp>
      <p:grpSp>
        <p:nvGrpSpPr>
          <p:cNvPr name="Group 121" id="121"/>
          <p:cNvGrpSpPr/>
          <p:nvPr/>
        </p:nvGrpSpPr>
        <p:grpSpPr>
          <a:xfrm rot="0">
            <a:off x="6757873" y="5768950"/>
            <a:ext cx="257861" cy="200254"/>
            <a:chOff x="0" y="0"/>
            <a:chExt cx="343814" cy="267005"/>
          </a:xfrm>
        </p:grpSpPr>
        <p:sp>
          <p:nvSpPr>
            <p:cNvPr name="Freeform 122" id="122"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7"/>
              <a:stretch>
                <a:fillRect l="1462" t="0" r="1455" b="-466"/>
              </a:stretch>
            </a:blipFill>
          </p:spPr>
          <p:txBody>
            <a:bodyPr/>
            <a:p/>
          </p:txBody>
        </p:sp>
      </p:grpSp>
      <p:grpSp>
        <p:nvGrpSpPr>
          <p:cNvPr name="Group 123" id="123"/>
          <p:cNvGrpSpPr/>
          <p:nvPr/>
        </p:nvGrpSpPr>
        <p:grpSpPr>
          <a:xfrm rot="0">
            <a:off x="7194042" y="5634499"/>
            <a:ext cx="4101084" cy="558241"/>
            <a:chOff x="0" y="0"/>
            <a:chExt cx="5468112" cy="744322"/>
          </a:xfrm>
        </p:grpSpPr>
        <p:sp>
          <p:nvSpPr>
            <p:cNvPr name="Freeform 124" id="124"/>
            <p:cNvSpPr/>
            <p:nvPr/>
          </p:nvSpPr>
          <p:spPr>
            <a:xfrm flipH="false" flipV="false" rot="0">
              <a:off x="0" y="0"/>
              <a:ext cx="5468112" cy="744322"/>
            </a:xfrm>
            <a:custGeom>
              <a:avLst/>
              <a:gdLst/>
              <a:ahLst/>
              <a:cxnLst/>
              <a:rect r="r" b="b" t="t" l="l"/>
              <a:pathLst>
                <a:path h="744322" w="5468112">
                  <a:moveTo>
                    <a:pt x="0" y="0"/>
                  </a:moveTo>
                  <a:lnTo>
                    <a:pt x="5468112" y="0"/>
                  </a:lnTo>
                  <a:lnTo>
                    <a:pt x="5468112" y="744322"/>
                  </a:lnTo>
                  <a:lnTo>
                    <a:pt x="0" y="744322"/>
                  </a:lnTo>
                  <a:close/>
                </a:path>
              </a:pathLst>
            </a:custGeom>
            <a:blipFill>
              <a:blip r:embed="rId3">
                <a:alphaModFix amt="0"/>
              </a:blip>
              <a:stretch>
                <a:fillRect l="0" t="-93145" r="0" b="-93145"/>
              </a:stretch>
            </a:blipFill>
          </p:spPr>
          <p:txBody>
            <a:bodyPr/>
            <a:p/>
          </p:txBody>
        </p:sp>
        <p:sp>
          <p:nvSpPr>
            <p:cNvPr name="TextBox 125" id="125"/>
            <p:cNvSpPr txBox="true"/>
            <p:nvPr/>
          </p:nvSpPr>
          <p:spPr>
            <a:xfrm>
              <a:off x="0" y="0"/>
              <a:ext cx="5468112"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Respiration</a:t>
              </a:r>
              <a:r>
                <a:rPr lang="en-US" sz="1350">
                  <a:solidFill>
                    <a:srgbClr val="D3D6E0"/>
                  </a:solidFill>
                  <a:latin typeface="Manrope"/>
                  <a:ea typeface="Manrope"/>
                  <a:cs typeface="Manrope"/>
                  <a:sym typeface="Manrope"/>
                </a:rPr>
                <a:t> Cohérence cardiaque (5-5) &amp; respiration lente. </a:t>
              </a:r>
            </a:p>
          </p:txBody>
        </p:sp>
      </p:grpSp>
      <p:grpSp>
        <p:nvGrpSpPr>
          <p:cNvPr name="Group 126" id="126"/>
          <p:cNvGrpSpPr/>
          <p:nvPr/>
        </p:nvGrpSpPr>
        <p:grpSpPr>
          <a:xfrm rot="0">
            <a:off x="12105818" y="5530367"/>
            <a:ext cx="5334000" cy="947623"/>
            <a:chOff x="0" y="0"/>
            <a:chExt cx="7112000" cy="1263498"/>
          </a:xfrm>
        </p:grpSpPr>
        <p:sp>
          <p:nvSpPr>
            <p:cNvPr name="Freeform 127" id="127"/>
            <p:cNvSpPr/>
            <p:nvPr/>
          </p:nvSpPr>
          <p:spPr>
            <a:xfrm flipH="false" flipV="false" rot="0">
              <a:off x="12700" y="12700"/>
              <a:ext cx="7086600" cy="1238123"/>
            </a:xfrm>
            <a:custGeom>
              <a:avLst/>
              <a:gdLst/>
              <a:ahLst/>
              <a:cxnLst/>
              <a:rect r="r" b="b" t="t" l="l"/>
              <a:pathLst>
                <a:path h="1238123" w="7086600">
                  <a:moveTo>
                    <a:pt x="0" y="0"/>
                  </a:moveTo>
                  <a:lnTo>
                    <a:pt x="7086600" y="0"/>
                  </a:lnTo>
                  <a:lnTo>
                    <a:pt x="7086600" y="1238123"/>
                  </a:lnTo>
                  <a:lnTo>
                    <a:pt x="0" y="1238123"/>
                  </a:lnTo>
                  <a:close/>
                </a:path>
              </a:pathLst>
            </a:custGeom>
            <a:solidFill>
              <a:srgbClr val="FFFFFF">
                <a:alpha val="0"/>
              </a:srgbClr>
            </a:solidFill>
          </p:spPr>
          <p:txBody>
            <a:bodyPr/>
            <a:p/>
          </p:txBody>
        </p:sp>
      </p:grpSp>
      <p:grpSp>
        <p:nvGrpSpPr>
          <p:cNvPr name="Group 128" id="128"/>
          <p:cNvGrpSpPr/>
          <p:nvPr/>
        </p:nvGrpSpPr>
        <p:grpSpPr>
          <a:xfrm rot="0">
            <a:off x="12301880" y="5768950"/>
            <a:ext cx="157734" cy="200254"/>
            <a:chOff x="0" y="0"/>
            <a:chExt cx="210312" cy="267005"/>
          </a:xfrm>
        </p:grpSpPr>
        <p:sp>
          <p:nvSpPr>
            <p:cNvPr name="Freeform 129" id="129" descr="preencoded.png"/>
            <p:cNvSpPr/>
            <p:nvPr/>
          </p:nvSpPr>
          <p:spPr>
            <a:xfrm flipH="false" flipV="false" rot="0">
              <a:off x="0" y="0"/>
              <a:ext cx="210312" cy="266954"/>
            </a:xfrm>
            <a:custGeom>
              <a:avLst/>
              <a:gdLst/>
              <a:ahLst/>
              <a:cxnLst/>
              <a:rect r="r" b="b" t="t" l="l"/>
              <a:pathLst>
                <a:path h="266954" w="210312">
                  <a:moveTo>
                    <a:pt x="0" y="0"/>
                  </a:moveTo>
                  <a:lnTo>
                    <a:pt x="210312" y="0"/>
                  </a:lnTo>
                  <a:lnTo>
                    <a:pt x="210312" y="266954"/>
                  </a:lnTo>
                  <a:lnTo>
                    <a:pt x="0" y="266954"/>
                  </a:lnTo>
                  <a:lnTo>
                    <a:pt x="0" y="0"/>
                  </a:lnTo>
                  <a:close/>
                </a:path>
              </a:pathLst>
            </a:custGeom>
            <a:blipFill>
              <a:blip r:embed="rId8"/>
              <a:stretch>
                <a:fillRect l="2427" t="0" r="978" b="-19"/>
              </a:stretch>
            </a:blipFill>
          </p:spPr>
          <p:txBody>
            <a:bodyPr/>
            <a:p/>
          </p:txBody>
        </p:sp>
      </p:grpSp>
      <p:grpSp>
        <p:nvGrpSpPr>
          <p:cNvPr name="Group 130" id="130"/>
          <p:cNvGrpSpPr/>
          <p:nvPr/>
        </p:nvGrpSpPr>
        <p:grpSpPr>
          <a:xfrm rot="0">
            <a:off x="12602489" y="5690082"/>
            <a:ext cx="4686757" cy="558241"/>
            <a:chOff x="0" y="0"/>
            <a:chExt cx="6249010" cy="744322"/>
          </a:xfrm>
        </p:grpSpPr>
        <p:sp>
          <p:nvSpPr>
            <p:cNvPr name="Freeform 131" id="131"/>
            <p:cNvSpPr/>
            <p:nvPr/>
          </p:nvSpPr>
          <p:spPr>
            <a:xfrm flipH="false" flipV="false" rot="0">
              <a:off x="0" y="0"/>
              <a:ext cx="6249010" cy="744322"/>
            </a:xfrm>
            <a:custGeom>
              <a:avLst/>
              <a:gdLst/>
              <a:ahLst/>
              <a:cxnLst/>
              <a:rect r="r" b="b" t="t" l="l"/>
              <a:pathLst>
                <a:path h="744322" w="6249010">
                  <a:moveTo>
                    <a:pt x="0" y="0"/>
                  </a:moveTo>
                  <a:lnTo>
                    <a:pt x="6249010" y="0"/>
                  </a:lnTo>
                  <a:lnTo>
                    <a:pt x="6249010" y="744322"/>
                  </a:lnTo>
                  <a:lnTo>
                    <a:pt x="0" y="744322"/>
                  </a:lnTo>
                  <a:close/>
                </a:path>
              </a:pathLst>
            </a:custGeom>
            <a:blipFill>
              <a:blip r:embed="rId3">
                <a:alphaModFix amt="0"/>
              </a:blip>
              <a:stretch>
                <a:fillRect l="0" t="-113588" r="0" b="-113587"/>
              </a:stretch>
            </a:blipFill>
          </p:spPr>
          <p:txBody>
            <a:bodyPr/>
            <a:p/>
          </p:txBody>
        </p:sp>
        <p:sp>
          <p:nvSpPr>
            <p:cNvPr name="TextBox 132" id="132"/>
            <p:cNvSpPr txBox="true"/>
            <p:nvPr/>
          </p:nvSpPr>
          <p:spPr>
            <a:xfrm>
              <a:off x="0" y="0"/>
              <a:ext cx="6249010"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Pratiques Somatiques</a:t>
              </a:r>
              <a:r>
                <a:rPr lang="en-US" sz="1350">
                  <a:solidFill>
                    <a:srgbClr val="D3D6E0"/>
                  </a:solidFill>
                  <a:latin typeface="Manrope"/>
                  <a:ea typeface="Manrope"/>
                  <a:cs typeface="Manrope"/>
                  <a:sym typeface="Manrope"/>
                </a:rPr>
                <a:t> Yoga, Tai Chi, libération des fascias par le mouvement. </a:t>
              </a:r>
            </a:p>
          </p:txBody>
        </p:sp>
      </p:grpSp>
      <p:grpSp>
        <p:nvGrpSpPr>
          <p:cNvPr name="Group 133" id="133"/>
          <p:cNvGrpSpPr/>
          <p:nvPr/>
        </p:nvGrpSpPr>
        <p:grpSpPr>
          <a:xfrm rot="0">
            <a:off x="6563182" y="6679768"/>
            <a:ext cx="5334000" cy="1205484"/>
            <a:chOff x="0" y="0"/>
            <a:chExt cx="7112000" cy="1607312"/>
          </a:xfrm>
        </p:grpSpPr>
        <p:sp>
          <p:nvSpPr>
            <p:cNvPr name="Freeform 134" id="134"/>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5" id="135"/>
          <p:cNvGrpSpPr/>
          <p:nvPr/>
        </p:nvGrpSpPr>
        <p:grpSpPr>
          <a:xfrm rot="0">
            <a:off x="6757873" y="6916979"/>
            <a:ext cx="171450" cy="200254"/>
            <a:chOff x="0" y="0"/>
            <a:chExt cx="228600" cy="267005"/>
          </a:xfrm>
        </p:grpSpPr>
        <p:sp>
          <p:nvSpPr>
            <p:cNvPr name="Freeform 136" id="136" descr="preencoded.png"/>
            <p:cNvSpPr/>
            <p:nvPr/>
          </p:nvSpPr>
          <p:spPr>
            <a:xfrm flipH="false" flipV="false" rot="0">
              <a:off x="0" y="0"/>
              <a:ext cx="228600" cy="266954"/>
            </a:xfrm>
            <a:custGeom>
              <a:avLst/>
              <a:gdLst/>
              <a:ahLst/>
              <a:cxnLst/>
              <a:rect r="r" b="b" t="t" l="l"/>
              <a:pathLst>
                <a:path h="266954" w="228600">
                  <a:moveTo>
                    <a:pt x="0" y="0"/>
                  </a:moveTo>
                  <a:lnTo>
                    <a:pt x="228600" y="0"/>
                  </a:lnTo>
                  <a:lnTo>
                    <a:pt x="228600" y="266954"/>
                  </a:lnTo>
                  <a:lnTo>
                    <a:pt x="0" y="266954"/>
                  </a:lnTo>
                  <a:lnTo>
                    <a:pt x="0" y="0"/>
                  </a:lnTo>
                  <a:close/>
                </a:path>
              </a:pathLst>
            </a:custGeom>
            <a:blipFill>
              <a:blip r:embed="rId9"/>
              <a:stretch>
                <a:fillRect l="0" t="1089" r="0" b="-242"/>
              </a:stretch>
            </a:blipFill>
          </p:spPr>
          <p:txBody>
            <a:bodyPr/>
            <a:p/>
          </p:txBody>
        </p:sp>
      </p:grpSp>
      <p:grpSp>
        <p:nvGrpSpPr>
          <p:cNvPr name="Group 137" id="137"/>
          <p:cNvGrpSpPr/>
          <p:nvPr/>
        </p:nvGrpSpPr>
        <p:grpSpPr>
          <a:xfrm rot="0">
            <a:off x="7194042" y="6639916"/>
            <a:ext cx="4715561" cy="814731"/>
            <a:chOff x="0" y="0"/>
            <a:chExt cx="6287414" cy="1086308"/>
          </a:xfrm>
        </p:grpSpPr>
        <p:sp>
          <p:nvSpPr>
            <p:cNvPr name="Freeform 138" id="138"/>
            <p:cNvSpPr/>
            <p:nvPr/>
          </p:nvSpPr>
          <p:spPr>
            <a:xfrm flipH="false" flipV="false" rot="0">
              <a:off x="0" y="0"/>
              <a:ext cx="6287414" cy="1086309"/>
            </a:xfrm>
            <a:custGeom>
              <a:avLst/>
              <a:gdLst/>
              <a:ahLst/>
              <a:cxnLst/>
              <a:rect r="r" b="b" t="t" l="l"/>
              <a:pathLst>
                <a:path h="1086309" w="6287414">
                  <a:moveTo>
                    <a:pt x="0" y="0"/>
                  </a:moveTo>
                  <a:lnTo>
                    <a:pt x="6287414" y="0"/>
                  </a:lnTo>
                  <a:lnTo>
                    <a:pt x="6287414" y="1086309"/>
                  </a:lnTo>
                  <a:lnTo>
                    <a:pt x="0" y="1086309"/>
                  </a:lnTo>
                  <a:close/>
                </a:path>
              </a:pathLst>
            </a:custGeom>
            <a:blipFill>
              <a:blip r:embed="rId3">
                <a:alphaModFix amt="0"/>
              </a:blip>
              <a:stretch>
                <a:fillRect l="0" t="-62776" r="0" b="-62776"/>
              </a:stretch>
            </a:blipFill>
          </p:spPr>
          <p:txBody>
            <a:bodyPr/>
            <a:p/>
          </p:txBody>
        </p:sp>
        <p:sp>
          <p:nvSpPr>
            <p:cNvPr name="TextBox 139" id="139"/>
            <p:cNvSpPr txBox="true"/>
            <p:nvPr/>
          </p:nvSpPr>
          <p:spPr>
            <a:xfrm>
              <a:off x="0" y="0"/>
              <a:ext cx="6287414"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Immersion Nature </a:t>
              </a:r>
              <a:r>
                <a:rPr lang="en-US" sz="1350">
                  <a:solidFill>
                    <a:srgbClr val="D3D6E0"/>
                  </a:solidFill>
                  <a:latin typeface="Manrope"/>
                  <a:ea typeface="Manrope"/>
                  <a:cs typeface="Manrope"/>
                  <a:sym typeface="Manrope"/>
                </a:rPr>
                <a:t> Shinrin-yoku (bain de forêt) pour l'apaisement profond, Montagne, Océan </a:t>
              </a:r>
            </a:p>
          </p:txBody>
        </p:sp>
      </p:grpSp>
      <p:grpSp>
        <p:nvGrpSpPr>
          <p:cNvPr name="Group 140" id="140"/>
          <p:cNvGrpSpPr/>
          <p:nvPr/>
        </p:nvGrpSpPr>
        <p:grpSpPr>
          <a:xfrm rot="0">
            <a:off x="12105818" y="6679768"/>
            <a:ext cx="5334000" cy="1205484"/>
            <a:chOff x="0" y="0"/>
            <a:chExt cx="7112000" cy="1607312"/>
          </a:xfrm>
        </p:grpSpPr>
        <p:sp>
          <p:nvSpPr>
            <p:cNvPr name="Freeform 141" id="141"/>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42" id="142"/>
          <p:cNvGrpSpPr/>
          <p:nvPr/>
        </p:nvGrpSpPr>
        <p:grpSpPr>
          <a:xfrm rot="0">
            <a:off x="12301880" y="6916979"/>
            <a:ext cx="200254" cy="200254"/>
            <a:chOff x="0" y="0"/>
            <a:chExt cx="267005" cy="267005"/>
          </a:xfrm>
        </p:grpSpPr>
        <p:sp>
          <p:nvSpPr>
            <p:cNvPr name="Freeform 143" id="143"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0"/>
              <a:stretch>
                <a:fillRect l="0" t="0" r="-19" b="-19"/>
              </a:stretch>
            </a:blipFill>
          </p:spPr>
          <p:txBody>
            <a:bodyPr/>
            <a:p/>
          </p:txBody>
        </p:sp>
      </p:grpSp>
      <p:grpSp>
        <p:nvGrpSpPr>
          <p:cNvPr name="Group 144" id="144"/>
          <p:cNvGrpSpPr/>
          <p:nvPr/>
        </p:nvGrpSpPr>
        <p:grpSpPr>
          <a:xfrm rot="0">
            <a:off x="12659182" y="6768160"/>
            <a:ext cx="4501591" cy="558241"/>
            <a:chOff x="0" y="0"/>
            <a:chExt cx="6002122" cy="744322"/>
          </a:xfrm>
        </p:grpSpPr>
        <p:sp>
          <p:nvSpPr>
            <p:cNvPr name="Freeform 145" id="145"/>
            <p:cNvSpPr/>
            <p:nvPr/>
          </p:nvSpPr>
          <p:spPr>
            <a:xfrm flipH="false" flipV="false" rot="0">
              <a:off x="0" y="0"/>
              <a:ext cx="6002122" cy="744322"/>
            </a:xfrm>
            <a:custGeom>
              <a:avLst/>
              <a:gdLst/>
              <a:ahLst/>
              <a:cxnLst/>
              <a:rect r="r" b="b" t="t" l="l"/>
              <a:pathLst>
                <a:path h="744322" w="6002122">
                  <a:moveTo>
                    <a:pt x="0" y="0"/>
                  </a:moveTo>
                  <a:lnTo>
                    <a:pt x="6002122" y="0"/>
                  </a:lnTo>
                  <a:lnTo>
                    <a:pt x="6002122" y="744322"/>
                  </a:lnTo>
                  <a:lnTo>
                    <a:pt x="0" y="744322"/>
                  </a:lnTo>
                  <a:close/>
                </a:path>
              </a:pathLst>
            </a:custGeom>
            <a:blipFill>
              <a:blip r:embed="rId3">
                <a:alphaModFix amt="0"/>
              </a:blip>
              <a:stretch>
                <a:fillRect l="0" t="-107124" r="0" b="-107124"/>
              </a:stretch>
            </a:blipFill>
          </p:spPr>
          <p:txBody>
            <a:bodyPr/>
            <a:p/>
          </p:txBody>
        </p:sp>
        <p:sp>
          <p:nvSpPr>
            <p:cNvPr name="TextBox 146" id="146"/>
            <p:cNvSpPr txBox="true"/>
            <p:nvPr/>
          </p:nvSpPr>
          <p:spPr>
            <a:xfrm>
              <a:off x="0" y="0"/>
              <a:ext cx="6002122"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Mental &amp; Son</a:t>
              </a:r>
              <a:r>
                <a:rPr lang="en-US" sz="1350">
                  <a:solidFill>
                    <a:srgbClr val="D3D6E0"/>
                  </a:solidFill>
                  <a:latin typeface="Manrope"/>
                  <a:ea typeface="Manrope"/>
                  <a:cs typeface="Manrope"/>
                  <a:sym typeface="Manrope"/>
                </a:rPr>
                <a:t>  Méditation guidée et thérapie par le son (musique). </a:t>
              </a:r>
            </a:p>
          </p:txBody>
        </p:sp>
      </p:grpSp>
      <p:grpSp>
        <p:nvGrpSpPr>
          <p:cNvPr name="Group 147" id="147"/>
          <p:cNvGrpSpPr/>
          <p:nvPr/>
        </p:nvGrpSpPr>
        <p:grpSpPr>
          <a:xfrm rot="0">
            <a:off x="7763332" y="1261948"/>
            <a:ext cx="1390650" cy="290627"/>
            <a:chOff x="0" y="0"/>
            <a:chExt cx="1854200" cy="387502"/>
          </a:xfrm>
        </p:grpSpPr>
        <p:sp>
          <p:nvSpPr>
            <p:cNvPr name="Freeform 148" id="148"/>
            <p:cNvSpPr/>
            <p:nvPr/>
          </p:nvSpPr>
          <p:spPr>
            <a:xfrm flipH="false" flipV="false" rot="0">
              <a:off x="12700" y="12700"/>
              <a:ext cx="1828800" cy="362204"/>
            </a:xfrm>
            <a:custGeom>
              <a:avLst/>
              <a:gdLst/>
              <a:ahLst/>
              <a:cxnLst/>
              <a:rect r="r" b="b" t="t" l="l"/>
              <a:pathLst>
                <a:path h="362204" w="1828800">
                  <a:moveTo>
                    <a:pt x="0" y="181102"/>
                  </a:moveTo>
                  <a:cubicBezTo>
                    <a:pt x="0" y="81026"/>
                    <a:pt x="85598" y="0"/>
                    <a:pt x="191135" y="0"/>
                  </a:cubicBezTo>
                  <a:lnTo>
                    <a:pt x="1637665" y="0"/>
                  </a:lnTo>
                  <a:cubicBezTo>
                    <a:pt x="1743202" y="0"/>
                    <a:pt x="1828800" y="81026"/>
                    <a:pt x="1828800" y="181102"/>
                  </a:cubicBezTo>
                  <a:cubicBezTo>
                    <a:pt x="1828800" y="281178"/>
                    <a:pt x="1743202" y="362204"/>
                    <a:pt x="1637665" y="362204"/>
                  </a:cubicBezTo>
                  <a:lnTo>
                    <a:pt x="191135" y="362204"/>
                  </a:lnTo>
                  <a:cubicBezTo>
                    <a:pt x="85598" y="362077"/>
                    <a:pt x="0" y="281051"/>
                    <a:pt x="0" y="181102"/>
                  </a:cubicBezTo>
                  <a:close/>
                </a:path>
              </a:pathLst>
            </a:custGeom>
            <a:solidFill>
              <a:srgbClr val="40424D"/>
            </a:solidFill>
          </p:spPr>
          <p:txBody>
            <a:bodyPr/>
            <a:p/>
          </p:txBody>
        </p:sp>
      </p:grpSp>
      <p:grpSp>
        <p:nvGrpSpPr>
          <p:cNvPr name="Group 149" id="149"/>
          <p:cNvGrpSpPr/>
          <p:nvPr/>
        </p:nvGrpSpPr>
        <p:grpSpPr>
          <a:xfrm rot="0">
            <a:off x="7896682" y="1271473"/>
            <a:ext cx="1486814" cy="271576"/>
            <a:chOff x="0" y="0"/>
            <a:chExt cx="1982419" cy="362102"/>
          </a:xfrm>
        </p:grpSpPr>
        <p:sp>
          <p:nvSpPr>
            <p:cNvPr name="Freeform 150" id="150"/>
            <p:cNvSpPr/>
            <p:nvPr/>
          </p:nvSpPr>
          <p:spPr>
            <a:xfrm flipH="false" flipV="false" rot="0">
              <a:off x="0" y="0"/>
              <a:ext cx="1982420" cy="362102"/>
            </a:xfrm>
            <a:custGeom>
              <a:avLst/>
              <a:gdLst/>
              <a:ahLst/>
              <a:cxnLst/>
              <a:rect r="r" b="b" t="t" l="l"/>
              <a:pathLst>
                <a:path h="362102" w="1982420">
                  <a:moveTo>
                    <a:pt x="0" y="0"/>
                  </a:moveTo>
                  <a:lnTo>
                    <a:pt x="1982420" y="0"/>
                  </a:lnTo>
                  <a:lnTo>
                    <a:pt x="1982420" y="362102"/>
                  </a:lnTo>
                  <a:lnTo>
                    <a:pt x="0" y="362102"/>
                  </a:lnTo>
                  <a:close/>
                </a:path>
              </a:pathLst>
            </a:custGeom>
            <a:blipFill>
              <a:blip r:embed="rId3">
                <a:alphaModFix amt="0"/>
              </a:blip>
              <a:stretch>
                <a:fillRect l="0" t="-56675" r="0" b="-56676"/>
              </a:stretch>
            </a:blipFill>
          </p:spPr>
          <p:txBody>
            <a:bodyPr/>
            <a:p/>
          </p:txBody>
        </p:sp>
        <p:sp>
          <p:nvSpPr>
            <p:cNvPr name="TextBox 151" id="151"/>
            <p:cNvSpPr txBox="true"/>
            <p:nvPr/>
          </p:nvSpPr>
          <p:spPr>
            <a:xfrm>
              <a:off x="0" y="0"/>
              <a:ext cx="1982419" cy="362102"/>
            </a:xfrm>
            <a:prstGeom prst="rect">
              <a:avLst/>
            </a:prstGeom>
          </p:spPr>
          <p:txBody>
            <a:bodyPr anchor="ctr" rtlCol="false" tIns="0" lIns="0" bIns="0" rIns="0"/>
            <a:lstStyle/>
            <a:p>
              <a:pPr algn="l">
                <a:lnSpc>
                  <a:spcPts val="1439"/>
                </a:lnSpc>
              </a:pPr>
              <a:r>
                <a:rPr lang="en-US" sz="1200" b="true">
                  <a:solidFill>
                    <a:srgbClr val="FFFFFF"/>
                  </a:solidFill>
                  <a:latin typeface="Manrope Bold"/>
                  <a:ea typeface="Manrope Bold"/>
                  <a:cs typeface="Manrope Bold"/>
                  <a:sym typeface="Manrope Bold"/>
                </a:rPr>
                <a:t>Mécanisme Clé</a:t>
              </a:r>
            </a:p>
          </p:txBody>
        </p:sp>
      </p:grpSp>
      <p:grpSp>
        <p:nvGrpSpPr>
          <p:cNvPr name="Group 152" id="152"/>
          <p:cNvGrpSpPr/>
          <p:nvPr/>
        </p:nvGrpSpPr>
        <p:grpSpPr>
          <a:xfrm rot="0">
            <a:off x="6572707" y="4471416"/>
            <a:ext cx="257861" cy="257861"/>
            <a:chOff x="0" y="0"/>
            <a:chExt cx="343814" cy="343814"/>
          </a:xfrm>
        </p:grpSpPr>
        <p:sp>
          <p:nvSpPr>
            <p:cNvPr name="Freeform 153" id="153" descr="preencoded.png"/>
            <p:cNvSpPr/>
            <p:nvPr/>
          </p:nvSpPr>
          <p:spPr>
            <a:xfrm flipH="false" flipV="false" rot="0">
              <a:off x="0" y="0"/>
              <a:ext cx="343789" cy="343789"/>
            </a:xfrm>
            <a:custGeom>
              <a:avLst/>
              <a:gdLst/>
              <a:ahLst/>
              <a:cxnLst/>
              <a:rect r="r" b="b" t="t" l="l"/>
              <a:pathLst>
                <a:path h="343789" w="343789">
                  <a:moveTo>
                    <a:pt x="0" y="0"/>
                  </a:moveTo>
                  <a:lnTo>
                    <a:pt x="343789" y="0"/>
                  </a:lnTo>
                  <a:lnTo>
                    <a:pt x="343789" y="343789"/>
                  </a:lnTo>
                  <a:lnTo>
                    <a:pt x="0" y="343789"/>
                  </a:lnTo>
                  <a:lnTo>
                    <a:pt x="0" y="0"/>
                  </a:lnTo>
                  <a:close/>
                </a:path>
              </a:pathLst>
            </a:custGeom>
            <a:blipFill>
              <a:blip r:embed="rId11"/>
              <a:stretch>
                <a:fillRect l="0" t="0" r="-7" b="-7"/>
              </a:stretch>
            </a:blipFill>
          </p:spPr>
          <p:txBody>
            <a:body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9525" y="-9525"/>
            <a:ext cx="18306593" cy="10306050"/>
            <a:chOff x="0" y="0"/>
            <a:chExt cx="24408790" cy="13741400"/>
          </a:xfrm>
        </p:grpSpPr>
        <p:sp>
          <p:nvSpPr>
            <p:cNvPr name="Freeform 7" id="7"/>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8" id="8"/>
          <p:cNvGrpSpPr/>
          <p:nvPr/>
        </p:nvGrpSpPr>
        <p:grpSpPr>
          <a:xfrm rot="0">
            <a:off x="0" y="0"/>
            <a:ext cx="5715457" cy="10287000"/>
            <a:chOff x="0" y="0"/>
            <a:chExt cx="7620610" cy="13716000"/>
          </a:xfrm>
        </p:grpSpPr>
        <p:sp>
          <p:nvSpPr>
            <p:cNvPr name="Freeform 9" id="9"/>
            <p:cNvSpPr/>
            <p:nvPr/>
          </p:nvSpPr>
          <p:spPr>
            <a:xfrm flipH="false" flipV="false" rot="0">
              <a:off x="0" y="0"/>
              <a:ext cx="7620635" cy="13716000"/>
            </a:xfrm>
            <a:custGeom>
              <a:avLst/>
              <a:gdLst/>
              <a:ahLst/>
              <a:cxnLst/>
              <a:rect r="r" b="b" t="t" l="l"/>
              <a:pathLst>
                <a:path h="13716000" w="7620635">
                  <a:moveTo>
                    <a:pt x="0" y="0"/>
                  </a:moveTo>
                  <a:lnTo>
                    <a:pt x="7620635" y="0"/>
                  </a:lnTo>
                  <a:lnTo>
                    <a:pt x="7620635" y="13716000"/>
                  </a:lnTo>
                  <a:lnTo>
                    <a:pt x="0" y="13716000"/>
                  </a:lnTo>
                  <a:close/>
                </a:path>
              </a:pathLst>
            </a:custGeom>
            <a:solidFill>
              <a:srgbClr val="1E1E24">
                <a:alpha val="15686"/>
              </a:srgbClr>
            </a:solidFill>
          </p:spPr>
          <p:txBody>
            <a:bodyPr/>
            <a:p/>
          </p:txBody>
        </p:sp>
      </p:grpSp>
      <p:grpSp>
        <p:nvGrpSpPr>
          <p:cNvPr name="Group 10" id="10"/>
          <p:cNvGrpSpPr/>
          <p:nvPr/>
        </p:nvGrpSpPr>
        <p:grpSpPr>
          <a:xfrm rot="0">
            <a:off x="5692216" y="-9525"/>
            <a:ext cx="32766" cy="10306050"/>
            <a:chOff x="0" y="0"/>
            <a:chExt cx="43688" cy="13741400"/>
          </a:xfrm>
        </p:grpSpPr>
        <p:sp>
          <p:nvSpPr>
            <p:cNvPr name="Freeform 11" id="11"/>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2" id="12"/>
          <p:cNvGrpSpPr/>
          <p:nvPr/>
        </p:nvGrpSpPr>
        <p:grpSpPr>
          <a:xfrm rot="0">
            <a:off x="571957" y="571957"/>
            <a:ext cx="4729277" cy="332327"/>
            <a:chOff x="0" y="0"/>
            <a:chExt cx="6305702" cy="443103"/>
          </a:xfrm>
        </p:grpSpPr>
        <p:sp>
          <p:nvSpPr>
            <p:cNvPr name="Freeform 13" id="13"/>
            <p:cNvSpPr/>
            <p:nvPr/>
          </p:nvSpPr>
          <p:spPr>
            <a:xfrm flipH="false" flipV="false" rot="0">
              <a:off x="0" y="0"/>
              <a:ext cx="6305702" cy="443104"/>
            </a:xfrm>
            <a:custGeom>
              <a:avLst/>
              <a:gdLst/>
              <a:ahLst/>
              <a:cxnLst/>
              <a:rect r="r" b="b" t="t" l="l"/>
              <a:pathLst>
                <a:path h="443104" w="6305702">
                  <a:moveTo>
                    <a:pt x="0" y="0"/>
                  </a:moveTo>
                  <a:lnTo>
                    <a:pt x="6305702" y="0"/>
                  </a:lnTo>
                  <a:lnTo>
                    <a:pt x="6305702" y="443104"/>
                  </a:lnTo>
                  <a:lnTo>
                    <a:pt x="0" y="443104"/>
                  </a:lnTo>
                  <a:close/>
                </a:path>
              </a:pathLst>
            </a:custGeom>
            <a:blipFill>
              <a:blip r:embed="rId3">
                <a:alphaModFix amt="0"/>
              </a:blip>
              <a:stretch>
                <a:fillRect l="0" t="-232093" r="0" b="-222480"/>
              </a:stretch>
            </a:blipFill>
          </p:spPr>
          <p:txBody>
            <a:bodyPr/>
            <a:p/>
          </p:txBody>
        </p:sp>
        <p:sp>
          <p:nvSpPr>
            <p:cNvPr name="TextBox 14" id="14"/>
            <p:cNvSpPr txBox="true"/>
            <p:nvPr/>
          </p:nvSpPr>
          <p:spPr>
            <a:xfrm>
              <a:off x="0" y="-9525"/>
              <a:ext cx="6305702"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Pilier : Essence</a:t>
              </a:r>
            </a:p>
          </p:txBody>
        </p:sp>
      </p:grpSp>
      <p:grpSp>
        <p:nvGrpSpPr>
          <p:cNvPr name="Group 15" id="15"/>
          <p:cNvGrpSpPr/>
          <p:nvPr/>
        </p:nvGrpSpPr>
        <p:grpSpPr>
          <a:xfrm rot="0">
            <a:off x="562432" y="562432"/>
            <a:ext cx="304343" cy="32766"/>
            <a:chOff x="0" y="0"/>
            <a:chExt cx="405790" cy="43688"/>
          </a:xfrm>
        </p:grpSpPr>
        <p:sp>
          <p:nvSpPr>
            <p:cNvPr name="Freeform 16" id="16"/>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7" id="17"/>
          <p:cNvGrpSpPr/>
          <p:nvPr/>
        </p:nvGrpSpPr>
        <p:grpSpPr>
          <a:xfrm rot="0">
            <a:off x="571957" y="1040875"/>
            <a:ext cx="4729277" cy="834272"/>
            <a:chOff x="0" y="0"/>
            <a:chExt cx="6305702" cy="1112363"/>
          </a:xfrm>
        </p:grpSpPr>
        <p:sp>
          <p:nvSpPr>
            <p:cNvPr name="Freeform 18" id="18"/>
            <p:cNvSpPr/>
            <p:nvPr/>
          </p:nvSpPr>
          <p:spPr>
            <a:xfrm flipH="false" flipV="false" rot="0">
              <a:off x="0" y="0"/>
              <a:ext cx="6305702" cy="1112363"/>
            </a:xfrm>
            <a:custGeom>
              <a:avLst/>
              <a:gdLst/>
              <a:ahLst/>
              <a:cxnLst/>
              <a:rect r="r" b="b" t="t" l="l"/>
              <a:pathLst>
                <a:path h="1112363" w="6305702">
                  <a:moveTo>
                    <a:pt x="0" y="0"/>
                  </a:moveTo>
                  <a:lnTo>
                    <a:pt x="6305702" y="0"/>
                  </a:lnTo>
                  <a:lnTo>
                    <a:pt x="6305702" y="1112363"/>
                  </a:lnTo>
                  <a:lnTo>
                    <a:pt x="0" y="1112363"/>
                  </a:lnTo>
                  <a:close/>
                </a:path>
              </a:pathLst>
            </a:custGeom>
            <a:blipFill>
              <a:blip r:embed="rId3">
                <a:alphaModFix amt="0"/>
              </a:blip>
              <a:stretch>
                <a:fillRect l="0" t="-96727" r="0" b="-24183"/>
              </a:stretch>
            </a:blipFill>
          </p:spPr>
          <p:txBody>
            <a:bodyPr/>
            <a:p/>
          </p:txBody>
        </p:sp>
        <p:sp>
          <p:nvSpPr>
            <p:cNvPr name="TextBox 19" id="19"/>
            <p:cNvSpPr txBox="true"/>
            <p:nvPr/>
          </p:nvSpPr>
          <p:spPr>
            <a:xfrm>
              <a:off x="0" y="0"/>
              <a:ext cx="6305702" cy="1112363"/>
            </a:xfrm>
            <a:prstGeom prst="rect">
              <a:avLst/>
            </a:prstGeom>
          </p:spPr>
          <p:txBody>
            <a:bodyPr anchor="ctr" rtlCol="false" tIns="0" lIns="0" bIns="0" rIns="0"/>
            <a:lstStyle/>
            <a:p>
              <a:pPr algn="l">
                <a:lnSpc>
                  <a:spcPts val="4559"/>
                </a:lnSpc>
              </a:pPr>
              <a:r>
                <a:rPr lang="en-US" sz="3799" spc="-474">
                  <a:solidFill>
                    <a:srgbClr val="FFFFFF"/>
                  </a:solidFill>
                  <a:latin typeface="Manrope"/>
                  <a:ea typeface="Manrope"/>
                  <a:cs typeface="Manrope"/>
                  <a:sym typeface="Manrope"/>
                </a:rPr>
                <a:t>AVENTURE</a:t>
              </a:r>
            </a:p>
          </p:txBody>
        </p:sp>
      </p:grpSp>
      <p:grpSp>
        <p:nvGrpSpPr>
          <p:cNvPr name="Group 20" id="20"/>
          <p:cNvGrpSpPr/>
          <p:nvPr/>
        </p:nvGrpSpPr>
        <p:grpSpPr>
          <a:xfrm rot="0">
            <a:off x="562432" y="1754686"/>
            <a:ext cx="5413705" cy="498491"/>
            <a:chOff x="0" y="0"/>
            <a:chExt cx="7218274" cy="664654"/>
          </a:xfrm>
        </p:grpSpPr>
        <p:sp>
          <p:nvSpPr>
            <p:cNvPr name="Freeform 21" id="21"/>
            <p:cNvSpPr/>
            <p:nvPr/>
          </p:nvSpPr>
          <p:spPr>
            <a:xfrm flipH="false" flipV="false" rot="0">
              <a:off x="0" y="0"/>
              <a:ext cx="7218274" cy="664655"/>
            </a:xfrm>
            <a:custGeom>
              <a:avLst/>
              <a:gdLst/>
              <a:ahLst/>
              <a:cxnLst/>
              <a:rect r="r" b="b" t="t" l="l"/>
              <a:pathLst>
                <a:path h="664655" w="7218274">
                  <a:moveTo>
                    <a:pt x="0" y="0"/>
                  </a:moveTo>
                  <a:lnTo>
                    <a:pt x="7218274" y="0"/>
                  </a:lnTo>
                  <a:lnTo>
                    <a:pt x="7218274" y="664655"/>
                  </a:lnTo>
                  <a:lnTo>
                    <a:pt x="0" y="664655"/>
                  </a:lnTo>
                  <a:close/>
                </a:path>
              </a:pathLst>
            </a:custGeom>
            <a:blipFill>
              <a:blip r:embed="rId3">
                <a:alphaModFix amt="0"/>
              </a:blip>
              <a:stretch>
                <a:fillRect l="0" t="-171439" r="0" b="-151783"/>
              </a:stretch>
            </a:blipFill>
          </p:spPr>
          <p:txBody>
            <a:bodyPr/>
            <a:p/>
          </p:txBody>
        </p:sp>
        <p:sp>
          <p:nvSpPr>
            <p:cNvPr name="TextBox 22" id="22"/>
            <p:cNvSpPr txBox="true"/>
            <p:nvPr/>
          </p:nvSpPr>
          <p:spPr>
            <a:xfrm>
              <a:off x="0" y="-9525"/>
              <a:ext cx="7218274"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Défi · Nature Sauvage · Connexion</a:t>
              </a:r>
            </a:p>
          </p:txBody>
        </p:sp>
      </p:grpSp>
      <p:grpSp>
        <p:nvGrpSpPr>
          <p:cNvPr name="Group 23" id="23"/>
          <p:cNvGrpSpPr/>
          <p:nvPr/>
        </p:nvGrpSpPr>
        <p:grpSpPr>
          <a:xfrm rot="0">
            <a:off x="571957" y="2529230"/>
            <a:ext cx="4729277" cy="293380"/>
            <a:chOff x="0" y="0"/>
            <a:chExt cx="6305702" cy="391173"/>
          </a:xfrm>
        </p:grpSpPr>
        <p:sp>
          <p:nvSpPr>
            <p:cNvPr name="Freeform 24" id="24"/>
            <p:cNvSpPr/>
            <p:nvPr/>
          </p:nvSpPr>
          <p:spPr>
            <a:xfrm flipH="false" flipV="false" rot="0">
              <a:off x="0" y="0"/>
              <a:ext cx="6305702" cy="391173"/>
            </a:xfrm>
            <a:custGeom>
              <a:avLst/>
              <a:gdLst/>
              <a:ahLst/>
              <a:cxnLst/>
              <a:rect r="r" b="b" t="t" l="l"/>
              <a:pathLst>
                <a:path h="391173" w="6305702">
                  <a:moveTo>
                    <a:pt x="0" y="0"/>
                  </a:moveTo>
                  <a:lnTo>
                    <a:pt x="6305702" y="0"/>
                  </a:lnTo>
                  <a:lnTo>
                    <a:pt x="6305702" y="391173"/>
                  </a:lnTo>
                  <a:lnTo>
                    <a:pt x="0" y="391173"/>
                  </a:lnTo>
                  <a:close/>
                </a:path>
              </a:pathLst>
            </a:custGeom>
            <a:blipFill>
              <a:blip r:embed="rId3">
                <a:alphaModFix amt="0"/>
              </a:blip>
              <a:stretch>
                <a:fillRect l="0" t="-275060" r="0" b="-253136"/>
              </a:stretch>
            </a:blipFill>
          </p:spPr>
          <p:txBody>
            <a:bodyPr/>
            <a:p/>
          </p:txBody>
        </p:sp>
        <p:sp>
          <p:nvSpPr>
            <p:cNvPr name="TextBox 25" id="25"/>
            <p:cNvSpPr txBox="true"/>
            <p:nvPr/>
          </p:nvSpPr>
          <p:spPr>
            <a:xfrm>
              <a:off x="0" y="0"/>
              <a:ext cx="63057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Bénéfices Biologiques</a:t>
              </a:r>
            </a:p>
          </p:txBody>
        </p:sp>
      </p:grpSp>
      <p:grpSp>
        <p:nvGrpSpPr>
          <p:cNvPr name="Group 26" id="26"/>
          <p:cNvGrpSpPr/>
          <p:nvPr/>
        </p:nvGrpSpPr>
        <p:grpSpPr>
          <a:xfrm rot="0">
            <a:off x="562432" y="2976448"/>
            <a:ext cx="2219096" cy="1376934"/>
            <a:chOff x="0" y="0"/>
            <a:chExt cx="2958795" cy="1835912"/>
          </a:xfrm>
        </p:grpSpPr>
        <p:sp>
          <p:nvSpPr>
            <p:cNvPr name="Freeform 27" id="27"/>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28" id="28"/>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29" id="29"/>
          <p:cNvGrpSpPr/>
          <p:nvPr/>
        </p:nvGrpSpPr>
        <p:grpSpPr>
          <a:xfrm rot="0">
            <a:off x="814730" y="3228746"/>
            <a:ext cx="1829714" cy="293380"/>
            <a:chOff x="0" y="0"/>
            <a:chExt cx="2439619" cy="391173"/>
          </a:xfrm>
        </p:grpSpPr>
        <p:sp>
          <p:nvSpPr>
            <p:cNvPr name="Freeform 30" id="30"/>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31" id="31"/>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Mitochondries ↑</a:t>
              </a:r>
            </a:p>
          </p:txBody>
        </p:sp>
      </p:grpSp>
      <p:grpSp>
        <p:nvGrpSpPr>
          <p:cNvPr name="Group 32" id="32"/>
          <p:cNvGrpSpPr/>
          <p:nvPr/>
        </p:nvGrpSpPr>
        <p:grpSpPr>
          <a:xfrm rot="0">
            <a:off x="814730" y="3542843"/>
            <a:ext cx="1800911" cy="625907"/>
            <a:chOff x="0" y="0"/>
            <a:chExt cx="2401214" cy="834542"/>
          </a:xfrm>
        </p:grpSpPr>
        <p:sp>
          <p:nvSpPr>
            <p:cNvPr name="Freeform 33" id="33"/>
            <p:cNvSpPr/>
            <p:nvPr/>
          </p:nvSpPr>
          <p:spPr>
            <a:xfrm flipH="false" flipV="false" rot="0">
              <a:off x="0" y="0"/>
              <a:ext cx="2401214" cy="834541"/>
            </a:xfrm>
            <a:custGeom>
              <a:avLst/>
              <a:gdLst/>
              <a:ahLst/>
              <a:cxnLst/>
              <a:rect r="r" b="b" t="t" l="l"/>
              <a:pathLst>
                <a:path h="834541" w="2401214">
                  <a:moveTo>
                    <a:pt x="0" y="0"/>
                  </a:moveTo>
                  <a:lnTo>
                    <a:pt x="2401214" y="0"/>
                  </a:lnTo>
                  <a:lnTo>
                    <a:pt x="2401214" y="834541"/>
                  </a:lnTo>
                  <a:lnTo>
                    <a:pt x="0" y="834541"/>
                  </a:lnTo>
                  <a:close/>
                </a:path>
              </a:pathLst>
            </a:custGeom>
            <a:blipFill>
              <a:blip r:embed="rId3">
                <a:alphaModFix amt="0"/>
              </a:blip>
              <a:stretch>
                <a:fillRect l="0" t="-26370" r="0" b="14242"/>
              </a:stretch>
            </a:blipFill>
          </p:spPr>
          <p:txBody>
            <a:bodyPr/>
            <a:p/>
          </p:txBody>
        </p:sp>
        <p:sp>
          <p:nvSpPr>
            <p:cNvPr name="TextBox 34" id="34"/>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Biogenèse stimulée par l'effort et l'environnement.</a:t>
              </a:r>
            </a:p>
          </p:txBody>
        </p:sp>
      </p:grpSp>
      <p:grpSp>
        <p:nvGrpSpPr>
          <p:cNvPr name="Group 35" id="35"/>
          <p:cNvGrpSpPr/>
          <p:nvPr/>
        </p:nvGrpSpPr>
        <p:grpSpPr>
          <a:xfrm rot="0">
            <a:off x="2927071" y="2976448"/>
            <a:ext cx="2219096" cy="1376934"/>
            <a:chOff x="0" y="0"/>
            <a:chExt cx="2958795" cy="1835912"/>
          </a:xfrm>
        </p:grpSpPr>
        <p:sp>
          <p:nvSpPr>
            <p:cNvPr name="Freeform 36" id="36"/>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37" id="37"/>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38" id="38"/>
          <p:cNvGrpSpPr/>
          <p:nvPr/>
        </p:nvGrpSpPr>
        <p:grpSpPr>
          <a:xfrm rot="0">
            <a:off x="3179369" y="3228746"/>
            <a:ext cx="1829714" cy="293380"/>
            <a:chOff x="0" y="0"/>
            <a:chExt cx="2439619" cy="391173"/>
          </a:xfrm>
        </p:grpSpPr>
        <p:sp>
          <p:nvSpPr>
            <p:cNvPr name="Freeform 39" id="39"/>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0" id="40"/>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Dopamine</a:t>
              </a:r>
            </a:p>
          </p:txBody>
        </p:sp>
      </p:grpSp>
      <p:grpSp>
        <p:nvGrpSpPr>
          <p:cNvPr name="Group 41" id="41"/>
          <p:cNvGrpSpPr/>
          <p:nvPr/>
        </p:nvGrpSpPr>
        <p:grpSpPr>
          <a:xfrm rot="0">
            <a:off x="3179369" y="3542843"/>
            <a:ext cx="1800911" cy="625907"/>
            <a:chOff x="0" y="0"/>
            <a:chExt cx="2401214" cy="834542"/>
          </a:xfrm>
        </p:grpSpPr>
        <p:sp>
          <p:nvSpPr>
            <p:cNvPr name="Freeform 42" id="42"/>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43" id="43"/>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Calibrée par l'effort, la récompense et l'émerveillement.</a:t>
              </a:r>
            </a:p>
          </p:txBody>
        </p:sp>
      </p:grpSp>
      <p:grpSp>
        <p:nvGrpSpPr>
          <p:cNvPr name="Group 44" id="44"/>
          <p:cNvGrpSpPr/>
          <p:nvPr/>
        </p:nvGrpSpPr>
        <p:grpSpPr>
          <a:xfrm rot="0">
            <a:off x="562432" y="4505782"/>
            <a:ext cx="2219096" cy="1190396"/>
            <a:chOff x="0" y="0"/>
            <a:chExt cx="2958795" cy="1587195"/>
          </a:xfrm>
        </p:grpSpPr>
        <p:sp>
          <p:nvSpPr>
            <p:cNvPr name="Freeform 45" id="45"/>
            <p:cNvSpPr/>
            <p:nvPr/>
          </p:nvSpPr>
          <p:spPr>
            <a:xfrm flipH="false" flipV="false" rot="0">
              <a:off x="12700" y="12700"/>
              <a:ext cx="2933319" cy="1561846"/>
            </a:xfrm>
            <a:custGeom>
              <a:avLst/>
              <a:gdLst/>
              <a:ahLst/>
              <a:cxnLst/>
              <a:rect r="r" b="b" t="t" l="l"/>
              <a:pathLst>
                <a:path h="1561846" w="2933319">
                  <a:moveTo>
                    <a:pt x="0" y="178435"/>
                  </a:moveTo>
                  <a:cubicBezTo>
                    <a:pt x="0" y="79883"/>
                    <a:pt x="80518" y="0"/>
                    <a:pt x="179705" y="0"/>
                  </a:cubicBezTo>
                  <a:lnTo>
                    <a:pt x="2753614" y="0"/>
                  </a:lnTo>
                  <a:cubicBezTo>
                    <a:pt x="2852928" y="0"/>
                    <a:pt x="2933319" y="79883"/>
                    <a:pt x="2933319" y="178435"/>
                  </a:cubicBezTo>
                  <a:lnTo>
                    <a:pt x="2933319" y="1383411"/>
                  </a:lnTo>
                  <a:cubicBezTo>
                    <a:pt x="2933319" y="1481963"/>
                    <a:pt x="2852801" y="1561846"/>
                    <a:pt x="2753614" y="1561846"/>
                  </a:cubicBezTo>
                  <a:lnTo>
                    <a:pt x="179705" y="1561846"/>
                  </a:lnTo>
                  <a:cubicBezTo>
                    <a:pt x="80518" y="1561846"/>
                    <a:pt x="0" y="1481963"/>
                    <a:pt x="0" y="1383411"/>
                  </a:cubicBezTo>
                  <a:close/>
                </a:path>
              </a:pathLst>
            </a:custGeom>
            <a:solidFill>
              <a:srgbClr val="1E1E24"/>
            </a:solidFill>
          </p:spPr>
          <p:txBody>
            <a:bodyPr/>
            <a:p/>
          </p:txBody>
        </p:sp>
        <p:sp>
          <p:nvSpPr>
            <p:cNvPr name="Freeform 46" id="46"/>
            <p:cNvSpPr/>
            <p:nvPr/>
          </p:nvSpPr>
          <p:spPr>
            <a:xfrm flipH="false" flipV="false" rot="0">
              <a:off x="0" y="0"/>
              <a:ext cx="2958719" cy="1587246"/>
            </a:xfrm>
            <a:custGeom>
              <a:avLst/>
              <a:gdLst/>
              <a:ahLst/>
              <a:cxnLst/>
              <a:rect r="r" b="b" t="t" l="l"/>
              <a:pathLst>
                <a:path h="1587246" w="2958719">
                  <a:moveTo>
                    <a:pt x="0" y="191135"/>
                  </a:moveTo>
                  <a:cubicBezTo>
                    <a:pt x="0" y="85471"/>
                    <a:pt x="86233" y="0"/>
                    <a:pt x="192405" y="0"/>
                  </a:cubicBezTo>
                  <a:lnTo>
                    <a:pt x="2766314" y="0"/>
                  </a:lnTo>
                  <a:lnTo>
                    <a:pt x="2766314" y="12700"/>
                  </a:lnTo>
                  <a:lnTo>
                    <a:pt x="2766314" y="0"/>
                  </a:lnTo>
                  <a:cubicBezTo>
                    <a:pt x="2872486" y="0"/>
                    <a:pt x="2958719" y="85471"/>
                    <a:pt x="2958719" y="191135"/>
                  </a:cubicBezTo>
                  <a:lnTo>
                    <a:pt x="2946019" y="191135"/>
                  </a:lnTo>
                  <a:lnTo>
                    <a:pt x="2958719" y="191135"/>
                  </a:lnTo>
                  <a:lnTo>
                    <a:pt x="2958719" y="1396111"/>
                  </a:lnTo>
                  <a:lnTo>
                    <a:pt x="2946019" y="1396111"/>
                  </a:lnTo>
                  <a:lnTo>
                    <a:pt x="2958719" y="1396111"/>
                  </a:lnTo>
                  <a:cubicBezTo>
                    <a:pt x="2958719" y="1501775"/>
                    <a:pt x="2872486" y="1587246"/>
                    <a:pt x="2766314" y="1587246"/>
                  </a:cubicBezTo>
                  <a:lnTo>
                    <a:pt x="2766314" y="1574546"/>
                  </a:lnTo>
                  <a:lnTo>
                    <a:pt x="2766314" y="1587246"/>
                  </a:lnTo>
                  <a:lnTo>
                    <a:pt x="192405" y="1587246"/>
                  </a:lnTo>
                  <a:lnTo>
                    <a:pt x="192405" y="1574546"/>
                  </a:lnTo>
                  <a:lnTo>
                    <a:pt x="192405" y="1587246"/>
                  </a:lnTo>
                  <a:cubicBezTo>
                    <a:pt x="86233" y="1587246"/>
                    <a:pt x="0" y="1501775"/>
                    <a:pt x="0" y="1396111"/>
                  </a:cubicBezTo>
                  <a:lnTo>
                    <a:pt x="0" y="191135"/>
                  </a:lnTo>
                  <a:lnTo>
                    <a:pt x="12700" y="191135"/>
                  </a:lnTo>
                  <a:lnTo>
                    <a:pt x="0" y="191135"/>
                  </a:lnTo>
                  <a:moveTo>
                    <a:pt x="25400" y="191135"/>
                  </a:moveTo>
                  <a:lnTo>
                    <a:pt x="25400" y="1396111"/>
                  </a:lnTo>
                  <a:lnTo>
                    <a:pt x="12700" y="1396111"/>
                  </a:lnTo>
                  <a:lnTo>
                    <a:pt x="25400" y="1396111"/>
                  </a:lnTo>
                  <a:cubicBezTo>
                    <a:pt x="25400" y="1487551"/>
                    <a:pt x="100076" y="1561846"/>
                    <a:pt x="192405" y="1561846"/>
                  </a:cubicBezTo>
                  <a:lnTo>
                    <a:pt x="2766314" y="1561846"/>
                  </a:lnTo>
                  <a:cubicBezTo>
                    <a:pt x="2858643" y="1561846"/>
                    <a:pt x="2933319" y="1487551"/>
                    <a:pt x="2933319" y="1396111"/>
                  </a:cubicBezTo>
                  <a:lnTo>
                    <a:pt x="2933319" y="191135"/>
                  </a:lnTo>
                  <a:cubicBezTo>
                    <a:pt x="2933319" y="99695"/>
                    <a:pt x="2858643" y="25400"/>
                    <a:pt x="2766314" y="25400"/>
                  </a:cubicBezTo>
                  <a:lnTo>
                    <a:pt x="192405" y="25400"/>
                  </a:lnTo>
                  <a:lnTo>
                    <a:pt x="192405" y="12700"/>
                  </a:lnTo>
                  <a:lnTo>
                    <a:pt x="192405" y="25400"/>
                  </a:lnTo>
                  <a:cubicBezTo>
                    <a:pt x="100076" y="25400"/>
                    <a:pt x="25400" y="99695"/>
                    <a:pt x="25400" y="191135"/>
                  </a:cubicBezTo>
                  <a:close/>
                </a:path>
              </a:pathLst>
            </a:custGeom>
            <a:solidFill>
              <a:srgbClr val="40424D"/>
            </a:solidFill>
          </p:spPr>
          <p:txBody>
            <a:bodyPr/>
            <a:p/>
          </p:txBody>
        </p:sp>
      </p:grpSp>
      <p:grpSp>
        <p:nvGrpSpPr>
          <p:cNvPr name="Group 47" id="47"/>
          <p:cNvGrpSpPr/>
          <p:nvPr/>
        </p:nvGrpSpPr>
        <p:grpSpPr>
          <a:xfrm rot="0">
            <a:off x="814730" y="4758080"/>
            <a:ext cx="1829714" cy="293380"/>
            <a:chOff x="0" y="0"/>
            <a:chExt cx="2439619" cy="391173"/>
          </a:xfrm>
        </p:grpSpPr>
        <p:sp>
          <p:nvSpPr>
            <p:cNvPr name="Freeform 48" id="48"/>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9" id="49"/>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Résilience</a:t>
              </a:r>
            </a:p>
          </p:txBody>
        </p:sp>
      </p:grpSp>
      <p:grpSp>
        <p:nvGrpSpPr>
          <p:cNvPr name="Group 50" id="50"/>
          <p:cNvGrpSpPr/>
          <p:nvPr/>
        </p:nvGrpSpPr>
        <p:grpSpPr>
          <a:xfrm rot="0">
            <a:off x="814730" y="5072177"/>
            <a:ext cx="1800911" cy="444932"/>
            <a:chOff x="0" y="0"/>
            <a:chExt cx="2401214" cy="593242"/>
          </a:xfrm>
        </p:grpSpPr>
        <p:sp>
          <p:nvSpPr>
            <p:cNvPr name="Freeform 51" id="51"/>
            <p:cNvSpPr/>
            <p:nvPr/>
          </p:nvSpPr>
          <p:spPr>
            <a:xfrm flipH="false" flipV="false" rot="0">
              <a:off x="0" y="0"/>
              <a:ext cx="2401214" cy="593241"/>
            </a:xfrm>
            <a:custGeom>
              <a:avLst/>
              <a:gdLst/>
              <a:ahLst/>
              <a:cxnLst/>
              <a:rect r="r" b="b" t="t" l="l"/>
              <a:pathLst>
                <a:path h="593241" w="2401214">
                  <a:moveTo>
                    <a:pt x="0" y="0"/>
                  </a:moveTo>
                  <a:lnTo>
                    <a:pt x="2401214" y="0"/>
                  </a:lnTo>
                  <a:lnTo>
                    <a:pt x="2401214" y="593241"/>
                  </a:lnTo>
                  <a:lnTo>
                    <a:pt x="0" y="593241"/>
                  </a:lnTo>
                  <a:close/>
                </a:path>
              </a:pathLst>
            </a:custGeom>
            <a:blipFill>
              <a:blip r:embed="rId3">
                <a:alphaModFix amt="0"/>
              </a:blip>
              <a:stretch>
                <a:fillRect l="0" t="-37097" r="0" b="-20638"/>
              </a:stretch>
            </a:blipFill>
          </p:spPr>
          <p:txBody>
            <a:bodyPr/>
            <a:p/>
          </p:txBody>
        </p:sp>
        <p:sp>
          <p:nvSpPr>
            <p:cNvPr name="TextBox 52" id="52"/>
            <p:cNvSpPr txBox="true"/>
            <p:nvPr/>
          </p:nvSpPr>
          <p:spPr>
            <a:xfrm>
              <a:off x="0" y="0"/>
              <a:ext cx="2401214" cy="5932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Capacité adaptative face à l'inconfort.</a:t>
              </a:r>
            </a:p>
          </p:txBody>
        </p:sp>
      </p:grpSp>
      <p:grpSp>
        <p:nvGrpSpPr>
          <p:cNvPr name="Group 53" id="53"/>
          <p:cNvGrpSpPr/>
          <p:nvPr/>
        </p:nvGrpSpPr>
        <p:grpSpPr>
          <a:xfrm rot="0">
            <a:off x="2927071" y="4505782"/>
            <a:ext cx="2219096" cy="1190396"/>
            <a:chOff x="0" y="0"/>
            <a:chExt cx="2958795" cy="1587195"/>
          </a:xfrm>
        </p:grpSpPr>
        <p:sp>
          <p:nvSpPr>
            <p:cNvPr name="Freeform 54" id="54"/>
            <p:cNvSpPr/>
            <p:nvPr/>
          </p:nvSpPr>
          <p:spPr>
            <a:xfrm flipH="false" flipV="false" rot="0">
              <a:off x="12700" y="12700"/>
              <a:ext cx="2933319" cy="1561846"/>
            </a:xfrm>
            <a:custGeom>
              <a:avLst/>
              <a:gdLst/>
              <a:ahLst/>
              <a:cxnLst/>
              <a:rect r="r" b="b" t="t" l="l"/>
              <a:pathLst>
                <a:path h="1561846" w="2933319">
                  <a:moveTo>
                    <a:pt x="0" y="178435"/>
                  </a:moveTo>
                  <a:cubicBezTo>
                    <a:pt x="0" y="79883"/>
                    <a:pt x="80518" y="0"/>
                    <a:pt x="179705" y="0"/>
                  </a:cubicBezTo>
                  <a:lnTo>
                    <a:pt x="2753614" y="0"/>
                  </a:lnTo>
                  <a:cubicBezTo>
                    <a:pt x="2852928" y="0"/>
                    <a:pt x="2933319" y="79883"/>
                    <a:pt x="2933319" y="178435"/>
                  </a:cubicBezTo>
                  <a:lnTo>
                    <a:pt x="2933319" y="1383411"/>
                  </a:lnTo>
                  <a:cubicBezTo>
                    <a:pt x="2933319" y="1481963"/>
                    <a:pt x="2852801" y="1561846"/>
                    <a:pt x="2753614" y="1561846"/>
                  </a:cubicBezTo>
                  <a:lnTo>
                    <a:pt x="179705" y="1561846"/>
                  </a:lnTo>
                  <a:cubicBezTo>
                    <a:pt x="80518" y="1561846"/>
                    <a:pt x="0" y="1481963"/>
                    <a:pt x="0" y="1383411"/>
                  </a:cubicBezTo>
                  <a:close/>
                </a:path>
              </a:pathLst>
            </a:custGeom>
            <a:solidFill>
              <a:srgbClr val="1E1E24"/>
            </a:solidFill>
          </p:spPr>
          <p:txBody>
            <a:bodyPr/>
            <a:p/>
          </p:txBody>
        </p:sp>
        <p:sp>
          <p:nvSpPr>
            <p:cNvPr name="Freeform 55" id="55"/>
            <p:cNvSpPr/>
            <p:nvPr/>
          </p:nvSpPr>
          <p:spPr>
            <a:xfrm flipH="false" flipV="false" rot="0">
              <a:off x="0" y="0"/>
              <a:ext cx="2958719" cy="1587246"/>
            </a:xfrm>
            <a:custGeom>
              <a:avLst/>
              <a:gdLst/>
              <a:ahLst/>
              <a:cxnLst/>
              <a:rect r="r" b="b" t="t" l="l"/>
              <a:pathLst>
                <a:path h="1587246" w="2958719">
                  <a:moveTo>
                    <a:pt x="0" y="191135"/>
                  </a:moveTo>
                  <a:cubicBezTo>
                    <a:pt x="0" y="85471"/>
                    <a:pt x="86233" y="0"/>
                    <a:pt x="192405" y="0"/>
                  </a:cubicBezTo>
                  <a:lnTo>
                    <a:pt x="2766314" y="0"/>
                  </a:lnTo>
                  <a:lnTo>
                    <a:pt x="2766314" y="12700"/>
                  </a:lnTo>
                  <a:lnTo>
                    <a:pt x="2766314" y="0"/>
                  </a:lnTo>
                  <a:cubicBezTo>
                    <a:pt x="2872486" y="0"/>
                    <a:pt x="2958719" y="85471"/>
                    <a:pt x="2958719" y="191135"/>
                  </a:cubicBezTo>
                  <a:lnTo>
                    <a:pt x="2946019" y="191135"/>
                  </a:lnTo>
                  <a:lnTo>
                    <a:pt x="2958719" y="191135"/>
                  </a:lnTo>
                  <a:lnTo>
                    <a:pt x="2958719" y="1396111"/>
                  </a:lnTo>
                  <a:lnTo>
                    <a:pt x="2946019" y="1396111"/>
                  </a:lnTo>
                  <a:lnTo>
                    <a:pt x="2958719" y="1396111"/>
                  </a:lnTo>
                  <a:cubicBezTo>
                    <a:pt x="2958719" y="1501775"/>
                    <a:pt x="2872486" y="1587246"/>
                    <a:pt x="2766314" y="1587246"/>
                  </a:cubicBezTo>
                  <a:lnTo>
                    <a:pt x="2766314" y="1574546"/>
                  </a:lnTo>
                  <a:lnTo>
                    <a:pt x="2766314" y="1587246"/>
                  </a:lnTo>
                  <a:lnTo>
                    <a:pt x="192405" y="1587246"/>
                  </a:lnTo>
                  <a:lnTo>
                    <a:pt x="192405" y="1574546"/>
                  </a:lnTo>
                  <a:lnTo>
                    <a:pt x="192405" y="1587246"/>
                  </a:lnTo>
                  <a:cubicBezTo>
                    <a:pt x="86233" y="1587246"/>
                    <a:pt x="0" y="1501775"/>
                    <a:pt x="0" y="1396111"/>
                  </a:cubicBezTo>
                  <a:lnTo>
                    <a:pt x="0" y="191135"/>
                  </a:lnTo>
                  <a:lnTo>
                    <a:pt x="12700" y="191135"/>
                  </a:lnTo>
                  <a:lnTo>
                    <a:pt x="0" y="191135"/>
                  </a:lnTo>
                  <a:moveTo>
                    <a:pt x="25400" y="191135"/>
                  </a:moveTo>
                  <a:lnTo>
                    <a:pt x="25400" y="1396111"/>
                  </a:lnTo>
                  <a:lnTo>
                    <a:pt x="12700" y="1396111"/>
                  </a:lnTo>
                  <a:lnTo>
                    <a:pt x="25400" y="1396111"/>
                  </a:lnTo>
                  <a:cubicBezTo>
                    <a:pt x="25400" y="1487551"/>
                    <a:pt x="100076" y="1561846"/>
                    <a:pt x="192405" y="1561846"/>
                  </a:cubicBezTo>
                  <a:lnTo>
                    <a:pt x="2766314" y="1561846"/>
                  </a:lnTo>
                  <a:cubicBezTo>
                    <a:pt x="2858643" y="1561846"/>
                    <a:pt x="2933319" y="1487551"/>
                    <a:pt x="2933319" y="1396111"/>
                  </a:cubicBezTo>
                  <a:lnTo>
                    <a:pt x="2933319" y="191135"/>
                  </a:lnTo>
                  <a:cubicBezTo>
                    <a:pt x="2933319" y="99695"/>
                    <a:pt x="2858643" y="25400"/>
                    <a:pt x="2766314" y="25400"/>
                  </a:cubicBezTo>
                  <a:lnTo>
                    <a:pt x="192405" y="25400"/>
                  </a:lnTo>
                  <a:lnTo>
                    <a:pt x="192405" y="12700"/>
                  </a:lnTo>
                  <a:lnTo>
                    <a:pt x="192405" y="25400"/>
                  </a:lnTo>
                  <a:cubicBezTo>
                    <a:pt x="100076" y="25400"/>
                    <a:pt x="25400" y="99695"/>
                    <a:pt x="25400" y="191135"/>
                  </a:cubicBezTo>
                  <a:close/>
                </a:path>
              </a:pathLst>
            </a:custGeom>
            <a:solidFill>
              <a:srgbClr val="40424D"/>
            </a:solidFill>
          </p:spPr>
          <p:txBody>
            <a:bodyPr/>
            <a:p/>
          </p:txBody>
        </p:sp>
      </p:grpSp>
      <p:grpSp>
        <p:nvGrpSpPr>
          <p:cNvPr name="Group 56" id="56"/>
          <p:cNvGrpSpPr/>
          <p:nvPr/>
        </p:nvGrpSpPr>
        <p:grpSpPr>
          <a:xfrm rot="0">
            <a:off x="3179369" y="4758080"/>
            <a:ext cx="1829714" cy="293380"/>
            <a:chOff x="0" y="0"/>
            <a:chExt cx="2439619" cy="391173"/>
          </a:xfrm>
        </p:grpSpPr>
        <p:sp>
          <p:nvSpPr>
            <p:cNvPr name="Freeform 57" id="57"/>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58" id="58"/>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Souvenirs</a:t>
              </a:r>
            </a:p>
          </p:txBody>
        </p:sp>
      </p:grpSp>
      <p:grpSp>
        <p:nvGrpSpPr>
          <p:cNvPr name="Group 59" id="59"/>
          <p:cNvGrpSpPr/>
          <p:nvPr/>
        </p:nvGrpSpPr>
        <p:grpSpPr>
          <a:xfrm rot="0">
            <a:off x="3179369" y="5072177"/>
            <a:ext cx="1800911" cy="444932"/>
            <a:chOff x="0" y="0"/>
            <a:chExt cx="2401214" cy="593242"/>
          </a:xfrm>
        </p:grpSpPr>
        <p:sp>
          <p:nvSpPr>
            <p:cNvPr name="Freeform 60" id="60"/>
            <p:cNvSpPr/>
            <p:nvPr/>
          </p:nvSpPr>
          <p:spPr>
            <a:xfrm flipH="false" flipV="false" rot="0">
              <a:off x="0" y="0"/>
              <a:ext cx="2401214" cy="593241"/>
            </a:xfrm>
            <a:custGeom>
              <a:avLst/>
              <a:gdLst/>
              <a:ahLst/>
              <a:cxnLst/>
              <a:rect r="r" b="b" t="t" l="l"/>
              <a:pathLst>
                <a:path h="593241" w="2401214">
                  <a:moveTo>
                    <a:pt x="0" y="0"/>
                  </a:moveTo>
                  <a:lnTo>
                    <a:pt x="2401214" y="0"/>
                  </a:lnTo>
                  <a:lnTo>
                    <a:pt x="2401214" y="593241"/>
                  </a:lnTo>
                  <a:lnTo>
                    <a:pt x="0" y="593241"/>
                  </a:lnTo>
                  <a:close/>
                </a:path>
              </a:pathLst>
            </a:custGeom>
            <a:blipFill>
              <a:blip r:embed="rId3">
                <a:alphaModFix amt="0"/>
              </a:blip>
              <a:stretch>
                <a:fillRect l="0" t="-37097" r="0" b="-20638"/>
              </a:stretch>
            </a:blipFill>
          </p:spPr>
          <p:txBody>
            <a:bodyPr/>
            <a:p/>
          </p:txBody>
        </p:sp>
        <p:sp>
          <p:nvSpPr>
            <p:cNvPr name="TextBox 61" id="61"/>
            <p:cNvSpPr txBox="true"/>
            <p:nvPr/>
          </p:nvSpPr>
          <p:spPr>
            <a:xfrm>
              <a:off x="0" y="0"/>
              <a:ext cx="2401214" cy="5932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Ancrage émotionnel durable et sens.</a:t>
              </a:r>
            </a:p>
          </p:txBody>
        </p:sp>
      </p:grpSp>
      <p:grpSp>
        <p:nvGrpSpPr>
          <p:cNvPr name="Group 62" id="62"/>
          <p:cNvGrpSpPr/>
          <p:nvPr/>
        </p:nvGrpSpPr>
        <p:grpSpPr>
          <a:xfrm rot="0">
            <a:off x="562432" y="7848371"/>
            <a:ext cx="4576877" cy="1876196"/>
            <a:chOff x="0" y="0"/>
            <a:chExt cx="6102502" cy="2501595"/>
          </a:xfrm>
        </p:grpSpPr>
        <p:sp>
          <p:nvSpPr>
            <p:cNvPr name="Freeform 63" id="63"/>
            <p:cNvSpPr/>
            <p:nvPr/>
          </p:nvSpPr>
          <p:spPr>
            <a:xfrm flipH="false" flipV="false" rot="0">
              <a:off x="12700" y="12700"/>
              <a:ext cx="6077077" cy="2476246"/>
            </a:xfrm>
            <a:custGeom>
              <a:avLst/>
              <a:gdLst/>
              <a:ahLst/>
              <a:cxnLst/>
              <a:rect r="r" b="b" t="t" l="l"/>
              <a:pathLst>
                <a:path h="2476246" w="6077077">
                  <a:moveTo>
                    <a:pt x="0" y="0"/>
                  </a:moveTo>
                  <a:lnTo>
                    <a:pt x="6077077" y="0"/>
                  </a:lnTo>
                  <a:lnTo>
                    <a:pt x="6077077" y="2476246"/>
                  </a:lnTo>
                  <a:lnTo>
                    <a:pt x="0" y="2476246"/>
                  </a:lnTo>
                  <a:close/>
                </a:path>
              </a:pathLst>
            </a:custGeom>
            <a:solidFill>
              <a:srgbClr val="40424D">
                <a:alpha val="784"/>
              </a:srgbClr>
            </a:solidFill>
          </p:spPr>
          <p:txBody>
            <a:bodyPr/>
            <a:p/>
          </p:txBody>
        </p:sp>
        <p:sp>
          <p:nvSpPr>
            <p:cNvPr name="Freeform 64" id="64"/>
            <p:cNvSpPr/>
            <p:nvPr/>
          </p:nvSpPr>
          <p:spPr>
            <a:xfrm flipH="false" flipV="false" rot="0">
              <a:off x="0" y="0"/>
              <a:ext cx="6102477" cy="2501646"/>
            </a:xfrm>
            <a:custGeom>
              <a:avLst/>
              <a:gdLst/>
              <a:ahLst/>
              <a:cxnLst/>
              <a:rect r="r" b="b" t="t" l="l"/>
              <a:pathLst>
                <a:path h="2501646" w="6102477">
                  <a:moveTo>
                    <a:pt x="12700" y="0"/>
                  </a:moveTo>
                  <a:lnTo>
                    <a:pt x="6089777" y="0"/>
                  </a:lnTo>
                  <a:cubicBezTo>
                    <a:pt x="6096762" y="0"/>
                    <a:pt x="6102477" y="5715"/>
                    <a:pt x="6102477" y="12700"/>
                  </a:cubicBezTo>
                  <a:lnTo>
                    <a:pt x="6102477" y="2488946"/>
                  </a:lnTo>
                  <a:cubicBezTo>
                    <a:pt x="6102477" y="2495931"/>
                    <a:pt x="6096762" y="2501646"/>
                    <a:pt x="6089777" y="2501646"/>
                  </a:cubicBezTo>
                  <a:lnTo>
                    <a:pt x="12700" y="2501646"/>
                  </a:lnTo>
                  <a:cubicBezTo>
                    <a:pt x="5715" y="2501646"/>
                    <a:pt x="0" y="2495931"/>
                    <a:pt x="0" y="2488946"/>
                  </a:cubicBezTo>
                  <a:lnTo>
                    <a:pt x="0" y="12700"/>
                  </a:lnTo>
                  <a:cubicBezTo>
                    <a:pt x="0" y="5715"/>
                    <a:pt x="5715" y="0"/>
                    <a:pt x="12700" y="0"/>
                  </a:cubicBezTo>
                  <a:moveTo>
                    <a:pt x="12700" y="25400"/>
                  </a:moveTo>
                  <a:lnTo>
                    <a:pt x="12700" y="12700"/>
                  </a:lnTo>
                  <a:lnTo>
                    <a:pt x="25400" y="12700"/>
                  </a:lnTo>
                  <a:lnTo>
                    <a:pt x="25400" y="2488946"/>
                  </a:lnTo>
                  <a:lnTo>
                    <a:pt x="12700" y="2488946"/>
                  </a:lnTo>
                  <a:lnTo>
                    <a:pt x="12700" y="2476246"/>
                  </a:lnTo>
                  <a:lnTo>
                    <a:pt x="6089777" y="2476246"/>
                  </a:lnTo>
                  <a:lnTo>
                    <a:pt x="6089777" y="2488946"/>
                  </a:lnTo>
                  <a:lnTo>
                    <a:pt x="6077077" y="2488946"/>
                  </a:lnTo>
                  <a:lnTo>
                    <a:pt x="6077077" y="12700"/>
                  </a:lnTo>
                  <a:lnTo>
                    <a:pt x="6089777" y="12700"/>
                  </a:lnTo>
                  <a:lnTo>
                    <a:pt x="6089777" y="25400"/>
                  </a:lnTo>
                  <a:lnTo>
                    <a:pt x="12700" y="25400"/>
                  </a:lnTo>
                  <a:close/>
                </a:path>
              </a:pathLst>
            </a:custGeom>
            <a:solidFill>
              <a:srgbClr val="40424D"/>
            </a:solidFill>
          </p:spPr>
          <p:txBody>
            <a:bodyPr/>
            <a:p/>
          </p:txBody>
        </p:sp>
      </p:grpSp>
      <p:grpSp>
        <p:nvGrpSpPr>
          <p:cNvPr name="Group 65" id="65"/>
          <p:cNvGrpSpPr/>
          <p:nvPr/>
        </p:nvGrpSpPr>
        <p:grpSpPr>
          <a:xfrm rot="0">
            <a:off x="562432" y="7848371"/>
            <a:ext cx="61570" cy="1876196"/>
            <a:chOff x="0" y="0"/>
            <a:chExt cx="82093" cy="2501595"/>
          </a:xfrm>
        </p:grpSpPr>
        <p:sp>
          <p:nvSpPr>
            <p:cNvPr name="Freeform 66" id="66"/>
            <p:cNvSpPr/>
            <p:nvPr/>
          </p:nvSpPr>
          <p:spPr>
            <a:xfrm flipH="false" flipV="false" rot="0">
              <a:off x="12700" y="12700"/>
              <a:ext cx="56642" cy="2476246"/>
            </a:xfrm>
            <a:custGeom>
              <a:avLst/>
              <a:gdLst/>
              <a:ahLst/>
              <a:cxnLst/>
              <a:rect r="r" b="b" t="t" l="l"/>
              <a:pathLst>
                <a:path h="2476246" w="56642">
                  <a:moveTo>
                    <a:pt x="0" y="0"/>
                  </a:moveTo>
                  <a:lnTo>
                    <a:pt x="56642" y="0"/>
                  </a:lnTo>
                  <a:lnTo>
                    <a:pt x="56642" y="2476246"/>
                  </a:lnTo>
                  <a:lnTo>
                    <a:pt x="0" y="2476246"/>
                  </a:lnTo>
                  <a:close/>
                </a:path>
              </a:pathLst>
            </a:custGeom>
            <a:solidFill>
              <a:srgbClr val="FFFFFF"/>
            </a:solidFill>
          </p:spPr>
          <p:txBody>
            <a:bodyPr/>
            <a:p/>
          </p:txBody>
        </p:sp>
      </p:grpSp>
      <p:grpSp>
        <p:nvGrpSpPr>
          <p:cNvPr name="Group 67" id="67"/>
          <p:cNvGrpSpPr/>
          <p:nvPr/>
        </p:nvGrpSpPr>
        <p:grpSpPr>
          <a:xfrm rot="0">
            <a:off x="899770" y="8158277"/>
            <a:ext cx="171450" cy="229057"/>
            <a:chOff x="0" y="0"/>
            <a:chExt cx="228600" cy="305410"/>
          </a:xfrm>
        </p:grpSpPr>
        <p:sp>
          <p:nvSpPr>
            <p:cNvPr name="Freeform 68" id="68" descr="preencoded.png"/>
            <p:cNvSpPr/>
            <p:nvPr/>
          </p:nvSpPr>
          <p:spPr>
            <a:xfrm flipH="false" flipV="false" rot="0">
              <a:off x="0" y="0"/>
              <a:ext cx="228600" cy="305435"/>
            </a:xfrm>
            <a:custGeom>
              <a:avLst/>
              <a:gdLst/>
              <a:ahLst/>
              <a:cxnLst/>
              <a:rect r="r" b="b" t="t" l="l"/>
              <a:pathLst>
                <a:path h="305435" w="228600">
                  <a:moveTo>
                    <a:pt x="0" y="0"/>
                  </a:moveTo>
                  <a:lnTo>
                    <a:pt x="228600" y="0"/>
                  </a:lnTo>
                  <a:lnTo>
                    <a:pt x="228600" y="305435"/>
                  </a:lnTo>
                  <a:lnTo>
                    <a:pt x="0" y="305435"/>
                  </a:lnTo>
                  <a:lnTo>
                    <a:pt x="0" y="0"/>
                  </a:lnTo>
                  <a:close/>
                </a:path>
              </a:pathLst>
            </a:custGeom>
            <a:blipFill>
              <a:blip r:embed="rId4"/>
              <a:stretch>
                <a:fillRect l="0" t="12573" r="0" b="12582"/>
              </a:stretch>
            </a:blipFill>
          </p:spPr>
          <p:txBody>
            <a:bodyPr/>
            <a:p/>
          </p:txBody>
        </p:sp>
      </p:grpSp>
      <p:grpSp>
        <p:nvGrpSpPr>
          <p:cNvPr name="Group 69" id="69"/>
          <p:cNvGrpSpPr/>
          <p:nvPr/>
        </p:nvGrpSpPr>
        <p:grpSpPr>
          <a:xfrm rot="0">
            <a:off x="1186434" y="8158277"/>
            <a:ext cx="1671980" cy="293380"/>
            <a:chOff x="0" y="0"/>
            <a:chExt cx="2229307" cy="391173"/>
          </a:xfrm>
        </p:grpSpPr>
        <p:sp>
          <p:nvSpPr>
            <p:cNvPr name="Freeform 70" id="70"/>
            <p:cNvSpPr/>
            <p:nvPr/>
          </p:nvSpPr>
          <p:spPr>
            <a:xfrm flipH="false" flipV="false" rot="0">
              <a:off x="0" y="0"/>
              <a:ext cx="2229308" cy="391173"/>
            </a:xfrm>
            <a:custGeom>
              <a:avLst/>
              <a:gdLst/>
              <a:ahLst/>
              <a:cxnLst/>
              <a:rect r="r" b="b" t="t" l="l"/>
              <a:pathLst>
                <a:path h="391173" w="2229308">
                  <a:moveTo>
                    <a:pt x="0" y="0"/>
                  </a:moveTo>
                  <a:lnTo>
                    <a:pt x="2229308" y="0"/>
                  </a:lnTo>
                  <a:lnTo>
                    <a:pt x="2229308" y="391173"/>
                  </a:lnTo>
                  <a:lnTo>
                    <a:pt x="0" y="391173"/>
                  </a:lnTo>
                  <a:close/>
                </a:path>
              </a:pathLst>
            </a:custGeom>
            <a:blipFill>
              <a:blip r:embed="rId3">
                <a:alphaModFix amt="0"/>
              </a:blip>
              <a:stretch>
                <a:fillRect l="0" t="-72008" r="0" b="-50083"/>
              </a:stretch>
            </a:blipFill>
          </p:spPr>
          <p:txBody>
            <a:bodyPr/>
            <a:p/>
          </p:txBody>
        </p:sp>
        <p:sp>
          <p:nvSpPr>
            <p:cNvPr name="TextBox 71" id="71"/>
            <p:cNvSpPr txBox="true"/>
            <p:nvPr/>
          </p:nvSpPr>
          <p:spPr>
            <a:xfrm>
              <a:off x="0" y="0"/>
              <a:ext cx="2229307"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Neuroplasticité</a:t>
              </a:r>
            </a:p>
          </p:txBody>
        </p:sp>
      </p:grpSp>
      <p:grpSp>
        <p:nvGrpSpPr>
          <p:cNvPr name="Group 72" id="72"/>
          <p:cNvGrpSpPr/>
          <p:nvPr/>
        </p:nvGrpSpPr>
        <p:grpSpPr>
          <a:xfrm rot="0">
            <a:off x="899770" y="8501177"/>
            <a:ext cx="4087368" cy="293380"/>
            <a:chOff x="0" y="0"/>
            <a:chExt cx="5449824" cy="391173"/>
          </a:xfrm>
        </p:grpSpPr>
        <p:sp>
          <p:nvSpPr>
            <p:cNvPr name="Freeform 73" id="73"/>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74" id="74"/>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Nouveauté &amp; Apprentissage continu</a:t>
              </a:r>
            </a:p>
          </p:txBody>
        </p:sp>
      </p:grpSp>
      <p:grpSp>
        <p:nvGrpSpPr>
          <p:cNvPr name="Group 75" id="75"/>
          <p:cNvGrpSpPr/>
          <p:nvPr/>
        </p:nvGrpSpPr>
        <p:grpSpPr>
          <a:xfrm rot="0">
            <a:off x="899770" y="8844077"/>
            <a:ext cx="4087368" cy="293380"/>
            <a:chOff x="0" y="0"/>
            <a:chExt cx="5449824" cy="391173"/>
          </a:xfrm>
        </p:grpSpPr>
        <p:sp>
          <p:nvSpPr>
            <p:cNvPr name="Freeform 76" id="76"/>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77" id="77"/>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Coordination motrice complexe</a:t>
              </a:r>
            </a:p>
          </p:txBody>
        </p:sp>
      </p:grpSp>
      <p:grpSp>
        <p:nvGrpSpPr>
          <p:cNvPr name="Group 78" id="78"/>
          <p:cNvGrpSpPr/>
          <p:nvPr/>
        </p:nvGrpSpPr>
        <p:grpSpPr>
          <a:xfrm rot="0">
            <a:off x="899770" y="9186977"/>
            <a:ext cx="4087368" cy="293380"/>
            <a:chOff x="0" y="0"/>
            <a:chExt cx="5449824" cy="391173"/>
          </a:xfrm>
        </p:grpSpPr>
        <p:sp>
          <p:nvSpPr>
            <p:cNvPr name="Freeform 79" id="79"/>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80" id="80"/>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État d'émerveillement (Awe)</a:t>
              </a:r>
            </a:p>
          </p:txBody>
        </p:sp>
      </p:grpSp>
      <p:grpSp>
        <p:nvGrpSpPr>
          <p:cNvPr name="Group 81" id="81"/>
          <p:cNvGrpSpPr/>
          <p:nvPr/>
        </p:nvGrpSpPr>
        <p:grpSpPr>
          <a:xfrm rot="0">
            <a:off x="6572707" y="678942"/>
            <a:ext cx="456743" cy="13716"/>
            <a:chOff x="0" y="0"/>
            <a:chExt cx="608990" cy="18288"/>
          </a:xfrm>
        </p:grpSpPr>
        <p:sp>
          <p:nvSpPr>
            <p:cNvPr name="Freeform 82" id="82"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83" id="83"/>
          <p:cNvGrpSpPr/>
          <p:nvPr/>
        </p:nvGrpSpPr>
        <p:grpSpPr>
          <a:xfrm rot="0">
            <a:off x="7200900" y="571957"/>
            <a:ext cx="2592324" cy="293380"/>
            <a:chOff x="0" y="0"/>
            <a:chExt cx="3456432" cy="391173"/>
          </a:xfrm>
        </p:grpSpPr>
        <p:sp>
          <p:nvSpPr>
            <p:cNvPr name="Freeform 84" id="84"/>
            <p:cNvSpPr/>
            <p:nvPr/>
          </p:nvSpPr>
          <p:spPr>
            <a:xfrm flipH="false" flipV="false" rot="0">
              <a:off x="0" y="0"/>
              <a:ext cx="3456432" cy="391173"/>
            </a:xfrm>
            <a:custGeom>
              <a:avLst/>
              <a:gdLst/>
              <a:ahLst/>
              <a:cxnLst/>
              <a:rect r="r" b="b" t="t" l="l"/>
              <a:pathLst>
                <a:path h="391173" w="3456432">
                  <a:moveTo>
                    <a:pt x="0" y="0"/>
                  </a:moveTo>
                  <a:lnTo>
                    <a:pt x="3456432" y="0"/>
                  </a:lnTo>
                  <a:lnTo>
                    <a:pt x="3456432" y="391173"/>
                  </a:lnTo>
                  <a:lnTo>
                    <a:pt x="0" y="391173"/>
                  </a:lnTo>
                  <a:close/>
                </a:path>
              </a:pathLst>
            </a:custGeom>
            <a:blipFill>
              <a:blip r:embed="rId3">
                <a:alphaModFix amt="0"/>
              </a:blip>
              <a:stretch>
                <a:fillRect l="0" t="-133133" r="0" b="-111208"/>
              </a:stretch>
            </a:blipFill>
          </p:spPr>
          <p:txBody>
            <a:bodyPr/>
            <a:p/>
          </p:txBody>
        </p:sp>
        <p:sp>
          <p:nvSpPr>
            <p:cNvPr name="TextBox 85" id="85"/>
            <p:cNvSpPr txBox="true"/>
            <p:nvPr/>
          </p:nvSpPr>
          <p:spPr>
            <a:xfrm>
              <a:off x="0" y="0"/>
              <a:ext cx="3456432"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Science &amp; Pratique</a:t>
              </a:r>
            </a:p>
          </p:txBody>
        </p:sp>
      </p:grpSp>
      <p:grpSp>
        <p:nvGrpSpPr>
          <p:cNvPr name="Group 86" id="86"/>
          <p:cNvGrpSpPr/>
          <p:nvPr/>
        </p:nvGrpSpPr>
        <p:grpSpPr>
          <a:xfrm rot="0">
            <a:off x="16590874" y="571957"/>
            <a:ext cx="957377" cy="332327"/>
            <a:chOff x="0" y="0"/>
            <a:chExt cx="1276502" cy="443103"/>
          </a:xfrm>
        </p:grpSpPr>
        <p:sp>
          <p:nvSpPr>
            <p:cNvPr name="Freeform 87" id="87"/>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3">
                <a:alphaModFix amt="0"/>
              </a:blip>
              <a:stretch>
                <a:fillRect l="0" t="-13003" r="0" b="737"/>
              </a:stretch>
            </a:blipFill>
          </p:spPr>
          <p:txBody>
            <a:bodyPr/>
            <a:p/>
          </p:txBody>
        </p:sp>
        <p:sp>
          <p:nvSpPr>
            <p:cNvPr name="TextBox 88" id="88"/>
            <p:cNvSpPr txBox="true"/>
            <p:nvPr/>
          </p:nvSpPr>
          <p:spPr>
            <a:xfrm>
              <a:off x="0" y="-9525"/>
              <a:ext cx="1276502" cy="452628"/>
            </a:xfrm>
            <a:prstGeom prst="rect">
              <a:avLst/>
            </a:prstGeom>
          </p:spPr>
          <p:txBody>
            <a:bodyPr anchor="ctr" rtlCol="false" tIns="0" lIns="0" bIns="0" rIns="0"/>
            <a:lstStyle/>
            <a:p>
              <a:pPr algn="l">
                <a:lnSpc>
                  <a:spcPts val="1800"/>
                </a:lnSpc>
              </a:pPr>
              <a:r>
                <a:rPr lang="en-US" sz="1500">
                  <a:solidFill>
                    <a:srgbClr val="6B7280"/>
                  </a:solidFill>
                  <a:latin typeface="Manrope"/>
                  <a:ea typeface="Manrope"/>
                  <a:cs typeface="Manrope"/>
                  <a:sym typeface="Manrope"/>
                </a:rPr>
                <a:t>16 / 20</a:t>
              </a:r>
            </a:p>
          </p:txBody>
        </p:sp>
      </p:grpSp>
      <p:grpSp>
        <p:nvGrpSpPr>
          <p:cNvPr name="Group 89" id="89"/>
          <p:cNvGrpSpPr/>
          <p:nvPr/>
        </p:nvGrpSpPr>
        <p:grpSpPr>
          <a:xfrm rot="0">
            <a:off x="6563182" y="3706139"/>
            <a:ext cx="10878007" cy="32766"/>
            <a:chOff x="0" y="0"/>
            <a:chExt cx="14504010" cy="43688"/>
          </a:xfrm>
        </p:grpSpPr>
        <p:sp>
          <p:nvSpPr>
            <p:cNvPr name="Freeform 90" id="90"/>
            <p:cNvSpPr/>
            <p:nvPr/>
          </p:nvSpPr>
          <p:spPr>
            <a:xfrm flipH="false" flipV="false" rot="0">
              <a:off x="12700" y="12700"/>
              <a:ext cx="14478636" cy="18288"/>
            </a:xfrm>
            <a:custGeom>
              <a:avLst/>
              <a:gdLst/>
              <a:ahLst/>
              <a:cxnLst/>
              <a:rect r="r" b="b" t="t" l="l"/>
              <a:pathLst>
                <a:path h="18288" w="14478636">
                  <a:moveTo>
                    <a:pt x="0" y="0"/>
                  </a:moveTo>
                  <a:lnTo>
                    <a:pt x="14478636" y="0"/>
                  </a:lnTo>
                  <a:lnTo>
                    <a:pt x="14478636" y="18288"/>
                  </a:lnTo>
                  <a:lnTo>
                    <a:pt x="0" y="18288"/>
                  </a:lnTo>
                  <a:close/>
                </a:path>
              </a:pathLst>
            </a:custGeom>
            <a:solidFill>
              <a:srgbClr val="40424D"/>
            </a:solidFill>
          </p:spPr>
          <p:txBody>
            <a:bodyPr/>
            <a:p/>
          </p:txBody>
        </p:sp>
      </p:grpSp>
      <p:grpSp>
        <p:nvGrpSpPr>
          <p:cNvPr name="Group 91" id="91"/>
          <p:cNvGrpSpPr/>
          <p:nvPr/>
        </p:nvGrpSpPr>
        <p:grpSpPr>
          <a:xfrm rot="0">
            <a:off x="6563182" y="1190625"/>
            <a:ext cx="876300" cy="876300"/>
            <a:chOff x="0" y="0"/>
            <a:chExt cx="1168400" cy="1168400"/>
          </a:xfrm>
        </p:grpSpPr>
        <p:sp>
          <p:nvSpPr>
            <p:cNvPr name="Freeform 92" id="92"/>
            <p:cNvSpPr/>
            <p:nvPr/>
          </p:nvSpPr>
          <p:spPr>
            <a:xfrm flipH="false" flipV="false" rot="0">
              <a:off x="12700" y="12700"/>
              <a:ext cx="1143000" cy="1143000"/>
            </a:xfrm>
            <a:custGeom>
              <a:avLst/>
              <a:gdLst/>
              <a:ahLst/>
              <a:cxnLst/>
              <a:rect r="r" b="b" t="t" l="l"/>
              <a:pathLst>
                <a:path h="1143000" w="1143000">
                  <a:moveTo>
                    <a:pt x="0" y="0"/>
                  </a:moveTo>
                  <a:lnTo>
                    <a:pt x="1143000" y="0"/>
                  </a:lnTo>
                  <a:lnTo>
                    <a:pt x="1143000" y="1143000"/>
                  </a:lnTo>
                  <a:lnTo>
                    <a:pt x="0" y="1143000"/>
                  </a:lnTo>
                  <a:close/>
                </a:path>
              </a:pathLst>
            </a:custGeom>
            <a:solidFill>
              <a:srgbClr val="FFFFFF"/>
            </a:solidFill>
          </p:spPr>
          <p:txBody>
            <a:bodyPr/>
            <a:p/>
          </p:txBody>
        </p:sp>
      </p:grpSp>
      <p:grpSp>
        <p:nvGrpSpPr>
          <p:cNvPr name="Group 93" id="93"/>
          <p:cNvGrpSpPr/>
          <p:nvPr/>
        </p:nvGrpSpPr>
        <p:grpSpPr>
          <a:xfrm rot="0">
            <a:off x="6786677" y="1458011"/>
            <a:ext cx="429311" cy="342900"/>
            <a:chOff x="0" y="0"/>
            <a:chExt cx="572414" cy="457200"/>
          </a:xfrm>
        </p:grpSpPr>
        <p:sp>
          <p:nvSpPr>
            <p:cNvPr name="Freeform 94" id="94" descr="preencoded.png"/>
            <p:cNvSpPr/>
            <p:nvPr/>
          </p:nvSpPr>
          <p:spPr>
            <a:xfrm flipH="false" flipV="false" rot="0">
              <a:off x="0" y="0"/>
              <a:ext cx="572389" cy="457200"/>
            </a:xfrm>
            <a:custGeom>
              <a:avLst/>
              <a:gdLst/>
              <a:ahLst/>
              <a:cxnLst/>
              <a:rect r="r" b="b" t="t" l="l"/>
              <a:pathLst>
                <a:path h="457200" w="572389">
                  <a:moveTo>
                    <a:pt x="0" y="0"/>
                  </a:moveTo>
                  <a:lnTo>
                    <a:pt x="572389" y="0"/>
                  </a:lnTo>
                  <a:lnTo>
                    <a:pt x="572389" y="457200"/>
                  </a:lnTo>
                  <a:lnTo>
                    <a:pt x="0" y="457200"/>
                  </a:lnTo>
                  <a:lnTo>
                    <a:pt x="0" y="0"/>
                  </a:lnTo>
                  <a:close/>
                </a:path>
              </a:pathLst>
            </a:custGeom>
            <a:blipFill>
              <a:blip r:embed="rId6"/>
              <a:stretch>
                <a:fillRect l="79" t="0" r="-190" b="0"/>
              </a:stretch>
            </a:blipFill>
          </p:spPr>
          <p:txBody>
            <a:bodyPr/>
            <a:p/>
          </p:txBody>
        </p:sp>
      </p:grpSp>
      <p:grpSp>
        <p:nvGrpSpPr>
          <p:cNvPr name="Group 95" id="95"/>
          <p:cNvGrpSpPr/>
          <p:nvPr/>
        </p:nvGrpSpPr>
        <p:grpSpPr>
          <a:xfrm rot="0">
            <a:off x="7772857" y="1656893"/>
            <a:ext cx="9830257" cy="596284"/>
            <a:chOff x="0" y="0"/>
            <a:chExt cx="13107010" cy="795045"/>
          </a:xfrm>
        </p:grpSpPr>
        <p:sp>
          <p:nvSpPr>
            <p:cNvPr name="Freeform 96" id="96"/>
            <p:cNvSpPr/>
            <p:nvPr/>
          </p:nvSpPr>
          <p:spPr>
            <a:xfrm flipH="false" flipV="false" rot="0">
              <a:off x="0" y="0"/>
              <a:ext cx="13107011" cy="795046"/>
            </a:xfrm>
            <a:custGeom>
              <a:avLst/>
              <a:gdLst/>
              <a:ahLst/>
              <a:cxnLst/>
              <a:rect r="r" b="b" t="t" l="l"/>
              <a:pathLst>
                <a:path h="795046" w="13107011">
                  <a:moveTo>
                    <a:pt x="0" y="0"/>
                  </a:moveTo>
                  <a:lnTo>
                    <a:pt x="13107011" y="0"/>
                  </a:lnTo>
                  <a:lnTo>
                    <a:pt x="13107011" y="795046"/>
                  </a:lnTo>
                  <a:lnTo>
                    <a:pt x="0" y="795046"/>
                  </a:lnTo>
                  <a:close/>
                </a:path>
              </a:pathLst>
            </a:custGeom>
            <a:blipFill>
              <a:blip r:embed="rId3">
                <a:alphaModFix amt="0"/>
              </a:blip>
              <a:stretch>
                <a:fillRect l="0" t="-282813" r="0" b="-259641"/>
              </a:stretch>
            </a:blipFill>
          </p:spPr>
          <p:txBody>
            <a:bodyPr/>
            <a:p/>
          </p:txBody>
        </p:sp>
        <p:sp>
          <p:nvSpPr>
            <p:cNvPr name="TextBox 97" id="97"/>
            <p:cNvSpPr txBox="true"/>
            <p:nvPr/>
          </p:nvSpPr>
          <p:spPr>
            <a:xfrm>
              <a:off x="0" y="0"/>
              <a:ext cx="13107010"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Hormèse Naturelle</a:t>
              </a:r>
            </a:p>
          </p:txBody>
        </p:sp>
      </p:grpSp>
      <p:grpSp>
        <p:nvGrpSpPr>
          <p:cNvPr name="Group 98" id="98"/>
          <p:cNvGrpSpPr/>
          <p:nvPr/>
        </p:nvGrpSpPr>
        <p:grpSpPr>
          <a:xfrm rot="0">
            <a:off x="7772857" y="2228850"/>
            <a:ext cx="9772650" cy="658368"/>
            <a:chOff x="0" y="0"/>
            <a:chExt cx="13030200" cy="877824"/>
          </a:xfrm>
        </p:grpSpPr>
        <p:sp>
          <p:nvSpPr>
            <p:cNvPr name="Freeform 99" id="99"/>
            <p:cNvSpPr/>
            <p:nvPr/>
          </p:nvSpPr>
          <p:spPr>
            <a:xfrm flipH="false" flipV="false" rot="0">
              <a:off x="0" y="0"/>
              <a:ext cx="13030200" cy="877824"/>
            </a:xfrm>
            <a:custGeom>
              <a:avLst/>
              <a:gdLst/>
              <a:ahLst/>
              <a:cxnLst/>
              <a:rect r="r" b="b" t="t" l="l"/>
              <a:pathLst>
                <a:path h="877824" w="13030200">
                  <a:moveTo>
                    <a:pt x="0" y="0"/>
                  </a:moveTo>
                  <a:lnTo>
                    <a:pt x="13030200" y="0"/>
                  </a:lnTo>
                  <a:lnTo>
                    <a:pt x="13030200" y="877824"/>
                  </a:lnTo>
                  <a:lnTo>
                    <a:pt x="0" y="877824"/>
                  </a:lnTo>
                  <a:close/>
                </a:path>
              </a:pathLst>
            </a:custGeom>
            <a:blipFill>
              <a:blip r:embed="rId3">
                <a:alphaModFix amt="0"/>
              </a:blip>
              <a:stretch>
                <a:fillRect l="0" t="-239231" r="0" b="-239231"/>
              </a:stretch>
            </a:blipFill>
          </p:spPr>
          <p:txBody>
            <a:bodyPr/>
            <a:p/>
          </p:txBody>
        </p:sp>
        <p:sp>
          <p:nvSpPr>
            <p:cNvPr name="TextBox 100" id="100"/>
            <p:cNvSpPr txBox="true"/>
            <p:nvPr/>
          </p:nvSpPr>
          <p:spPr>
            <a:xfrm>
              <a:off x="0" y="-9525"/>
              <a:ext cx="13030200" cy="887349"/>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L'exposition aux éléments naturels (froid, altitude, lumière) crée un stress adaptatif positif (eustress). Couplé à une récupération planifiée, cela renforce la résilience cellulaire.</a:t>
              </a:r>
            </a:p>
          </p:txBody>
        </p:sp>
      </p:grpSp>
      <p:grpSp>
        <p:nvGrpSpPr>
          <p:cNvPr name="Group 101" id="101"/>
          <p:cNvGrpSpPr/>
          <p:nvPr/>
        </p:nvGrpSpPr>
        <p:grpSpPr>
          <a:xfrm rot="0">
            <a:off x="7763332" y="2983306"/>
            <a:ext cx="1519580" cy="405842"/>
            <a:chOff x="0" y="0"/>
            <a:chExt cx="2026107" cy="541122"/>
          </a:xfrm>
        </p:grpSpPr>
        <p:sp>
          <p:nvSpPr>
            <p:cNvPr name="Freeform 102" id="102"/>
            <p:cNvSpPr/>
            <p:nvPr/>
          </p:nvSpPr>
          <p:spPr>
            <a:xfrm flipH="false" flipV="false" rot="0">
              <a:off x="0" y="0"/>
              <a:ext cx="2026158" cy="541147"/>
            </a:xfrm>
            <a:custGeom>
              <a:avLst/>
              <a:gdLst/>
              <a:ahLst/>
              <a:cxnLst/>
              <a:rect r="r" b="b" t="t" l="l"/>
              <a:pathLst>
                <a:path h="541147" w="2026158">
                  <a:moveTo>
                    <a:pt x="12700" y="0"/>
                  </a:moveTo>
                  <a:lnTo>
                    <a:pt x="2013458" y="0"/>
                  </a:lnTo>
                  <a:cubicBezTo>
                    <a:pt x="2020443" y="0"/>
                    <a:pt x="2026158" y="5715"/>
                    <a:pt x="2026158" y="12700"/>
                  </a:cubicBezTo>
                  <a:lnTo>
                    <a:pt x="2026158" y="528447"/>
                  </a:lnTo>
                  <a:cubicBezTo>
                    <a:pt x="2026158" y="535432"/>
                    <a:pt x="2020443" y="541147"/>
                    <a:pt x="2013458"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2013458" y="515747"/>
                  </a:lnTo>
                  <a:lnTo>
                    <a:pt x="2013458" y="528447"/>
                  </a:lnTo>
                  <a:lnTo>
                    <a:pt x="2000758" y="528447"/>
                  </a:lnTo>
                  <a:lnTo>
                    <a:pt x="2000758" y="12700"/>
                  </a:lnTo>
                  <a:lnTo>
                    <a:pt x="2013458" y="12700"/>
                  </a:lnTo>
                  <a:lnTo>
                    <a:pt x="2013458" y="25400"/>
                  </a:lnTo>
                  <a:lnTo>
                    <a:pt x="12700" y="25400"/>
                  </a:lnTo>
                  <a:close/>
                </a:path>
              </a:pathLst>
            </a:custGeom>
            <a:solidFill>
              <a:srgbClr val="40424D"/>
            </a:solidFill>
          </p:spPr>
          <p:txBody>
            <a:bodyPr/>
            <a:p/>
          </p:txBody>
        </p:sp>
        <p:sp>
          <p:nvSpPr>
            <p:cNvPr name="TextBox 103" id="103"/>
            <p:cNvSpPr txBox="true"/>
            <p:nvPr/>
          </p:nvSpPr>
          <p:spPr>
            <a:xfrm>
              <a:off x="0" y="0"/>
              <a:ext cx="202610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Exposition Froid</a:t>
              </a:r>
            </a:p>
          </p:txBody>
        </p:sp>
      </p:grpSp>
      <p:grpSp>
        <p:nvGrpSpPr>
          <p:cNvPr name="Group 104" id="104"/>
          <p:cNvGrpSpPr/>
          <p:nvPr/>
        </p:nvGrpSpPr>
        <p:grpSpPr>
          <a:xfrm rot="0">
            <a:off x="9399651" y="2983306"/>
            <a:ext cx="948995" cy="405842"/>
            <a:chOff x="0" y="0"/>
            <a:chExt cx="1265326" cy="541122"/>
          </a:xfrm>
        </p:grpSpPr>
        <p:sp>
          <p:nvSpPr>
            <p:cNvPr name="Freeform 105" id="105"/>
            <p:cNvSpPr/>
            <p:nvPr/>
          </p:nvSpPr>
          <p:spPr>
            <a:xfrm flipH="false" flipV="false" rot="0">
              <a:off x="0" y="0"/>
              <a:ext cx="1265301" cy="541147"/>
            </a:xfrm>
            <a:custGeom>
              <a:avLst/>
              <a:gdLst/>
              <a:ahLst/>
              <a:cxnLst/>
              <a:rect r="r" b="b" t="t" l="l"/>
              <a:pathLst>
                <a:path h="541147" w="1265301">
                  <a:moveTo>
                    <a:pt x="12700" y="0"/>
                  </a:moveTo>
                  <a:lnTo>
                    <a:pt x="1252601" y="0"/>
                  </a:lnTo>
                  <a:cubicBezTo>
                    <a:pt x="1259586" y="0"/>
                    <a:pt x="1265301" y="5715"/>
                    <a:pt x="1265301" y="12700"/>
                  </a:cubicBezTo>
                  <a:lnTo>
                    <a:pt x="1265301" y="528447"/>
                  </a:lnTo>
                  <a:cubicBezTo>
                    <a:pt x="1265301" y="535432"/>
                    <a:pt x="1259586" y="541147"/>
                    <a:pt x="1252601"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252601" y="515747"/>
                  </a:lnTo>
                  <a:lnTo>
                    <a:pt x="1252601" y="528447"/>
                  </a:lnTo>
                  <a:lnTo>
                    <a:pt x="1239901" y="528447"/>
                  </a:lnTo>
                  <a:lnTo>
                    <a:pt x="1239901" y="12700"/>
                  </a:lnTo>
                  <a:lnTo>
                    <a:pt x="1252601" y="12700"/>
                  </a:lnTo>
                  <a:lnTo>
                    <a:pt x="1252601" y="25400"/>
                  </a:lnTo>
                  <a:lnTo>
                    <a:pt x="12700" y="25400"/>
                  </a:lnTo>
                  <a:close/>
                </a:path>
              </a:pathLst>
            </a:custGeom>
            <a:solidFill>
              <a:srgbClr val="40424D"/>
            </a:solidFill>
          </p:spPr>
          <p:txBody>
            <a:bodyPr/>
            <a:p/>
          </p:txBody>
        </p:sp>
        <p:sp>
          <p:nvSpPr>
            <p:cNvPr name="TextBox 106" id="106"/>
            <p:cNvSpPr txBox="true"/>
            <p:nvPr/>
          </p:nvSpPr>
          <p:spPr>
            <a:xfrm>
              <a:off x="0" y="0"/>
              <a:ext cx="1265326"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Altitude</a:t>
              </a:r>
            </a:p>
          </p:txBody>
        </p:sp>
      </p:grpSp>
      <p:grpSp>
        <p:nvGrpSpPr>
          <p:cNvPr name="Group 107" id="107"/>
          <p:cNvGrpSpPr/>
          <p:nvPr/>
        </p:nvGrpSpPr>
        <p:grpSpPr>
          <a:xfrm rot="0">
            <a:off x="10462641" y="2983306"/>
            <a:ext cx="1648511" cy="405842"/>
            <a:chOff x="0" y="0"/>
            <a:chExt cx="2198014" cy="541122"/>
          </a:xfrm>
        </p:grpSpPr>
        <p:sp>
          <p:nvSpPr>
            <p:cNvPr name="Freeform 108" id="108"/>
            <p:cNvSpPr/>
            <p:nvPr/>
          </p:nvSpPr>
          <p:spPr>
            <a:xfrm flipH="false" flipV="false" rot="0">
              <a:off x="0" y="0"/>
              <a:ext cx="2197989" cy="541147"/>
            </a:xfrm>
            <a:custGeom>
              <a:avLst/>
              <a:gdLst/>
              <a:ahLst/>
              <a:cxnLst/>
              <a:rect r="r" b="b" t="t" l="l"/>
              <a:pathLst>
                <a:path h="541147" w="2197989">
                  <a:moveTo>
                    <a:pt x="12700" y="0"/>
                  </a:moveTo>
                  <a:lnTo>
                    <a:pt x="2185289" y="0"/>
                  </a:lnTo>
                  <a:cubicBezTo>
                    <a:pt x="2192274" y="0"/>
                    <a:pt x="2197989" y="5715"/>
                    <a:pt x="2197989" y="12700"/>
                  </a:cubicBezTo>
                  <a:lnTo>
                    <a:pt x="2197989" y="528447"/>
                  </a:lnTo>
                  <a:cubicBezTo>
                    <a:pt x="2197989" y="535432"/>
                    <a:pt x="2192274" y="541147"/>
                    <a:pt x="2185289"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2185289" y="515747"/>
                  </a:lnTo>
                  <a:lnTo>
                    <a:pt x="2185289" y="528447"/>
                  </a:lnTo>
                  <a:lnTo>
                    <a:pt x="2172589" y="528447"/>
                  </a:lnTo>
                  <a:lnTo>
                    <a:pt x="2172589" y="12700"/>
                  </a:lnTo>
                  <a:lnTo>
                    <a:pt x="2185289" y="12700"/>
                  </a:lnTo>
                  <a:lnTo>
                    <a:pt x="2185289" y="25400"/>
                  </a:lnTo>
                  <a:lnTo>
                    <a:pt x="12700" y="25400"/>
                  </a:lnTo>
                  <a:close/>
                </a:path>
              </a:pathLst>
            </a:custGeom>
            <a:solidFill>
              <a:srgbClr val="40424D"/>
            </a:solidFill>
          </p:spPr>
          <p:txBody>
            <a:bodyPr/>
            <a:p/>
          </p:txBody>
        </p:sp>
        <p:sp>
          <p:nvSpPr>
            <p:cNvPr name="TextBox 109" id="109"/>
            <p:cNvSpPr txBox="true"/>
            <p:nvPr/>
          </p:nvSpPr>
          <p:spPr>
            <a:xfrm>
              <a:off x="0" y="0"/>
              <a:ext cx="2198014"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Lumière Naturelle</a:t>
              </a:r>
            </a:p>
          </p:txBody>
        </p:sp>
      </p:grpSp>
      <p:grpSp>
        <p:nvGrpSpPr>
          <p:cNvPr name="Group 110" id="110"/>
          <p:cNvGrpSpPr/>
          <p:nvPr/>
        </p:nvGrpSpPr>
        <p:grpSpPr>
          <a:xfrm rot="0">
            <a:off x="6886804" y="4072280"/>
            <a:ext cx="10716311" cy="430120"/>
            <a:chOff x="0" y="0"/>
            <a:chExt cx="14288414" cy="573494"/>
          </a:xfrm>
        </p:grpSpPr>
        <p:sp>
          <p:nvSpPr>
            <p:cNvPr name="Freeform 111" id="111"/>
            <p:cNvSpPr/>
            <p:nvPr/>
          </p:nvSpPr>
          <p:spPr>
            <a:xfrm flipH="false" flipV="false" rot="0">
              <a:off x="0" y="0"/>
              <a:ext cx="14288415" cy="573494"/>
            </a:xfrm>
            <a:custGeom>
              <a:avLst/>
              <a:gdLst/>
              <a:ahLst/>
              <a:cxnLst/>
              <a:rect r="r" b="b" t="t" l="l"/>
              <a:pathLst>
                <a:path h="573494" w="14288415">
                  <a:moveTo>
                    <a:pt x="0" y="0"/>
                  </a:moveTo>
                  <a:lnTo>
                    <a:pt x="14288415" y="0"/>
                  </a:lnTo>
                  <a:lnTo>
                    <a:pt x="14288415" y="573494"/>
                  </a:lnTo>
                  <a:lnTo>
                    <a:pt x="0" y="573494"/>
                  </a:lnTo>
                  <a:close/>
                </a:path>
              </a:pathLst>
            </a:custGeom>
            <a:blipFill>
              <a:blip r:embed="rId3">
                <a:alphaModFix amt="0"/>
              </a:blip>
              <a:stretch>
                <a:fillRect l="0" t="-438905" r="0" b="-432020"/>
              </a:stretch>
            </a:blipFill>
          </p:spPr>
          <p:txBody>
            <a:bodyPr/>
            <a:p/>
          </p:txBody>
        </p:sp>
        <p:sp>
          <p:nvSpPr>
            <p:cNvPr name="TextBox 112" id="112"/>
            <p:cNvSpPr txBox="true"/>
            <p:nvPr/>
          </p:nvSpPr>
          <p:spPr>
            <a:xfrm>
              <a:off x="0" y="-9525"/>
              <a:ext cx="14288414"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Exemples &amp; Fréquence</a:t>
              </a:r>
            </a:p>
          </p:txBody>
        </p:sp>
      </p:grpSp>
      <p:grpSp>
        <p:nvGrpSpPr>
          <p:cNvPr name="Group 113" id="113"/>
          <p:cNvGrpSpPr/>
          <p:nvPr/>
        </p:nvGrpSpPr>
        <p:grpSpPr>
          <a:xfrm rot="0">
            <a:off x="6572707" y="4529023"/>
            <a:ext cx="11030407" cy="293380"/>
            <a:chOff x="0" y="0"/>
            <a:chExt cx="14707210" cy="391173"/>
          </a:xfrm>
        </p:grpSpPr>
        <p:sp>
          <p:nvSpPr>
            <p:cNvPr name="Freeform 114" id="114"/>
            <p:cNvSpPr/>
            <p:nvPr/>
          </p:nvSpPr>
          <p:spPr>
            <a:xfrm flipH="false" flipV="false" rot="0">
              <a:off x="0" y="0"/>
              <a:ext cx="14707211" cy="391173"/>
            </a:xfrm>
            <a:custGeom>
              <a:avLst/>
              <a:gdLst/>
              <a:ahLst/>
              <a:cxnLst/>
              <a:rect r="r" b="b" t="t" l="l"/>
              <a:pathLst>
                <a:path h="391173" w="14707211">
                  <a:moveTo>
                    <a:pt x="0" y="0"/>
                  </a:moveTo>
                  <a:lnTo>
                    <a:pt x="14707211" y="0"/>
                  </a:lnTo>
                  <a:lnTo>
                    <a:pt x="14707211" y="391173"/>
                  </a:lnTo>
                  <a:lnTo>
                    <a:pt x="0" y="391173"/>
                  </a:lnTo>
                  <a:close/>
                </a:path>
              </a:pathLst>
            </a:custGeom>
            <a:blipFill>
              <a:blip r:embed="rId3">
                <a:alphaModFix amt="0"/>
              </a:blip>
              <a:stretch>
                <a:fillRect l="0" t="-693555" r="0" b="-671630"/>
              </a:stretch>
            </a:blipFill>
          </p:spPr>
          <p:txBody>
            <a:bodyPr/>
            <a:p/>
          </p:txBody>
        </p:sp>
        <p:sp>
          <p:nvSpPr>
            <p:cNvPr name="TextBox 115" id="115"/>
            <p:cNvSpPr txBox="true"/>
            <p:nvPr/>
          </p:nvSpPr>
          <p:spPr>
            <a:xfrm>
              <a:off x="0" y="0"/>
              <a:ext cx="14707210"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Intégrer 1 longue sortie par semaine (2-6h) pour réinitialiser la biologie.</a:t>
              </a:r>
            </a:p>
          </p:txBody>
        </p:sp>
      </p:grpSp>
      <p:grpSp>
        <p:nvGrpSpPr>
          <p:cNvPr name="Group 116" id="116"/>
          <p:cNvGrpSpPr/>
          <p:nvPr/>
        </p:nvGrpSpPr>
        <p:grpSpPr>
          <a:xfrm rot="0">
            <a:off x="6563182" y="5205298"/>
            <a:ext cx="5334000" cy="1205484"/>
            <a:chOff x="0" y="0"/>
            <a:chExt cx="7112000" cy="1607312"/>
          </a:xfrm>
        </p:grpSpPr>
        <p:sp>
          <p:nvSpPr>
            <p:cNvPr name="Freeform 117" id="117"/>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18" id="118"/>
          <p:cNvGrpSpPr/>
          <p:nvPr/>
        </p:nvGrpSpPr>
        <p:grpSpPr>
          <a:xfrm rot="0">
            <a:off x="6757873" y="5443880"/>
            <a:ext cx="200254" cy="200254"/>
            <a:chOff x="0" y="0"/>
            <a:chExt cx="267005" cy="267005"/>
          </a:xfrm>
        </p:grpSpPr>
        <p:sp>
          <p:nvSpPr>
            <p:cNvPr name="Freeform 119" id="119"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7"/>
              <a:stretch>
                <a:fillRect l="0" t="0" r="-19" b="-19"/>
              </a:stretch>
            </a:blipFill>
          </p:spPr>
          <p:txBody>
            <a:bodyPr/>
            <a:p/>
          </p:txBody>
        </p:sp>
      </p:grpSp>
      <p:grpSp>
        <p:nvGrpSpPr>
          <p:cNvPr name="Group 120" id="120"/>
          <p:cNvGrpSpPr/>
          <p:nvPr/>
        </p:nvGrpSpPr>
        <p:grpSpPr>
          <a:xfrm rot="0">
            <a:off x="7129577" y="5205298"/>
            <a:ext cx="4686757" cy="814731"/>
            <a:chOff x="0" y="0"/>
            <a:chExt cx="6249010" cy="1086308"/>
          </a:xfrm>
        </p:grpSpPr>
        <p:sp>
          <p:nvSpPr>
            <p:cNvPr name="Freeform 121" id="121"/>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3">
                <a:alphaModFix amt="0"/>
              </a:blip>
              <a:stretch>
                <a:fillRect l="0" t="-62088" r="0" b="-62087"/>
              </a:stretch>
            </a:blipFill>
          </p:spPr>
          <p:txBody>
            <a:bodyPr/>
            <a:p/>
          </p:txBody>
        </p:sp>
        <p:sp>
          <p:nvSpPr>
            <p:cNvPr name="TextBox 122" id="122"/>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Ski / Snowboard</a:t>
              </a:r>
              <a:r>
                <a:rPr lang="en-US" sz="1350">
                  <a:solidFill>
                    <a:srgbClr val="D3D6E0"/>
                  </a:solidFill>
                  <a:latin typeface="Manrope"/>
                  <a:ea typeface="Manrope"/>
                  <a:cs typeface="Manrope"/>
                  <a:sym typeface="Manrope"/>
                </a:rPr>
                <a:t> Combinaison parfaite : Froid + Altitude + Coordination + Glisse. </a:t>
              </a:r>
            </a:p>
          </p:txBody>
        </p:sp>
      </p:grpSp>
      <p:grpSp>
        <p:nvGrpSpPr>
          <p:cNvPr name="Group 123" id="123"/>
          <p:cNvGrpSpPr/>
          <p:nvPr/>
        </p:nvGrpSpPr>
        <p:grpSpPr>
          <a:xfrm rot="0">
            <a:off x="12105818" y="5205298"/>
            <a:ext cx="5334000" cy="1205484"/>
            <a:chOff x="0" y="0"/>
            <a:chExt cx="7112000" cy="1607312"/>
          </a:xfrm>
        </p:grpSpPr>
        <p:sp>
          <p:nvSpPr>
            <p:cNvPr name="Freeform 124" id="124"/>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5" id="125"/>
          <p:cNvGrpSpPr/>
          <p:nvPr/>
        </p:nvGrpSpPr>
        <p:grpSpPr>
          <a:xfrm rot="0">
            <a:off x="12301880" y="5443880"/>
            <a:ext cx="157734" cy="200254"/>
            <a:chOff x="0" y="0"/>
            <a:chExt cx="210312" cy="267005"/>
          </a:xfrm>
        </p:grpSpPr>
        <p:sp>
          <p:nvSpPr>
            <p:cNvPr name="Freeform 126" id="126" descr="preencoded.png"/>
            <p:cNvSpPr/>
            <p:nvPr/>
          </p:nvSpPr>
          <p:spPr>
            <a:xfrm flipH="false" flipV="false" rot="0">
              <a:off x="0" y="0"/>
              <a:ext cx="210312" cy="266954"/>
            </a:xfrm>
            <a:custGeom>
              <a:avLst/>
              <a:gdLst/>
              <a:ahLst/>
              <a:cxnLst/>
              <a:rect r="r" b="b" t="t" l="l"/>
              <a:pathLst>
                <a:path h="266954" w="210312">
                  <a:moveTo>
                    <a:pt x="0" y="0"/>
                  </a:moveTo>
                  <a:lnTo>
                    <a:pt x="210312" y="0"/>
                  </a:lnTo>
                  <a:lnTo>
                    <a:pt x="210312" y="266954"/>
                  </a:lnTo>
                  <a:lnTo>
                    <a:pt x="0" y="266954"/>
                  </a:lnTo>
                  <a:lnTo>
                    <a:pt x="0" y="0"/>
                  </a:lnTo>
                  <a:close/>
                </a:path>
              </a:pathLst>
            </a:custGeom>
            <a:blipFill>
              <a:blip r:embed="rId8"/>
              <a:stretch>
                <a:fillRect l="2427" t="0" r="978" b="-19"/>
              </a:stretch>
            </a:blipFill>
          </p:spPr>
          <p:txBody>
            <a:bodyPr/>
            <a:p/>
          </p:txBody>
        </p:sp>
      </p:grpSp>
      <p:grpSp>
        <p:nvGrpSpPr>
          <p:cNvPr name="Group 127" id="127"/>
          <p:cNvGrpSpPr/>
          <p:nvPr/>
        </p:nvGrpSpPr>
        <p:grpSpPr>
          <a:xfrm rot="0">
            <a:off x="12629693" y="5205298"/>
            <a:ext cx="4729277" cy="814731"/>
            <a:chOff x="0" y="0"/>
            <a:chExt cx="6305702" cy="1086308"/>
          </a:xfrm>
        </p:grpSpPr>
        <p:sp>
          <p:nvSpPr>
            <p:cNvPr name="Freeform 128" id="128"/>
            <p:cNvSpPr/>
            <p:nvPr/>
          </p:nvSpPr>
          <p:spPr>
            <a:xfrm flipH="false" flipV="false" rot="0">
              <a:off x="0" y="0"/>
              <a:ext cx="6305702" cy="1086309"/>
            </a:xfrm>
            <a:custGeom>
              <a:avLst/>
              <a:gdLst/>
              <a:ahLst/>
              <a:cxnLst/>
              <a:rect r="r" b="b" t="t" l="l"/>
              <a:pathLst>
                <a:path h="1086309" w="6305702">
                  <a:moveTo>
                    <a:pt x="0" y="0"/>
                  </a:moveTo>
                  <a:lnTo>
                    <a:pt x="6305702" y="0"/>
                  </a:lnTo>
                  <a:lnTo>
                    <a:pt x="6305702" y="1086309"/>
                  </a:lnTo>
                  <a:lnTo>
                    <a:pt x="0" y="1086309"/>
                  </a:lnTo>
                  <a:close/>
                </a:path>
              </a:pathLst>
            </a:custGeom>
            <a:blipFill>
              <a:blip r:embed="rId3">
                <a:alphaModFix amt="0"/>
              </a:blip>
              <a:stretch>
                <a:fillRect l="0" t="-63104" r="0" b="-63104"/>
              </a:stretch>
            </a:blipFill>
          </p:spPr>
          <p:txBody>
            <a:bodyPr/>
            <a:p/>
          </p:txBody>
        </p:sp>
        <p:sp>
          <p:nvSpPr>
            <p:cNvPr name="TextBox 129" id="129"/>
            <p:cNvSpPr txBox="true"/>
            <p:nvPr/>
          </p:nvSpPr>
          <p:spPr>
            <a:xfrm>
              <a:off x="0" y="0"/>
              <a:ext cx="6305702"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Randonnée / Trekking</a:t>
              </a:r>
              <a:r>
                <a:rPr lang="en-US" sz="1350">
                  <a:solidFill>
                    <a:srgbClr val="D3D6E0"/>
                  </a:solidFill>
                  <a:latin typeface="Manrope"/>
                  <a:ea typeface="Manrope"/>
                  <a:cs typeface="Manrope"/>
                  <a:sym typeface="Manrope"/>
                </a:rPr>
                <a:t> Endurance fondamentale et immersion totale en nature. </a:t>
              </a:r>
            </a:p>
          </p:txBody>
        </p:sp>
      </p:grpSp>
      <p:grpSp>
        <p:nvGrpSpPr>
          <p:cNvPr name="Group 130" id="130"/>
          <p:cNvGrpSpPr/>
          <p:nvPr/>
        </p:nvGrpSpPr>
        <p:grpSpPr>
          <a:xfrm rot="0">
            <a:off x="6563182" y="6613931"/>
            <a:ext cx="5334000" cy="1205484"/>
            <a:chOff x="0" y="0"/>
            <a:chExt cx="7112000" cy="1607312"/>
          </a:xfrm>
        </p:grpSpPr>
        <p:sp>
          <p:nvSpPr>
            <p:cNvPr name="Freeform 131" id="131"/>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2" id="132"/>
          <p:cNvGrpSpPr/>
          <p:nvPr/>
        </p:nvGrpSpPr>
        <p:grpSpPr>
          <a:xfrm rot="0">
            <a:off x="6757873" y="6852514"/>
            <a:ext cx="200254" cy="200254"/>
            <a:chOff x="0" y="0"/>
            <a:chExt cx="267005" cy="267005"/>
          </a:xfrm>
        </p:grpSpPr>
        <p:sp>
          <p:nvSpPr>
            <p:cNvPr name="Freeform 133" id="133"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9"/>
              <a:stretch>
                <a:fillRect l="0" t="0" r="-19" b="-19"/>
              </a:stretch>
            </a:blipFill>
          </p:spPr>
          <p:txBody>
            <a:bodyPr/>
            <a:p/>
          </p:txBody>
        </p:sp>
      </p:grpSp>
      <p:grpSp>
        <p:nvGrpSpPr>
          <p:cNvPr name="Group 134" id="134"/>
          <p:cNvGrpSpPr/>
          <p:nvPr/>
        </p:nvGrpSpPr>
        <p:grpSpPr>
          <a:xfrm rot="0">
            <a:off x="7129577" y="6613931"/>
            <a:ext cx="4686757" cy="814731"/>
            <a:chOff x="0" y="0"/>
            <a:chExt cx="6249010" cy="1086308"/>
          </a:xfrm>
        </p:grpSpPr>
        <p:sp>
          <p:nvSpPr>
            <p:cNvPr name="Freeform 135" id="135"/>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3">
                <a:alphaModFix amt="0"/>
              </a:blip>
              <a:stretch>
                <a:fillRect l="0" t="-62088" r="0" b="-62087"/>
              </a:stretch>
            </a:blipFill>
          </p:spPr>
          <p:txBody>
            <a:bodyPr/>
            <a:p/>
          </p:txBody>
        </p:sp>
        <p:sp>
          <p:nvSpPr>
            <p:cNvPr name="TextBox 136" id="136"/>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Escalade / Alpinisme</a:t>
              </a:r>
              <a:r>
                <a:rPr lang="en-US" sz="1350">
                  <a:solidFill>
                    <a:srgbClr val="D3D6E0"/>
                  </a:solidFill>
                  <a:latin typeface="Manrope"/>
                  <a:ea typeface="Manrope"/>
                  <a:cs typeface="Manrope"/>
                  <a:sym typeface="Manrope"/>
                </a:rPr>
                <a:t> Focus intense, force et gestion de la peur (adrénaline). </a:t>
              </a:r>
            </a:p>
          </p:txBody>
        </p:sp>
      </p:grpSp>
      <p:grpSp>
        <p:nvGrpSpPr>
          <p:cNvPr name="Group 137" id="137"/>
          <p:cNvGrpSpPr/>
          <p:nvPr/>
        </p:nvGrpSpPr>
        <p:grpSpPr>
          <a:xfrm rot="0">
            <a:off x="12105818" y="6613931"/>
            <a:ext cx="5334000" cy="1205484"/>
            <a:chOff x="0" y="0"/>
            <a:chExt cx="7112000" cy="1607312"/>
          </a:xfrm>
        </p:grpSpPr>
        <p:sp>
          <p:nvSpPr>
            <p:cNvPr name="Freeform 138" id="138"/>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9" id="139"/>
          <p:cNvGrpSpPr/>
          <p:nvPr/>
        </p:nvGrpSpPr>
        <p:grpSpPr>
          <a:xfrm rot="0">
            <a:off x="12301880" y="6852514"/>
            <a:ext cx="257861" cy="200254"/>
            <a:chOff x="0" y="0"/>
            <a:chExt cx="343814" cy="267005"/>
          </a:xfrm>
        </p:grpSpPr>
        <p:sp>
          <p:nvSpPr>
            <p:cNvPr name="Freeform 140" id="140"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10"/>
              <a:stretch>
                <a:fillRect l="1462" t="0" r="1455" b="-466"/>
              </a:stretch>
            </a:blipFill>
          </p:spPr>
          <p:txBody>
            <a:bodyPr/>
            <a:p/>
          </p:txBody>
        </p:sp>
      </p:grpSp>
      <p:grpSp>
        <p:nvGrpSpPr>
          <p:cNvPr name="Group 141" id="141"/>
          <p:cNvGrpSpPr/>
          <p:nvPr/>
        </p:nvGrpSpPr>
        <p:grpSpPr>
          <a:xfrm rot="0">
            <a:off x="12729820" y="6613931"/>
            <a:ext cx="4629150" cy="814731"/>
            <a:chOff x="0" y="0"/>
            <a:chExt cx="6172200" cy="1086308"/>
          </a:xfrm>
        </p:grpSpPr>
        <p:sp>
          <p:nvSpPr>
            <p:cNvPr name="Freeform 142" id="142"/>
            <p:cNvSpPr/>
            <p:nvPr/>
          </p:nvSpPr>
          <p:spPr>
            <a:xfrm flipH="false" flipV="false" rot="0">
              <a:off x="0" y="0"/>
              <a:ext cx="6172200" cy="1086309"/>
            </a:xfrm>
            <a:custGeom>
              <a:avLst/>
              <a:gdLst/>
              <a:ahLst/>
              <a:cxnLst/>
              <a:rect r="r" b="b" t="t" l="l"/>
              <a:pathLst>
                <a:path h="1086309" w="6172200">
                  <a:moveTo>
                    <a:pt x="0" y="0"/>
                  </a:moveTo>
                  <a:lnTo>
                    <a:pt x="6172200" y="0"/>
                  </a:lnTo>
                  <a:lnTo>
                    <a:pt x="6172200" y="1086309"/>
                  </a:lnTo>
                  <a:lnTo>
                    <a:pt x="0" y="1086309"/>
                  </a:lnTo>
                  <a:close/>
                </a:path>
              </a:pathLst>
            </a:custGeom>
            <a:blipFill>
              <a:blip r:embed="rId3">
                <a:alphaModFix amt="0"/>
              </a:blip>
              <a:stretch>
                <a:fillRect l="0" t="-60710" r="0" b="-60710"/>
              </a:stretch>
            </a:blipFill>
          </p:spPr>
          <p:txBody>
            <a:bodyPr/>
            <a:p/>
          </p:txBody>
        </p:sp>
        <p:sp>
          <p:nvSpPr>
            <p:cNvPr name="TextBox 143" id="143"/>
            <p:cNvSpPr txBox="true"/>
            <p:nvPr/>
          </p:nvSpPr>
          <p:spPr>
            <a:xfrm>
              <a:off x="0" y="0"/>
              <a:ext cx="617220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Vélo / Gravel</a:t>
              </a:r>
              <a:r>
                <a:rPr lang="en-US" sz="1350">
                  <a:solidFill>
                    <a:srgbClr val="D3D6E0"/>
                  </a:solidFill>
                  <a:latin typeface="Manrope"/>
                  <a:ea typeface="Manrope"/>
                  <a:cs typeface="Manrope"/>
                  <a:sym typeface="Manrope"/>
                </a:rPr>
                <a:t> Exploration, cardio zone 2/3 et liberté de mouvement. </a:t>
              </a:r>
            </a:p>
          </p:txBody>
        </p:sp>
      </p:grpSp>
      <p:grpSp>
        <p:nvGrpSpPr>
          <p:cNvPr name="Group 144" id="144"/>
          <p:cNvGrpSpPr/>
          <p:nvPr/>
        </p:nvGrpSpPr>
        <p:grpSpPr>
          <a:xfrm rot="0">
            <a:off x="6563182" y="8022565"/>
            <a:ext cx="10878007" cy="947623"/>
            <a:chOff x="0" y="0"/>
            <a:chExt cx="14504010" cy="1263498"/>
          </a:xfrm>
        </p:grpSpPr>
        <p:sp>
          <p:nvSpPr>
            <p:cNvPr name="Freeform 145" id="145"/>
            <p:cNvSpPr/>
            <p:nvPr/>
          </p:nvSpPr>
          <p:spPr>
            <a:xfrm flipH="false" flipV="false" rot="0">
              <a:off x="12700" y="12700"/>
              <a:ext cx="14478636" cy="1238123"/>
            </a:xfrm>
            <a:custGeom>
              <a:avLst/>
              <a:gdLst/>
              <a:ahLst/>
              <a:cxnLst/>
              <a:rect r="r" b="b" t="t" l="l"/>
              <a:pathLst>
                <a:path h="1238123" w="14478636">
                  <a:moveTo>
                    <a:pt x="0" y="0"/>
                  </a:moveTo>
                  <a:lnTo>
                    <a:pt x="14478636" y="0"/>
                  </a:lnTo>
                  <a:lnTo>
                    <a:pt x="14478636" y="1238123"/>
                  </a:lnTo>
                  <a:lnTo>
                    <a:pt x="0" y="1238123"/>
                  </a:lnTo>
                  <a:close/>
                </a:path>
              </a:pathLst>
            </a:custGeom>
            <a:solidFill>
              <a:srgbClr val="FFFFFF">
                <a:alpha val="0"/>
              </a:srgbClr>
            </a:solidFill>
          </p:spPr>
          <p:txBody>
            <a:bodyPr/>
            <a:p/>
          </p:txBody>
        </p:sp>
      </p:grpSp>
      <p:grpSp>
        <p:nvGrpSpPr>
          <p:cNvPr name="Group 146" id="146"/>
          <p:cNvGrpSpPr/>
          <p:nvPr/>
        </p:nvGrpSpPr>
        <p:grpSpPr>
          <a:xfrm rot="0">
            <a:off x="6757873" y="8261147"/>
            <a:ext cx="200254" cy="200254"/>
            <a:chOff x="0" y="0"/>
            <a:chExt cx="267005" cy="267005"/>
          </a:xfrm>
        </p:grpSpPr>
        <p:sp>
          <p:nvSpPr>
            <p:cNvPr name="Freeform 147" id="147"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1"/>
              <a:stretch>
                <a:fillRect l="0" t="0" r="-19" b="-19"/>
              </a:stretch>
            </a:blipFill>
          </p:spPr>
          <p:txBody>
            <a:bodyPr/>
            <a:p/>
          </p:txBody>
        </p:sp>
      </p:grpSp>
      <p:grpSp>
        <p:nvGrpSpPr>
          <p:cNvPr name="Group 148" id="148"/>
          <p:cNvGrpSpPr/>
          <p:nvPr/>
        </p:nvGrpSpPr>
        <p:grpSpPr>
          <a:xfrm rot="0">
            <a:off x="7129577" y="8133740"/>
            <a:ext cx="6115964" cy="558241"/>
            <a:chOff x="0" y="0"/>
            <a:chExt cx="8154619" cy="744322"/>
          </a:xfrm>
        </p:grpSpPr>
        <p:sp>
          <p:nvSpPr>
            <p:cNvPr name="Freeform 149" id="149"/>
            <p:cNvSpPr/>
            <p:nvPr/>
          </p:nvSpPr>
          <p:spPr>
            <a:xfrm flipH="false" flipV="false" rot="0">
              <a:off x="0" y="0"/>
              <a:ext cx="8154620" cy="744322"/>
            </a:xfrm>
            <a:custGeom>
              <a:avLst/>
              <a:gdLst/>
              <a:ahLst/>
              <a:cxnLst/>
              <a:rect r="r" b="b" t="t" l="l"/>
              <a:pathLst>
                <a:path h="744322" w="8154620">
                  <a:moveTo>
                    <a:pt x="0" y="0"/>
                  </a:moveTo>
                  <a:lnTo>
                    <a:pt x="8154620" y="0"/>
                  </a:lnTo>
                  <a:lnTo>
                    <a:pt x="8154620" y="744322"/>
                  </a:lnTo>
                  <a:lnTo>
                    <a:pt x="0" y="744322"/>
                  </a:lnTo>
                  <a:close/>
                </a:path>
              </a:pathLst>
            </a:custGeom>
            <a:blipFill>
              <a:blip r:embed="rId3">
                <a:alphaModFix amt="0"/>
              </a:blip>
              <a:stretch>
                <a:fillRect l="0" t="-163473" r="0" b="-163473"/>
              </a:stretch>
            </a:blipFill>
          </p:spPr>
          <p:txBody>
            <a:bodyPr/>
            <a:p/>
          </p:txBody>
        </p:sp>
        <p:sp>
          <p:nvSpPr>
            <p:cNvPr name="TextBox 150" id="150"/>
            <p:cNvSpPr txBox="true"/>
            <p:nvPr/>
          </p:nvSpPr>
          <p:spPr>
            <a:xfrm>
              <a:off x="0" y="0"/>
              <a:ext cx="8154619"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Le Ski de Randonnée aka SKIGEVITY™</a:t>
              </a:r>
              <a:r>
                <a:rPr lang="en-US" sz="1350">
                  <a:solidFill>
                    <a:srgbClr val="D3D6E0"/>
                  </a:solidFill>
                  <a:latin typeface="Manrope"/>
                  <a:ea typeface="Manrope"/>
                  <a:cs typeface="Manrope"/>
                  <a:sym typeface="Manrope"/>
                </a:rPr>
                <a:t> </a:t>
              </a:r>
            </a:p>
            <a:p>
              <a:pPr algn="l">
                <a:lnSpc>
                  <a:spcPts val="1620"/>
                </a:lnSpc>
              </a:pPr>
              <a:r>
                <a:rPr lang="en-US" sz="1350">
                  <a:solidFill>
                    <a:srgbClr val="D3D6E0"/>
                  </a:solidFill>
                  <a:latin typeface="Manrope"/>
                  <a:ea typeface="Manrope"/>
                  <a:cs typeface="Manrope"/>
                  <a:sym typeface="Manrope"/>
                </a:rPr>
                <a:t>Altitude, froid, coordination, effort, joie = médecine à spectre complet. </a:t>
              </a:r>
            </a:p>
          </p:txBody>
        </p:sp>
      </p:grpSp>
      <p:grpSp>
        <p:nvGrpSpPr>
          <p:cNvPr name="Group 151" id="151"/>
          <p:cNvGrpSpPr/>
          <p:nvPr/>
        </p:nvGrpSpPr>
        <p:grpSpPr>
          <a:xfrm rot="0">
            <a:off x="7763332" y="1261948"/>
            <a:ext cx="1991411" cy="290627"/>
            <a:chOff x="0" y="0"/>
            <a:chExt cx="2655214" cy="387502"/>
          </a:xfrm>
        </p:grpSpPr>
        <p:sp>
          <p:nvSpPr>
            <p:cNvPr name="Freeform 152" id="152"/>
            <p:cNvSpPr/>
            <p:nvPr/>
          </p:nvSpPr>
          <p:spPr>
            <a:xfrm flipH="false" flipV="false" rot="0">
              <a:off x="12700" y="12700"/>
              <a:ext cx="2629789" cy="362204"/>
            </a:xfrm>
            <a:custGeom>
              <a:avLst/>
              <a:gdLst/>
              <a:ahLst/>
              <a:cxnLst/>
              <a:rect r="r" b="b" t="t" l="l"/>
              <a:pathLst>
                <a:path h="362204" w="2629789">
                  <a:moveTo>
                    <a:pt x="0" y="181102"/>
                  </a:moveTo>
                  <a:cubicBezTo>
                    <a:pt x="0" y="81026"/>
                    <a:pt x="85852" y="0"/>
                    <a:pt x="191897" y="0"/>
                  </a:cubicBezTo>
                  <a:lnTo>
                    <a:pt x="2437892" y="0"/>
                  </a:lnTo>
                  <a:cubicBezTo>
                    <a:pt x="2543937" y="0"/>
                    <a:pt x="2629789" y="81026"/>
                    <a:pt x="2629789" y="181102"/>
                  </a:cubicBezTo>
                  <a:cubicBezTo>
                    <a:pt x="2629789" y="281178"/>
                    <a:pt x="2543937" y="362204"/>
                    <a:pt x="2437892" y="362204"/>
                  </a:cubicBezTo>
                  <a:lnTo>
                    <a:pt x="191897" y="362204"/>
                  </a:lnTo>
                  <a:cubicBezTo>
                    <a:pt x="85852" y="362077"/>
                    <a:pt x="0" y="281051"/>
                    <a:pt x="0" y="181102"/>
                  </a:cubicBezTo>
                  <a:close/>
                </a:path>
              </a:pathLst>
            </a:custGeom>
            <a:solidFill>
              <a:srgbClr val="40424D"/>
            </a:solidFill>
          </p:spPr>
          <p:txBody>
            <a:bodyPr/>
            <a:p/>
          </p:txBody>
        </p:sp>
      </p:grpSp>
      <p:grpSp>
        <p:nvGrpSpPr>
          <p:cNvPr name="Group 153" id="153"/>
          <p:cNvGrpSpPr/>
          <p:nvPr/>
        </p:nvGrpSpPr>
        <p:grpSpPr>
          <a:xfrm rot="0">
            <a:off x="7953832" y="1271473"/>
            <a:ext cx="2086204" cy="271576"/>
            <a:chOff x="0" y="0"/>
            <a:chExt cx="2781605" cy="362102"/>
          </a:xfrm>
        </p:grpSpPr>
        <p:sp>
          <p:nvSpPr>
            <p:cNvPr name="Freeform 154" id="154"/>
            <p:cNvSpPr/>
            <p:nvPr/>
          </p:nvSpPr>
          <p:spPr>
            <a:xfrm flipH="false" flipV="false" rot="0">
              <a:off x="0" y="0"/>
              <a:ext cx="2781604" cy="362102"/>
            </a:xfrm>
            <a:custGeom>
              <a:avLst/>
              <a:gdLst/>
              <a:ahLst/>
              <a:cxnLst/>
              <a:rect r="r" b="b" t="t" l="l"/>
              <a:pathLst>
                <a:path h="362102" w="2781604">
                  <a:moveTo>
                    <a:pt x="0" y="0"/>
                  </a:moveTo>
                  <a:lnTo>
                    <a:pt x="2781604" y="0"/>
                  </a:lnTo>
                  <a:lnTo>
                    <a:pt x="2781604" y="362102"/>
                  </a:lnTo>
                  <a:lnTo>
                    <a:pt x="0" y="362102"/>
                  </a:lnTo>
                  <a:close/>
                </a:path>
              </a:pathLst>
            </a:custGeom>
            <a:blipFill>
              <a:blip r:embed="rId3">
                <a:alphaModFix amt="0"/>
              </a:blip>
              <a:stretch>
                <a:fillRect l="0" t="-99680" r="0" b="-99680"/>
              </a:stretch>
            </a:blipFill>
          </p:spPr>
          <p:txBody>
            <a:bodyPr/>
            <a:p/>
          </p:txBody>
        </p:sp>
        <p:sp>
          <p:nvSpPr>
            <p:cNvPr name="TextBox 155" id="155"/>
            <p:cNvSpPr txBox="true"/>
            <p:nvPr/>
          </p:nvSpPr>
          <p:spPr>
            <a:xfrm>
              <a:off x="0" y="0"/>
              <a:ext cx="2781605" cy="362102"/>
            </a:xfrm>
            <a:prstGeom prst="rect">
              <a:avLst/>
            </a:prstGeom>
          </p:spPr>
          <p:txBody>
            <a:bodyPr anchor="ctr" rtlCol="false" tIns="0" lIns="0" bIns="0" rIns="0"/>
            <a:lstStyle/>
            <a:p>
              <a:pPr algn="l">
                <a:lnSpc>
                  <a:spcPts val="1439"/>
                </a:lnSpc>
              </a:pPr>
              <a:r>
                <a:rPr lang="en-US" sz="1200" b="true">
                  <a:solidFill>
                    <a:srgbClr val="FFFFFF"/>
                  </a:solidFill>
                  <a:latin typeface="Manrope Bold"/>
                  <a:ea typeface="Manrope Bold"/>
                  <a:cs typeface="Manrope Bold"/>
                  <a:sym typeface="Manrope Bold"/>
                </a:rPr>
                <a:t>Connexion Biologique</a:t>
              </a:r>
            </a:p>
          </p:txBody>
        </p:sp>
      </p:grpSp>
      <p:grpSp>
        <p:nvGrpSpPr>
          <p:cNvPr name="Group 156" id="156"/>
          <p:cNvGrpSpPr/>
          <p:nvPr/>
        </p:nvGrpSpPr>
        <p:grpSpPr>
          <a:xfrm rot="0">
            <a:off x="6572707" y="4146347"/>
            <a:ext cx="200254" cy="257861"/>
            <a:chOff x="0" y="0"/>
            <a:chExt cx="267005" cy="343814"/>
          </a:xfrm>
        </p:grpSpPr>
        <p:sp>
          <p:nvSpPr>
            <p:cNvPr name="Freeform 157" id="157" descr="preencoded.png"/>
            <p:cNvSpPr/>
            <p:nvPr/>
          </p:nvSpPr>
          <p:spPr>
            <a:xfrm flipH="false" flipV="false" rot="0">
              <a:off x="0" y="0"/>
              <a:ext cx="266954" cy="343789"/>
            </a:xfrm>
            <a:custGeom>
              <a:avLst/>
              <a:gdLst/>
              <a:ahLst/>
              <a:cxnLst/>
              <a:rect r="r" b="b" t="t" l="l"/>
              <a:pathLst>
                <a:path h="343789" w="266954">
                  <a:moveTo>
                    <a:pt x="0" y="0"/>
                  </a:moveTo>
                  <a:lnTo>
                    <a:pt x="266954" y="0"/>
                  </a:lnTo>
                  <a:lnTo>
                    <a:pt x="266954" y="343789"/>
                  </a:lnTo>
                  <a:lnTo>
                    <a:pt x="0" y="343789"/>
                  </a:lnTo>
                  <a:lnTo>
                    <a:pt x="0" y="0"/>
                  </a:lnTo>
                  <a:close/>
                </a:path>
              </a:pathLst>
            </a:custGeom>
            <a:blipFill>
              <a:blip r:embed="rId12"/>
              <a:stretch>
                <a:fillRect l="1731" t="0" r="566" b="-7"/>
              </a:stretch>
            </a:blipFill>
          </p:spPr>
          <p:txBody>
            <a:body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5715457" cy="10287000"/>
            <a:chOff x="0" y="0"/>
            <a:chExt cx="7620610" cy="13716000"/>
          </a:xfrm>
        </p:grpSpPr>
        <p:sp>
          <p:nvSpPr>
            <p:cNvPr name="Freeform 7" id="7"/>
            <p:cNvSpPr/>
            <p:nvPr/>
          </p:nvSpPr>
          <p:spPr>
            <a:xfrm flipH="false" flipV="false" rot="0">
              <a:off x="0" y="0"/>
              <a:ext cx="7620635" cy="13716000"/>
            </a:xfrm>
            <a:custGeom>
              <a:avLst/>
              <a:gdLst/>
              <a:ahLst/>
              <a:cxnLst/>
              <a:rect r="r" b="b" t="t" l="l"/>
              <a:pathLst>
                <a:path h="13716000" w="7620635">
                  <a:moveTo>
                    <a:pt x="0" y="0"/>
                  </a:moveTo>
                  <a:lnTo>
                    <a:pt x="7620635" y="0"/>
                  </a:lnTo>
                  <a:lnTo>
                    <a:pt x="7620635" y="13716000"/>
                  </a:lnTo>
                  <a:lnTo>
                    <a:pt x="0" y="13716000"/>
                  </a:lnTo>
                  <a:close/>
                </a:path>
              </a:pathLst>
            </a:custGeom>
            <a:solidFill>
              <a:srgbClr val="1E1E24"/>
            </a:solidFill>
          </p:spPr>
          <p:txBody>
            <a:bodyPr/>
            <a:p/>
          </p:txBody>
        </p:sp>
      </p:grpSp>
      <p:grpSp>
        <p:nvGrpSpPr>
          <p:cNvPr name="Group 8" id="8"/>
          <p:cNvGrpSpPr/>
          <p:nvPr/>
        </p:nvGrpSpPr>
        <p:grpSpPr>
          <a:xfrm rot="0">
            <a:off x="5692216" y="-9525"/>
            <a:ext cx="32766" cy="10306050"/>
            <a:chOff x="0" y="0"/>
            <a:chExt cx="43688" cy="13741400"/>
          </a:xfrm>
        </p:grpSpPr>
        <p:sp>
          <p:nvSpPr>
            <p:cNvPr name="Freeform 9" id="9"/>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0" id="10"/>
          <p:cNvGrpSpPr/>
          <p:nvPr/>
        </p:nvGrpSpPr>
        <p:grpSpPr>
          <a:xfrm rot="0">
            <a:off x="571957" y="571957"/>
            <a:ext cx="4729277" cy="332327"/>
            <a:chOff x="0" y="0"/>
            <a:chExt cx="6305702" cy="443103"/>
          </a:xfrm>
        </p:grpSpPr>
        <p:sp>
          <p:nvSpPr>
            <p:cNvPr name="Freeform 11" id="11"/>
            <p:cNvSpPr/>
            <p:nvPr/>
          </p:nvSpPr>
          <p:spPr>
            <a:xfrm flipH="false" flipV="false" rot="0">
              <a:off x="0" y="0"/>
              <a:ext cx="6305702" cy="443104"/>
            </a:xfrm>
            <a:custGeom>
              <a:avLst/>
              <a:gdLst/>
              <a:ahLst/>
              <a:cxnLst/>
              <a:rect r="r" b="b" t="t" l="l"/>
              <a:pathLst>
                <a:path h="443104" w="6305702">
                  <a:moveTo>
                    <a:pt x="0" y="0"/>
                  </a:moveTo>
                  <a:lnTo>
                    <a:pt x="6305702" y="0"/>
                  </a:lnTo>
                  <a:lnTo>
                    <a:pt x="6305702" y="443104"/>
                  </a:lnTo>
                  <a:lnTo>
                    <a:pt x="0" y="443104"/>
                  </a:lnTo>
                  <a:close/>
                </a:path>
              </a:pathLst>
            </a:custGeom>
            <a:blipFill>
              <a:blip r:embed="rId3">
                <a:alphaModFix amt="0"/>
              </a:blip>
              <a:stretch>
                <a:fillRect l="0" t="-232093" r="0" b="-222480"/>
              </a:stretch>
            </a:blipFill>
          </p:spPr>
          <p:txBody>
            <a:bodyPr/>
            <a:p/>
          </p:txBody>
        </p:sp>
        <p:sp>
          <p:nvSpPr>
            <p:cNvPr name="TextBox 12" id="12"/>
            <p:cNvSpPr txBox="true"/>
            <p:nvPr/>
          </p:nvSpPr>
          <p:spPr>
            <a:xfrm>
              <a:off x="0" y="-9525"/>
              <a:ext cx="6305702"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Essence &amp; Connexion</a:t>
              </a:r>
            </a:p>
          </p:txBody>
        </p:sp>
      </p:grpSp>
      <p:grpSp>
        <p:nvGrpSpPr>
          <p:cNvPr name="Group 13" id="13"/>
          <p:cNvGrpSpPr/>
          <p:nvPr/>
        </p:nvGrpSpPr>
        <p:grpSpPr>
          <a:xfrm rot="0">
            <a:off x="562432" y="562432"/>
            <a:ext cx="304343" cy="32766"/>
            <a:chOff x="0" y="0"/>
            <a:chExt cx="405790" cy="43688"/>
          </a:xfrm>
        </p:grpSpPr>
        <p:sp>
          <p:nvSpPr>
            <p:cNvPr name="Freeform 14" id="14"/>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5" id="15"/>
          <p:cNvGrpSpPr/>
          <p:nvPr/>
        </p:nvGrpSpPr>
        <p:grpSpPr>
          <a:xfrm rot="0">
            <a:off x="571957" y="938320"/>
            <a:ext cx="4729277" cy="1039382"/>
            <a:chOff x="0" y="0"/>
            <a:chExt cx="6305702" cy="1385843"/>
          </a:xfrm>
        </p:grpSpPr>
        <p:sp>
          <p:nvSpPr>
            <p:cNvPr name="Freeform 16" id="16"/>
            <p:cNvSpPr/>
            <p:nvPr/>
          </p:nvSpPr>
          <p:spPr>
            <a:xfrm flipH="false" flipV="false" rot="0">
              <a:off x="0" y="0"/>
              <a:ext cx="6305702" cy="1385843"/>
            </a:xfrm>
            <a:custGeom>
              <a:avLst/>
              <a:gdLst/>
              <a:ahLst/>
              <a:cxnLst/>
              <a:rect r="r" b="b" t="t" l="l"/>
              <a:pathLst>
                <a:path h="1385843" w="6305702">
                  <a:moveTo>
                    <a:pt x="0" y="0"/>
                  </a:moveTo>
                  <a:lnTo>
                    <a:pt x="6305702" y="0"/>
                  </a:lnTo>
                  <a:lnTo>
                    <a:pt x="6305702" y="1385843"/>
                  </a:lnTo>
                  <a:lnTo>
                    <a:pt x="0" y="1385843"/>
                  </a:lnTo>
                  <a:close/>
                </a:path>
              </a:pathLst>
            </a:custGeom>
            <a:blipFill>
              <a:blip r:embed="rId3">
                <a:alphaModFix amt="0"/>
              </a:blip>
              <a:stretch>
                <a:fillRect l="0" t="-77639" r="0" b="322"/>
              </a:stretch>
            </a:blipFill>
          </p:spPr>
          <p:txBody>
            <a:bodyPr/>
            <a:p/>
          </p:txBody>
        </p:sp>
        <p:sp>
          <p:nvSpPr>
            <p:cNvPr name="TextBox 17" id="17"/>
            <p:cNvSpPr txBox="true"/>
            <p:nvPr/>
          </p:nvSpPr>
          <p:spPr>
            <a:xfrm>
              <a:off x="0" y="9525"/>
              <a:ext cx="6305702" cy="1376318"/>
            </a:xfrm>
            <a:prstGeom prst="rect">
              <a:avLst/>
            </a:prstGeom>
          </p:spPr>
          <p:txBody>
            <a:bodyPr anchor="ctr" rtlCol="false" tIns="0" lIns="0" bIns="0" rIns="0"/>
            <a:lstStyle/>
            <a:p>
              <a:pPr algn="l">
                <a:lnSpc>
                  <a:spcPts val="5639"/>
                </a:lnSpc>
              </a:pPr>
              <a:r>
                <a:rPr lang="en-US" sz="4699" spc="-587">
                  <a:solidFill>
                    <a:srgbClr val="FFFFFF"/>
                  </a:solidFill>
                  <a:latin typeface="Manrope"/>
                  <a:ea typeface="Manrope"/>
                  <a:cs typeface="Manrope"/>
                  <a:sym typeface="Manrope"/>
                </a:rPr>
                <a:t>AMOUR</a:t>
              </a:r>
            </a:p>
          </p:txBody>
        </p:sp>
      </p:grpSp>
      <p:grpSp>
        <p:nvGrpSpPr>
          <p:cNvPr name="Group 18" id="18"/>
          <p:cNvGrpSpPr/>
          <p:nvPr/>
        </p:nvGrpSpPr>
        <p:grpSpPr>
          <a:xfrm rot="0">
            <a:off x="571957" y="1800911"/>
            <a:ext cx="4729277" cy="498491"/>
            <a:chOff x="0" y="0"/>
            <a:chExt cx="6305702" cy="664654"/>
          </a:xfrm>
        </p:grpSpPr>
        <p:sp>
          <p:nvSpPr>
            <p:cNvPr name="Freeform 19" id="19"/>
            <p:cNvSpPr/>
            <p:nvPr/>
          </p:nvSpPr>
          <p:spPr>
            <a:xfrm flipH="false" flipV="false" rot="0">
              <a:off x="0" y="0"/>
              <a:ext cx="6305702" cy="664655"/>
            </a:xfrm>
            <a:custGeom>
              <a:avLst/>
              <a:gdLst/>
              <a:ahLst/>
              <a:cxnLst/>
              <a:rect r="r" b="b" t="t" l="l"/>
              <a:pathLst>
                <a:path h="664655" w="6305702">
                  <a:moveTo>
                    <a:pt x="0" y="0"/>
                  </a:moveTo>
                  <a:lnTo>
                    <a:pt x="6305702" y="0"/>
                  </a:lnTo>
                  <a:lnTo>
                    <a:pt x="6305702" y="664655"/>
                  </a:lnTo>
                  <a:lnTo>
                    <a:pt x="0" y="664655"/>
                  </a:lnTo>
                  <a:close/>
                </a:path>
              </a:pathLst>
            </a:custGeom>
            <a:blipFill>
              <a:blip r:embed="rId3">
                <a:alphaModFix amt="0"/>
              </a:blip>
              <a:stretch>
                <a:fillRect l="0" t="-144686" r="0" b="-125030"/>
              </a:stretch>
            </a:blipFill>
          </p:spPr>
          <p:txBody>
            <a:bodyPr/>
            <a:p/>
          </p:txBody>
        </p:sp>
        <p:sp>
          <p:nvSpPr>
            <p:cNvPr name="TextBox 20" id="20"/>
            <p:cNvSpPr txBox="true"/>
            <p:nvPr/>
          </p:nvSpPr>
          <p:spPr>
            <a:xfrm>
              <a:off x="0" y="-9525"/>
              <a:ext cx="6305702"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La force métabolique.</a:t>
              </a:r>
            </a:p>
          </p:txBody>
        </p:sp>
      </p:grpSp>
      <p:grpSp>
        <p:nvGrpSpPr>
          <p:cNvPr name="Group 21" id="21"/>
          <p:cNvGrpSpPr/>
          <p:nvPr/>
        </p:nvGrpSpPr>
        <p:grpSpPr>
          <a:xfrm rot="0">
            <a:off x="571957" y="2529230"/>
            <a:ext cx="4729277" cy="293380"/>
            <a:chOff x="0" y="0"/>
            <a:chExt cx="6305702" cy="391173"/>
          </a:xfrm>
        </p:grpSpPr>
        <p:sp>
          <p:nvSpPr>
            <p:cNvPr name="Freeform 22" id="22"/>
            <p:cNvSpPr/>
            <p:nvPr/>
          </p:nvSpPr>
          <p:spPr>
            <a:xfrm flipH="false" flipV="false" rot="0">
              <a:off x="0" y="0"/>
              <a:ext cx="6305702" cy="391173"/>
            </a:xfrm>
            <a:custGeom>
              <a:avLst/>
              <a:gdLst/>
              <a:ahLst/>
              <a:cxnLst/>
              <a:rect r="r" b="b" t="t" l="l"/>
              <a:pathLst>
                <a:path h="391173" w="6305702">
                  <a:moveTo>
                    <a:pt x="0" y="0"/>
                  </a:moveTo>
                  <a:lnTo>
                    <a:pt x="6305702" y="0"/>
                  </a:lnTo>
                  <a:lnTo>
                    <a:pt x="6305702" y="391173"/>
                  </a:lnTo>
                  <a:lnTo>
                    <a:pt x="0" y="391173"/>
                  </a:lnTo>
                  <a:close/>
                </a:path>
              </a:pathLst>
            </a:custGeom>
            <a:blipFill>
              <a:blip r:embed="rId3">
                <a:alphaModFix amt="0"/>
              </a:blip>
              <a:stretch>
                <a:fillRect l="0" t="-275060" r="0" b="-253136"/>
              </a:stretch>
            </a:blipFill>
          </p:spPr>
          <p:txBody>
            <a:bodyPr/>
            <a:p/>
          </p:txBody>
        </p:sp>
        <p:sp>
          <p:nvSpPr>
            <p:cNvPr name="TextBox 23" id="23"/>
            <p:cNvSpPr txBox="true"/>
            <p:nvPr/>
          </p:nvSpPr>
          <p:spPr>
            <a:xfrm>
              <a:off x="0" y="0"/>
              <a:ext cx="63057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Impact Biologique</a:t>
              </a:r>
            </a:p>
          </p:txBody>
        </p:sp>
      </p:grpSp>
      <p:grpSp>
        <p:nvGrpSpPr>
          <p:cNvPr name="Group 24" id="24"/>
          <p:cNvGrpSpPr/>
          <p:nvPr/>
        </p:nvGrpSpPr>
        <p:grpSpPr>
          <a:xfrm rot="0">
            <a:off x="562432" y="2976448"/>
            <a:ext cx="2219096" cy="1562100"/>
            <a:chOff x="0" y="0"/>
            <a:chExt cx="2958795" cy="2082800"/>
          </a:xfrm>
        </p:grpSpPr>
        <p:sp>
          <p:nvSpPr>
            <p:cNvPr name="Freeform 25" id="25"/>
            <p:cNvSpPr/>
            <p:nvPr/>
          </p:nvSpPr>
          <p:spPr>
            <a:xfrm flipH="false" flipV="false" rot="0">
              <a:off x="12700" y="12700"/>
              <a:ext cx="2933446" cy="2057400"/>
            </a:xfrm>
            <a:custGeom>
              <a:avLst/>
              <a:gdLst/>
              <a:ahLst/>
              <a:cxnLst/>
              <a:rect r="r" b="b" t="t" l="l"/>
              <a:pathLst>
                <a:path h="2057400" w="2933446">
                  <a:moveTo>
                    <a:pt x="0" y="135509"/>
                  </a:moveTo>
                  <a:cubicBezTo>
                    <a:pt x="0" y="60706"/>
                    <a:pt x="60833" y="0"/>
                    <a:pt x="136017" y="0"/>
                  </a:cubicBezTo>
                  <a:lnTo>
                    <a:pt x="2797429" y="0"/>
                  </a:lnTo>
                  <a:cubicBezTo>
                    <a:pt x="2872486" y="0"/>
                    <a:pt x="2933446" y="60706"/>
                    <a:pt x="2933446" y="135509"/>
                  </a:cubicBezTo>
                  <a:lnTo>
                    <a:pt x="2933446" y="1921891"/>
                  </a:lnTo>
                  <a:cubicBezTo>
                    <a:pt x="2933446" y="1996694"/>
                    <a:pt x="2872613" y="2057400"/>
                    <a:pt x="2797429" y="2057400"/>
                  </a:cubicBezTo>
                  <a:lnTo>
                    <a:pt x="136017" y="2057400"/>
                  </a:lnTo>
                  <a:cubicBezTo>
                    <a:pt x="60833" y="2057400"/>
                    <a:pt x="0" y="1996694"/>
                    <a:pt x="0" y="1921891"/>
                  </a:cubicBezTo>
                  <a:close/>
                </a:path>
              </a:pathLst>
            </a:custGeom>
            <a:solidFill>
              <a:srgbClr val="1E1E24"/>
            </a:solidFill>
          </p:spPr>
          <p:txBody>
            <a:bodyPr/>
            <a:p/>
          </p:txBody>
        </p:sp>
        <p:sp>
          <p:nvSpPr>
            <p:cNvPr name="Freeform 26" id="26"/>
            <p:cNvSpPr/>
            <p:nvPr/>
          </p:nvSpPr>
          <p:spPr>
            <a:xfrm flipH="false" flipV="false" rot="0">
              <a:off x="0" y="0"/>
              <a:ext cx="2958846" cy="2082800"/>
            </a:xfrm>
            <a:custGeom>
              <a:avLst/>
              <a:gdLst/>
              <a:ahLst/>
              <a:cxnLst/>
              <a:rect r="r" b="b" t="t" l="l"/>
              <a:pathLst>
                <a:path h="2082800" w="2958846">
                  <a:moveTo>
                    <a:pt x="0" y="148209"/>
                  </a:moveTo>
                  <a:cubicBezTo>
                    <a:pt x="0" y="66294"/>
                    <a:pt x="66548" y="0"/>
                    <a:pt x="148717" y="0"/>
                  </a:cubicBezTo>
                  <a:lnTo>
                    <a:pt x="2810129" y="0"/>
                  </a:lnTo>
                  <a:lnTo>
                    <a:pt x="2810129" y="12700"/>
                  </a:lnTo>
                  <a:lnTo>
                    <a:pt x="2810129" y="0"/>
                  </a:lnTo>
                  <a:cubicBezTo>
                    <a:pt x="2892171" y="0"/>
                    <a:pt x="2958846" y="66294"/>
                    <a:pt x="2958846" y="148209"/>
                  </a:cubicBezTo>
                  <a:lnTo>
                    <a:pt x="2946146" y="148209"/>
                  </a:lnTo>
                  <a:lnTo>
                    <a:pt x="2958846" y="148209"/>
                  </a:lnTo>
                  <a:lnTo>
                    <a:pt x="2958846" y="1934591"/>
                  </a:lnTo>
                  <a:lnTo>
                    <a:pt x="2946146" y="1934591"/>
                  </a:lnTo>
                  <a:lnTo>
                    <a:pt x="2958846" y="1934591"/>
                  </a:lnTo>
                  <a:cubicBezTo>
                    <a:pt x="2958846" y="2016506"/>
                    <a:pt x="2892298" y="2082800"/>
                    <a:pt x="2810129" y="2082800"/>
                  </a:cubicBezTo>
                  <a:lnTo>
                    <a:pt x="2810129" y="2070100"/>
                  </a:lnTo>
                  <a:lnTo>
                    <a:pt x="2810129" y="2082800"/>
                  </a:lnTo>
                  <a:lnTo>
                    <a:pt x="148717" y="2082800"/>
                  </a:lnTo>
                  <a:lnTo>
                    <a:pt x="148717" y="2070100"/>
                  </a:lnTo>
                  <a:lnTo>
                    <a:pt x="148717" y="2082800"/>
                  </a:lnTo>
                  <a:cubicBezTo>
                    <a:pt x="66548" y="2082800"/>
                    <a:pt x="0" y="2016506"/>
                    <a:pt x="0" y="1934591"/>
                  </a:cubicBezTo>
                  <a:lnTo>
                    <a:pt x="0" y="148209"/>
                  </a:lnTo>
                  <a:lnTo>
                    <a:pt x="12700" y="148209"/>
                  </a:lnTo>
                  <a:lnTo>
                    <a:pt x="0" y="148209"/>
                  </a:lnTo>
                  <a:moveTo>
                    <a:pt x="25400" y="148209"/>
                  </a:moveTo>
                  <a:lnTo>
                    <a:pt x="25400" y="1934591"/>
                  </a:lnTo>
                  <a:lnTo>
                    <a:pt x="12700" y="1934591"/>
                  </a:lnTo>
                  <a:lnTo>
                    <a:pt x="25400" y="1934591"/>
                  </a:lnTo>
                  <a:cubicBezTo>
                    <a:pt x="25400" y="2002282"/>
                    <a:pt x="80518" y="2057400"/>
                    <a:pt x="148717" y="2057400"/>
                  </a:cubicBezTo>
                  <a:lnTo>
                    <a:pt x="2810129" y="2057400"/>
                  </a:lnTo>
                  <a:cubicBezTo>
                    <a:pt x="2878201" y="2057400"/>
                    <a:pt x="2933446" y="2002409"/>
                    <a:pt x="2933446" y="1934591"/>
                  </a:cubicBezTo>
                  <a:lnTo>
                    <a:pt x="2933446" y="148209"/>
                  </a:lnTo>
                  <a:cubicBezTo>
                    <a:pt x="2933446" y="80518"/>
                    <a:pt x="2878328" y="25400"/>
                    <a:pt x="2810129" y="25400"/>
                  </a:cubicBezTo>
                  <a:lnTo>
                    <a:pt x="148717" y="25400"/>
                  </a:lnTo>
                  <a:lnTo>
                    <a:pt x="148717" y="12700"/>
                  </a:lnTo>
                  <a:lnTo>
                    <a:pt x="148717" y="25400"/>
                  </a:lnTo>
                  <a:cubicBezTo>
                    <a:pt x="80518" y="25400"/>
                    <a:pt x="25400" y="80391"/>
                    <a:pt x="25400" y="148209"/>
                  </a:cubicBezTo>
                  <a:close/>
                </a:path>
              </a:pathLst>
            </a:custGeom>
            <a:solidFill>
              <a:srgbClr val="40424D"/>
            </a:solidFill>
          </p:spPr>
          <p:txBody>
            <a:bodyPr/>
            <a:p/>
          </p:txBody>
        </p:sp>
      </p:grpSp>
      <p:grpSp>
        <p:nvGrpSpPr>
          <p:cNvPr name="Group 27" id="27"/>
          <p:cNvGrpSpPr/>
          <p:nvPr/>
        </p:nvGrpSpPr>
        <p:grpSpPr>
          <a:xfrm rot="0">
            <a:off x="814730" y="3228746"/>
            <a:ext cx="1829714" cy="293380"/>
            <a:chOff x="0" y="0"/>
            <a:chExt cx="2439619" cy="391173"/>
          </a:xfrm>
        </p:grpSpPr>
        <p:sp>
          <p:nvSpPr>
            <p:cNvPr name="Freeform 28" id="28"/>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29" id="29"/>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Ocytocine </a:t>
              </a:r>
            </a:p>
          </p:txBody>
        </p:sp>
      </p:grpSp>
      <p:grpSp>
        <p:nvGrpSpPr>
          <p:cNvPr name="Group 30" id="30"/>
          <p:cNvGrpSpPr/>
          <p:nvPr/>
        </p:nvGrpSpPr>
        <p:grpSpPr>
          <a:xfrm rot="0">
            <a:off x="2322119" y="3228746"/>
            <a:ext cx="200254" cy="257861"/>
            <a:chOff x="0" y="0"/>
            <a:chExt cx="267005" cy="343814"/>
          </a:xfrm>
        </p:grpSpPr>
        <p:sp>
          <p:nvSpPr>
            <p:cNvPr name="Freeform 31" id="31" descr="preencoded.png"/>
            <p:cNvSpPr/>
            <p:nvPr/>
          </p:nvSpPr>
          <p:spPr>
            <a:xfrm flipH="false" flipV="false" rot="0">
              <a:off x="0" y="0"/>
              <a:ext cx="266954" cy="343789"/>
            </a:xfrm>
            <a:custGeom>
              <a:avLst/>
              <a:gdLst/>
              <a:ahLst/>
              <a:cxnLst/>
              <a:rect r="r" b="b" t="t" l="l"/>
              <a:pathLst>
                <a:path h="343789" w="266954">
                  <a:moveTo>
                    <a:pt x="0" y="0"/>
                  </a:moveTo>
                  <a:lnTo>
                    <a:pt x="266954" y="0"/>
                  </a:lnTo>
                  <a:lnTo>
                    <a:pt x="266954" y="343789"/>
                  </a:lnTo>
                  <a:lnTo>
                    <a:pt x="0" y="343789"/>
                  </a:lnTo>
                  <a:lnTo>
                    <a:pt x="0" y="0"/>
                  </a:lnTo>
                  <a:close/>
                </a:path>
              </a:pathLst>
            </a:custGeom>
            <a:blipFill>
              <a:blip r:embed="rId4"/>
              <a:stretch>
                <a:fillRect l="0" t="15485" r="-19" b="15478"/>
              </a:stretch>
            </a:blipFill>
          </p:spPr>
          <p:txBody>
            <a:bodyPr/>
            <a:p/>
          </p:txBody>
        </p:sp>
      </p:grpSp>
      <p:grpSp>
        <p:nvGrpSpPr>
          <p:cNvPr name="Group 32" id="32"/>
          <p:cNvGrpSpPr/>
          <p:nvPr/>
        </p:nvGrpSpPr>
        <p:grpSpPr>
          <a:xfrm rot="0">
            <a:off x="814730" y="3542843"/>
            <a:ext cx="1800911" cy="806882"/>
            <a:chOff x="0" y="0"/>
            <a:chExt cx="2401214" cy="1075842"/>
          </a:xfrm>
        </p:grpSpPr>
        <p:sp>
          <p:nvSpPr>
            <p:cNvPr name="Freeform 33" id="33"/>
            <p:cNvSpPr/>
            <p:nvPr/>
          </p:nvSpPr>
          <p:spPr>
            <a:xfrm flipH="false" flipV="false" rot="0">
              <a:off x="0" y="0"/>
              <a:ext cx="2401214" cy="1075843"/>
            </a:xfrm>
            <a:custGeom>
              <a:avLst/>
              <a:gdLst/>
              <a:ahLst/>
              <a:cxnLst/>
              <a:rect r="r" b="b" t="t" l="l"/>
              <a:pathLst>
                <a:path h="1075843" w="2401214">
                  <a:moveTo>
                    <a:pt x="0" y="0"/>
                  </a:moveTo>
                  <a:lnTo>
                    <a:pt x="2401214" y="0"/>
                  </a:lnTo>
                  <a:lnTo>
                    <a:pt x="2401214" y="1075843"/>
                  </a:lnTo>
                  <a:lnTo>
                    <a:pt x="0" y="1075843"/>
                  </a:lnTo>
                  <a:close/>
                </a:path>
              </a:pathLst>
            </a:custGeom>
            <a:blipFill>
              <a:blip r:embed="rId3">
                <a:alphaModFix amt="0"/>
              </a:blip>
              <a:stretch>
                <a:fillRect l="-2963" t="0" r="-2963" b="7866"/>
              </a:stretch>
            </a:blipFill>
          </p:spPr>
          <p:txBody>
            <a:bodyPr/>
            <a:p/>
          </p:txBody>
        </p:sp>
        <p:sp>
          <p:nvSpPr>
            <p:cNvPr name="TextBox 34" id="34"/>
            <p:cNvSpPr txBox="true"/>
            <p:nvPr/>
          </p:nvSpPr>
          <p:spPr>
            <a:xfrm>
              <a:off x="0" y="0"/>
              <a:ext cx="2401214" cy="10758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Hormone de l'attachement. Réduit l'anxiété et favorise la régénération.</a:t>
              </a:r>
            </a:p>
          </p:txBody>
        </p:sp>
      </p:grpSp>
      <p:grpSp>
        <p:nvGrpSpPr>
          <p:cNvPr name="Group 35" id="35"/>
          <p:cNvGrpSpPr/>
          <p:nvPr/>
        </p:nvGrpSpPr>
        <p:grpSpPr>
          <a:xfrm rot="0">
            <a:off x="2927071" y="2976448"/>
            <a:ext cx="2219096" cy="1562100"/>
            <a:chOff x="0" y="0"/>
            <a:chExt cx="2958795" cy="2082800"/>
          </a:xfrm>
        </p:grpSpPr>
        <p:sp>
          <p:nvSpPr>
            <p:cNvPr name="Freeform 36" id="36"/>
            <p:cNvSpPr/>
            <p:nvPr/>
          </p:nvSpPr>
          <p:spPr>
            <a:xfrm flipH="false" flipV="false" rot="0">
              <a:off x="12700" y="12700"/>
              <a:ext cx="2933446" cy="2057400"/>
            </a:xfrm>
            <a:custGeom>
              <a:avLst/>
              <a:gdLst/>
              <a:ahLst/>
              <a:cxnLst/>
              <a:rect r="r" b="b" t="t" l="l"/>
              <a:pathLst>
                <a:path h="2057400" w="2933446">
                  <a:moveTo>
                    <a:pt x="0" y="135509"/>
                  </a:moveTo>
                  <a:cubicBezTo>
                    <a:pt x="0" y="60706"/>
                    <a:pt x="60833" y="0"/>
                    <a:pt x="136017" y="0"/>
                  </a:cubicBezTo>
                  <a:lnTo>
                    <a:pt x="2797429" y="0"/>
                  </a:lnTo>
                  <a:cubicBezTo>
                    <a:pt x="2872486" y="0"/>
                    <a:pt x="2933446" y="60706"/>
                    <a:pt x="2933446" y="135509"/>
                  </a:cubicBezTo>
                  <a:lnTo>
                    <a:pt x="2933446" y="1921891"/>
                  </a:lnTo>
                  <a:cubicBezTo>
                    <a:pt x="2933446" y="1996694"/>
                    <a:pt x="2872613" y="2057400"/>
                    <a:pt x="2797429" y="2057400"/>
                  </a:cubicBezTo>
                  <a:lnTo>
                    <a:pt x="136017" y="2057400"/>
                  </a:lnTo>
                  <a:cubicBezTo>
                    <a:pt x="60833" y="2057400"/>
                    <a:pt x="0" y="1996694"/>
                    <a:pt x="0" y="1921891"/>
                  </a:cubicBezTo>
                  <a:close/>
                </a:path>
              </a:pathLst>
            </a:custGeom>
            <a:solidFill>
              <a:srgbClr val="1E1E24"/>
            </a:solidFill>
          </p:spPr>
          <p:txBody>
            <a:bodyPr/>
            <a:p/>
          </p:txBody>
        </p:sp>
        <p:sp>
          <p:nvSpPr>
            <p:cNvPr name="Freeform 37" id="37"/>
            <p:cNvSpPr/>
            <p:nvPr/>
          </p:nvSpPr>
          <p:spPr>
            <a:xfrm flipH="false" flipV="false" rot="0">
              <a:off x="0" y="0"/>
              <a:ext cx="2958846" cy="2082800"/>
            </a:xfrm>
            <a:custGeom>
              <a:avLst/>
              <a:gdLst/>
              <a:ahLst/>
              <a:cxnLst/>
              <a:rect r="r" b="b" t="t" l="l"/>
              <a:pathLst>
                <a:path h="2082800" w="2958846">
                  <a:moveTo>
                    <a:pt x="0" y="148209"/>
                  </a:moveTo>
                  <a:cubicBezTo>
                    <a:pt x="0" y="66294"/>
                    <a:pt x="66548" y="0"/>
                    <a:pt x="148717" y="0"/>
                  </a:cubicBezTo>
                  <a:lnTo>
                    <a:pt x="2810129" y="0"/>
                  </a:lnTo>
                  <a:lnTo>
                    <a:pt x="2810129" y="12700"/>
                  </a:lnTo>
                  <a:lnTo>
                    <a:pt x="2810129" y="0"/>
                  </a:lnTo>
                  <a:cubicBezTo>
                    <a:pt x="2892171" y="0"/>
                    <a:pt x="2958846" y="66294"/>
                    <a:pt x="2958846" y="148209"/>
                  </a:cubicBezTo>
                  <a:lnTo>
                    <a:pt x="2946146" y="148209"/>
                  </a:lnTo>
                  <a:lnTo>
                    <a:pt x="2958846" y="148209"/>
                  </a:lnTo>
                  <a:lnTo>
                    <a:pt x="2958846" y="1934591"/>
                  </a:lnTo>
                  <a:lnTo>
                    <a:pt x="2946146" y="1934591"/>
                  </a:lnTo>
                  <a:lnTo>
                    <a:pt x="2958846" y="1934591"/>
                  </a:lnTo>
                  <a:cubicBezTo>
                    <a:pt x="2958846" y="2016506"/>
                    <a:pt x="2892298" y="2082800"/>
                    <a:pt x="2810129" y="2082800"/>
                  </a:cubicBezTo>
                  <a:lnTo>
                    <a:pt x="2810129" y="2070100"/>
                  </a:lnTo>
                  <a:lnTo>
                    <a:pt x="2810129" y="2082800"/>
                  </a:lnTo>
                  <a:lnTo>
                    <a:pt x="148717" y="2082800"/>
                  </a:lnTo>
                  <a:lnTo>
                    <a:pt x="148717" y="2070100"/>
                  </a:lnTo>
                  <a:lnTo>
                    <a:pt x="148717" y="2082800"/>
                  </a:lnTo>
                  <a:cubicBezTo>
                    <a:pt x="66548" y="2082800"/>
                    <a:pt x="0" y="2016506"/>
                    <a:pt x="0" y="1934591"/>
                  </a:cubicBezTo>
                  <a:lnTo>
                    <a:pt x="0" y="148209"/>
                  </a:lnTo>
                  <a:lnTo>
                    <a:pt x="12700" y="148209"/>
                  </a:lnTo>
                  <a:lnTo>
                    <a:pt x="0" y="148209"/>
                  </a:lnTo>
                  <a:moveTo>
                    <a:pt x="25400" y="148209"/>
                  </a:moveTo>
                  <a:lnTo>
                    <a:pt x="25400" y="1934591"/>
                  </a:lnTo>
                  <a:lnTo>
                    <a:pt x="12700" y="1934591"/>
                  </a:lnTo>
                  <a:lnTo>
                    <a:pt x="25400" y="1934591"/>
                  </a:lnTo>
                  <a:cubicBezTo>
                    <a:pt x="25400" y="2002282"/>
                    <a:pt x="80518" y="2057400"/>
                    <a:pt x="148717" y="2057400"/>
                  </a:cubicBezTo>
                  <a:lnTo>
                    <a:pt x="2810129" y="2057400"/>
                  </a:lnTo>
                  <a:cubicBezTo>
                    <a:pt x="2878201" y="2057400"/>
                    <a:pt x="2933446" y="2002409"/>
                    <a:pt x="2933446" y="1934591"/>
                  </a:cubicBezTo>
                  <a:lnTo>
                    <a:pt x="2933446" y="148209"/>
                  </a:lnTo>
                  <a:cubicBezTo>
                    <a:pt x="2933446" y="80518"/>
                    <a:pt x="2878328" y="25400"/>
                    <a:pt x="2810129" y="25400"/>
                  </a:cubicBezTo>
                  <a:lnTo>
                    <a:pt x="148717" y="25400"/>
                  </a:lnTo>
                  <a:lnTo>
                    <a:pt x="148717" y="12700"/>
                  </a:lnTo>
                  <a:lnTo>
                    <a:pt x="148717" y="25400"/>
                  </a:lnTo>
                  <a:cubicBezTo>
                    <a:pt x="80518" y="25400"/>
                    <a:pt x="25400" y="80391"/>
                    <a:pt x="25400" y="148209"/>
                  </a:cubicBezTo>
                  <a:close/>
                </a:path>
              </a:pathLst>
            </a:custGeom>
            <a:solidFill>
              <a:srgbClr val="40424D"/>
            </a:solidFill>
          </p:spPr>
          <p:txBody>
            <a:bodyPr/>
            <a:p/>
          </p:txBody>
        </p:sp>
      </p:grpSp>
      <p:grpSp>
        <p:nvGrpSpPr>
          <p:cNvPr name="Group 38" id="38"/>
          <p:cNvGrpSpPr/>
          <p:nvPr/>
        </p:nvGrpSpPr>
        <p:grpSpPr>
          <a:xfrm rot="0">
            <a:off x="3179369" y="3228746"/>
            <a:ext cx="1829714" cy="293380"/>
            <a:chOff x="0" y="0"/>
            <a:chExt cx="2439619" cy="391173"/>
          </a:xfrm>
        </p:grpSpPr>
        <p:sp>
          <p:nvSpPr>
            <p:cNvPr name="Freeform 39" id="39"/>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0" id="40"/>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Cortisol </a:t>
              </a:r>
            </a:p>
          </p:txBody>
        </p:sp>
      </p:grpSp>
      <p:grpSp>
        <p:nvGrpSpPr>
          <p:cNvPr name="Group 41" id="41"/>
          <p:cNvGrpSpPr/>
          <p:nvPr/>
        </p:nvGrpSpPr>
        <p:grpSpPr>
          <a:xfrm rot="0">
            <a:off x="4686757" y="3228746"/>
            <a:ext cx="200254" cy="257861"/>
            <a:chOff x="0" y="0"/>
            <a:chExt cx="267005" cy="343814"/>
          </a:xfrm>
        </p:grpSpPr>
        <p:sp>
          <p:nvSpPr>
            <p:cNvPr name="Freeform 42" id="42" descr="preencoded.png"/>
            <p:cNvSpPr/>
            <p:nvPr/>
          </p:nvSpPr>
          <p:spPr>
            <a:xfrm flipH="false" flipV="false" rot="0">
              <a:off x="0" y="0"/>
              <a:ext cx="266954" cy="343789"/>
            </a:xfrm>
            <a:custGeom>
              <a:avLst/>
              <a:gdLst/>
              <a:ahLst/>
              <a:cxnLst/>
              <a:rect r="r" b="b" t="t" l="l"/>
              <a:pathLst>
                <a:path h="343789" w="266954">
                  <a:moveTo>
                    <a:pt x="0" y="0"/>
                  </a:moveTo>
                  <a:lnTo>
                    <a:pt x="266954" y="0"/>
                  </a:lnTo>
                  <a:lnTo>
                    <a:pt x="266954" y="343789"/>
                  </a:lnTo>
                  <a:lnTo>
                    <a:pt x="0" y="343789"/>
                  </a:lnTo>
                  <a:lnTo>
                    <a:pt x="0" y="0"/>
                  </a:lnTo>
                  <a:close/>
                </a:path>
              </a:pathLst>
            </a:custGeom>
            <a:blipFill>
              <a:blip r:embed="rId5"/>
              <a:stretch>
                <a:fillRect l="0" t="15485" r="-19" b="15478"/>
              </a:stretch>
            </a:blipFill>
          </p:spPr>
          <p:txBody>
            <a:bodyPr/>
            <a:p/>
          </p:txBody>
        </p:sp>
      </p:grpSp>
      <p:grpSp>
        <p:nvGrpSpPr>
          <p:cNvPr name="Group 43" id="43"/>
          <p:cNvGrpSpPr/>
          <p:nvPr/>
        </p:nvGrpSpPr>
        <p:grpSpPr>
          <a:xfrm rot="0">
            <a:off x="3179369" y="3542843"/>
            <a:ext cx="1800911" cy="625907"/>
            <a:chOff x="0" y="0"/>
            <a:chExt cx="2401214" cy="834542"/>
          </a:xfrm>
        </p:grpSpPr>
        <p:sp>
          <p:nvSpPr>
            <p:cNvPr name="Freeform 44" id="44"/>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45" id="45"/>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Baisse significative du stress chronique destructeur.</a:t>
              </a:r>
            </a:p>
          </p:txBody>
        </p:sp>
      </p:grpSp>
      <p:grpSp>
        <p:nvGrpSpPr>
          <p:cNvPr name="Group 46" id="46"/>
          <p:cNvGrpSpPr/>
          <p:nvPr/>
        </p:nvGrpSpPr>
        <p:grpSpPr>
          <a:xfrm rot="0">
            <a:off x="562432" y="4690948"/>
            <a:ext cx="2219096" cy="1376934"/>
            <a:chOff x="0" y="0"/>
            <a:chExt cx="2958795" cy="1835912"/>
          </a:xfrm>
        </p:grpSpPr>
        <p:sp>
          <p:nvSpPr>
            <p:cNvPr name="Freeform 47" id="47"/>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48" id="48"/>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49" id="49"/>
          <p:cNvGrpSpPr/>
          <p:nvPr/>
        </p:nvGrpSpPr>
        <p:grpSpPr>
          <a:xfrm rot="0">
            <a:off x="814730" y="4943246"/>
            <a:ext cx="1829714" cy="293380"/>
            <a:chOff x="0" y="0"/>
            <a:chExt cx="2439619" cy="391173"/>
          </a:xfrm>
        </p:grpSpPr>
        <p:sp>
          <p:nvSpPr>
            <p:cNvPr name="Freeform 50" id="50"/>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51" id="51"/>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Inflammation </a:t>
              </a:r>
            </a:p>
          </p:txBody>
        </p:sp>
      </p:grpSp>
      <p:grpSp>
        <p:nvGrpSpPr>
          <p:cNvPr name="Group 52" id="52"/>
          <p:cNvGrpSpPr/>
          <p:nvPr/>
        </p:nvGrpSpPr>
        <p:grpSpPr>
          <a:xfrm rot="0">
            <a:off x="2322119" y="4943246"/>
            <a:ext cx="200254" cy="257861"/>
            <a:chOff x="0" y="0"/>
            <a:chExt cx="267005" cy="343814"/>
          </a:xfrm>
        </p:grpSpPr>
        <p:sp>
          <p:nvSpPr>
            <p:cNvPr name="Freeform 53" id="53" descr="preencoded.png"/>
            <p:cNvSpPr/>
            <p:nvPr/>
          </p:nvSpPr>
          <p:spPr>
            <a:xfrm flipH="false" flipV="false" rot="0">
              <a:off x="0" y="0"/>
              <a:ext cx="266954" cy="343789"/>
            </a:xfrm>
            <a:custGeom>
              <a:avLst/>
              <a:gdLst/>
              <a:ahLst/>
              <a:cxnLst/>
              <a:rect r="r" b="b" t="t" l="l"/>
              <a:pathLst>
                <a:path h="343789" w="266954">
                  <a:moveTo>
                    <a:pt x="0" y="0"/>
                  </a:moveTo>
                  <a:lnTo>
                    <a:pt x="266954" y="0"/>
                  </a:lnTo>
                  <a:lnTo>
                    <a:pt x="266954" y="343789"/>
                  </a:lnTo>
                  <a:lnTo>
                    <a:pt x="0" y="343789"/>
                  </a:lnTo>
                  <a:lnTo>
                    <a:pt x="0" y="0"/>
                  </a:lnTo>
                  <a:close/>
                </a:path>
              </a:pathLst>
            </a:custGeom>
            <a:blipFill>
              <a:blip r:embed="rId5"/>
              <a:stretch>
                <a:fillRect l="0" t="15485" r="-19" b="15478"/>
              </a:stretch>
            </a:blipFill>
          </p:spPr>
          <p:txBody>
            <a:bodyPr/>
            <a:p/>
          </p:txBody>
        </p:sp>
      </p:grpSp>
      <p:grpSp>
        <p:nvGrpSpPr>
          <p:cNvPr name="Group 54" id="54"/>
          <p:cNvGrpSpPr/>
          <p:nvPr/>
        </p:nvGrpSpPr>
        <p:grpSpPr>
          <a:xfrm rot="0">
            <a:off x="814730" y="5257343"/>
            <a:ext cx="1800911" cy="625907"/>
            <a:chOff x="0" y="0"/>
            <a:chExt cx="2401214" cy="834542"/>
          </a:xfrm>
        </p:grpSpPr>
        <p:sp>
          <p:nvSpPr>
            <p:cNvPr name="Freeform 55" id="55"/>
            <p:cNvSpPr/>
            <p:nvPr/>
          </p:nvSpPr>
          <p:spPr>
            <a:xfrm flipH="false" flipV="false" rot="0">
              <a:off x="0" y="0"/>
              <a:ext cx="2401214" cy="834541"/>
            </a:xfrm>
            <a:custGeom>
              <a:avLst/>
              <a:gdLst/>
              <a:ahLst/>
              <a:cxnLst/>
              <a:rect r="r" b="b" t="t" l="l"/>
              <a:pathLst>
                <a:path h="834541" w="2401214">
                  <a:moveTo>
                    <a:pt x="0" y="0"/>
                  </a:moveTo>
                  <a:lnTo>
                    <a:pt x="2401214" y="0"/>
                  </a:lnTo>
                  <a:lnTo>
                    <a:pt x="2401214" y="834541"/>
                  </a:lnTo>
                  <a:lnTo>
                    <a:pt x="0" y="834541"/>
                  </a:lnTo>
                  <a:close/>
                </a:path>
              </a:pathLst>
            </a:custGeom>
            <a:blipFill>
              <a:blip r:embed="rId3">
                <a:alphaModFix amt="0"/>
              </a:blip>
              <a:stretch>
                <a:fillRect l="0" t="-26370" r="0" b="14242"/>
              </a:stretch>
            </a:blipFill>
          </p:spPr>
          <p:txBody>
            <a:bodyPr/>
            <a:p/>
          </p:txBody>
        </p:sp>
        <p:sp>
          <p:nvSpPr>
            <p:cNvPr name="TextBox 56" id="56"/>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Réduction des marqueurs systémiques (CRP, IL-6).</a:t>
              </a:r>
            </a:p>
          </p:txBody>
        </p:sp>
      </p:grpSp>
      <p:grpSp>
        <p:nvGrpSpPr>
          <p:cNvPr name="Group 57" id="57"/>
          <p:cNvGrpSpPr/>
          <p:nvPr/>
        </p:nvGrpSpPr>
        <p:grpSpPr>
          <a:xfrm rot="0">
            <a:off x="2927071" y="4690948"/>
            <a:ext cx="2219096" cy="1376934"/>
            <a:chOff x="0" y="0"/>
            <a:chExt cx="2958795" cy="1835912"/>
          </a:xfrm>
        </p:grpSpPr>
        <p:sp>
          <p:nvSpPr>
            <p:cNvPr name="Freeform 58" id="58"/>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59" id="59"/>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60" id="60"/>
          <p:cNvGrpSpPr/>
          <p:nvPr/>
        </p:nvGrpSpPr>
        <p:grpSpPr>
          <a:xfrm rot="0">
            <a:off x="3179369" y="4943246"/>
            <a:ext cx="1829714" cy="293380"/>
            <a:chOff x="0" y="0"/>
            <a:chExt cx="2439619" cy="391173"/>
          </a:xfrm>
        </p:grpSpPr>
        <p:sp>
          <p:nvSpPr>
            <p:cNvPr name="Freeform 61" id="61"/>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62" id="62"/>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Vagal Tone </a:t>
              </a:r>
            </a:p>
          </p:txBody>
        </p:sp>
      </p:grpSp>
      <p:grpSp>
        <p:nvGrpSpPr>
          <p:cNvPr name="Group 63" id="63"/>
          <p:cNvGrpSpPr/>
          <p:nvPr/>
        </p:nvGrpSpPr>
        <p:grpSpPr>
          <a:xfrm rot="0">
            <a:off x="4686757" y="4943246"/>
            <a:ext cx="200254" cy="257861"/>
            <a:chOff x="0" y="0"/>
            <a:chExt cx="267005" cy="343814"/>
          </a:xfrm>
        </p:grpSpPr>
        <p:sp>
          <p:nvSpPr>
            <p:cNvPr name="Freeform 64" id="64" descr="preencoded.png"/>
            <p:cNvSpPr/>
            <p:nvPr/>
          </p:nvSpPr>
          <p:spPr>
            <a:xfrm flipH="false" flipV="false" rot="0">
              <a:off x="0" y="0"/>
              <a:ext cx="266954" cy="343789"/>
            </a:xfrm>
            <a:custGeom>
              <a:avLst/>
              <a:gdLst/>
              <a:ahLst/>
              <a:cxnLst/>
              <a:rect r="r" b="b" t="t" l="l"/>
              <a:pathLst>
                <a:path h="343789" w="266954">
                  <a:moveTo>
                    <a:pt x="0" y="0"/>
                  </a:moveTo>
                  <a:lnTo>
                    <a:pt x="266954" y="0"/>
                  </a:lnTo>
                  <a:lnTo>
                    <a:pt x="266954" y="343789"/>
                  </a:lnTo>
                  <a:lnTo>
                    <a:pt x="0" y="343789"/>
                  </a:lnTo>
                  <a:lnTo>
                    <a:pt x="0" y="0"/>
                  </a:lnTo>
                  <a:close/>
                </a:path>
              </a:pathLst>
            </a:custGeom>
            <a:blipFill>
              <a:blip r:embed="rId4"/>
              <a:stretch>
                <a:fillRect l="0" t="15485" r="-19" b="15478"/>
              </a:stretch>
            </a:blipFill>
          </p:spPr>
          <p:txBody>
            <a:bodyPr/>
            <a:p/>
          </p:txBody>
        </p:sp>
      </p:grpSp>
      <p:grpSp>
        <p:nvGrpSpPr>
          <p:cNvPr name="Group 65" id="65"/>
          <p:cNvGrpSpPr/>
          <p:nvPr/>
        </p:nvGrpSpPr>
        <p:grpSpPr>
          <a:xfrm rot="0">
            <a:off x="3179369" y="5257343"/>
            <a:ext cx="1800911" cy="625907"/>
            <a:chOff x="0" y="0"/>
            <a:chExt cx="2401214" cy="834542"/>
          </a:xfrm>
        </p:grpSpPr>
        <p:sp>
          <p:nvSpPr>
            <p:cNvPr name="Freeform 66" id="66"/>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67" id="67"/>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Activation du système parasympathique réparateur.</a:t>
              </a:r>
            </a:p>
          </p:txBody>
        </p:sp>
      </p:grpSp>
      <p:grpSp>
        <p:nvGrpSpPr>
          <p:cNvPr name="Group 68" id="68"/>
          <p:cNvGrpSpPr/>
          <p:nvPr/>
        </p:nvGrpSpPr>
        <p:grpSpPr>
          <a:xfrm rot="0">
            <a:off x="562432" y="7648118"/>
            <a:ext cx="4576877" cy="2076450"/>
            <a:chOff x="0" y="0"/>
            <a:chExt cx="6102502" cy="2768600"/>
          </a:xfrm>
        </p:grpSpPr>
        <p:sp>
          <p:nvSpPr>
            <p:cNvPr name="Freeform 69" id="69"/>
            <p:cNvSpPr/>
            <p:nvPr/>
          </p:nvSpPr>
          <p:spPr>
            <a:xfrm flipH="false" flipV="false" rot="0">
              <a:off x="12700" y="12700"/>
              <a:ext cx="6077077" cy="2743200"/>
            </a:xfrm>
            <a:custGeom>
              <a:avLst/>
              <a:gdLst/>
              <a:ahLst/>
              <a:cxnLst/>
              <a:rect r="r" b="b" t="t" l="l"/>
              <a:pathLst>
                <a:path h="2743200" w="6077077">
                  <a:moveTo>
                    <a:pt x="0" y="0"/>
                  </a:moveTo>
                  <a:lnTo>
                    <a:pt x="6077077" y="0"/>
                  </a:lnTo>
                  <a:lnTo>
                    <a:pt x="6077077" y="2743200"/>
                  </a:lnTo>
                  <a:lnTo>
                    <a:pt x="0" y="2743200"/>
                  </a:lnTo>
                  <a:close/>
                </a:path>
              </a:pathLst>
            </a:custGeom>
            <a:solidFill>
              <a:srgbClr val="40424D">
                <a:alpha val="784"/>
              </a:srgbClr>
            </a:solidFill>
          </p:spPr>
          <p:txBody>
            <a:bodyPr/>
            <a:p/>
          </p:txBody>
        </p:sp>
        <p:sp>
          <p:nvSpPr>
            <p:cNvPr name="Freeform 70" id="70"/>
            <p:cNvSpPr/>
            <p:nvPr/>
          </p:nvSpPr>
          <p:spPr>
            <a:xfrm flipH="false" flipV="false" rot="0">
              <a:off x="0" y="0"/>
              <a:ext cx="6102477" cy="2768600"/>
            </a:xfrm>
            <a:custGeom>
              <a:avLst/>
              <a:gdLst/>
              <a:ahLst/>
              <a:cxnLst/>
              <a:rect r="r" b="b" t="t" l="l"/>
              <a:pathLst>
                <a:path h="2768600" w="6102477">
                  <a:moveTo>
                    <a:pt x="12700" y="0"/>
                  </a:moveTo>
                  <a:lnTo>
                    <a:pt x="6089777" y="0"/>
                  </a:lnTo>
                  <a:cubicBezTo>
                    <a:pt x="6096762" y="0"/>
                    <a:pt x="6102477" y="5715"/>
                    <a:pt x="6102477" y="12700"/>
                  </a:cubicBezTo>
                  <a:lnTo>
                    <a:pt x="6102477" y="2755900"/>
                  </a:lnTo>
                  <a:cubicBezTo>
                    <a:pt x="6102477" y="2762885"/>
                    <a:pt x="6096762" y="2768600"/>
                    <a:pt x="6089777" y="2768600"/>
                  </a:cubicBezTo>
                  <a:lnTo>
                    <a:pt x="12700" y="2768600"/>
                  </a:lnTo>
                  <a:cubicBezTo>
                    <a:pt x="5715" y="2768600"/>
                    <a:pt x="0" y="2762885"/>
                    <a:pt x="0" y="2755900"/>
                  </a:cubicBezTo>
                  <a:lnTo>
                    <a:pt x="0" y="12700"/>
                  </a:lnTo>
                  <a:cubicBezTo>
                    <a:pt x="0" y="5715"/>
                    <a:pt x="5715" y="0"/>
                    <a:pt x="12700" y="0"/>
                  </a:cubicBezTo>
                  <a:moveTo>
                    <a:pt x="12700" y="25400"/>
                  </a:moveTo>
                  <a:lnTo>
                    <a:pt x="12700" y="12700"/>
                  </a:lnTo>
                  <a:lnTo>
                    <a:pt x="25400" y="12700"/>
                  </a:lnTo>
                  <a:lnTo>
                    <a:pt x="25400" y="2755900"/>
                  </a:lnTo>
                  <a:lnTo>
                    <a:pt x="12700" y="2755900"/>
                  </a:lnTo>
                  <a:lnTo>
                    <a:pt x="12700" y="2743200"/>
                  </a:lnTo>
                  <a:lnTo>
                    <a:pt x="6089777" y="2743200"/>
                  </a:lnTo>
                  <a:lnTo>
                    <a:pt x="6089777" y="2755900"/>
                  </a:lnTo>
                  <a:lnTo>
                    <a:pt x="6077077" y="2755900"/>
                  </a:lnTo>
                  <a:lnTo>
                    <a:pt x="6077077" y="12700"/>
                  </a:lnTo>
                  <a:lnTo>
                    <a:pt x="6089777" y="12700"/>
                  </a:lnTo>
                  <a:lnTo>
                    <a:pt x="6089777" y="25400"/>
                  </a:lnTo>
                  <a:lnTo>
                    <a:pt x="12700" y="25400"/>
                  </a:lnTo>
                  <a:close/>
                </a:path>
              </a:pathLst>
            </a:custGeom>
            <a:solidFill>
              <a:srgbClr val="40424D"/>
            </a:solidFill>
          </p:spPr>
          <p:txBody>
            <a:bodyPr/>
            <a:p/>
          </p:txBody>
        </p:sp>
      </p:grpSp>
      <p:grpSp>
        <p:nvGrpSpPr>
          <p:cNvPr name="Group 71" id="71"/>
          <p:cNvGrpSpPr/>
          <p:nvPr/>
        </p:nvGrpSpPr>
        <p:grpSpPr>
          <a:xfrm rot="0">
            <a:off x="562432" y="7648118"/>
            <a:ext cx="61570" cy="2076450"/>
            <a:chOff x="0" y="0"/>
            <a:chExt cx="82093" cy="2768600"/>
          </a:xfrm>
        </p:grpSpPr>
        <p:sp>
          <p:nvSpPr>
            <p:cNvPr name="Freeform 72" id="72"/>
            <p:cNvSpPr/>
            <p:nvPr/>
          </p:nvSpPr>
          <p:spPr>
            <a:xfrm flipH="false" flipV="false" rot="0">
              <a:off x="12700" y="12700"/>
              <a:ext cx="56642" cy="2743200"/>
            </a:xfrm>
            <a:custGeom>
              <a:avLst/>
              <a:gdLst/>
              <a:ahLst/>
              <a:cxnLst/>
              <a:rect r="r" b="b" t="t" l="l"/>
              <a:pathLst>
                <a:path h="2743200" w="56642">
                  <a:moveTo>
                    <a:pt x="0" y="0"/>
                  </a:moveTo>
                  <a:lnTo>
                    <a:pt x="56642" y="0"/>
                  </a:lnTo>
                  <a:lnTo>
                    <a:pt x="56642" y="2743200"/>
                  </a:lnTo>
                  <a:lnTo>
                    <a:pt x="0" y="2743200"/>
                  </a:lnTo>
                  <a:close/>
                </a:path>
              </a:pathLst>
            </a:custGeom>
            <a:solidFill>
              <a:srgbClr val="FFFFFF"/>
            </a:solidFill>
          </p:spPr>
          <p:txBody>
            <a:bodyPr/>
            <a:p/>
          </p:txBody>
        </p:sp>
      </p:grpSp>
      <p:grpSp>
        <p:nvGrpSpPr>
          <p:cNvPr name="Group 73" id="73"/>
          <p:cNvGrpSpPr/>
          <p:nvPr/>
        </p:nvGrpSpPr>
        <p:grpSpPr>
          <a:xfrm rot="0">
            <a:off x="899770" y="7958023"/>
            <a:ext cx="171450" cy="229057"/>
            <a:chOff x="0" y="0"/>
            <a:chExt cx="228600" cy="305410"/>
          </a:xfrm>
        </p:grpSpPr>
        <p:sp>
          <p:nvSpPr>
            <p:cNvPr name="Freeform 74" id="74" descr="preencoded.png"/>
            <p:cNvSpPr/>
            <p:nvPr/>
          </p:nvSpPr>
          <p:spPr>
            <a:xfrm flipH="false" flipV="false" rot="0">
              <a:off x="0" y="0"/>
              <a:ext cx="228600" cy="305435"/>
            </a:xfrm>
            <a:custGeom>
              <a:avLst/>
              <a:gdLst/>
              <a:ahLst/>
              <a:cxnLst/>
              <a:rect r="r" b="b" t="t" l="l"/>
              <a:pathLst>
                <a:path h="305435" w="228600">
                  <a:moveTo>
                    <a:pt x="0" y="0"/>
                  </a:moveTo>
                  <a:lnTo>
                    <a:pt x="228600" y="0"/>
                  </a:lnTo>
                  <a:lnTo>
                    <a:pt x="228600" y="305435"/>
                  </a:lnTo>
                  <a:lnTo>
                    <a:pt x="0" y="305435"/>
                  </a:lnTo>
                  <a:lnTo>
                    <a:pt x="0" y="0"/>
                  </a:lnTo>
                  <a:close/>
                </a:path>
              </a:pathLst>
            </a:custGeom>
            <a:blipFill>
              <a:blip r:embed="rId6"/>
              <a:stretch>
                <a:fillRect l="0" t="12573" r="0" b="12582"/>
              </a:stretch>
            </a:blipFill>
          </p:spPr>
          <p:txBody>
            <a:bodyPr/>
            <a:p/>
          </p:txBody>
        </p:sp>
      </p:grpSp>
      <p:grpSp>
        <p:nvGrpSpPr>
          <p:cNvPr name="Group 75" id="75"/>
          <p:cNvGrpSpPr/>
          <p:nvPr/>
        </p:nvGrpSpPr>
        <p:grpSpPr>
          <a:xfrm rot="0">
            <a:off x="1186434" y="7958023"/>
            <a:ext cx="2206904" cy="293380"/>
            <a:chOff x="0" y="0"/>
            <a:chExt cx="2942539" cy="391173"/>
          </a:xfrm>
        </p:grpSpPr>
        <p:sp>
          <p:nvSpPr>
            <p:cNvPr name="Freeform 76" id="76"/>
            <p:cNvSpPr/>
            <p:nvPr/>
          </p:nvSpPr>
          <p:spPr>
            <a:xfrm flipH="false" flipV="false" rot="0">
              <a:off x="0" y="0"/>
              <a:ext cx="2942540" cy="391173"/>
            </a:xfrm>
            <a:custGeom>
              <a:avLst/>
              <a:gdLst/>
              <a:ahLst/>
              <a:cxnLst/>
              <a:rect r="r" b="b" t="t" l="l"/>
              <a:pathLst>
                <a:path h="391173" w="2942540">
                  <a:moveTo>
                    <a:pt x="0" y="0"/>
                  </a:moveTo>
                  <a:lnTo>
                    <a:pt x="2942540" y="0"/>
                  </a:lnTo>
                  <a:lnTo>
                    <a:pt x="2942540" y="391173"/>
                  </a:lnTo>
                  <a:lnTo>
                    <a:pt x="0" y="391173"/>
                  </a:lnTo>
                  <a:close/>
                </a:path>
              </a:pathLst>
            </a:custGeom>
            <a:blipFill>
              <a:blip r:embed="rId3">
                <a:alphaModFix amt="0"/>
              </a:blip>
              <a:stretch>
                <a:fillRect l="0" t="-107535" r="0" b="-85610"/>
              </a:stretch>
            </a:blipFill>
          </p:spPr>
          <p:txBody>
            <a:bodyPr/>
            <a:p/>
          </p:txBody>
        </p:sp>
        <p:sp>
          <p:nvSpPr>
            <p:cNvPr name="TextBox 77" id="77"/>
            <p:cNvSpPr txBox="true"/>
            <p:nvPr/>
          </p:nvSpPr>
          <p:spPr>
            <a:xfrm>
              <a:off x="0" y="0"/>
              <a:ext cx="294253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Leçon des Blue Zones</a:t>
              </a:r>
            </a:p>
          </p:txBody>
        </p:sp>
      </p:grpSp>
      <p:grpSp>
        <p:nvGrpSpPr>
          <p:cNvPr name="Group 78" id="78"/>
          <p:cNvGrpSpPr/>
          <p:nvPr/>
        </p:nvGrpSpPr>
        <p:grpSpPr>
          <a:xfrm rot="0">
            <a:off x="899770" y="8300923"/>
            <a:ext cx="4043477" cy="1115110"/>
            <a:chOff x="0" y="0"/>
            <a:chExt cx="5391302" cy="1486814"/>
          </a:xfrm>
        </p:grpSpPr>
        <p:sp>
          <p:nvSpPr>
            <p:cNvPr name="Freeform 79" id="79"/>
            <p:cNvSpPr/>
            <p:nvPr/>
          </p:nvSpPr>
          <p:spPr>
            <a:xfrm flipH="false" flipV="false" rot="0">
              <a:off x="0" y="0"/>
              <a:ext cx="5391302" cy="1486814"/>
            </a:xfrm>
            <a:custGeom>
              <a:avLst/>
              <a:gdLst/>
              <a:ahLst/>
              <a:cxnLst/>
              <a:rect r="r" b="b" t="t" l="l"/>
              <a:pathLst>
                <a:path h="1486814" w="5391302">
                  <a:moveTo>
                    <a:pt x="0" y="0"/>
                  </a:moveTo>
                  <a:lnTo>
                    <a:pt x="5391302" y="0"/>
                  </a:lnTo>
                  <a:lnTo>
                    <a:pt x="5391302" y="1486814"/>
                  </a:lnTo>
                  <a:lnTo>
                    <a:pt x="0" y="1486814"/>
                  </a:lnTo>
                  <a:close/>
                </a:path>
              </a:pathLst>
            </a:custGeom>
            <a:blipFill>
              <a:blip r:embed="rId3">
                <a:alphaModFix amt="0"/>
              </a:blip>
              <a:stretch>
                <a:fillRect l="0" t="-20654" r="0" b="-20654"/>
              </a:stretch>
            </a:blipFill>
          </p:spPr>
          <p:txBody>
            <a:bodyPr/>
            <a:p/>
          </p:txBody>
        </p:sp>
        <p:sp>
          <p:nvSpPr>
            <p:cNvPr name="TextBox 80" id="80"/>
            <p:cNvSpPr txBox="true"/>
            <p:nvPr/>
          </p:nvSpPr>
          <p:spPr>
            <a:xfrm>
              <a:off x="0" y="0"/>
              <a:ext cx="5391302" cy="1486814"/>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Des réseaux sociaux forts sont corrélés à une augmentation significative de l'espérance de vie en bonne santé. L'isolement est un facteur de risque équivalent au tabagisme.</a:t>
              </a:r>
            </a:p>
          </p:txBody>
        </p:sp>
      </p:grpSp>
      <p:grpSp>
        <p:nvGrpSpPr>
          <p:cNvPr name="Group 81" id="81"/>
          <p:cNvGrpSpPr/>
          <p:nvPr/>
        </p:nvGrpSpPr>
        <p:grpSpPr>
          <a:xfrm rot="0">
            <a:off x="6572707" y="678942"/>
            <a:ext cx="456743" cy="13716"/>
            <a:chOff x="0" y="0"/>
            <a:chExt cx="608990" cy="18288"/>
          </a:xfrm>
        </p:grpSpPr>
        <p:sp>
          <p:nvSpPr>
            <p:cNvPr name="Freeform 82" id="82"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7"/>
              <a:stretch>
                <a:fillRect l="1949" t="0" r="1945" b="0"/>
              </a:stretch>
            </a:blipFill>
          </p:spPr>
          <p:txBody>
            <a:bodyPr/>
            <a:p/>
          </p:txBody>
        </p:sp>
      </p:grpSp>
      <p:grpSp>
        <p:nvGrpSpPr>
          <p:cNvPr name="Group 83" id="83"/>
          <p:cNvGrpSpPr/>
          <p:nvPr/>
        </p:nvGrpSpPr>
        <p:grpSpPr>
          <a:xfrm rot="0">
            <a:off x="7200900" y="571957"/>
            <a:ext cx="2739085" cy="293380"/>
            <a:chOff x="0" y="0"/>
            <a:chExt cx="3652114" cy="391173"/>
          </a:xfrm>
        </p:grpSpPr>
        <p:sp>
          <p:nvSpPr>
            <p:cNvPr name="Freeform 84" id="84"/>
            <p:cNvSpPr/>
            <p:nvPr/>
          </p:nvSpPr>
          <p:spPr>
            <a:xfrm flipH="false" flipV="false" rot="0">
              <a:off x="0" y="0"/>
              <a:ext cx="3652114" cy="391173"/>
            </a:xfrm>
            <a:custGeom>
              <a:avLst/>
              <a:gdLst/>
              <a:ahLst/>
              <a:cxnLst/>
              <a:rect r="r" b="b" t="t" l="l"/>
              <a:pathLst>
                <a:path h="391173" w="3652114">
                  <a:moveTo>
                    <a:pt x="0" y="0"/>
                  </a:moveTo>
                  <a:lnTo>
                    <a:pt x="3652114" y="0"/>
                  </a:lnTo>
                  <a:lnTo>
                    <a:pt x="3652114" y="391173"/>
                  </a:lnTo>
                  <a:lnTo>
                    <a:pt x="0" y="391173"/>
                  </a:lnTo>
                  <a:close/>
                </a:path>
              </a:pathLst>
            </a:custGeom>
            <a:blipFill>
              <a:blip r:embed="rId3">
                <a:alphaModFix amt="0"/>
              </a:blip>
              <a:stretch>
                <a:fillRect l="0" t="-142880" r="0" b="-120956"/>
              </a:stretch>
            </a:blipFill>
          </p:spPr>
          <p:txBody>
            <a:bodyPr/>
            <a:p/>
          </p:txBody>
        </p:sp>
        <p:sp>
          <p:nvSpPr>
            <p:cNvPr name="TextBox 85" id="85"/>
            <p:cNvSpPr txBox="true"/>
            <p:nvPr/>
          </p:nvSpPr>
          <p:spPr>
            <a:xfrm>
              <a:off x="0" y="0"/>
              <a:ext cx="3652114"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Science &amp; Pratiques</a:t>
              </a:r>
            </a:p>
          </p:txBody>
        </p:sp>
      </p:grpSp>
      <p:grpSp>
        <p:nvGrpSpPr>
          <p:cNvPr name="Group 86" id="86"/>
          <p:cNvGrpSpPr/>
          <p:nvPr/>
        </p:nvGrpSpPr>
        <p:grpSpPr>
          <a:xfrm rot="0">
            <a:off x="16590874" y="571957"/>
            <a:ext cx="957377" cy="332327"/>
            <a:chOff x="0" y="0"/>
            <a:chExt cx="1276502" cy="443103"/>
          </a:xfrm>
        </p:grpSpPr>
        <p:sp>
          <p:nvSpPr>
            <p:cNvPr name="Freeform 87" id="87"/>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3">
                <a:alphaModFix amt="0"/>
              </a:blip>
              <a:stretch>
                <a:fillRect l="0" t="-13003" r="0" b="737"/>
              </a:stretch>
            </a:blipFill>
          </p:spPr>
          <p:txBody>
            <a:bodyPr/>
            <a:p/>
          </p:txBody>
        </p:sp>
        <p:sp>
          <p:nvSpPr>
            <p:cNvPr name="TextBox 88" id="88"/>
            <p:cNvSpPr txBox="true"/>
            <p:nvPr/>
          </p:nvSpPr>
          <p:spPr>
            <a:xfrm>
              <a:off x="0" y="-9525"/>
              <a:ext cx="1276502" cy="452628"/>
            </a:xfrm>
            <a:prstGeom prst="rect">
              <a:avLst/>
            </a:prstGeom>
          </p:spPr>
          <p:txBody>
            <a:bodyPr anchor="ctr" rtlCol="false" tIns="0" lIns="0" bIns="0" rIns="0"/>
            <a:lstStyle/>
            <a:p>
              <a:pPr algn="l">
                <a:lnSpc>
                  <a:spcPts val="1800"/>
                </a:lnSpc>
              </a:pPr>
              <a:r>
                <a:rPr lang="en-US" sz="1500">
                  <a:solidFill>
                    <a:srgbClr val="6B7280"/>
                  </a:solidFill>
                  <a:latin typeface="Manrope"/>
                  <a:ea typeface="Manrope"/>
                  <a:cs typeface="Manrope"/>
                  <a:sym typeface="Manrope"/>
                </a:rPr>
                <a:t>17 / 20</a:t>
              </a:r>
            </a:p>
          </p:txBody>
        </p:sp>
      </p:grpSp>
      <p:grpSp>
        <p:nvGrpSpPr>
          <p:cNvPr name="Group 89" id="89"/>
          <p:cNvGrpSpPr/>
          <p:nvPr/>
        </p:nvGrpSpPr>
        <p:grpSpPr>
          <a:xfrm rot="0">
            <a:off x="6563182" y="4033952"/>
            <a:ext cx="10878007" cy="32766"/>
            <a:chOff x="0" y="0"/>
            <a:chExt cx="14504010" cy="43688"/>
          </a:xfrm>
        </p:grpSpPr>
        <p:sp>
          <p:nvSpPr>
            <p:cNvPr name="Freeform 90" id="90"/>
            <p:cNvSpPr/>
            <p:nvPr/>
          </p:nvSpPr>
          <p:spPr>
            <a:xfrm flipH="false" flipV="false" rot="0">
              <a:off x="12700" y="12700"/>
              <a:ext cx="14478636" cy="18288"/>
            </a:xfrm>
            <a:custGeom>
              <a:avLst/>
              <a:gdLst/>
              <a:ahLst/>
              <a:cxnLst/>
              <a:rect r="r" b="b" t="t" l="l"/>
              <a:pathLst>
                <a:path h="18288" w="14478636">
                  <a:moveTo>
                    <a:pt x="0" y="0"/>
                  </a:moveTo>
                  <a:lnTo>
                    <a:pt x="14478636" y="0"/>
                  </a:lnTo>
                  <a:lnTo>
                    <a:pt x="14478636" y="18288"/>
                  </a:lnTo>
                  <a:lnTo>
                    <a:pt x="0" y="18288"/>
                  </a:lnTo>
                  <a:close/>
                </a:path>
              </a:pathLst>
            </a:custGeom>
            <a:solidFill>
              <a:srgbClr val="40424D"/>
            </a:solidFill>
          </p:spPr>
          <p:txBody>
            <a:bodyPr/>
            <a:p/>
          </p:txBody>
        </p:sp>
      </p:grpSp>
      <p:grpSp>
        <p:nvGrpSpPr>
          <p:cNvPr name="Group 91" id="91"/>
          <p:cNvGrpSpPr/>
          <p:nvPr/>
        </p:nvGrpSpPr>
        <p:grpSpPr>
          <a:xfrm rot="0">
            <a:off x="6563182" y="1190625"/>
            <a:ext cx="876300" cy="876300"/>
            <a:chOff x="0" y="0"/>
            <a:chExt cx="1168400" cy="1168400"/>
          </a:xfrm>
        </p:grpSpPr>
        <p:sp>
          <p:nvSpPr>
            <p:cNvPr name="Freeform 92" id="92"/>
            <p:cNvSpPr/>
            <p:nvPr/>
          </p:nvSpPr>
          <p:spPr>
            <a:xfrm flipH="false" flipV="false" rot="0">
              <a:off x="12700" y="12700"/>
              <a:ext cx="1143000" cy="1143000"/>
            </a:xfrm>
            <a:custGeom>
              <a:avLst/>
              <a:gdLst/>
              <a:ahLst/>
              <a:cxnLst/>
              <a:rect r="r" b="b" t="t" l="l"/>
              <a:pathLst>
                <a:path h="1143000" w="1143000">
                  <a:moveTo>
                    <a:pt x="0" y="0"/>
                  </a:moveTo>
                  <a:lnTo>
                    <a:pt x="1143000" y="0"/>
                  </a:lnTo>
                  <a:lnTo>
                    <a:pt x="1143000" y="1143000"/>
                  </a:lnTo>
                  <a:lnTo>
                    <a:pt x="0" y="1143000"/>
                  </a:lnTo>
                  <a:close/>
                </a:path>
              </a:pathLst>
            </a:custGeom>
            <a:solidFill>
              <a:srgbClr val="FFFFFF"/>
            </a:solidFill>
          </p:spPr>
          <p:txBody>
            <a:bodyPr/>
            <a:p/>
          </p:txBody>
        </p:sp>
      </p:grpSp>
      <p:grpSp>
        <p:nvGrpSpPr>
          <p:cNvPr name="Group 93" id="93"/>
          <p:cNvGrpSpPr/>
          <p:nvPr/>
        </p:nvGrpSpPr>
        <p:grpSpPr>
          <a:xfrm rot="0">
            <a:off x="6829196" y="1458011"/>
            <a:ext cx="342900" cy="342900"/>
            <a:chOff x="0" y="0"/>
            <a:chExt cx="457200" cy="457200"/>
          </a:xfrm>
        </p:grpSpPr>
        <p:sp>
          <p:nvSpPr>
            <p:cNvPr name="Freeform 94" id="94"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8"/>
              <a:stretch>
                <a:fillRect l="0" t="0" r="0" b="0"/>
              </a:stretch>
            </a:blipFill>
          </p:spPr>
          <p:txBody>
            <a:bodyPr/>
            <a:p/>
          </p:txBody>
        </p:sp>
      </p:grpSp>
      <p:grpSp>
        <p:nvGrpSpPr>
          <p:cNvPr name="Group 95" id="95"/>
          <p:cNvGrpSpPr/>
          <p:nvPr/>
        </p:nvGrpSpPr>
        <p:grpSpPr>
          <a:xfrm rot="0">
            <a:off x="7758455" y="1502769"/>
            <a:ext cx="9830257" cy="596284"/>
            <a:chOff x="0" y="0"/>
            <a:chExt cx="13107010" cy="795045"/>
          </a:xfrm>
        </p:grpSpPr>
        <p:sp>
          <p:nvSpPr>
            <p:cNvPr name="Freeform 96" id="96"/>
            <p:cNvSpPr/>
            <p:nvPr/>
          </p:nvSpPr>
          <p:spPr>
            <a:xfrm flipH="false" flipV="false" rot="0">
              <a:off x="0" y="0"/>
              <a:ext cx="13107011" cy="795046"/>
            </a:xfrm>
            <a:custGeom>
              <a:avLst/>
              <a:gdLst/>
              <a:ahLst/>
              <a:cxnLst/>
              <a:rect r="r" b="b" t="t" l="l"/>
              <a:pathLst>
                <a:path h="795046" w="13107011">
                  <a:moveTo>
                    <a:pt x="0" y="0"/>
                  </a:moveTo>
                  <a:lnTo>
                    <a:pt x="13107011" y="0"/>
                  </a:lnTo>
                  <a:lnTo>
                    <a:pt x="13107011" y="795046"/>
                  </a:lnTo>
                  <a:lnTo>
                    <a:pt x="0" y="795046"/>
                  </a:lnTo>
                  <a:close/>
                </a:path>
              </a:pathLst>
            </a:custGeom>
            <a:blipFill>
              <a:blip r:embed="rId3">
                <a:alphaModFix amt="0"/>
              </a:blip>
              <a:stretch>
                <a:fillRect l="0" t="-282813" r="0" b="-259641"/>
              </a:stretch>
            </a:blipFill>
          </p:spPr>
          <p:txBody>
            <a:bodyPr/>
            <a:p/>
          </p:txBody>
        </p:sp>
        <p:sp>
          <p:nvSpPr>
            <p:cNvPr name="TextBox 97" id="97"/>
            <p:cNvSpPr txBox="true"/>
            <p:nvPr/>
          </p:nvSpPr>
          <p:spPr>
            <a:xfrm>
              <a:off x="0" y="0"/>
              <a:ext cx="13107010"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Au-delà de l'émotion</a:t>
              </a:r>
            </a:p>
          </p:txBody>
        </p:sp>
      </p:grpSp>
      <p:grpSp>
        <p:nvGrpSpPr>
          <p:cNvPr name="Group 98" id="98"/>
          <p:cNvGrpSpPr/>
          <p:nvPr/>
        </p:nvGrpSpPr>
        <p:grpSpPr>
          <a:xfrm rot="0">
            <a:off x="7772857" y="2228850"/>
            <a:ext cx="9772650" cy="986181"/>
            <a:chOff x="0" y="0"/>
            <a:chExt cx="13030200" cy="1314908"/>
          </a:xfrm>
        </p:grpSpPr>
        <p:sp>
          <p:nvSpPr>
            <p:cNvPr name="Freeform 99" id="99"/>
            <p:cNvSpPr/>
            <p:nvPr/>
          </p:nvSpPr>
          <p:spPr>
            <a:xfrm flipH="false" flipV="false" rot="0">
              <a:off x="0" y="0"/>
              <a:ext cx="13030200" cy="1314909"/>
            </a:xfrm>
            <a:custGeom>
              <a:avLst/>
              <a:gdLst/>
              <a:ahLst/>
              <a:cxnLst/>
              <a:rect r="r" b="b" t="t" l="l"/>
              <a:pathLst>
                <a:path h="1314909" w="13030200">
                  <a:moveTo>
                    <a:pt x="0" y="0"/>
                  </a:moveTo>
                  <a:lnTo>
                    <a:pt x="13030200" y="0"/>
                  </a:lnTo>
                  <a:lnTo>
                    <a:pt x="13030200" y="1314909"/>
                  </a:lnTo>
                  <a:lnTo>
                    <a:pt x="0" y="1314909"/>
                  </a:lnTo>
                  <a:close/>
                </a:path>
              </a:pathLst>
            </a:custGeom>
            <a:blipFill>
              <a:blip r:embed="rId3">
                <a:alphaModFix amt="0"/>
              </a:blip>
              <a:stretch>
                <a:fillRect l="0" t="-143088" r="0" b="-143088"/>
              </a:stretch>
            </a:blipFill>
          </p:spPr>
          <p:txBody>
            <a:bodyPr/>
            <a:p/>
          </p:txBody>
        </p:sp>
        <p:sp>
          <p:nvSpPr>
            <p:cNvPr name="TextBox 100" id="100"/>
            <p:cNvSpPr txBox="true"/>
            <p:nvPr/>
          </p:nvSpPr>
          <p:spPr>
            <a:xfrm>
              <a:off x="0" y="-9525"/>
              <a:ext cx="13030200" cy="1324433"/>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Le sens, l'appartenance et le lien humain ne sont pas de simples constructions psychologiques. Ce sont des signaux biologiques profonds qui informent nos cellules de la sécurité de l'environnement, autorisant ainsi les processus de maintenance à long terme.</a:t>
              </a:r>
            </a:p>
          </p:txBody>
        </p:sp>
      </p:grpSp>
      <p:grpSp>
        <p:nvGrpSpPr>
          <p:cNvPr name="Group 101" id="101"/>
          <p:cNvGrpSpPr/>
          <p:nvPr/>
        </p:nvGrpSpPr>
        <p:grpSpPr>
          <a:xfrm rot="0">
            <a:off x="7763332" y="3308375"/>
            <a:ext cx="733654" cy="405842"/>
            <a:chOff x="0" y="0"/>
            <a:chExt cx="978205" cy="541122"/>
          </a:xfrm>
        </p:grpSpPr>
        <p:sp>
          <p:nvSpPr>
            <p:cNvPr name="Freeform 102" id="102"/>
            <p:cNvSpPr/>
            <p:nvPr/>
          </p:nvSpPr>
          <p:spPr>
            <a:xfrm flipH="false" flipV="false" rot="0">
              <a:off x="0" y="0"/>
              <a:ext cx="978154" cy="541147"/>
            </a:xfrm>
            <a:custGeom>
              <a:avLst/>
              <a:gdLst/>
              <a:ahLst/>
              <a:cxnLst/>
              <a:rect r="r" b="b" t="t" l="l"/>
              <a:pathLst>
                <a:path h="541147" w="978154">
                  <a:moveTo>
                    <a:pt x="12700" y="0"/>
                  </a:moveTo>
                  <a:lnTo>
                    <a:pt x="965454" y="0"/>
                  </a:lnTo>
                  <a:cubicBezTo>
                    <a:pt x="972439" y="0"/>
                    <a:pt x="978154" y="5715"/>
                    <a:pt x="978154" y="12700"/>
                  </a:cubicBezTo>
                  <a:lnTo>
                    <a:pt x="978154" y="528447"/>
                  </a:lnTo>
                  <a:cubicBezTo>
                    <a:pt x="978154" y="535432"/>
                    <a:pt x="972439" y="541147"/>
                    <a:pt x="965454"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965454" y="515747"/>
                  </a:lnTo>
                  <a:lnTo>
                    <a:pt x="965454" y="528447"/>
                  </a:lnTo>
                  <a:lnTo>
                    <a:pt x="952754" y="528447"/>
                  </a:lnTo>
                  <a:lnTo>
                    <a:pt x="952754" y="12700"/>
                  </a:lnTo>
                  <a:lnTo>
                    <a:pt x="965454" y="12700"/>
                  </a:lnTo>
                  <a:lnTo>
                    <a:pt x="965454" y="25400"/>
                  </a:lnTo>
                  <a:lnTo>
                    <a:pt x="12700" y="25400"/>
                  </a:lnTo>
                  <a:close/>
                </a:path>
              </a:pathLst>
            </a:custGeom>
            <a:solidFill>
              <a:srgbClr val="40424D"/>
            </a:solidFill>
          </p:spPr>
          <p:txBody>
            <a:bodyPr/>
            <a:p/>
          </p:txBody>
        </p:sp>
        <p:sp>
          <p:nvSpPr>
            <p:cNvPr name="TextBox 103" id="103"/>
            <p:cNvSpPr txBox="true"/>
            <p:nvPr/>
          </p:nvSpPr>
          <p:spPr>
            <a:xfrm>
              <a:off x="0" y="0"/>
              <a:ext cx="978205"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Sens</a:t>
              </a:r>
            </a:p>
          </p:txBody>
        </p:sp>
      </p:grpSp>
      <p:grpSp>
        <p:nvGrpSpPr>
          <p:cNvPr name="Group 104" id="104"/>
          <p:cNvGrpSpPr/>
          <p:nvPr/>
        </p:nvGrpSpPr>
        <p:grpSpPr>
          <a:xfrm rot="0">
            <a:off x="8610981" y="3308375"/>
            <a:ext cx="1405738" cy="405842"/>
            <a:chOff x="0" y="0"/>
            <a:chExt cx="1874317" cy="541122"/>
          </a:xfrm>
        </p:grpSpPr>
        <p:sp>
          <p:nvSpPr>
            <p:cNvPr name="Freeform 105" id="105"/>
            <p:cNvSpPr/>
            <p:nvPr/>
          </p:nvSpPr>
          <p:spPr>
            <a:xfrm flipH="false" flipV="false" rot="0">
              <a:off x="0" y="0"/>
              <a:ext cx="1874266" cy="541147"/>
            </a:xfrm>
            <a:custGeom>
              <a:avLst/>
              <a:gdLst/>
              <a:ahLst/>
              <a:cxnLst/>
              <a:rect r="r" b="b" t="t" l="l"/>
              <a:pathLst>
                <a:path h="541147" w="1874266">
                  <a:moveTo>
                    <a:pt x="12700" y="0"/>
                  </a:moveTo>
                  <a:lnTo>
                    <a:pt x="1861566" y="0"/>
                  </a:lnTo>
                  <a:cubicBezTo>
                    <a:pt x="1868551" y="0"/>
                    <a:pt x="1874266" y="5715"/>
                    <a:pt x="1874266" y="12700"/>
                  </a:cubicBezTo>
                  <a:lnTo>
                    <a:pt x="1874266" y="528447"/>
                  </a:lnTo>
                  <a:cubicBezTo>
                    <a:pt x="1874266" y="535432"/>
                    <a:pt x="1868551" y="541147"/>
                    <a:pt x="1861566"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861566" y="515747"/>
                  </a:lnTo>
                  <a:lnTo>
                    <a:pt x="1861566" y="528447"/>
                  </a:lnTo>
                  <a:lnTo>
                    <a:pt x="1848866" y="528447"/>
                  </a:lnTo>
                  <a:lnTo>
                    <a:pt x="1848866" y="12700"/>
                  </a:lnTo>
                  <a:lnTo>
                    <a:pt x="1861566" y="12700"/>
                  </a:lnTo>
                  <a:lnTo>
                    <a:pt x="1861566" y="25400"/>
                  </a:lnTo>
                  <a:lnTo>
                    <a:pt x="12700" y="25400"/>
                  </a:lnTo>
                  <a:close/>
                </a:path>
              </a:pathLst>
            </a:custGeom>
            <a:solidFill>
              <a:srgbClr val="40424D"/>
            </a:solidFill>
          </p:spPr>
          <p:txBody>
            <a:bodyPr/>
            <a:p/>
          </p:txBody>
        </p:sp>
        <p:sp>
          <p:nvSpPr>
            <p:cNvPr name="TextBox 106" id="106"/>
            <p:cNvSpPr txBox="true"/>
            <p:nvPr/>
          </p:nvSpPr>
          <p:spPr>
            <a:xfrm>
              <a:off x="0" y="0"/>
              <a:ext cx="187431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Appartenance</a:t>
              </a:r>
            </a:p>
          </p:txBody>
        </p:sp>
      </p:grpSp>
      <p:grpSp>
        <p:nvGrpSpPr>
          <p:cNvPr name="Group 107" id="107"/>
          <p:cNvGrpSpPr/>
          <p:nvPr/>
        </p:nvGrpSpPr>
        <p:grpSpPr>
          <a:xfrm rot="0">
            <a:off x="10125227" y="3308375"/>
            <a:ext cx="1248004" cy="405842"/>
            <a:chOff x="0" y="0"/>
            <a:chExt cx="1664005" cy="541122"/>
          </a:xfrm>
        </p:grpSpPr>
        <p:sp>
          <p:nvSpPr>
            <p:cNvPr name="Freeform 108" id="108"/>
            <p:cNvSpPr/>
            <p:nvPr/>
          </p:nvSpPr>
          <p:spPr>
            <a:xfrm flipH="false" flipV="false" rot="0">
              <a:off x="0" y="0"/>
              <a:ext cx="1663954" cy="541147"/>
            </a:xfrm>
            <a:custGeom>
              <a:avLst/>
              <a:gdLst/>
              <a:ahLst/>
              <a:cxnLst/>
              <a:rect r="r" b="b" t="t" l="l"/>
              <a:pathLst>
                <a:path h="541147" w="1663954">
                  <a:moveTo>
                    <a:pt x="12700" y="0"/>
                  </a:moveTo>
                  <a:lnTo>
                    <a:pt x="1651254" y="0"/>
                  </a:lnTo>
                  <a:cubicBezTo>
                    <a:pt x="1658239" y="0"/>
                    <a:pt x="1663954" y="5715"/>
                    <a:pt x="1663954" y="12700"/>
                  </a:cubicBezTo>
                  <a:lnTo>
                    <a:pt x="1663954" y="528447"/>
                  </a:lnTo>
                  <a:cubicBezTo>
                    <a:pt x="1663954" y="535432"/>
                    <a:pt x="1658239" y="541147"/>
                    <a:pt x="1651254"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651254" y="515747"/>
                  </a:lnTo>
                  <a:lnTo>
                    <a:pt x="1651254" y="528447"/>
                  </a:lnTo>
                  <a:lnTo>
                    <a:pt x="1638554" y="528447"/>
                  </a:lnTo>
                  <a:lnTo>
                    <a:pt x="1638554" y="12700"/>
                  </a:lnTo>
                  <a:lnTo>
                    <a:pt x="1651254" y="12700"/>
                  </a:lnTo>
                  <a:lnTo>
                    <a:pt x="1651254" y="25400"/>
                  </a:lnTo>
                  <a:lnTo>
                    <a:pt x="12700" y="25400"/>
                  </a:lnTo>
                  <a:close/>
                </a:path>
              </a:pathLst>
            </a:custGeom>
            <a:solidFill>
              <a:srgbClr val="40424D"/>
            </a:solidFill>
          </p:spPr>
          <p:txBody>
            <a:bodyPr/>
            <a:p/>
          </p:txBody>
        </p:sp>
        <p:sp>
          <p:nvSpPr>
            <p:cNvPr name="TextBox 109" id="109"/>
            <p:cNvSpPr txBox="true"/>
            <p:nvPr/>
          </p:nvSpPr>
          <p:spPr>
            <a:xfrm>
              <a:off x="0" y="0"/>
              <a:ext cx="1664005"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Lien Humain</a:t>
              </a:r>
            </a:p>
          </p:txBody>
        </p:sp>
      </p:grpSp>
      <p:grpSp>
        <p:nvGrpSpPr>
          <p:cNvPr name="Group 110" id="110"/>
          <p:cNvGrpSpPr/>
          <p:nvPr/>
        </p:nvGrpSpPr>
        <p:grpSpPr>
          <a:xfrm rot="0">
            <a:off x="11494084" y="3308375"/>
            <a:ext cx="991514" cy="405842"/>
            <a:chOff x="0" y="0"/>
            <a:chExt cx="1322019" cy="541122"/>
          </a:xfrm>
        </p:grpSpPr>
        <p:sp>
          <p:nvSpPr>
            <p:cNvPr name="Freeform 111" id="111"/>
            <p:cNvSpPr/>
            <p:nvPr/>
          </p:nvSpPr>
          <p:spPr>
            <a:xfrm flipH="false" flipV="false" rot="0">
              <a:off x="0" y="0"/>
              <a:ext cx="1322070" cy="541147"/>
            </a:xfrm>
            <a:custGeom>
              <a:avLst/>
              <a:gdLst/>
              <a:ahLst/>
              <a:cxnLst/>
              <a:rect r="r" b="b" t="t" l="l"/>
              <a:pathLst>
                <a:path h="541147" w="1322070">
                  <a:moveTo>
                    <a:pt x="12700" y="0"/>
                  </a:moveTo>
                  <a:lnTo>
                    <a:pt x="1309370" y="0"/>
                  </a:lnTo>
                  <a:cubicBezTo>
                    <a:pt x="1316355" y="0"/>
                    <a:pt x="1322070" y="5715"/>
                    <a:pt x="1322070" y="12700"/>
                  </a:cubicBezTo>
                  <a:lnTo>
                    <a:pt x="1322070" y="528447"/>
                  </a:lnTo>
                  <a:cubicBezTo>
                    <a:pt x="1322070" y="535432"/>
                    <a:pt x="1316355" y="541147"/>
                    <a:pt x="1309370"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309370" y="515747"/>
                  </a:lnTo>
                  <a:lnTo>
                    <a:pt x="1309370" y="528447"/>
                  </a:lnTo>
                  <a:lnTo>
                    <a:pt x="1296670" y="528447"/>
                  </a:lnTo>
                  <a:lnTo>
                    <a:pt x="1296670" y="12700"/>
                  </a:lnTo>
                  <a:lnTo>
                    <a:pt x="1309370" y="12700"/>
                  </a:lnTo>
                  <a:lnTo>
                    <a:pt x="1309370" y="25400"/>
                  </a:lnTo>
                  <a:lnTo>
                    <a:pt x="12700" y="25400"/>
                  </a:lnTo>
                  <a:close/>
                </a:path>
              </a:pathLst>
            </a:custGeom>
            <a:solidFill>
              <a:srgbClr val="40424D"/>
            </a:solidFill>
          </p:spPr>
          <p:txBody>
            <a:bodyPr/>
            <a:p/>
          </p:txBody>
        </p:sp>
        <p:sp>
          <p:nvSpPr>
            <p:cNvPr name="TextBox 112" id="112"/>
            <p:cNvSpPr txBox="true"/>
            <p:nvPr/>
          </p:nvSpPr>
          <p:spPr>
            <a:xfrm>
              <a:off x="0" y="0"/>
              <a:ext cx="1322019"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Sécurité</a:t>
              </a:r>
            </a:p>
          </p:txBody>
        </p:sp>
      </p:grpSp>
      <p:grpSp>
        <p:nvGrpSpPr>
          <p:cNvPr name="Group 113" id="113"/>
          <p:cNvGrpSpPr/>
          <p:nvPr/>
        </p:nvGrpSpPr>
        <p:grpSpPr>
          <a:xfrm rot="0">
            <a:off x="6973214" y="4397350"/>
            <a:ext cx="10629900" cy="430120"/>
            <a:chOff x="0" y="0"/>
            <a:chExt cx="14173200" cy="573494"/>
          </a:xfrm>
        </p:grpSpPr>
        <p:sp>
          <p:nvSpPr>
            <p:cNvPr name="Freeform 114" id="114"/>
            <p:cNvSpPr/>
            <p:nvPr/>
          </p:nvSpPr>
          <p:spPr>
            <a:xfrm flipH="false" flipV="false" rot="0">
              <a:off x="0" y="0"/>
              <a:ext cx="14173200" cy="573494"/>
            </a:xfrm>
            <a:custGeom>
              <a:avLst/>
              <a:gdLst/>
              <a:ahLst/>
              <a:cxnLst/>
              <a:rect r="r" b="b" t="t" l="l"/>
              <a:pathLst>
                <a:path h="573494" w="14173200">
                  <a:moveTo>
                    <a:pt x="0" y="0"/>
                  </a:moveTo>
                  <a:lnTo>
                    <a:pt x="14173200" y="0"/>
                  </a:lnTo>
                  <a:lnTo>
                    <a:pt x="14173200" y="573494"/>
                  </a:lnTo>
                  <a:lnTo>
                    <a:pt x="0" y="573494"/>
                  </a:lnTo>
                  <a:close/>
                </a:path>
              </a:pathLst>
            </a:custGeom>
            <a:blipFill>
              <a:blip r:embed="rId3">
                <a:alphaModFix amt="0"/>
              </a:blip>
              <a:stretch>
                <a:fillRect l="0" t="-434991" r="0" b="-428106"/>
              </a:stretch>
            </a:blipFill>
          </p:spPr>
          <p:txBody>
            <a:bodyPr/>
            <a:p/>
          </p:txBody>
        </p:sp>
        <p:sp>
          <p:nvSpPr>
            <p:cNvPr name="TextBox 115" id="115"/>
            <p:cNvSpPr txBox="true"/>
            <p:nvPr/>
          </p:nvSpPr>
          <p:spPr>
            <a:xfrm>
              <a:off x="0" y="-9525"/>
              <a:ext cx="14173200"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Applications Pratiques</a:t>
              </a:r>
            </a:p>
          </p:txBody>
        </p:sp>
      </p:grpSp>
      <p:grpSp>
        <p:nvGrpSpPr>
          <p:cNvPr name="Group 116" id="116"/>
          <p:cNvGrpSpPr/>
          <p:nvPr/>
        </p:nvGrpSpPr>
        <p:grpSpPr>
          <a:xfrm rot="0">
            <a:off x="6572707" y="4854092"/>
            <a:ext cx="11030407" cy="293380"/>
            <a:chOff x="0" y="0"/>
            <a:chExt cx="14707210" cy="391173"/>
          </a:xfrm>
        </p:grpSpPr>
        <p:sp>
          <p:nvSpPr>
            <p:cNvPr name="Freeform 117" id="117"/>
            <p:cNvSpPr/>
            <p:nvPr/>
          </p:nvSpPr>
          <p:spPr>
            <a:xfrm flipH="false" flipV="false" rot="0">
              <a:off x="0" y="0"/>
              <a:ext cx="14707211" cy="391173"/>
            </a:xfrm>
            <a:custGeom>
              <a:avLst/>
              <a:gdLst/>
              <a:ahLst/>
              <a:cxnLst/>
              <a:rect r="r" b="b" t="t" l="l"/>
              <a:pathLst>
                <a:path h="391173" w="14707211">
                  <a:moveTo>
                    <a:pt x="0" y="0"/>
                  </a:moveTo>
                  <a:lnTo>
                    <a:pt x="14707211" y="0"/>
                  </a:lnTo>
                  <a:lnTo>
                    <a:pt x="14707211" y="391173"/>
                  </a:lnTo>
                  <a:lnTo>
                    <a:pt x="0" y="391173"/>
                  </a:lnTo>
                  <a:close/>
                </a:path>
              </a:pathLst>
            </a:custGeom>
            <a:blipFill>
              <a:blip r:embed="rId3">
                <a:alphaModFix amt="0"/>
              </a:blip>
              <a:stretch>
                <a:fillRect l="0" t="-693555" r="0" b="-671630"/>
              </a:stretch>
            </a:blipFill>
          </p:spPr>
          <p:txBody>
            <a:bodyPr/>
            <a:p/>
          </p:txBody>
        </p:sp>
        <p:sp>
          <p:nvSpPr>
            <p:cNvPr name="TextBox 118" id="118"/>
            <p:cNvSpPr txBox="true"/>
            <p:nvPr/>
          </p:nvSpPr>
          <p:spPr>
            <a:xfrm>
              <a:off x="0" y="0"/>
              <a:ext cx="14707210"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Stratégies concrètes pour cultiver la connexion.</a:t>
              </a:r>
            </a:p>
          </p:txBody>
        </p:sp>
      </p:grpSp>
      <p:grpSp>
        <p:nvGrpSpPr>
          <p:cNvPr name="Group 119" id="119"/>
          <p:cNvGrpSpPr/>
          <p:nvPr/>
        </p:nvGrpSpPr>
        <p:grpSpPr>
          <a:xfrm rot="0">
            <a:off x="6563182" y="5530367"/>
            <a:ext cx="5334000" cy="1205484"/>
            <a:chOff x="0" y="0"/>
            <a:chExt cx="7112000" cy="1607312"/>
          </a:xfrm>
        </p:grpSpPr>
        <p:sp>
          <p:nvSpPr>
            <p:cNvPr name="Freeform 120" id="120"/>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1" id="121"/>
          <p:cNvGrpSpPr/>
          <p:nvPr/>
        </p:nvGrpSpPr>
        <p:grpSpPr>
          <a:xfrm rot="0">
            <a:off x="6757873" y="5768950"/>
            <a:ext cx="157734" cy="200254"/>
            <a:chOff x="0" y="0"/>
            <a:chExt cx="210312" cy="267005"/>
          </a:xfrm>
        </p:grpSpPr>
        <p:sp>
          <p:nvSpPr>
            <p:cNvPr name="Freeform 122" id="122" descr="preencoded.png"/>
            <p:cNvSpPr/>
            <p:nvPr/>
          </p:nvSpPr>
          <p:spPr>
            <a:xfrm flipH="false" flipV="false" rot="0">
              <a:off x="0" y="0"/>
              <a:ext cx="210312" cy="266954"/>
            </a:xfrm>
            <a:custGeom>
              <a:avLst/>
              <a:gdLst/>
              <a:ahLst/>
              <a:cxnLst/>
              <a:rect r="r" b="b" t="t" l="l"/>
              <a:pathLst>
                <a:path h="266954" w="210312">
                  <a:moveTo>
                    <a:pt x="0" y="0"/>
                  </a:moveTo>
                  <a:lnTo>
                    <a:pt x="210312" y="0"/>
                  </a:lnTo>
                  <a:lnTo>
                    <a:pt x="210312" y="266954"/>
                  </a:lnTo>
                  <a:lnTo>
                    <a:pt x="0" y="266954"/>
                  </a:lnTo>
                  <a:lnTo>
                    <a:pt x="0" y="0"/>
                  </a:lnTo>
                  <a:close/>
                </a:path>
              </a:pathLst>
            </a:custGeom>
            <a:blipFill>
              <a:blip r:embed="rId9"/>
              <a:stretch>
                <a:fillRect l="2427" t="0" r="978" b="-19"/>
              </a:stretch>
            </a:blipFill>
          </p:spPr>
          <p:txBody>
            <a:bodyPr/>
            <a:p/>
          </p:txBody>
        </p:sp>
      </p:grpSp>
      <p:grpSp>
        <p:nvGrpSpPr>
          <p:cNvPr name="Group 123" id="123"/>
          <p:cNvGrpSpPr/>
          <p:nvPr/>
        </p:nvGrpSpPr>
        <p:grpSpPr>
          <a:xfrm rot="0">
            <a:off x="7087057" y="5471322"/>
            <a:ext cx="4729277" cy="814731"/>
            <a:chOff x="0" y="0"/>
            <a:chExt cx="6305702" cy="1086308"/>
          </a:xfrm>
        </p:grpSpPr>
        <p:sp>
          <p:nvSpPr>
            <p:cNvPr name="Freeform 124" id="124"/>
            <p:cNvSpPr/>
            <p:nvPr/>
          </p:nvSpPr>
          <p:spPr>
            <a:xfrm flipH="false" flipV="false" rot="0">
              <a:off x="0" y="0"/>
              <a:ext cx="6305702" cy="1086309"/>
            </a:xfrm>
            <a:custGeom>
              <a:avLst/>
              <a:gdLst/>
              <a:ahLst/>
              <a:cxnLst/>
              <a:rect r="r" b="b" t="t" l="l"/>
              <a:pathLst>
                <a:path h="1086309" w="6305702">
                  <a:moveTo>
                    <a:pt x="0" y="0"/>
                  </a:moveTo>
                  <a:lnTo>
                    <a:pt x="6305702" y="0"/>
                  </a:lnTo>
                  <a:lnTo>
                    <a:pt x="6305702" y="1086309"/>
                  </a:lnTo>
                  <a:lnTo>
                    <a:pt x="0" y="1086309"/>
                  </a:lnTo>
                  <a:close/>
                </a:path>
              </a:pathLst>
            </a:custGeom>
            <a:blipFill>
              <a:blip r:embed="rId3">
                <a:alphaModFix amt="0"/>
              </a:blip>
              <a:stretch>
                <a:fillRect l="0" t="-63104" r="0" b="-63104"/>
              </a:stretch>
            </a:blipFill>
          </p:spPr>
          <p:txBody>
            <a:bodyPr/>
            <a:p/>
          </p:txBody>
        </p:sp>
        <p:sp>
          <p:nvSpPr>
            <p:cNvPr name="TextBox 125" id="125"/>
            <p:cNvSpPr txBox="true"/>
            <p:nvPr/>
          </p:nvSpPr>
          <p:spPr>
            <a:xfrm>
              <a:off x="0" y="0"/>
              <a:ext cx="6305702"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Temps de Qualité</a:t>
              </a:r>
              <a:r>
                <a:rPr lang="en-US" sz="1350">
                  <a:solidFill>
                    <a:srgbClr val="D3D6E0"/>
                  </a:solidFill>
                  <a:latin typeface="Manrope"/>
                  <a:ea typeface="Manrope"/>
                  <a:cs typeface="Manrope"/>
                  <a:sym typeface="Manrope"/>
                </a:rPr>
                <a:t>  Présence totale, sans distraction digitale. L'attention est la forme la plus rare de générosité. </a:t>
              </a:r>
            </a:p>
          </p:txBody>
        </p:sp>
      </p:grpSp>
      <p:grpSp>
        <p:nvGrpSpPr>
          <p:cNvPr name="Group 126" id="126"/>
          <p:cNvGrpSpPr/>
          <p:nvPr/>
        </p:nvGrpSpPr>
        <p:grpSpPr>
          <a:xfrm rot="0">
            <a:off x="12105818" y="5530367"/>
            <a:ext cx="5334000" cy="1205484"/>
            <a:chOff x="0" y="0"/>
            <a:chExt cx="7112000" cy="1607312"/>
          </a:xfrm>
        </p:grpSpPr>
        <p:sp>
          <p:nvSpPr>
            <p:cNvPr name="Freeform 127" id="127"/>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8" id="128"/>
          <p:cNvGrpSpPr/>
          <p:nvPr/>
        </p:nvGrpSpPr>
        <p:grpSpPr>
          <a:xfrm rot="0">
            <a:off x="12301880" y="5768950"/>
            <a:ext cx="257861" cy="200254"/>
            <a:chOff x="0" y="0"/>
            <a:chExt cx="343814" cy="267005"/>
          </a:xfrm>
        </p:grpSpPr>
        <p:sp>
          <p:nvSpPr>
            <p:cNvPr name="Freeform 129" id="129"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10"/>
              <a:stretch>
                <a:fillRect l="1462" t="0" r="1455" b="-466"/>
              </a:stretch>
            </a:blipFill>
          </p:spPr>
          <p:txBody>
            <a:bodyPr/>
            <a:p/>
          </p:txBody>
        </p:sp>
      </p:grpSp>
      <p:grpSp>
        <p:nvGrpSpPr>
          <p:cNvPr name="Group 130" id="130"/>
          <p:cNvGrpSpPr/>
          <p:nvPr/>
        </p:nvGrpSpPr>
        <p:grpSpPr>
          <a:xfrm rot="0">
            <a:off x="12731191" y="5471322"/>
            <a:ext cx="4629150" cy="814731"/>
            <a:chOff x="0" y="0"/>
            <a:chExt cx="6172200" cy="1086308"/>
          </a:xfrm>
        </p:grpSpPr>
        <p:sp>
          <p:nvSpPr>
            <p:cNvPr name="Freeform 131" id="131"/>
            <p:cNvSpPr/>
            <p:nvPr/>
          </p:nvSpPr>
          <p:spPr>
            <a:xfrm flipH="false" flipV="false" rot="0">
              <a:off x="0" y="0"/>
              <a:ext cx="6172200" cy="1086309"/>
            </a:xfrm>
            <a:custGeom>
              <a:avLst/>
              <a:gdLst/>
              <a:ahLst/>
              <a:cxnLst/>
              <a:rect r="r" b="b" t="t" l="l"/>
              <a:pathLst>
                <a:path h="1086309" w="6172200">
                  <a:moveTo>
                    <a:pt x="0" y="0"/>
                  </a:moveTo>
                  <a:lnTo>
                    <a:pt x="6172200" y="0"/>
                  </a:lnTo>
                  <a:lnTo>
                    <a:pt x="6172200" y="1086309"/>
                  </a:lnTo>
                  <a:lnTo>
                    <a:pt x="0" y="1086309"/>
                  </a:lnTo>
                  <a:close/>
                </a:path>
              </a:pathLst>
            </a:custGeom>
            <a:blipFill>
              <a:blip r:embed="rId3">
                <a:alphaModFix amt="0"/>
              </a:blip>
              <a:stretch>
                <a:fillRect l="0" t="-60710" r="0" b="-60710"/>
              </a:stretch>
            </a:blipFill>
          </p:spPr>
          <p:txBody>
            <a:bodyPr/>
            <a:p/>
          </p:txBody>
        </p:sp>
        <p:sp>
          <p:nvSpPr>
            <p:cNvPr name="TextBox 132" id="132"/>
            <p:cNvSpPr txBox="true"/>
            <p:nvPr/>
          </p:nvSpPr>
          <p:spPr>
            <a:xfrm>
              <a:off x="0" y="0"/>
              <a:ext cx="617220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Gratitude Exprimée</a:t>
              </a:r>
              <a:r>
                <a:rPr lang="en-US" sz="1350">
                  <a:solidFill>
                    <a:srgbClr val="D3D6E0"/>
                  </a:solidFill>
                  <a:latin typeface="Manrope"/>
                  <a:ea typeface="Manrope"/>
                  <a:cs typeface="Manrope"/>
                  <a:sym typeface="Manrope"/>
                </a:rPr>
                <a:t>  Verbaliser la reconnaissance active les circuits de récompense et renforce le lien. </a:t>
              </a:r>
            </a:p>
          </p:txBody>
        </p:sp>
      </p:grpSp>
      <p:grpSp>
        <p:nvGrpSpPr>
          <p:cNvPr name="Group 133" id="133"/>
          <p:cNvGrpSpPr/>
          <p:nvPr/>
        </p:nvGrpSpPr>
        <p:grpSpPr>
          <a:xfrm rot="0">
            <a:off x="6563182" y="6939001"/>
            <a:ext cx="5334000" cy="1205484"/>
            <a:chOff x="0" y="0"/>
            <a:chExt cx="7112000" cy="1607312"/>
          </a:xfrm>
        </p:grpSpPr>
        <p:sp>
          <p:nvSpPr>
            <p:cNvPr name="Freeform 134" id="134"/>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5" id="135"/>
          <p:cNvGrpSpPr/>
          <p:nvPr/>
        </p:nvGrpSpPr>
        <p:grpSpPr>
          <a:xfrm rot="0">
            <a:off x="6757873" y="7177583"/>
            <a:ext cx="257861" cy="200254"/>
            <a:chOff x="0" y="0"/>
            <a:chExt cx="343814" cy="267005"/>
          </a:xfrm>
        </p:grpSpPr>
        <p:sp>
          <p:nvSpPr>
            <p:cNvPr name="Freeform 136" id="136"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11"/>
              <a:stretch>
                <a:fillRect l="1462" t="0" r="1455" b="-466"/>
              </a:stretch>
            </a:blipFill>
          </p:spPr>
          <p:txBody>
            <a:bodyPr/>
            <a:p/>
          </p:txBody>
        </p:sp>
      </p:grpSp>
      <p:grpSp>
        <p:nvGrpSpPr>
          <p:cNvPr name="Group 137" id="137"/>
          <p:cNvGrpSpPr/>
          <p:nvPr/>
        </p:nvGrpSpPr>
        <p:grpSpPr>
          <a:xfrm rot="0">
            <a:off x="7200900" y="6870344"/>
            <a:ext cx="4629150" cy="814731"/>
            <a:chOff x="0" y="0"/>
            <a:chExt cx="6172200" cy="1086308"/>
          </a:xfrm>
        </p:grpSpPr>
        <p:sp>
          <p:nvSpPr>
            <p:cNvPr name="Freeform 138" id="138"/>
            <p:cNvSpPr/>
            <p:nvPr/>
          </p:nvSpPr>
          <p:spPr>
            <a:xfrm flipH="false" flipV="false" rot="0">
              <a:off x="0" y="0"/>
              <a:ext cx="6172200" cy="1086309"/>
            </a:xfrm>
            <a:custGeom>
              <a:avLst/>
              <a:gdLst/>
              <a:ahLst/>
              <a:cxnLst/>
              <a:rect r="r" b="b" t="t" l="l"/>
              <a:pathLst>
                <a:path h="1086309" w="6172200">
                  <a:moveTo>
                    <a:pt x="0" y="0"/>
                  </a:moveTo>
                  <a:lnTo>
                    <a:pt x="6172200" y="0"/>
                  </a:lnTo>
                  <a:lnTo>
                    <a:pt x="6172200" y="1086309"/>
                  </a:lnTo>
                  <a:lnTo>
                    <a:pt x="0" y="1086309"/>
                  </a:lnTo>
                  <a:close/>
                </a:path>
              </a:pathLst>
            </a:custGeom>
            <a:blipFill>
              <a:blip r:embed="rId3">
                <a:alphaModFix amt="0"/>
              </a:blip>
              <a:stretch>
                <a:fillRect l="0" t="-60710" r="0" b="-60710"/>
              </a:stretch>
            </a:blipFill>
          </p:spPr>
          <p:txBody>
            <a:bodyPr/>
            <a:p/>
          </p:txBody>
        </p:sp>
        <p:sp>
          <p:nvSpPr>
            <p:cNvPr name="TextBox 139" id="139"/>
            <p:cNvSpPr txBox="true"/>
            <p:nvPr/>
          </p:nvSpPr>
          <p:spPr>
            <a:xfrm>
              <a:off x="0" y="0"/>
              <a:ext cx="617220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Toucher Physique</a:t>
              </a:r>
              <a:r>
                <a:rPr lang="en-US" sz="1350">
                  <a:solidFill>
                    <a:srgbClr val="D3D6E0"/>
                  </a:solidFill>
                  <a:latin typeface="Manrope"/>
                  <a:ea typeface="Manrope"/>
                  <a:cs typeface="Manrope"/>
                  <a:sym typeface="Manrope"/>
                </a:rPr>
                <a:t> Contact humain approprié pour stimuler la libération d'ocytocine. </a:t>
              </a:r>
            </a:p>
          </p:txBody>
        </p:sp>
      </p:grpSp>
      <p:grpSp>
        <p:nvGrpSpPr>
          <p:cNvPr name="Group 140" id="140"/>
          <p:cNvGrpSpPr/>
          <p:nvPr/>
        </p:nvGrpSpPr>
        <p:grpSpPr>
          <a:xfrm rot="0">
            <a:off x="12105818" y="6939001"/>
            <a:ext cx="5334000" cy="1205484"/>
            <a:chOff x="0" y="0"/>
            <a:chExt cx="7112000" cy="1607312"/>
          </a:xfrm>
        </p:grpSpPr>
        <p:sp>
          <p:nvSpPr>
            <p:cNvPr name="Freeform 141" id="141"/>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42" id="142"/>
          <p:cNvGrpSpPr/>
          <p:nvPr/>
        </p:nvGrpSpPr>
        <p:grpSpPr>
          <a:xfrm rot="0">
            <a:off x="12301880" y="7177583"/>
            <a:ext cx="200254" cy="200254"/>
            <a:chOff x="0" y="0"/>
            <a:chExt cx="267005" cy="267005"/>
          </a:xfrm>
        </p:grpSpPr>
        <p:sp>
          <p:nvSpPr>
            <p:cNvPr name="Freeform 143" id="143"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2"/>
              <a:stretch>
                <a:fillRect l="0" t="0" r="-19" b="-19"/>
              </a:stretch>
            </a:blipFill>
          </p:spPr>
          <p:txBody>
            <a:bodyPr/>
            <a:p/>
          </p:txBody>
        </p:sp>
      </p:grpSp>
      <p:grpSp>
        <p:nvGrpSpPr>
          <p:cNvPr name="Group 144" id="144"/>
          <p:cNvGrpSpPr/>
          <p:nvPr/>
        </p:nvGrpSpPr>
        <p:grpSpPr>
          <a:xfrm rot="0">
            <a:off x="12673584" y="6870344"/>
            <a:ext cx="4686757" cy="814731"/>
            <a:chOff x="0" y="0"/>
            <a:chExt cx="6249010" cy="1086308"/>
          </a:xfrm>
        </p:grpSpPr>
        <p:sp>
          <p:nvSpPr>
            <p:cNvPr name="Freeform 145" id="145"/>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3">
                <a:alphaModFix amt="0"/>
              </a:blip>
              <a:stretch>
                <a:fillRect l="0" t="-62088" r="0" b="-62087"/>
              </a:stretch>
            </a:blipFill>
          </p:spPr>
          <p:txBody>
            <a:bodyPr/>
            <a:p/>
          </p:txBody>
        </p:sp>
        <p:sp>
          <p:nvSpPr>
            <p:cNvPr name="TextBox 146" id="146"/>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Écoute Active</a:t>
              </a:r>
              <a:r>
                <a:rPr lang="en-US" sz="1350">
                  <a:solidFill>
                    <a:srgbClr val="D3D6E0"/>
                  </a:solidFill>
                  <a:latin typeface="Manrope"/>
                  <a:ea typeface="Manrope"/>
                  <a:cs typeface="Manrope"/>
                  <a:sym typeface="Manrope"/>
                </a:rPr>
                <a:t>  Écouter pour comprendre, pas pour répondre. Créer un espace de sécurité psychologique. </a:t>
              </a:r>
            </a:p>
          </p:txBody>
        </p:sp>
      </p:grpSp>
      <p:grpSp>
        <p:nvGrpSpPr>
          <p:cNvPr name="Group 147" id="147"/>
          <p:cNvGrpSpPr/>
          <p:nvPr/>
        </p:nvGrpSpPr>
        <p:grpSpPr>
          <a:xfrm rot="0">
            <a:off x="6563182" y="8347634"/>
            <a:ext cx="10878007" cy="947623"/>
            <a:chOff x="0" y="0"/>
            <a:chExt cx="14504010" cy="1263498"/>
          </a:xfrm>
        </p:grpSpPr>
        <p:sp>
          <p:nvSpPr>
            <p:cNvPr name="Freeform 148" id="148"/>
            <p:cNvSpPr/>
            <p:nvPr/>
          </p:nvSpPr>
          <p:spPr>
            <a:xfrm flipH="false" flipV="false" rot="0">
              <a:off x="12700" y="12700"/>
              <a:ext cx="14478636" cy="1238123"/>
            </a:xfrm>
            <a:custGeom>
              <a:avLst/>
              <a:gdLst/>
              <a:ahLst/>
              <a:cxnLst/>
              <a:rect r="r" b="b" t="t" l="l"/>
              <a:pathLst>
                <a:path h="1238123" w="14478636">
                  <a:moveTo>
                    <a:pt x="0" y="0"/>
                  </a:moveTo>
                  <a:lnTo>
                    <a:pt x="14478636" y="0"/>
                  </a:lnTo>
                  <a:lnTo>
                    <a:pt x="14478636" y="1238123"/>
                  </a:lnTo>
                  <a:lnTo>
                    <a:pt x="0" y="1238123"/>
                  </a:lnTo>
                  <a:close/>
                </a:path>
              </a:pathLst>
            </a:custGeom>
            <a:solidFill>
              <a:srgbClr val="FFFFFF">
                <a:alpha val="0"/>
              </a:srgbClr>
            </a:solidFill>
          </p:spPr>
          <p:txBody>
            <a:bodyPr/>
            <a:p/>
          </p:txBody>
        </p:sp>
      </p:grpSp>
      <p:grpSp>
        <p:nvGrpSpPr>
          <p:cNvPr name="Group 149" id="149"/>
          <p:cNvGrpSpPr/>
          <p:nvPr/>
        </p:nvGrpSpPr>
        <p:grpSpPr>
          <a:xfrm rot="0">
            <a:off x="6757873" y="8586216"/>
            <a:ext cx="200254" cy="200254"/>
            <a:chOff x="0" y="0"/>
            <a:chExt cx="267005" cy="267005"/>
          </a:xfrm>
        </p:grpSpPr>
        <p:sp>
          <p:nvSpPr>
            <p:cNvPr name="Freeform 150" id="150"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3"/>
              <a:stretch>
                <a:fillRect l="0" t="0" r="-19" b="-19"/>
              </a:stretch>
            </a:blipFill>
          </p:spPr>
          <p:txBody>
            <a:bodyPr/>
            <a:p/>
          </p:txBody>
        </p:sp>
      </p:grpSp>
      <p:grpSp>
        <p:nvGrpSpPr>
          <p:cNvPr name="Group 151" id="151"/>
          <p:cNvGrpSpPr/>
          <p:nvPr/>
        </p:nvGrpSpPr>
        <p:grpSpPr>
          <a:xfrm rot="0">
            <a:off x="7172096" y="8407222"/>
            <a:ext cx="6401257" cy="558241"/>
            <a:chOff x="0" y="0"/>
            <a:chExt cx="8535010" cy="744322"/>
          </a:xfrm>
        </p:grpSpPr>
        <p:sp>
          <p:nvSpPr>
            <p:cNvPr name="Freeform 152" id="152"/>
            <p:cNvSpPr/>
            <p:nvPr/>
          </p:nvSpPr>
          <p:spPr>
            <a:xfrm flipH="false" flipV="false" rot="0">
              <a:off x="0" y="0"/>
              <a:ext cx="8535010" cy="744322"/>
            </a:xfrm>
            <a:custGeom>
              <a:avLst/>
              <a:gdLst/>
              <a:ahLst/>
              <a:cxnLst/>
              <a:rect r="r" b="b" t="t" l="l"/>
              <a:pathLst>
                <a:path h="744322" w="8535010">
                  <a:moveTo>
                    <a:pt x="0" y="0"/>
                  </a:moveTo>
                  <a:lnTo>
                    <a:pt x="8535010" y="0"/>
                  </a:lnTo>
                  <a:lnTo>
                    <a:pt x="8535010" y="744322"/>
                  </a:lnTo>
                  <a:lnTo>
                    <a:pt x="0" y="744322"/>
                  </a:lnTo>
                  <a:close/>
                </a:path>
              </a:pathLst>
            </a:custGeom>
            <a:blipFill>
              <a:blip r:embed="rId3">
                <a:alphaModFix amt="0"/>
              </a:blip>
              <a:stretch>
                <a:fillRect l="0" t="-173431" r="0" b="-173431"/>
              </a:stretch>
            </a:blipFill>
          </p:spPr>
          <p:txBody>
            <a:bodyPr/>
            <a:p/>
          </p:txBody>
        </p:sp>
        <p:sp>
          <p:nvSpPr>
            <p:cNvPr name="TextBox 153" id="153"/>
            <p:cNvSpPr txBox="true"/>
            <p:nvPr/>
          </p:nvSpPr>
          <p:spPr>
            <a:xfrm>
              <a:off x="0" y="0"/>
              <a:ext cx="8535010"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Actes de Service</a:t>
              </a:r>
              <a:r>
                <a:rPr lang="en-US" sz="1350">
                  <a:solidFill>
                    <a:srgbClr val="D3D6E0"/>
                  </a:solidFill>
                  <a:latin typeface="Manrope"/>
                  <a:ea typeface="Manrope"/>
                  <a:cs typeface="Manrope"/>
                  <a:sym typeface="Manrope"/>
                </a:rPr>
                <a:t>  Contribuer au bien-être de l'autre réduit l'égocentrisme et le stress perçu. </a:t>
              </a:r>
            </a:p>
          </p:txBody>
        </p:sp>
      </p:grpSp>
      <p:grpSp>
        <p:nvGrpSpPr>
          <p:cNvPr name="Group 154" id="154"/>
          <p:cNvGrpSpPr/>
          <p:nvPr/>
        </p:nvGrpSpPr>
        <p:grpSpPr>
          <a:xfrm rot="0">
            <a:off x="7763332" y="1261948"/>
            <a:ext cx="1548384" cy="290627"/>
            <a:chOff x="0" y="0"/>
            <a:chExt cx="2064512" cy="387502"/>
          </a:xfrm>
        </p:grpSpPr>
        <p:sp>
          <p:nvSpPr>
            <p:cNvPr name="Freeform 155" id="155"/>
            <p:cNvSpPr/>
            <p:nvPr/>
          </p:nvSpPr>
          <p:spPr>
            <a:xfrm flipH="false" flipV="false" rot="0">
              <a:off x="12700" y="12700"/>
              <a:ext cx="2039112" cy="362204"/>
            </a:xfrm>
            <a:custGeom>
              <a:avLst/>
              <a:gdLst/>
              <a:ahLst/>
              <a:cxnLst/>
              <a:rect r="r" b="b" t="t" l="l"/>
              <a:pathLst>
                <a:path h="362204" w="2039112">
                  <a:moveTo>
                    <a:pt x="0" y="181102"/>
                  </a:moveTo>
                  <a:cubicBezTo>
                    <a:pt x="0" y="81026"/>
                    <a:pt x="85725" y="0"/>
                    <a:pt x="191389" y="0"/>
                  </a:cubicBezTo>
                  <a:lnTo>
                    <a:pt x="1847723" y="0"/>
                  </a:lnTo>
                  <a:cubicBezTo>
                    <a:pt x="1953387" y="0"/>
                    <a:pt x="2039112" y="81026"/>
                    <a:pt x="2039112" y="181102"/>
                  </a:cubicBezTo>
                  <a:cubicBezTo>
                    <a:pt x="2039112" y="281178"/>
                    <a:pt x="1953387" y="362204"/>
                    <a:pt x="1847723" y="362204"/>
                  </a:cubicBezTo>
                  <a:lnTo>
                    <a:pt x="191389" y="362204"/>
                  </a:lnTo>
                  <a:cubicBezTo>
                    <a:pt x="85725" y="362077"/>
                    <a:pt x="0" y="281051"/>
                    <a:pt x="0" y="181102"/>
                  </a:cubicBezTo>
                  <a:close/>
                </a:path>
              </a:pathLst>
            </a:custGeom>
            <a:solidFill>
              <a:srgbClr val="40424D"/>
            </a:solidFill>
          </p:spPr>
          <p:txBody>
            <a:bodyPr/>
            <a:p/>
          </p:txBody>
        </p:sp>
      </p:grpSp>
      <p:grpSp>
        <p:nvGrpSpPr>
          <p:cNvPr name="Group 156" id="156"/>
          <p:cNvGrpSpPr/>
          <p:nvPr/>
        </p:nvGrpSpPr>
        <p:grpSpPr>
          <a:xfrm rot="0">
            <a:off x="7910398" y="1271473"/>
            <a:ext cx="1643177" cy="271576"/>
            <a:chOff x="0" y="0"/>
            <a:chExt cx="2190902" cy="362102"/>
          </a:xfrm>
        </p:grpSpPr>
        <p:sp>
          <p:nvSpPr>
            <p:cNvPr name="Freeform 157" id="157"/>
            <p:cNvSpPr/>
            <p:nvPr/>
          </p:nvSpPr>
          <p:spPr>
            <a:xfrm flipH="false" flipV="false" rot="0">
              <a:off x="0" y="0"/>
              <a:ext cx="2190902" cy="362102"/>
            </a:xfrm>
            <a:custGeom>
              <a:avLst/>
              <a:gdLst/>
              <a:ahLst/>
              <a:cxnLst/>
              <a:rect r="r" b="b" t="t" l="l"/>
              <a:pathLst>
                <a:path h="362102" w="2190902">
                  <a:moveTo>
                    <a:pt x="0" y="0"/>
                  </a:moveTo>
                  <a:lnTo>
                    <a:pt x="2190902" y="0"/>
                  </a:lnTo>
                  <a:lnTo>
                    <a:pt x="2190902" y="362102"/>
                  </a:lnTo>
                  <a:lnTo>
                    <a:pt x="0" y="362102"/>
                  </a:lnTo>
                  <a:close/>
                </a:path>
              </a:pathLst>
            </a:custGeom>
            <a:blipFill>
              <a:blip r:embed="rId3">
                <a:alphaModFix amt="0"/>
              </a:blip>
              <a:stretch>
                <a:fillRect l="0" t="-67894" r="0" b="-67894"/>
              </a:stretch>
            </a:blipFill>
          </p:spPr>
          <p:txBody>
            <a:bodyPr/>
            <a:p/>
          </p:txBody>
        </p:sp>
        <p:sp>
          <p:nvSpPr>
            <p:cNvPr name="TextBox 158" id="158"/>
            <p:cNvSpPr txBox="true"/>
            <p:nvPr/>
          </p:nvSpPr>
          <p:spPr>
            <a:xfrm>
              <a:off x="0" y="0"/>
              <a:ext cx="2190902" cy="362102"/>
            </a:xfrm>
            <a:prstGeom prst="rect">
              <a:avLst/>
            </a:prstGeom>
          </p:spPr>
          <p:txBody>
            <a:bodyPr anchor="ctr" rtlCol="false" tIns="0" lIns="0" bIns="0" rIns="0"/>
            <a:lstStyle/>
            <a:p>
              <a:pPr algn="l">
                <a:lnSpc>
                  <a:spcPts val="1439"/>
                </a:lnSpc>
              </a:pPr>
              <a:r>
                <a:rPr lang="en-US" sz="1200" b="true">
                  <a:solidFill>
                    <a:srgbClr val="FFFFFF"/>
                  </a:solidFill>
                  <a:latin typeface="Manrope Bold"/>
                  <a:ea typeface="Manrope Bold"/>
                  <a:cs typeface="Manrope Bold"/>
                  <a:sym typeface="Manrope Bold"/>
                </a:rPr>
                <a:t>Moteur de Santé</a:t>
              </a:r>
            </a:p>
          </p:txBody>
        </p:sp>
      </p:grpSp>
      <p:grpSp>
        <p:nvGrpSpPr>
          <p:cNvPr name="Group 159" id="159"/>
          <p:cNvGrpSpPr/>
          <p:nvPr/>
        </p:nvGrpSpPr>
        <p:grpSpPr>
          <a:xfrm rot="0">
            <a:off x="6572707" y="4471416"/>
            <a:ext cx="285293" cy="257861"/>
            <a:chOff x="0" y="0"/>
            <a:chExt cx="380390" cy="343814"/>
          </a:xfrm>
        </p:grpSpPr>
        <p:sp>
          <p:nvSpPr>
            <p:cNvPr name="Freeform 160" id="160" descr="preencoded.png"/>
            <p:cNvSpPr/>
            <p:nvPr/>
          </p:nvSpPr>
          <p:spPr>
            <a:xfrm flipH="false" flipV="false" rot="0">
              <a:off x="0" y="0"/>
              <a:ext cx="380365" cy="343789"/>
            </a:xfrm>
            <a:custGeom>
              <a:avLst/>
              <a:gdLst/>
              <a:ahLst/>
              <a:cxnLst/>
              <a:rect r="r" b="b" t="t" l="l"/>
              <a:pathLst>
                <a:path h="343789" w="380365">
                  <a:moveTo>
                    <a:pt x="0" y="0"/>
                  </a:moveTo>
                  <a:lnTo>
                    <a:pt x="380365" y="0"/>
                  </a:lnTo>
                  <a:lnTo>
                    <a:pt x="380365" y="343789"/>
                  </a:lnTo>
                  <a:lnTo>
                    <a:pt x="0" y="343789"/>
                  </a:lnTo>
                  <a:lnTo>
                    <a:pt x="0" y="0"/>
                  </a:lnTo>
                  <a:close/>
                </a:path>
              </a:pathLst>
            </a:custGeom>
            <a:blipFill>
              <a:blip r:embed="rId14"/>
              <a:stretch>
                <a:fillRect l="0" t="827" r="-6" b="820"/>
              </a:stretch>
            </a:blipFill>
          </p:spPr>
          <p:txBody>
            <a:bodyP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847725" y="2490902"/>
            <a:ext cx="5362804" cy="3862273"/>
            <a:chOff x="0" y="0"/>
            <a:chExt cx="7150405" cy="5149698"/>
          </a:xfrm>
        </p:grpSpPr>
        <p:sp>
          <p:nvSpPr>
            <p:cNvPr name="Freeform 7" id="7"/>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8" id="8"/>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9" id="9"/>
          <p:cNvGrpSpPr/>
          <p:nvPr/>
        </p:nvGrpSpPr>
        <p:grpSpPr>
          <a:xfrm rot="0">
            <a:off x="1204341" y="2847518"/>
            <a:ext cx="647243" cy="647243"/>
            <a:chOff x="0" y="0"/>
            <a:chExt cx="862990" cy="862990"/>
          </a:xfrm>
        </p:grpSpPr>
        <p:sp>
          <p:nvSpPr>
            <p:cNvPr name="Freeform 10" id="10"/>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1" id="11"/>
          <p:cNvGrpSpPr/>
          <p:nvPr/>
        </p:nvGrpSpPr>
        <p:grpSpPr>
          <a:xfrm rot="0">
            <a:off x="1349654" y="3028493"/>
            <a:ext cx="356616" cy="285293"/>
            <a:chOff x="0" y="0"/>
            <a:chExt cx="475488" cy="380390"/>
          </a:xfrm>
        </p:grpSpPr>
        <p:sp>
          <p:nvSpPr>
            <p:cNvPr name="Freeform 12" id="12" descr="preencoded.png"/>
            <p:cNvSpPr/>
            <p:nvPr/>
          </p:nvSpPr>
          <p:spPr>
            <a:xfrm flipH="false" flipV="false" rot="0">
              <a:off x="0" y="0"/>
              <a:ext cx="475488" cy="380365"/>
            </a:xfrm>
            <a:custGeom>
              <a:avLst/>
              <a:gdLst/>
              <a:ahLst/>
              <a:cxnLst/>
              <a:rect r="r" b="b" t="t" l="l"/>
              <a:pathLst>
                <a:path h="380365" w="475488">
                  <a:moveTo>
                    <a:pt x="0" y="0"/>
                  </a:moveTo>
                  <a:lnTo>
                    <a:pt x="475488" y="0"/>
                  </a:lnTo>
                  <a:lnTo>
                    <a:pt x="475488" y="380365"/>
                  </a:lnTo>
                  <a:lnTo>
                    <a:pt x="0" y="380365"/>
                  </a:lnTo>
                  <a:lnTo>
                    <a:pt x="0" y="0"/>
                  </a:lnTo>
                  <a:close/>
                </a:path>
              </a:pathLst>
            </a:custGeom>
            <a:blipFill>
              <a:blip r:embed="rId3"/>
              <a:stretch>
                <a:fillRect l="0" t="0" r="-646" b="-6"/>
              </a:stretch>
            </a:blipFill>
          </p:spPr>
          <p:txBody>
            <a:bodyPr/>
            <a:p/>
          </p:txBody>
        </p:sp>
      </p:grpSp>
      <p:grpSp>
        <p:nvGrpSpPr>
          <p:cNvPr name="Group 13" id="13"/>
          <p:cNvGrpSpPr/>
          <p:nvPr/>
        </p:nvGrpSpPr>
        <p:grpSpPr>
          <a:xfrm rot="0">
            <a:off x="5627675" y="2857043"/>
            <a:ext cx="329184" cy="257861"/>
            <a:chOff x="0" y="0"/>
            <a:chExt cx="438912" cy="343814"/>
          </a:xfrm>
        </p:grpSpPr>
        <p:sp>
          <p:nvSpPr>
            <p:cNvPr name="Freeform 14" id="14"/>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5" id="15"/>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01</a:t>
              </a:r>
            </a:p>
          </p:txBody>
        </p:sp>
      </p:grpSp>
      <p:grpSp>
        <p:nvGrpSpPr>
          <p:cNvPr name="Group 16" id="16"/>
          <p:cNvGrpSpPr/>
          <p:nvPr/>
        </p:nvGrpSpPr>
        <p:grpSpPr>
          <a:xfrm rot="0">
            <a:off x="1213866" y="3771900"/>
            <a:ext cx="4800600" cy="430120"/>
            <a:chOff x="0" y="0"/>
            <a:chExt cx="6400800" cy="573494"/>
          </a:xfrm>
        </p:grpSpPr>
        <p:sp>
          <p:nvSpPr>
            <p:cNvPr name="Freeform 17" id="17"/>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8" id="18"/>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SOMMEIL</a:t>
              </a:r>
            </a:p>
          </p:txBody>
        </p:sp>
      </p:grpSp>
      <p:grpSp>
        <p:nvGrpSpPr>
          <p:cNvPr name="Group 19" id="19"/>
          <p:cNvGrpSpPr/>
          <p:nvPr/>
        </p:nvGrpSpPr>
        <p:grpSpPr>
          <a:xfrm rot="0">
            <a:off x="1204341" y="4263009"/>
            <a:ext cx="1833677" cy="419557"/>
            <a:chOff x="0" y="0"/>
            <a:chExt cx="2444902" cy="559410"/>
          </a:xfrm>
        </p:grpSpPr>
        <p:sp>
          <p:nvSpPr>
            <p:cNvPr name="Freeform 20" id="20"/>
            <p:cNvSpPr/>
            <p:nvPr/>
          </p:nvSpPr>
          <p:spPr>
            <a:xfrm flipH="false" flipV="false" rot="0">
              <a:off x="12700" y="12700"/>
              <a:ext cx="2419604" cy="533908"/>
            </a:xfrm>
            <a:custGeom>
              <a:avLst/>
              <a:gdLst/>
              <a:ahLst/>
              <a:cxnLst/>
              <a:rect r="r" b="b" t="t" l="l"/>
              <a:pathLst>
                <a:path h="533908" w="2419604">
                  <a:moveTo>
                    <a:pt x="0" y="261239"/>
                  </a:moveTo>
                  <a:cubicBezTo>
                    <a:pt x="0" y="116967"/>
                    <a:pt x="121285" y="0"/>
                    <a:pt x="270891" y="0"/>
                  </a:cubicBezTo>
                  <a:lnTo>
                    <a:pt x="2148713" y="0"/>
                  </a:lnTo>
                  <a:cubicBezTo>
                    <a:pt x="2298319" y="0"/>
                    <a:pt x="2419604" y="116967"/>
                    <a:pt x="2419604" y="261239"/>
                  </a:cubicBezTo>
                  <a:lnTo>
                    <a:pt x="2419604" y="272669"/>
                  </a:lnTo>
                  <a:cubicBezTo>
                    <a:pt x="2419604" y="416941"/>
                    <a:pt x="2298319" y="533908"/>
                    <a:pt x="2148713" y="533908"/>
                  </a:cubicBezTo>
                  <a:lnTo>
                    <a:pt x="270891" y="533908"/>
                  </a:lnTo>
                  <a:cubicBezTo>
                    <a:pt x="121285" y="534035"/>
                    <a:pt x="0" y="417068"/>
                    <a:pt x="0" y="272796"/>
                  </a:cubicBezTo>
                  <a:close/>
                </a:path>
              </a:pathLst>
            </a:custGeom>
            <a:solidFill>
              <a:srgbClr val="FFFFFF"/>
            </a:solidFill>
          </p:spPr>
          <p:txBody>
            <a:bodyPr/>
            <a:p/>
          </p:txBody>
        </p:sp>
      </p:grpSp>
      <p:grpSp>
        <p:nvGrpSpPr>
          <p:cNvPr name="Group 21" id="21"/>
          <p:cNvGrpSpPr/>
          <p:nvPr/>
        </p:nvGrpSpPr>
        <p:grpSpPr>
          <a:xfrm rot="0">
            <a:off x="1300277" y="4272534"/>
            <a:ext cx="1901038" cy="400508"/>
            <a:chOff x="0" y="0"/>
            <a:chExt cx="2534717" cy="534010"/>
          </a:xfrm>
        </p:grpSpPr>
        <p:sp>
          <p:nvSpPr>
            <p:cNvPr name="Freeform 22" id="22"/>
            <p:cNvSpPr/>
            <p:nvPr/>
          </p:nvSpPr>
          <p:spPr>
            <a:xfrm flipH="false" flipV="false" rot="0">
              <a:off x="0" y="0"/>
              <a:ext cx="2534716" cy="534010"/>
            </a:xfrm>
            <a:custGeom>
              <a:avLst/>
              <a:gdLst/>
              <a:ahLst/>
              <a:cxnLst/>
              <a:rect r="r" b="b" t="t" l="l"/>
              <a:pathLst>
                <a:path h="534010" w="2534716">
                  <a:moveTo>
                    <a:pt x="0" y="0"/>
                  </a:moveTo>
                  <a:lnTo>
                    <a:pt x="2534716" y="0"/>
                  </a:lnTo>
                  <a:lnTo>
                    <a:pt x="2534716" y="534010"/>
                  </a:lnTo>
                  <a:lnTo>
                    <a:pt x="0" y="534010"/>
                  </a:lnTo>
                  <a:close/>
                </a:path>
              </a:pathLst>
            </a:custGeom>
            <a:blipFill>
              <a:blip r:embed="rId4">
                <a:alphaModFix amt="0"/>
              </a:blip>
              <a:stretch>
                <a:fillRect l="0" t="-42487" r="0" b="-42486"/>
              </a:stretch>
            </a:blipFill>
          </p:spPr>
          <p:txBody>
            <a:bodyPr/>
            <a:p/>
          </p:txBody>
        </p:sp>
        <p:sp>
          <p:nvSpPr>
            <p:cNvPr name="TextBox 23" id="23"/>
            <p:cNvSpPr txBox="true"/>
            <p:nvPr/>
          </p:nvSpPr>
          <p:spPr>
            <a:xfrm>
              <a:off x="0" y="0"/>
              <a:ext cx="2534717"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Cible : 7-8h / Nuit</a:t>
              </a:r>
            </a:p>
          </p:txBody>
        </p:sp>
      </p:grpSp>
      <p:grpSp>
        <p:nvGrpSpPr>
          <p:cNvPr name="Group 24" id="24"/>
          <p:cNvGrpSpPr/>
          <p:nvPr/>
        </p:nvGrpSpPr>
        <p:grpSpPr>
          <a:xfrm rot="0">
            <a:off x="1204341" y="4826737"/>
            <a:ext cx="4648200" cy="32766"/>
            <a:chOff x="0" y="0"/>
            <a:chExt cx="6197600" cy="43688"/>
          </a:xfrm>
        </p:grpSpPr>
        <p:sp>
          <p:nvSpPr>
            <p:cNvPr name="Freeform 25" id="25"/>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26" id="26"/>
          <p:cNvGrpSpPr/>
          <p:nvPr/>
        </p:nvGrpSpPr>
        <p:grpSpPr>
          <a:xfrm rot="0">
            <a:off x="1213866" y="5021428"/>
            <a:ext cx="4744364" cy="558241"/>
            <a:chOff x="0" y="0"/>
            <a:chExt cx="6325819" cy="744322"/>
          </a:xfrm>
        </p:grpSpPr>
        <p:sp>
          <p:nvSpPr>
            <p:cNvPr name="Freeform 27" id="27"/>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28" id="28"/>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La base de la récupération et du nettoyage glymphatique.</a:t>
              </a:r>
            </a:p>
          </p:txBody>
        </p:sp>
      </p:grpSp>
      <p:grpSp>
        <p:nvGrpSpPr>
          <p:cNvPr name="Group 29" id="29"/>
          <p:cNvGrpSpPr/>
          <p:nvPr/>
        </p:nvGrpSpPr>
        <p:grpSpPr>
          <a:xfrm rot="0">
            <a:off x="1204341" y="5683987"/>
            <a:ext cx="876300" cy="319430"/>
            <a:chOff x="0" y="0"/>
            <a:chExt cx="1168400" cy="425907"/>
          </a:xfrm>
        </p:grpSpPr>
        <p:sp>
          <p:nvSpPr>
            <p:cNvPr name="Freeform 30" id="30"/>
            <p:cNvSpPr/>
            <p:nvPr/>
          </p:nvSpPr>
          <p:spPr>
            <a:xfrm flipH="false" flipV="false" rot="0">
              <a:off x="12700" y="12700"/>
              <a:ext cx="1143000" cy="400558"/>
            </a:xfrm>
            <a:custGeom>
              <a:avLst/>
              <a:gdLst/>
              <a:ahLst/>
              <a:cxnLst/>
              <a:rect r="r" b="b" t="t" l="l"/>
              <a:pathLst>
                <a:path h="400558" w="1143000">
                  <a:moveTo>
                    <a:pt x="0" y="200279"/>
                  </a:moveTo>
                  <a:cubicBezTo>
                    <a:pt x="0" y="89662"/>
                    <a:pt x="93218" y="0"/>
                    <a:pt x="208280" y="0"/>
                  </a:cubicBezTo>
                  <a:lnTo>
                    <a:pt x="934720" y="0"/>
                  </a:lnTo>
                  <a:cubicBezTo>
                    <a:pt x="1049782" y="0"/>
                    <a:pt x="1143000" y="89662"/>
                    <a:pt x="1143000" y="200279"/>
                  </a:cubicBezTo>
                  <a:cubicBezTo>
                    <a:pt x="1143000" y="310896"/>
                    <a:pt x="1049782" y="400558"/>
                    <a:pt x="934720" y="400558"/>
                  </a:cubicBezTo>
                  <a:lnTo>
                    <a:pt x="208280" y="400558"/>
                  </a:lnTo>
                  <a:cubicBezTo>
                    <a:pt x="93218" y="400558"/>
                    <a:pt x="0" y="310896"/>
                    <a:pt x="0" y="200279"/>
                  </a:cubicBezTo>
                  <a:close/>
                </a:path>
              </a:pathLst>
            </a:custGeom>
            <a:solidFill>
              <a:srgbClr val="FFFFFF">
                <a:alpha val="0"/>
              </a:srgbClr>
            </a:solidFill>
          </p:spPr>
          <p:txBody>
            <a:bodyPr/>
            <a:p/>
          </p:txBody>
        </p:sp>
      </p:grpSp>
      <p:grpSp>
        <p:nvGrpSpPr>
          <p:cNvPr name="Group 31" id="31"/>
          <p:cNvGrpSpPr/>
          <p:nvPr/>
        </p:nvGrpSpPr>
        <p:grpSpPr>
          <a:xfrm rot="0">
            <a:off x="1213866" y="5693512"/>
            <a:ext cx="977951" cy="300381"/>
            <a:chOff x="0" y="0"/>
            <a:chExt cx="1303934" cy="400508"/>
          </a:xfrm>
        </p:grpSpPr>
        <p:sp>
          <p:nvSpPr>
            <p:cNvPr name="Freeform 32" id="32"/>
            <p:cNvSpPr/>
            <p:nvPr/>
          </p:nvSpPr>
          <p:spPr>
            <a:xfrm flipH="false" flipV="false" rot="0">
              <a:off x="0" y="0"/>
              <a:ext cx="1303934" cy="400509"/>
            </a:xfrm>
            <a:custGeom>
              <a:avLst/>
              <a:gdLst/>
              <a:ahLst/>
              <a:cxnLst/>
              <a:rect r="r" b="b" t="t" l="l"/>
              <a:pathLst>
                <a:path h="400509" w="1303934">
                  <a:moveTo>
                    <a:pt x="0" y="0"/>
                  </a:moveTo>
                  <a:lnTo>
                    <a:pt x="1303934" y="0"/>
                  </a:lnTo>
                  <a:lnTo>
                    <a:pt x="1303934" y="400509"/>
                  </a:lnTo>
                  <a:lnTo>
                    <a:pt x="0" y="400509"/>
                  </a:lnTo>
                  <a:close/>
                </a:path>
              </a:pathLst>
            </a:custGeom>
            <a:blipFill>
              <a:blip r:embed="rId4">
                <a:alphaModFix amt="0"/>
              </a:blip>
              <a:stretch>
                <a:fillRect l="0" t="-13437" r="0" b="-13437"/>
              </a:stretch>
            </a:blipFill>
          </p:spPr>
          <p:txBody>
            <a:bodyPr/>
            <a:p/>
          </p:txBody>
        </p:sp>
        <p:sp>
          <p:nvSpPr>
            <p:cNvPr name="TextBox 33" id="33"/>
            <p:cNvSpPr txBox="true"/>
            <p:nvPr/>
          </p:nvSpPr>
          <p:spPr>
            <a:xfrm>
              <a:off x="0" y="0"/>
              <a:ext cx="130393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Efficacité</a:t>
              </a:r>
            </a:p>
          </p:txBody>
        </p:sp>
      </p:grpSp>
      <p:grpSp>
        <p:nvGrpSpPr>
          <p:cNvPr name="Group 34" id="34"/>
          <p:cNvGrpSpPr/>
          <p:nvPr/>
        </p:nvGrpSpPr>
        <p:grpSpPr>
          <a:xfrm rot="0">
            <a:off x="2172691" y="5683987"/>
            <a:ext cx="791261" cy="319430"/>
            <a:chOff x="0" y="0"/>
            <a:chExt cx="1055014" cy="425907"/>
          </a:xfrm>
        </p:grpSpPr>
        <p:sp>
          <p:nvSpPr>
            <p:cNvPr name="Freeform 35" id="35"/>
            <p:cNvSpPr/>
            <p:nvPr/>
          </p:nvSpPr>
          <p:spPr>
            <a:xfrm flipH="false" flipV="false" rot="0">
              <a:off x="12700" y="12700"/>
              <a:ext cx="1029589" cy="400558"/>
            </a:xfrm>
            <a:custGeom>
              <a:avLst/>
              <a:gdLst/>
              <a:ahLst/>
              <a:cxnLst/>
              <a:rect r="r" b="b" t="t" l="l"/>
              <a:pathLst>
                <a:path h="400558" w="1029589">
                  <a:moveTo>
                    <a:pt x="0" y="200279"/>
                  </a:moveTo>
                  <a:cubicBezTo>
                    <a:pt x="0" y="89662"/>
                    <a:pt x="93091" y="0"/>
                    <a:pt x="207772" y="0"/>
                  </a:cubicBezTo>
                  <a:lnTo>
                    <a:pt x="821817" y="0"/>
                  </a:lnTo>
                  <a:cubicBezTo>
                    <a:pt x="936625" y="0"/>
                    <a:pt x="1029589" y="89662"/>
                    <a:pt x="1029589" y="200279"/>
                  </a:cubicBezTo>
                  <a:cubicBezTo>
                    <a:pt x="1029589" y="310896"/>
                    <a:pt x="936625" y="400558"/>
                    <a:pt x="821817" y="400558"/>
                  </a:cubicBezTo>
                  <a:lnTo>
                    <a:pt x="207772" y="400558"/>
                  </a:lnTo>
                  <a:cubicBezTo>
                    <a:pt x="93091" y="400558"/>
                    <a:pt x="0" y="310896"/>
                    <a:pt x="0" y="200279"/>
                  </a:cubicBezTo>
                  <a:close/>
                </a:path>
              </a:pathLst>
            </a:custGeom>
            <a:solidFill>
              <a:srgbClr val="FFFFFF">
                <a:alpha val="0"/>
              </a:srgbClr>
            </a:solidFill>
          </p:spPr>
          <p:txBody>
            <a:bodyPr/>
            <a:p/>
          </p:txBody>
        </p:sp>
      </p:grpSp>
      <p:grpSp>
        <p:nvGrpSpPr>
          <p:cNvPr name="Group 36" id="36"/>
          <p:cNvGrpSpPr/>
          <p:nvPr/>
        </p:nvGrpSpPr>
        <p:grpSpPr>
          <a:xfrm rot="0">
            <a:off x="2182216" y="5693512"/>
            <a:ext cx="886054" cy="300381"/>
            <a:chOff x="0" y="0"/>
            <a:chExt cx="1181405" cy="400508"/>
          </a:xfrm>
        </p:grpSpPr>
        <p:sp>
          <p:nvSpPr>
            <p:cNvPr name="Freeform 37" id="37"/>
            <p:cNvSpPr/>
            <p:nvPr/>
          </p:nvSpPr>
          <p:spPr>
            <a:xfrm flipH="false" flipV="false" rot="0">
              <a:off x="0" y="0"/>
              <a:ext cx="1181404" cy="400509"/>
            </a:xfrm>
            <a:custGeom>
              <a:avLst/>
              <a:gdLst/>
              <a:ahLst/>
              <a:cxnLst/>
              <a:rect r="r" b="b" t="t" l="l"/>
              <a:pathLst>
                <a:path h="400509" w="1181404">
                  <a:moveTo>
                    <a:pt x="0" y="0"/>
                  </a:moveTo>
                  <a:lnTo>
                    <a:pt x="1181404" y="0"/>
                  </a:lnTo>
                  <a:lnTo>
                    <a:pt x="1181404" y="400509"/>
                  </a:lnTo>
                  <a:lnTo>
                    <a:pt x="0" y="400509"/>
                  </a:lnTo>
                  <a:close/>
                </a:path>
              </a:pathLst>
            </a:custGeom>
            <a:blipFill>
              <a:blip r:embed="rId4">
                <a:alphaModFix amt="0"/>
              </a:blip>
              <a:stretch>
                <a:fillRect l="0" t="-7476" r="0" b="-7475"/>
              </a:stretch>
            </a:blipFill>
          </p:spPr>
          <p:txBody>
            <a:bodyPr/>
            <a:p/>
          </p:txBody>
        </p:sp>
        <p:sp>
          <p:nvSpPr>
            <p:cNvPr name="TextBox 38" id="38"/>
            <p:cNvSpPr txBox="true"/>
            <p:nvPr/>
          </p:nvSpPr>
          <p:spPr>
            <a:xfrm>
              <a:off x="0" y="0"/>
              <a:ext cx="1181405"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Latence</a:t>
              </a:r>
            </a:p>
          </p:txBody>
        </p:sp>
      </p:grpSp>
      <p:grpSp>
        <p:nvGrpSpPr>
          <p:cNvPr name="Group 39" id="39"/>
          <p:cNvGrpSpPr/>
          <p:nvPr/>
        </p:nvGrpSpPr>
        <p:grpSpPr>
          <a:xfrm rot="0">
            <a:off x="3045028" y="5683987"/>
            <a:ext cx="947623" cy="319430"/>
            <a:chOff x="0" y="0"/>
            <a:chExt cx="1263498" cy="425907"/>
          </a:xfrm>
        </p:grpSpPr>
        <p:sp>
          <p:nvSpPr>
            <p:cNvPr name="Freeform 40" id="40"/>
            <p:cNvSpPr/>
            <p:nvPr/>
          </p:nvSpPr>
          <p:spPr>
            <a:xfrm flipH="false" flipV="false" rot="0">
              <a:off x="12700" y="12700"/>
              <a:ext cx="1238123" cy="400558"/>
            </a:xfrm>
            <a:custGeom>
              <a:avLst/>
              <a:gdLst/>
              <a:ahLst/>
              <a:cxnLst/>
              <a:rect r="r" b="b" t="t" l="l"/>
              <a:pathLst>
                <a:path h="400558" w="1238123">
                  <a:moveTo>
                    <a:pt x="0" y="200279"/>
                  </a:moveTo>
                  <a:cubicBezTo>
                    <a:pt x="0" y="89662"/>
                    <a:pt x="93472" y="0"/>
                    <a:pt x="208661" y="0"/>
                  </a:cubicBezTo>
                  <a:lnTo>
                    <a:pt x="1029462" y="0"/>
                  </a:lnTo>
                  <a:cubicBezTo>
                    <a:pt x="1144651" y="0"/>
                    <a:pt x="1238123" y="89662"/>
                    <a:pt x="1238123" y="200279"/>
                  </a:cubicBezTo>
                  <a:cubicBezTo>
                    <a:pt x="1238123" y="310896"/>
                    <a:pt x="1144651" y="400558"/>
                    <a:pt x="1029462" y="400558"/>
                  </a:cubicBezTo>
                  <a:lnTo>
                    <a:pt x="208661" y="400558"/>
                  </a:lnTo>
                  <a:cubicBezTo>
                    <a:pt x="93472" y="400558"/>
                    <a:pt x="0" y="310896"/>
                    <a:pt x="0" y="200279"/>
                  </a:cubicBezTo>
                  <a:close/>
                </a:path>
              </a:pathLst>
            </a:custGeom>
            <a:solidFill>
              <a:srgbClr val="FFFFFF">
                <a:alpha val="0"/>
              </a:srgbClr>
            </a:solidFill>
          </p:spPr>
          <p:txBody>
            <a:bodyPr/>
            <a:p/>
          </p:txBody>
        </p:sp>
      </p:grpSp>
      <p:grpSp>
        <p:nvGrpSpPr>
          <p:cNvPr name="Group 41" id="41"/>
          <p:cNvGrpSpPr/>
          <p:nvPr/>
        </p:nvGrpSpPr>
        <p:grpSpPr>
          <a:xfrm rot="0">
            <a:off x="3054553" y="5693512"/>
            <a:ext cx="1043788" cy="300381"/>
            <a:chOff x="0" y="0"/>
            <a:chExt cx="1391717" cy="400508"/>
          </a:xfrm>
        </p:grpSpPr>
        <p:sp>
          <p:nvSpPr>
            <p:cNvPr name="Freeform 42" id="42"/>
            <p:cNvSpPr/>
            <p:nvPr/>
          </p:nvSpPr>
          <p:spPr>
            <a:xfrm flipH="false" flipV="false" rot="0">
              <a:off x="0" y="0"/>
              <a:ext cx="1391716" cy="400509"/>
            </a:xfrm>
            <a:custGeom>
              <a:avLst/>
              <a:gdLst/>
              <a:ahLst/>
              <a:cxnLst/>
              <a:rect r="r" b="b" t="t" l="l"/>
              <a:pathLst>
                <a:path h="400509" w="1391716">
                  <a:moveTo>
                    <a:pt x="0" y="0"/>
                  </a:moveTo>
                  <a:lnTo>
                    <a:pt x="1391716" y="0"/>
                  </a:lnTo>
                  <a:lnTo>
                    <a:pt x="1391716" y="400509"/>
                  </a:lnTo>
                  <a:lnTo>
                    <a:pt x="0" y="400509"/>
                  </a:lnTo>
                  <a:close/>
                </a:path>
              </a:pathLst>
            </a:custGeom>
            <a:blipFill>
              <a:blip r:embed="rId4">
                <a:alphaModFix amt="0"/>
              </a:blip>
              <a:stretch>
                <a:fillRect l="0" t="-17708" r="0" b="-17707"/>
              </a:stretch>
            </a:blipFill>
          </p:spPr>
          <p:txBody>
            <a:bodyPr/>
            <a:p/>
          </p:txBody>
        </p:sp>
        <p:sp>
          <p:nvSpPr>
            <p:cNvPr name="TextBox 43" id="43"/>
            <p:cNvSpPr txBox="true"/>
            <p:nvPr/>
          </p:nvSpPr>
          <p:spPr>
            <a:xfrm>
              <a:off x="0" y="0"/>
              <a:ext cx="1391717"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Régularité</a:t>
              </a:r>
            </a:p>
          </p:txBody>
        </p:sp>
      </p:grpSp>
      <p:grpSp>
        <p:nvGrpSpPr>
          <p:cNvPr name="Group 44" id="44"/>
          <p:cNvGrpSpPr/>
          <p:nvPr/>
        </p:nvGrpSpPr>
        <p:grpSpPr>
          <a:xfrm rot="0">
            <a:off x="6467170" y="2490902"/>
            <a:ext cx="5362804" cy="3862273"/>
            <a:chOff x="0" y="0"/>
            <a:chExt cx="7150405" cy="5149698"/>
          </a:xfrm>
        </p:grpSpPr>
        <p:sp>
          <p:nvSpPr>
            <p:cNvPr name="Freeform 45" id="45"/>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46" id="46"/>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47" id="47"/>
          <p:cNvGrpSpPr/>
          <p:nvPr/>
        </p:nvGrpSpPr>
        <p:grpSpPr>
          <a:xfrm rot="0">
            <a:off x="6825158" y="2847518"/>
            <a:ext cx="647243" cy="647243"/>
            <a:chOff x="0" y="0"/>
            <a:chExt cx="862990" cy="862990"/>
          </a:xfrm>
        </p:grpSpPr>
        <p:sp>
          <p:nvSpPr>
            <p:cNvPr name="Freeform 48" id="48"/>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49" id="49"/>
          <p:cNvGrpSpPr/>
          <p:nvPr/>
        </p:nvGrpSpPr>
        <p:grpSpPr>
          <a:xfrm rot="0">
            <a:off x="7006133" y="3028493"/>
            <a:ext cx="285293" cy="285293"/>
            <a:chOff x="0" y="0"/>
            <a:chExt cx="380390" cy="380390"/>
          </a:xfrm>
        </p:grpSpPr>
        <p:sp>
          <p:nvSpPr>
            <p:cNvPr name="Freeform 50" id="50"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5"/>
              <a:stretch>
                <a:fillRect l="0" t="0" r="-6" b="-6"/>
              </a:stretch>
            </a:blipFill>
          </p:spPr>
          <p:txBody>
            <a:bodyPr/>
            <a:p/>
          </p:txBody>
        </p:sp>
      </p:grpSp>
      <p:grpSp>
        <p:nvGrpSpPr>
          <p:cNvPr name="Group 51" id="51"/>
          <p:cNvGrpSpPr/>
          <p:nvPr/>
        </p:nvGrpSpPr>
        <p:grpSpPr>
          <a:xfrm rot="0">
            <a:off x="11248492" y="2857043"/>
            <a:ext cx="329184" cy="257861"/>
            <a:chOff x="0" y="0"/>
            <a:chExt cx="438912" cy="343814"/>
          </a:xfrm>
        </p:grpSpPr>
        <p:sp>
          <p:nvSpPr>
            <p:cNvPr name="Freeform 52" id="52"/>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53" id="53"/>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02</a:t>
              </a:r>
            </a:p>
          </p:txBody>
        </p:sp>
      </p:grpSp>
      <p:grpSp>
        <p:nvGrpSpPr>
          <p:cNvPr name="Group 54" id="54"/>
          <p:cNvGrpSpPr/>
          <p:nvPr/>
        </p:nvGrpSpPr>
        <p:grpSpPr>
          <a:xfrm rot="0">
            <a:off x="6834683" y="3771900"/>
            <a:ext cx="4800600" cy="430120"/>
            <a:chOff x="0" y="0"/>
            <a:chExt cx="6400800" cy="573494"/>
          </a:xfrm>
        </p:grpSpPr>
        <p:sp>
          <p:nvSpPr>
            <p:cNvPr name="Freeform 55" id="55"/>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56" id="56"/>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TENSION ARTÉRIELLE</a:t>
              </a:r>
            </a:p>
          </p:txBody>
        </p:sp>
      </p:grpSp>
      <p:grpSp>
        <p:nvGrpSpPr>
          <p:cNvPr name="Group 57" id="57"/>
          <p:cNvGrpSpPr/>
          <p:nvPr/>
        </p:nvGrpSpPr>
        <p:grpSpPr>
          <a:xfrm rot="0">
            <a:off x="6825158" y="4263009"/>
            <a:ext cx="1819961" cy="419557"/>
            <a:chOff x="0" y="0"/>
            <a:chExt cx="2426614" cy="559410"/>
          </a:xfrm>
        </p:grpSpPr>
        <p:sp>
          <p:nvSpPr>
            <p:cNvPr name="Freeform 58" id="58"/>
            <p:cNvSpPr/>
            <p:nvPr/>
          </p:nvSpPr>
          <p:spPr>
            <a:xfrm flipH="false" flipV="false" rot="0">
              <a:off x="12700" y="12700"/>
              <a:ext cx="2401189" cy="533908"/>
            </a:xfrm>
            <a:custGeom>
              <a:avLst/>
              <a:gdLst/>
              <a:ahLst/>
              <a:cxnLst/>
              <a:rect r="r" b="b" t="t" l="l"/>
              <a:pathLst>
                <a:path h="533908" w="2401189">
                  <a:moveTo>
                    <a:pt x="0" y="261239"/>
                  </a:moveTo>
                  <a:cubicBezTo>
                    <a:pt x="0" y="116967"/>
                    <a:pt x="121285" y="0"/>
                    <a:pt x="270764" y="0"/>
                  </a:cubicBezTo>
                  <a:lnTo>
                    <a:pt x="2130425" y="0"/>
                  </a:lnTo>
                  <a:cubicBezTo>
                    <a:pt x="2280031" y="0"/>
                    <a:pt x="2401189" y="116967"/>
                    <a:pt x="2401189" y="261239"/>
                  </a:cubicBezTo>
                  <a:lnTo>
                    <a:pt x="2401189" y="272669"/>
                  </a:lnTo>
                  <a:cubicBezTo>
                    <a:pt x="2401189" y="416941"/>
                    <a:pt x="2279904" y="533908"/>
                    <a:pt x="2130425" y="533908"/>
                  </a:cubicBezTo>
                  <a:lnTo>
                    <a:pt x="270764" y="533908"/>
                  </a:lnTo>
                  <a:cubicBezTo>
                    <a:pt x="121285" y="534035"/>
                    <a:pt x="0" y="417068"/>
                    <a:pt x="0" y="272796"/>
                  </a:cubicBezTo>
                  <a:close/>
                </a:path>
              </a:pathLst>
            </a:custGeom>
            <a:solidFill>
              <a:srgbClr val="FFFFFF"/>
            </a:solidFill>
          </p:spPr>
          <p:txBody>
            <a:bodyPr/>
            <a:p/>
          </p:txBody>
        </p:sp>
      </p:grpSp>
      <p:grpSp>
        <p:nvGrpSpPr>
          <p:cNvPr name="Group 59" id="59"/>
          <p:cNvGrpSpPr/>
          <p:nvPr/>
        </p:nvGrpSpPr>
        <p:grpSpPr>
          <a:xfrm rot="0">
            <a:off x="6916293" y="4282059"/>
            <a:ext cx="2567635" cy="400508"/>
            <a:chOff x="0" y="0"/>
            <a:chExt cx="3423514" cy="534010"/>
          </a:xfrm>
        </p:grpSpPr>
        <p:sp>
          <p:nvSpPr>
            <p:cNvPr name="Freeform 60" id="60"/>
            <p:cNvSpPr/>
            <p:nvPr/>
          </p:nvSpPr>
          <p:spPr>
            <a:xfrm flipH="false" flipV="false" rot="0">
              <a:off x="0" y="0"/>
              <a:ext cx="3423514" cy="534010"/>
            </a:xfrm>
            <a:custGeom>
              <a:avLst/>
              <a:gdLst/>
              <a:ahLst/>
              <a:cxnLst/>
              <a:rect r="r" b="b" t="t" l="l"/>
              <a:pathLst>
                <a:path h="534010" w="3423514">
                  <a:moveTo>
                    <a:pt x="0" y="0"/>
                  </a:moveTo>
                  <a:lnTo>
                    <a:pt x="3423514" y="0"/>
                  </a:lnTo>
                  <a:lnTo>
                    <a:pt x="3423514" y="534010"/>
                  </a:lnTo>
                  <a:lnTo>
                    <a:pt x="0" y="534010"/>
                  </a:lnTo>
                  <a:close/>
                </a:path>
              </a:pathLst>
            </a:custGeom>
            <a:blipFill>
              <a:blip r:embed="rId4">
                <a:alphaModFix amt="0"/>
              </a:blip>
              <a:stretch>
                <a:fillRect l="0" t="-41753" r="26549" b="-41752"/>
              </a:stretch>
            </a:blipFill>
          </p:spPr>
          <p:txBody>
            <a:bodyPr/>
            <a:p/>
          </p:txBody>
        </p:sp>
        <p:sp>
          <p:nvSpPr>
            <p:cNvPr name="TextBox 61" id="61"/>
            <p:cNvSpPr txBox="true"/>
            <p:nvPr/>
          </p:nvSpPr>
          <p:spPr>
            <a:xfrm>
              <a:off x="0" y="0"/>
              <a:ext cx="3423514"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AM / PM / Continu</a:t>
              </a:r>
            </a:p>
          </p:txBody>
        </p:sp>
      </p:grpSp>
      <p:grpSp>
        <p:nvGrpSpPr>
          <p:cNvPr name="Group 62" id="62"/>
          <p:cNvGrpSpPr/>
          <p:nvPr/>
        </p:nvGrpSpPr>
        <p:grpSpPr>
          <a:xfrm rot="0">
            <a:off x="6825158" y="4826737"/>
            <a:ext cx="4648200" cy="32766"/>
            <a:chOff x="0" y="0"/>
            <a:chExt cx="6197600" cy="43688"/>
          </a:xfrm>
        </p:grpSpPr>
        <p:sp>
          <p:nvSpPr>
            <p:cNvPr name="Freeform 63" id="63"/>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64" id="64"/>
          <p:cNvGrpSpPr/>
          <p:nvPr/>
        </p:nvGrpSpPr>
        <p:grpSpPr>
          <a:xfrm rot="0">
            <a:off x="6834683" y="5021428"/>
            <a:ext cx="4744364" cy="558241"/>
            <a:chOff x="0" y="0"/>
            <a:chExt cx="6325819" cy="744322"/>
          </a:xfrm>
        </p:grpSpPr>
        <p:sp>
          <p:nvSpPr>
            <p:cNvPr name="Freeform 65" id="65"/>
            <p:cNvSpPr/>
            <p:nvPr/>
          </p:nvSpPr>
          <p:spPr>
            <a:xfrm flipH="false" flipV="false" rot="0">
              <a:off x="0" y="0"/>
              <a:ext cx="6325820" cy="744322"/>
            </a:xfrm>
            <a:custGeom>
              <a:avLst/>
              <a:gdLst/>
              <a:ahLst/>
              <a:cxnLst/>
              <a:rect r="r" b="b" t="t" l="l"/>
              <a:pathLst>
                <a:path h="744322" w="6325820">
                  <a:moveTo>
                    <a:pt x="0" y="0"/>
                  </a:moveTo>
                  <a:lnTo>
                    <a:pt x="6325820" y="0"/>
                  </a:lnTo>
                  <a:lnTo>
                    <a:pt x="6325820" y="744322"/>
                  </a:lnTo>
                  <a:lnTo>
                    <a:pt x="0" y="744322"/>
                  </a:lnTo>
                  <a:close/>
                </a:path>
              </a:pathLst>
            </a:custGeom>
            <a:blipFill>
              <a:blip r:embed="rId4">
                <a:alphaModFix amt="0"/>
              </a:blip>
              <a:stretch>
                <a:fillRect l="0" t="-115598" r="0" b="-115598"/>
              </a:stretch>
            </a:blipFill>
          </p:spPr>
          <p:txBody>
            <a:bodyPr/>
            <a:p/>
          </p:txBody>
        </p:sp>
        <p:sp>
          <p:nvSpPr>
            <p:cNvPr name="TextBox 66" id="66"/>
            <p:cNvSpPr txBox="true"/>
            <p:nvPr/>
          </p:nvSpPr>
          <p:spPr>
            <a:xfrm>
              <a:off x="0" y="0"/>
              <a:ext cx="6325819" cy="744322"/>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Indicateur clé de la santé cardiovasculaire et du stress.</a:t>
              </a:r>
            </a:p>
          </p:txBody>
        </p:sp>
      </p:grpSp>
      <p:grpSp>
        <p:nvGrpSpPr>
          <p:cNvPr name="Group 67" id="67"/>
          <p:cNvGrpSpPr/>
          <p:nvPr/>
        </p:nvGrpSpPr>
        <p:grpSpPr>
          <a:xfrm rot="0">
            <a:off x="6825158" y="5683987"/>
            <a:ext cx="905104" cy="319430"/>
            <a:chOff x="0" y="0"/>
            <a:chExt cx="1206805" cy="425907"/>
          </a:xfrm>
        </p:grpSpPr>
        <p:sp>
          <p:nvSpPr>
            <p:cNvPr name="Freeform 68" id="68"/>
            <p:cNvSpPr/>
            <p:nvPr/>
          </p:nvSpPr>
          <p:spPr>
            <a:xfrm flipH="false" flipV="false" rot="0">
              <a:off x="12700" y="12700"/>
              <a:ext cx="1181481" cy="400558"/>
            </a:xfrm>
            <a:custGeom>
              <a:avLst/>
              <a:gdLst/>
              <a:ahLst/>
              <a:cxnLst/>
              <a:rect r="r" b="b" t="t" l="l"/>
              <a:pathLst>
                <a:path h="400558" w="1181481">
                  <a:moveTo>
                    <a:pt x="0" y="200279"/>
                  </a:moveTo>
                  <a:cubicBezTo>
                    <a:pt x="0" y="89662"/>
                    <a:pt x="93345" y="0"/>
                    <a:pt x="208534" y="0"/>
                  </a:cubicBezTo>
                  <a:lnTo>
                    <a:pt x="972947" y="0"/>
                  </a:lnTo>
                  <a:cubicBezTo>
                    <a:pt x="1088136" y="0"/>
                    <a:pt x="1181481" y="89662"/>
                    <a:pt x="1181481" y="200279"/>
                  </a:cubicBezTo>
                  <a:cubicBezTo>
                    <a:pt x="1181481" y="310896"/>
                    <a:pt x="1088009" y="400558"/>
                    <a:pt x="972947" y="400558"/>
                  </a:cubicBezTo>
                  <a:lnTo>
                    <a:pt x="208534" y="400558"/>
                  </a:lnTo>
                  <a:cubicBezTo>
                    <a:pt x="93345" y="400558"/>
                    <a:pt x="0" y="310896"/>
                    <a:pt x="0" y="200279"/>
                  </a:cubicBezTo>
                  <a:close/>
                </a:path>
              </a:pathLst>
            </a:custGeom>
            <a:solidFill>
              <a:srgbClr val="FFFFFF">
                <a:alpha val="0"/>
              </a:srgbClr>
            </a:solidFill>
          </p:spPr>
          <p:txBody>
            <a:bodyPr/>
            <a:p/>
          </p:txBody>
        </p:sp>
      </p:grpSp>
      <p:grpSp>
        <p:nvGrpSpPr>
          <p:cNvPr name="Group 69" id="69"/>
          <p:cNvGrpSpPr/>
          <p:nvPr/>
        </p:nvGrpSpPr>
        <p:grpSpPr>
          <a:xfrm rot="0">
            <a:off x="6834683" y="5693512"/>
            <a:ext cx="1054760" cy="300381"/>
            <a:chOff x="0" y="0"/>
            <a:chExt cx="1406347" cy="400508"/>
          </a:xfrm>
        </p:grpSpPr>
        <p:sp>
          <p:nvSpPr>
            <p:cNvPr name="Freeform 70" id="70"/>
            <p:cNvSpPr/>
            <p:nvPr/>
          </p:nvSpPr>
          <p:spPr>
            <a:xfrm flipH="false" flipV="false" rot="0">
              <a:off x="0" y="0"/>
              <a:ext cx="1406348" cy="400509"/>
            </a:xfrm>
            <a:custGeom>
              <a:avLst/>
              <a:gdLst/>
              <a:ahLst/>
              <a:cxnLst/>
              <a:rect r="r" b="b" t="t" l="l"/>
              <a:pathLst>
                <a:path h="400509" w="1406348">
                  <a:moveTo>
                    <a:pt x="0" y="0"/>
                  </a:moveTo>
                  <a:lnTo>
                    <a:pt x="1406348" y="0"/>
                  </a:lnTo>
                  <a:lnTo>
                    <a:pt x="1406348" y="400509"/>
                  </a:lnTo>
                  <a:lnTo>
                    <a:pt x="0" y="400509"/>
                  </a:lnTo>
                  <a:close/>
                </a:path>
              </a:pathLst>
            </a:custGeom>
            <a:blipFill>
              <a:blip r:embed="rId4">
                <a:alphaModFix amt="0"/>
              </a:blip>
              <a:stretch>
                <a:fillRect l="0" t="-18419" r="0" b="-18419"/>
              </a:stretch>
            </a:blipFill>
          </p:spPr>
          <p:txBody>
            <a:bodyPr/>
            <a:p/>
          </p:txBody>
        </p:sp>
        <p:sp>
          <p:nvSpPr>
            <p:cNvPr name="TextBox 71" id="71"/>
            <p:cNvSpPr txBox="true"/>
            <p:nvPr/>
          </p:nvSpPr>
          <p:spPr>
            <a:xfrm>
              <a:off x="0" y="0"/>
              <a:ext cx="1406347"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Variabilité</a:t>
              </a:r>
            </a:p>
          </p:txBody>
        </p:sp>
      </p:grpSp>
      <p:grpSp>
        <p:nvGrpSpPr>
          <p:cNvPr name="Group 72" id="72"/>
          <p:cNvGrpSpPr/>
          <p:nvPr/>
        </p:nvGrpSpPr>
        <p:grpSpPr>
          <a:xfrm rot="0">
            <a:off x="7823683" y="5683987"/>
            <a:ext cx="1390650" cy="319430"/>
            <a:chOff x="0" y="0"/>
            <a:chExt cx="1854200" cy="425907"/>
          </a:xfrm>
        </p:grpSpPr>
        <p:sp>
          <p:nvSpPr>
            <p:cNvPr name="Freeform 73" id="73"/>
            <p:cNvSpPr/>
            <p:nvPr/>
          </p:nvSpPr>
          <p:spPr>
            <a:xfrm flipH="false" flipV="false" rot="0">
              <a:off x="12700" y="12700"/>
              <a:ext cx="1828800" cy="400558"/>
            </a:xfrm>
            <a:custGeom>
              <a:avLst/>
              <a:gdLst/>
              <a:ahLst/>
              <a:cxnLst/>
              <a:rect r="r" b="b" t="t" l="l"/>
              <a:pathLst>
                <a:path h="400558" w="1828800">
                  <a:moveTo>
                    <a:pt x="0" y="200279"/>
                  </a:moveTo>
                  <a:cubicBezTo>
                    <a:pt x="0" y="89662"/>
                    <a:pt x="93980" y="0"/>
                    <a:pt x="210058" y="0"/>
                  </a:cubicBezTo>
                  <a:lnTo>
                    <a:pt x="1618742" y="0"/>
                  </a:lnTo>
                  <a:cubicBezTo>
                    <a:pt x="1734820" y="0"/>
                    <a:pt x="1828800" y="89662"/>
                    <a:pt x="1828800" y="200279"/>
                  </a:cubicBezTo>
                  <a:cubicBezTo>
                    <a:pt x="1828800" y="310896"/>
                    <a:pt x="1734820" y="400558"/>
                    <a:pt x="1618742" y="400558"/>
                  </a:cubicBezTo>
                  <a:lnTo>
                    <a:pt x="210058" y="400558"/>
                  </a:lnTo>
                  <a:cubicBezTo>
                    <a:pt x="93980" y="400558"/>
                    <a:pt x="0" y="310896"/>
                    <a:pt x="0" y="200279"/>
                  </a:cubicBezTo>
                  <a:close/>
                </a:path>
              </a:pathLst>
            </a:custGeom>
            <a:solidFill>
              <a:srgbClr val="FFFFFF">
                <a:alpha val="0"/>
              </a:srgbClr>
            </a:solidFill>
          </p:spPr>
          <p:txBody>
            <a:bodyPr/>
            <a:p/>
          </p:txBody>
        </p:sp>
      </p:grpSp>
      <p:grpSp>
        <p:nvGrpSpPr>
          <p:cNvPr name="Group 74" id="74"/>
          <p:cNvGrpSpPr/>
          <p:nvPr/>
        </p:nvGrpSpPr>
        <p:grpSpPr>
          <a:xfrm rot="0">
            <a:off x="7833208" y="5693512"/>
            <a:ext cx="1486814" cy="300381"/>
            <a:chOff x="0" y="0"/>
            <a:chExt cx="1982419" cy="400508"/>
          </a:xfrm>
        </p:grpSpPr>
        <p:sp>
          <p:nvSpPr>
            <p:cNvPr name="Freeform 75" id="75"/>
            <p:cNvSpPr/>
            <p:nvPr/>
          </p:nvSpPr>
          <p:spPr>
            <a:xfrm flipH="false" flipV="false" rot="0">
              <a:off x="0" y="0"/>
              <a:ext cx="1982420" cy="400509"/>
            </a:xfrm>
            <a:custGeom>
              <a:avLst/>
              <a:gdLst/>
              <a:ahLst/>
              <a:cxnLst/>
              <a:rect r="r" b="b" t="t" l="l"/>
              <a:pathLst>
                <a:path h="400509" w="1982420">
                  <a:moveTo>
                    <a:pt x="0" y="0"/>
                  </a:moveTo>
                  <a:lnTo>
                    <a:pt x="1982420" y="0"/>
                  </a:lnTo>
                  <a:lnTo>
                    <a:pt x="1982420" y="400509"/>
                  </a:lnTo>
                  <a:lnTo>
                    <a:pt x="0" y="400509"/>
                  </a:lnTo>
                  <a:close/>
                </a:path>
              </a:pathLst>
            </a:custGeom>
            <a:blipFill>
              <a:blip r:embed="rId4">
                <a:alphaModFix amt="0"/>
              </a:blip>
              <a:stretch>
                <a:fillRect l="0" t="-46446" r="0" b="-46445"/>
              </a:stretch>
            </a:blipFill>
          </p:spPr>
          <p:txBody>
            <a:bodyPr/>
            <a:p/>
          </p:txBody>
        </p:sp>
        <p:sp>
          <p:nvSpPr>
            <p:cNvPr name="TextBox 76" id="76"/>
            <p:cNvSpPr txBox="true"/>
            <p:nvPr/>
          </p:nvSpPr>
          <p:spPr>
            <a:xfrm>
              <a:off x="0" y="0"/>
              <a:ext cx="1982419"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Cibles Adaptées</a:t>
              </a:r>
            </a:p>
          </p:txBody>
        </p:sp>
      </p:grpSp>
      <p:grpSp>
        <p:nvGrpSpPr>
          <p:cNvPr name="Group 77" id="77"/>
          <p:cNvGrpSpPr/>
          <p:nvPr/>
        </p:nvGrpSpPr>
        <p:grpSpPr>
          <a:xfrm rot="0">
            <a:off x="12086615" y="2490902"/>
            <a:ext cx="5362804" cy="3862273"/>
            <a:chOff x="0" y="0"/>
            <a:chExt cx="7150405" cy="5149698"/>
          </a:xfrm>
        </p:grpSpPr>
        <p:sp>
          <p:nvSpPr>
            <p:cNvPr name="Freeform 78" id="78"/>
            <p:cNvSpPr/>
            <p:nvPr/>
          </p:nvSpPr>
          <p:spPr>
            <a:xfrm flipH="false" flipV="false" rot="0">
              <a:off x="12700" y="12700"/>
              <a:ext cx="7124954" cy="5124323"/>
            </a:xfrm>
            <a:custGeom>
              <a:avLst/>
              <a:gdLst/>
              <a:ahLst/>
              <a:cxnLst/>
              <a:rect r="r" b="b" t="t" l="l"/>
              <a:pathLst>
                <a:path h="5124323" w="7124954">
                  <a:moveTo>
                    <a:pt x="0" y="0"/>
                  </a:moveTo>
                  <a:lnTo>
                    <a:pt x="7124954" y="0"/>
                  </a:lnTo>
                  <a:lnTo>
                    <a:pt x="7124954" y="5124323"/>
                  </a:lnTo>
                  <a:lnTo>
                    <a:pt x="0" y="5124323"/>
                  </a:lnTo>
                  <a:close/>
                </a:path>
              </a:pathLst>
            </a:custGeom>
            <a:solidFill>
              <a:srgbClr val="141419"/>
            </a:solidFill>
          </p:spPr>
          <p:txBody>
            <a:bodyPr/>
            <a:p/>
          </p:txBody>
        </p:sp>
        <p:sp>
          <p:nvSpPr>
            <p:cNvPr name="Freeform 79" id="79"/>
            <p:cNvSpPr/>
            <p:nvPr/>
          </p:nvSpPr>
          <p:spPr>
            <a:xfrm flipH="false" flipV="false" rot="0">
              <a:off x="0" y="0"/>
              <a:ext cx="7150354" cy="5149723"/>
            </a:xfrm>
            <a:custGeom>
              <a:avLst/>
              <a:gdLst/>
              <a:ahLst/>
              <a:cxnLst/>
              <a:rect r="r" b="b" t="t" l="l"/>
              <a:pathLst>
                <a:path h="5149723" w="7150354">
                  <a:moveTo>
                    <a:pt x="12700" y="0"/>
                  </a:moveTo>
                  <a:lnTo>
                    <a:pt x="7137654" y="0"/>
                  </a:lnTo>
                  <a:cubicBezTo>
                    <a:pt x="7144639" y="0"/>
                    <a:pt x="7150354" y="5715"/>
                    <a:pt x="7150354" y="12700"/>
                  </a:cubicBezTo>
                  <a:lnTo>
                    <a:pt x="7150354" y="5137023"/>
                  </a:lnTo>
                  <a:cubicBezTo>
                    <a:pt x="7150354" y="5144008"/>
                    <a:pt x="7144639" y="5149723"/>
                    <a:pt x="7137654" y="5149723"/>
                  </a:cubicBezTo>
                  <a:lnTo>
                    <a:pt x="12700" y="5149723"/>
                  </a:lnTo>
                  <a:cubicBezTo>
                    <a:pt x="5715" y="5149723"/>
                    <a:pt x="0" y="5144008"/>
                    <a:pt x="0" y="5137023"/>
                  </a:cubicBezTo>
                  <a:lnTo>
                    <a:pt x="0" y="12700"/>
                  </a:lnTo>
                  <a:cubicBezTo>
                    <a:pt x="0" y="5715"/>
                    <a:pt x="5715" y="0"/>
                    <a:pt x="12700" y="0"/>
                  </a:cubicBezTo>
                  <a:moveTo>
                    <a:pt x="12700" y="25400"/>
                  </a:moveTo>
                  <a:lnTo>
                    <a:pt x="12700" y="12700"/>
                  </a:lnTo>
                  <a:lnTo>
                    <a:pt x="25400" y="12700"/>
                  </a:lnTo>
                  <a:lnTo>
                    <a:pt x="25400" y="5137023"/>
                  </a:lnTo>
                  <a:lnTo>
                    <a:pt x="12700" y="5137023"/>
                  </a:lnTo>
                  <a:lnTo>
                    <a:pt x="12700" y="5124323"/>
                  </a:lnTo>
                  <a:lnTo>
                    <a:pt x="7137654" y="5124323"/>
                  </a:lnTo>
                  <a:lnTo>
                    <a:pt x="7137654" y="5137023"/>
                  </a:lnTo>
                  <a:lnTo>
                    <a:pt x="7124954" y="5137023"/>
                  </a:lnTo>
                  <a:lnTo>
                    <a:pt x="7124954" y="12700"/>
                  </a:lnTo>
                  <a:lnTo>
                    <a:pt x="7137654" y="12700"/>
                  </a:lnTo>
                  <a:lnTo>
                    <a:pt x="7137654" y="25400"/>
                  </a:lnTo>
                  <a:lnTo>
                    <a:pt x="12700" y="25400"/>
                  </a:lnTo>
                  <a:close/>
                </a:path>
              </a:pathLst>
            </a:custGeom>
            <a:solidFill>
              <a:srgbClr val="40424D"/>
            </a:solidFill>
          </p:spPr>
          <p:txBody>
            <a:bodyPr/>
            <a:p/>
          </p:txBody>
        </p:sp>
      </p:grpSp>
      <p:grpSp>
        <p:nvGrpSpPr>
          <p:cNvPr name="Group 80" id="80"/>
          <p:cNvGrpSpPr/>
          <p:nvPr/>
        </p:nvGrpSpPr>
        <p:grpSpPr>
          <a:xfrm rot="0">
            <a:off x="12444603" y="2847518"/>
            <a:ext cx="647243" cy="647243"/>
            <a:chOff x="0" y="0"/>
            <a:chExt cx="862990" cy="862990"/>
          </a:xfrm>
        </p:grpSpPr>
        <p:sp>
          <p:nvSpPr>
            <p:cNvPr name="Freeform 81" id="81"/>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82" id="82"/>
          <p:cNvGrpSpPr/>
          <p:nvPr/>
        </p:nvGrpSpPr>
        <p:grpSpPr>
          <a:xfrm rot="0">
            <a:off x="12589916" y="3028493"/>
            <a:ext cx="356616" cy="285293"/>
            <a:chOff x="0" y="0"/>
            <a:chExt cx="475488" cy="380390"/>
          </a:xfrm>
        </p:grpSpPr>
        <p:sp>
          <p:nvSpPr>
            <p:cNvPr name="Freeform 83" id="83" descr="preencoded.png"/>
            <p:cNvSpPr/>
            <p:nvPr/>
          </p:nvSpPr>
          <p:spPr>
            <a:xfrm flipH="false" flipV="false" rot="0">
              <a:off x="0" y="0"/>
              <a:ext cx="475488" cy="380365"/>
            </a:xfrm>
            <a:custGeom>
              <a:avLst/>
              <a:gdLst/>
              <a:ahLst/>
              <a:cxnLst/>
              <a:rect r="r" b="b" t="t" l="l"/>
              <a:pathLst>
                <a:path h="380365" w="475488">
                  <a:moveTo>
                    <a:pt x="0" y="0"/>
                  </a:moveTo>
                  <a:lnTo>
                    <a:pt x="475488" y="0"/>
                  </a:lnTo>
                  <a:lnTo>
                    <a:pt x="475488" y="380365"/>
                  </a:lnTo>
                  <a:lnTo>
                    <a:pt x="0" y="380365"/>
                  </a:lnTo>
                  <a:lnTo>
                    <a:pt x="0" y="0"/>
                  </a:lnTo>
                  <a:close/>
                </a:path>
              </a:pathLst>
            </a:custGeom>
            <a:blipFill>
              <a:blip r:embed="rId6"/>
              <a:stretch>
                <a:fillRect l="0" t="0" r="-646" b="-6"/>
              </a:stretch>
            </a:blipFill>
          </p:spPr>
          <p:txBody>
            <a:bodyPr/>
            <a:p/>
          </p:txBody>
        </p:sp>
      </p:grpSp>
      <p:grpSp>
        <p:nvGrpSpPr>
          <p:cNvPr name="Group 84" id="84"/>
          <p:cNvGrpSpPr/>
          <p:nvPr/>
        </p:nvGrpSpPr>
        <p:grpSpPr>
          <a:xfrm rot="0">
            <a:off x="16867937" y="2857043"/>
            <a:ext cx="329184" cy="257861"/>
            <a:chOff x="0" y="0"/>
            <a:chExt cx="438912" cy="343814"/>
          </a:xfrm>
        </p:grpSpPr>
        <p:sp>
          <p:nvSpPr>
            <p:cNvPr name="Freeform 85" id="85"/>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86" id="86"/>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03</a:t>
              </a:r>
            </a:p>
          </p:txBody>
        </p:sp>
      </p:grpSp>
      <p:grpSp>
        <p:nvGrpSpPr>
          <p:cNvPr name="Group 87" id="87"/>
          <p:cNvGrpSpPr/>
          <p:nvPr/>
        </p:nvGrpSpPr>
        <p:grpSpPr>
          <a:xfrm rot="0">
            <a:off x="12454128" y="3771900"/>
            <a:ext cx="4800600" cy="430120"/>
            <a:chOff x="0" y="0"/>
            <a:chExt cx="6400800" cy="573494"/>
          </a:xfrm>
        </p:grpSpPr>
        <p:sp>
          <p:nvSpPr>
            <p:cNvPr name="Freeform 88" id="88"/>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89" id="89"/>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COMPOSITION</a:t>
              </a:r>
            </a:p>
          </p:txBody>
        </p:sp>
      </p:grpSp>
      <p:grpSp>
        <p:nvGrpSpPr>
          <p:cNvPr name="Group 90" id="90"/>
          <p:cNvGrpSpPr/>
          <p:nvPr/>
        </p:nvGrpSpPr>
        <p:grpSpPr>
          <a:xfrm rot="0">
            <a:off x="12444603" y="4263009"/>
            <a:ext cx="2376830" cy="419557"/>
            <a:chOff x="0" y="0"/>
            <a:chExt cx="3169107" cy="559410"/>
          </a:xfrm>
        </p:grpSpPr>
        <p:sp>
          <p:nvSpPr>
            <p:cNvPr name="Freeform 91" id="91"/>
            <p:cNvSpPr/>
            <p:nvPr/>
          </p:nvSpPr>
          <p:spPr>
            <a:xfrm flipH="false" flipV="false" rot="0">
              <a:off x="12700" y="12700"/>
              <a:ext cx="3143758" cy="533908"/>
            </a:xfrm>
            <a:custGeom>
              <a:avLst/>
              <a:gdLst/>
              <a:ahLst/>
              <a:cxnLst/>
              <a:rect r="r" b="b" t="t" l="l"/>
              <a:pathLst>
                <a:path h="533908" w="3143758">
                  <a:moveTo>
                    <a:pt x="0" y="261239"/>
                  </a:moveTo>
                  <a:cubicBezTo>
                    <a:pt x="0" y="116967"/>
                    <a:pt x="121539" y="0"/>
                    <a:pt x="271526" y="0"/>
                  </a:cubicBezTo>
                  <a:lnTo>
                    <a:pt x="2872232" y="0"/>
                  </a:lnTo>
                  <a:cubicBezTo>
                    <a:pt x="3022219" y="0"/>
                    <a:pt x="3143758" y="116967"/>
                    <a:pt x="3143758" y="261239"/>
                  </a:cubicBezTo>
                  <a:lnTo>
                    <a:pt x="3143758" y="272669"/>
                  </a:lnTo>
                  <a:cubicBezTo>
                    <a:pt x="3143758" y="416941"/>
                    <a:pt x="3022219" y="533908"/>
                    <a:pt x="2872232" y="533908"/>
                  </a:cubicBezTo>
                  <a:lnTo>
                    <a:pt x="271526" y="533908"/>
                  </a:lnTo>
                  <a:cubicBezTo>
                    <a:pt x="121539" y="534035"/>
                    <a:pt x="0" y="417068"/>
                    <a:pt x="0" y="272796"/>
                  </a:cubicBezTo>
                  <a:close/>
                </a:path>
              </a:pathLst>
            </a:custGeom>
            <a:solidFill>
              <a:srgbClr val="FFFFFF"/>
            </a:solidFill>
          </p:spPr>
          <p:txBody>
            <a:bodyPr/>
            <a:p/>
          </p:txBody>
        </p:sp>
      </p:grpSp>
      <p:grpSp>
        <p:nvGrpSpPr>
          <p:cNvPr name="Group 92" id="92"/>
          <p:cNvGrpSpPr/>
          <p:nvPr/>
        </p:nvGrpSpPr>
        <p:grpSpPr>
          <a:xfrm rot="0">
            <a:off x="12581687" y="4272534"/>
            <a:ext cx="2452421" cy="400508"/>
            <a:chOff x="0" y="0"/>
            <a:chExt cx="3269894" cy="534010"/>
          </a:xfrm>
        </p:grpSpPr>
        <p:sp>
          <p:nvSpPr>
            <p:cNvPr name="Freeform 93" id="93"/>
            <p:cNvSpPr/>
            <p:nvPr/>
          </p:nvSpPr>
          <p:spPr>
            <a:xfrm flipH="false" flipV="false" rot="0">
              <a:off x="0" y="0"/>
              <a:ext cx="3269894" cy="534010"/>
            </a:xfrm>
            <a:custGeom>
              <a:avLst/>
              <a:gdLst/>
              <a:ahLst/>
              <a:cxnLst/>
              <a:rect r="r" b="b" t="t" l="l"/>
              <a:pathLst>
                <a:path h="534010" w="3269894">
                  <a:moveTo>
                    <a:pt x="0" y="0"/>
                  </a:moveTo>
                  <a:lnTo>
                    <a:pt x="3269894" y="0"/>
                  </a:lnTo>
                  <a:lnTo>
                    <a:pt x="3269894" y="534010"/>
                  </a:lnTo>
                  <a:lnTo>
                    <a:pt x="0" y="534010"/>
                  </a:lnTo>
                  <a:close/>
                </a:path>
              </a:pathLst>
            </a:custGeom>
            <a:blipFill>
              <a:blip r:embed="rId4">
                <a:alphaModFix amt="0"/>
              </a:blip>
              <a:stretch>
                <a:fillRect l="0" t="-69312" r="0" b="-69312"/>
              </a:stretch>
            </a:blipFill>
          </p:spPr>
          <p:txBody>
            <a:bodyPr/>
            <a:p/>
          </p:txBody>
        </p:sp>
        <p:sp>
          <p:nvSpPr>
            <p:cNvPr name="TextBox 94" id="94"/>
            <p:cNvSpPr txBox="true"/>
            <p:nvPr/>
          </p:nvSpPr>
          <p:spPr>
            <a:xfrm>
              <a:off x="0" y="0"/>
              <a:ext cx="3269894"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DEXA / % Masse Grasse</a:t>
              </a:r>
            </a:p>
          </p:txBody>
        </p:sp>
      </p:grpSp>
      <p:grpSp>
        <p:nvGrpSpPr>
          <p:cNvPr name="Group 95" id="95"/>
          <p:cNvGrpSpPr/>
          <p:nvPr/>
        </p:nvGrpSpPr>
        <p:grpSpPr>
          <a:xfrm rot="0">
            <a:off x="12444603" y="5105171"/>
            <a:ext cx="4648200" cy="32766"/>
            <a:chOff x="0" y="0"/>
            <a:chExt cx="6197600" cy="43688"/>
          </a:xfrm>
        </p:grpSpPr>
        <p:sp>
          <p:nvSpPr>
            <p:cNvPr name="Freeform 96" id="96"/>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97" id="97"/>
          <p:cNvGrpSpPr/>
          <p:nvPr/>
        </p:nvGrpSpPr>
        <p:grpSpPr>
          <a:xfrm rot="0">
            <a:off x="12454128" y="5301234"/>
            <a:ext cx="5496001" cy="293380"/>
            <a:chOff x="0" y="0"/>
            <a:chExt cx="7328002" cy="391173"/>
          </a:xfrm>
        </p:grpSpPr>
        <p:sp>
          <p:nvSpPr>
            <p:cNvPr name="Freeform 98" id="98"/>
            <p:cNvSpPr/>
            <p:nvPr/>
          </p:nvSpPr>
          <p:spPr>
            <a:xfrm flipH="false" flipV="false" rot="0">
              <a:off x="0" y="0"/>
              <a:ext cx="7328002" cy="391174"/>
            </a:xfrm>
            <a:custGeom>
              <a:avLst/>
              <a:gdLst/>
              <a:ahLst/>
              <a:cxnLst/>
              <a:rect r="r" b="b" t="t" l="l"/>
              <a:pathLst>
                <a:path h="391174" w="7328002">
                  <a:moveTo>
                    <a:pt x="0" y="0"/>
                  </a:moveTo>
                  <a:lnTo>
                    <a:pt x="7328002" y="0"/>
                  </a:lnTo>
                  <a:lnTo>
                    <a:pt x="7328002" y="391174"/>
                  </a:lnTo>
                  <a:lnTo>
                    <a:pt x="0" y="391174"/>
                  </a:lnTo>
                  <a:close/>
                </a:path>
              </a:pathLst>
            </a:custGeom>
            <a:blipFill>
              <a:blip r:embed="rId4">
                <a:alphaModFix amt="0"/>
              </a:blip>
              <a:stretch>
                <a:fillRect l="0" t="-316165" r="0" b="-313876"/>
              </a:stretch>
            </a:blipFill>
          </p:spPr>
          <p:txBody>
            <a:bodyPr/>
            <a:p/>
          </p:txBody>
        </p:sp>
        <p:sp>
          <p:nvSpPr>
            <p:cNvPr name="TextBox 99" id="99"/>
            <p:cNvSpPr txBox="true"/>
            <p:nvPr/>
          </p:nvSpPr>
          <p:spPr>
            <a:xfrm>
              <a:off x="0" y="0"/>
              <a:ext cx="7328002"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Suivi précis de la qualité tissulaire et métabolique.</a:t>
              </a:r>
            </a:p>
          </p:txBody>
        </p:sp>
      </p:grpSp>
      <p:grpSp>
        <p:nvGrpSpPr>
          <p:cNvPr name="Group 100" id="100"/>
          <p:cNvGrpSpPr/>
          <p:nvPr/>
        </p:nvGrpSpPr>
        <p:grpSpPr>
          <a:xfrm rot="0">
            <a:off x="12444603" y="5683987"/>
            <a:ext cx="1119073" cy="319430"/>
            <a:chOff x="0" y="0"/>
            <a:chExt cx="1492098" cy="425907"/>
          </a:xfrm>
        </p:grpSpPr>
        <p:sp>
          <p:nvSpPr>
            <p:cNvPr name="Freeform 101" id="101"/>
            <p:cNvSpPr/>
            <p:nvPr/>
          </p:nvSpPr>
          <p:spPr>
            <a:xfrm flipH="false" flipV="false" rot="0">
              <a:off x="12700" y="12700"/>
              <a:ext cx="1466596" cy="400558"/>
            </a:xfrm>
            <a:custGeom>
              <a:avLst/>
              <a:gdLst/>
              <a:ahLst/>
              <a:cxnLst/>
              <a:rect r="r" b="b" t="t" l="l"/>
              <a:pathLst>
                <a:path h="400558" w="1466596">
                  <a:moveTo>
                    <a:pt x="0" y="200279"/>
                  </a:moveTo>
                  <a:cubicBezTo>
                    <a:pt x="0" y="89662"/>
                    <a:pt x="93726" y="0"/>
                    <a:pt x="209296" y="0"/>
                  </a:cubicBezTo>
                  <a:lnTo>
                    <a:pt x="1257300" y="0"/>
                  </a:lnTo>
                  <a:cubicBezTo>
                    <a:pt x="1372870" y="0"/>
                    <a:pt x="1466596" y="89662"/>
                    <a:pt x="1466596" y="200279"/>
                  </a:cubicBezTo>
                  <a:cubicBezTo>
                    <a:pt x="1466596" y="310896"/>
                    <a:pt x="1372870" y="400558"/>
                    <a:pt x="1257300" y="400558"/>
                  </a:cubicBezTo>
                  <a:lnTo>
                    <a:pt x="209296" y="400558"/>
                  </a:lnTo>
                  <a:cubicBezTo>
                    <a:pt x="93726" y="400558"/>
                    <a:pt x="0" y="310896"/>
                    <a:pt x="0" y="200279"/>
                  </a:cubicBezTo>
                  <a:close/>
                </a:path>
              </a:pathLst>
            </a:custGeom>
            <a:solidFill>
              <a:srgbClr val="FFFFFF">
                <a:alpha val="0"/>
              </a:srgbClr>
            </a:solidFill>
          </p:spPr>
          <p:txBody>
            <a:bodyPr/>
            <a:p/>
          </p:txBody>
        </p:sp>
      </p:grpSp>
      <p:grpSp>
        <p:nvGrpSpPr>
          <p:cNvPr name="Group 102" id="102"/>
          <p:cNvGrpSpPr/>
          <p:nvPr/>
        </p:nvGrpSpPr>
        <p:grpSpPr>
          <a:xfrm rot="0">
            <a:off x="12454128" y="5693512"/>
            <a:ext cx="1309878" cy="300381"/>
            <a:chOff x="0" y="0"/>
            <a:chExt cx="1746504" cy="400508"/>
          </a:xfrm>
        </p:grpSpPr>
        <p:sp>
          <p:nvSpPr>
            <p:cNvPr name="Freeform 103" id="103"/>
            <p:cNvSpPr/>
            <p:nvPr/>
          </p:nvSpPr>
          <p:spPr>
            <a:xfrm flipH="false" flipV="false" rot="0">
              <a:off x="0" y="0"/>
              <a:ext cx="1746504" cy="400509"/>
            </a:xfrm>
            <a:custGeom>
              <a:avLst/>
              <a:gdLst/>
              <a:ahLst/>
              <a:cxnLst/>
              <a:rect r="r" b="b" t="t" l="l"/>
              <a:pathLst>
                <a:path h="400509" w="1746504">
                  <a:moveTo>
                    <a:pt x="0" y="0"/>
                  </a:moveTo>
                  <a:lnTo>
                    <a:pt x="1746504" y="0"/>
                  </a:lnTo>
                  <a:lnTo>
                    <a:pt x="1746504" y="400509"/>
                  </a:lnTo>
                  <a:lnTo>
                    <a:pt x="0" y="400509"/>
                  </a:lnTo>
                  <a:close/>
                </a:path>
              </a:pathLst>
            </a:custGeom>
            <a:blipFill>
              <a:blip r:embed="rId4">
                <a:alphaModFix amt="0"/>
              </a:blip>
              <a:stretch>
                <a:fillRect l="0" t="-34968" r="0" b="-34968"/>
              </a:stretch>
            </a:blipFill>
          </p:spPr>
          <p:txBody>
            <a:bodyPr/>
            <a:p/>
          </p:txBody>
        </p:sp>
        <p:sp>
          <p:nvSpPr>
            <p:cNvPr name="TextBox 104" id="104"/>
            <p:cNvSpPr txBox="true"/>
            <p:nvPr/>
          </p:nvSpPr>
          <p:spPr>
            <a:xfrm>
              <a:off x="0" y="0"/>
              <a:ext cx="174650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Tour de taille</a:t>
              </a:r>
            </a:p>
          </p:txBody>
        </p:sp>
      </p:grpSp>
      <p:grpSp>
        <p:nvGrpSpPr>
          <p:cNvPr name="Group 105" id="105"/>
          <p:cNvGrpSpPr/>
          <p:nvPr/>
        </p:nvGrpSpPr>
        <p:grpSpPr>
          <a:xfrm rot="0">
            <a:off x="13654354" y="5683987"/>
            <a:ext cx="1205484" cy="319430"/>
            <a:chOff x="0" y="0"/>
            <a:chExt cx="1607312" cy="425907"/>
          </a:xfrm>
        </p:grpSpPr>
        <p:sp>
          <p:nvSpPr>
            <p:cNvPr name="Freeform 106" id="106"/>
            <p:cNvSpPr/>
            <p:nvPr/>
          </p:nvSpPr>
          <p:spPr>
            <a:xfrm flipH="false" flipV="false" rot="0">
              <a:off x="12700" y="12700"/>
              <a:ext cx="1581785" cy="400558"/>
            </a:xfrm>
            <a:custGeom>
              <a:avLst/>
              <a:gdLst/>
              <a:ahLst/>
              <a:cxnLst/>
              <a:rect r="r" b="b" t="t" l="l"/>
              <a:pathLst>
                <a:path h="400558" w="1581785">
                  <a:moveTo>
                    <a:pt x="0" y="200279"/>
                  </a:moveTo>
                  <a:cubicBezTo>
                    <a:pt x="0" y="89662"/>
                    <a:pt x="93853" y="0"/>
                    <a:pt x="209550" y="0"/>
                  </a:cubicBezTo>
                  <a:lnTo>
                    <a:pt x="1372235" y="0"/>
                  </a:lnTo>
                  <a:cubicBezTo>
                    <a:pt x="1487932" y="0"/>
                    <a:pt x="1581785" y="89662"/>
                    <a:pt x="1581785" y="200279"/>
                  </a:cubicBezTo>
                  <a:cubicBezTo>
                    <a:pt x="1581785" y="310896"/>
                    <a:pt x="1487932" y="400558"/>
                    <a:pt x="1372235" y="400558"/>
                  </a:cubicBezTo>
                  <a:lnTo>
                    <a:pt x="209550" y="400558"/>
                  </a:lnTo>
                  <a:cubicBezTo>
                    <a:pt x="93853" y="400558"/>
                    <a:pt x="0" y="310896"/>
                    <a:pt x="0" y="200279"/>
                  </a:cubicBezTo>
                  <a:close/>
                </a:path>
              </a:pathLst>
            </a:custGeom>
            <a:solidFill>
              <a:srgbClr val="FFFFFF">
                <a:alpha val="0"/>
              </a:srgbClr>
            </a:solidFill>
          </p:spPr>
          <p:txBody>
            <a:bodyPr/>
            <a:p/>
          </p:txBody>
        </p:sp>
      </p:grpSp>
      <p:grpSp>
        <p:nvGrpSpPr>
          <p:cNvPr name="Group 107" id="107"/>
          <p:cNvGrpSpPr/>
          <p:nvPr/>
        </p:nvGrpSpPr>
        <p:grpSpPr>
          <a:xfrm rot="0">
            <a:off x="13663879" y="5693512"/>
            <a:ext cx="1300277" cy="300381"/>
            <a:chOff x="0" y="0"/>
            <a:chExt cx="1733702" cy="400508"/>
          </a:xfrm>
        </p:grpSpPr>
        <p:sp>
          <p:nvSpPr>
            <p:cNvPr name="Freeform 108" id="108"/>
            <p:cNvSpPr/>
            <p:nvPr/>
          </p:nvSpPr>
          <p:spPr>
            <a:xfrm flipH="false" flipV="false" rot="0">
              <a:off x="0" y="0"/>
              <a:ext cx="1733702" cy="400509"/>
            </a:xfrm>
            <a:custGeom>
              <a:avLst/>
              <a:gdLst/>
              <a:ahLst/>
              <a:cxnLst/>
              <a:rect r="r" b="b" t="t" l="l"/>
              <a:pathLst>
                <a:path h="400509" w="1733702">
                  <a:moveTo>
                    <a:pt x="0" y="0"/>
                  </a:moveTo>
                  <a:lnTo>
                    <a:pt x="1733702" y="0"/>
                  </a:lnTo>
                  <a:lnTo>
                    <a:pt x="1733702" y="400509"/>
                  </a:lnTo>
                  <a:lnTo>
                    <a:pt x="0" y="400509"/>
                  </a:lnTo>
                  <a:close/>
                </a:path>
              </a:pathLst>
            </a:custGeom>
            <a:blipFill>
              <a:blip r:embed="rId4">
                <a:alphaModFix amt="0"/>
              </a:blip>
              <a:stretch>
                <a:fillRect l="0" t="-34346" r="0" b="-34345"/>
              </a:stretch>
            </a:blipFill>
          </p:spPr>
          <p:txBody>
            <a:bodyPr/>
            <a:p/>
          </p:txBody>
        </p:sp>
        <p:sp>
          <p:nvSpPr>
            <p:cNvPr name="TextBox 109" id="109"/>
            <p:cNvSpPr txBox="true"/>
            <p:nvPr/>
          </p:nvSpPr>
          <p:spPr>
            <a:xfrm>
              <a:off x="0" y="0"/>
              <a:ext cx="173370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Masse Maigre</a:t>
              </a:r>
            </a:p>
          </p:txBody>
        </p:sp>
      </p:grpSp>
      <p:grpSp>
        <p:nvGrpSpPr>
          <p:cNvPr name="Group 110" id="110"/>
          <p:cNvGrpSpPr/>
          <p:nvPr/>
        </p:nvGrpSpPr>
        <p:grpSpPr>
          <a:xfrm rot="0">
            <a:off x="847725" y="6619418"/>
            <a:ext cx="5362804" cy="3502991"/>
            <a:chOff x="0" y="0"/>
            <a:chExt cx="7150405" cy="4670654"/>
          </a:xfrm>
        </p:grpSpPr>
        <p:sp>
          <p:nvSpPr>
            <p:cNvPr name="Freeform 111" id="111"/>
            <p:cNvSpPr/>
            <p:nvPr/>
          </p:nvSpPr>
          <p:spPr>
            <a:xfrm flipH="false" flipV="false" rot="0">
              <a:off x="12700" y="11519"/>
              <a:ext cx="7124954" cy="4647640"/>
            </a:xfrm>
            <a:custGeom>
              <a:avLst/>
              <a:gdLst/>
              <a:ahLst/>
              <a:cxnLst/>
              <a:rect r="r" b="b" t="t" l="l"/>
              <a:pathLst>
                <a:path h="4647640" w="7124954">
                  <a:moveTo>
                    <a:pt x="0" y="0"/>
                  </a:moveTo>
                  <a:lnTo>
                    <a:pt x="7124954" y="0"/>
                  </a:lnTo>
                  <a:lnTo>
                    <a:pt x="7124954" y="4647640"/>
                  </a:lnTo>
                  <a:lnTo>
                    <a:pt x="0" y="4647640"/>
                  </a:lnTo>
                  <a:close/>
                </a:path>
              </a:pathLst>
            </a:custGeom>
            <a:solidFill>
              <a:srgbClr val="141419"/>
            </a:solidFill>
          </p:spPr>
          <p:txBody>
            <a:bodyPr/>
            <a:p/>
          </p:txBody>
        </p:sp>
        <p:sp>
          <p:nvSpPr>
            <p:cNvPr name="Freeform 112" id="112"/>
            <p:cNvSpPr/>
            <p:nvPr/>
          </p:nvSpPr>
          <p:spPr>
            <a:xfrm flipH="false" flipV="false" rot="0">
              <a:off x="0" y="0"/>
              <a:ext cx="7150354" cy="4670680"/>
            </a:xfrm>
            <a:custGeom>
              <a:avLst/>
              <a:gdLst/>
              <a:ahLst/>
              <a:cxnLst/>
              <a:rect r="r" b="b" t="t" l="l"/>
              <a:pathLst>
                <a:path h="4670680" w="7150354">
                  <a:moveTo>
                    <a:pt x="12700" y="0"/>
                  </a:moveTo>
                  <a:lnTo>
                    <a:pt x="7137654" y="0"/>
                  </a:lnTo>
                  <a:cubicBezTo>
                    <a:pt x="7144639" y="0"/>
                    <a:pt x="7150354" y="5183"/>
                    <a:pt x="7150354" y="11519"/>
                  </a:cubicBezTo>
                  <a:lnTo>
                    <a:pt x="7150354" y="4659159"/>
                  </a:lnTo>
                  <a:cubicBezTo>
                    <a:pt x="7150354" y="4665494"/>
                    <a:pt x="7144639" y="4670680"/>
                    <a:pt x="7137654" y="4670680"/>
                  </a:cubicBezTo>
                  <a:lnTo>
                    <a:pt x="12700" y="4670680"/>
                  </a:lnTo>
                  <a:cubicBezTo>
                    <a:pt x="5715" y="4670680"/>
                    <a:pt x="0" y="4665494"/>
                    <a:pt x="0" y="4659159"/>
                  </a:cubicBezTo>
                  <a:lnTo>
                    <a:pt x="0" y="11519"/>
                  </a:lnTo>
                  <a:cubicBezTo>
                    <a:pt x="0" y="5183"/>
                    <a:pt x="5715" y="0"/>
                    <a:pt x="12700" y="0"/>
                  </a:cubicBezTo>
                  <a:moveTo>
                    <a:pt x="12700" y="23037"/>
                  </a:moveTo>
                  <a:lnTo>
                    <a:pt x="12700" y="11519"/>
                  </a:lnTo>
                  <a:lnTo>
                    <a:pt x="25400" y="11519"/>
                  </a:lnTo>
                  <a:lnTo>
                    <a:pt x="25400" y="4659159"/>
                  </a:lnTo>
                  <a:lnTo>
                    <a:pt x="12700" y="4659159"/>
                  </a:lnTo>
                  <a:lnTo>
                    <a:pt x="12700" y="4647640"/>
                  </a:lnTo>
                  <a:lnTo>
                    <a:pt x="7137654" y="4647640"/>
                  </a:lnTo>
                  <a:lnTo>
                    <a:pt x="7137654" y="4659159"/>
                  </a:lnTo>
                  <a:lnTo>
                    <a:pt x="7124954" y="4659159"/>
                  </a:lnTo>
                  <a:lnTo>
                    <a:pt x="7124954" y="11519"/>
                  </a:lnTo>
                  <a:lnTo>
                    <a:pt x="7137654" y="11519"/>
                  </a:lnTo>
                  <a:lnTo>
                    <a:pt x="7137654" y="23037"/>
                  </a:lnTo>
                  <a:lnTo>
                    <a:pt x="12700" y="23037"/>
                  </a:lnTo>
                  <a:close/>
                </a:path>
              </a:pathLst>
            </a:custGeom>
            <a:solidFill>
              <a:srgbClr val="40424D"/>
            </a:solidFill>
          </p:spPr>
          <p:txBody>
            <a:bodyPr/>
            <a:p/>
          </p:txBody>
        </p:sp>
      </p:grpSp>
      <p:grpSp>
        <p:nvGrpSpPr>
          <p:cNvPr name="Group 113" id="113"/>
          <p:cNvGrpSpPr/>
          <p:nvPr/>
        </p:nvGrpSpPr>
        <p:grpSpPr>
          <a:xfrm rot="0">
            <a:off x="1204341" y="6977405"/>
            <a:ext cx="647243" cy="647243"/>
            <a:chOff x="0" y="0"/>
            <a:chExt cx="862990" cy="862990"/>
          </a:xfrm>
        </p:grpSpPr>
        <p:sp>
          <p:nvSpPr>
            <p:cNvPr name="Freeform 114" id="114"/>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15" id="115"/>
          <p:cNvGrpSpPr/>
          <p:nvPr/>
        </p:nvGrpSpPr>
        <p:grpSpPr>
          <a:xfrm rot="0">
            <a:off x="1385316" y="7158380"/>
            <a:ext cx="285293" cy="285293"/>
            <a:chOff x="0" y="0"/>
            <a:chExt cx="380390" cy="380390"/>
          </a:xfrm>
        </p:grpSpPr>
        <p:sp>
          <p:nvSpPr>
            <p:cNvPr name="Freeform 116" id="116" descr="preencoded.png"/>
            <p:cNvSpPr/>
            <p:nvPr/>
          </p:nvSpPr>
          <p:spPr>
            <a:xfrm flipH="false" flipV="false" rot="0">
              <a:off x="0" y="0"/>
              <a:ext cx="380365" cy="380365"/>
            </a:xfrm>
            <a:custGeom>
              <a:avLst/>
              <a:gdLst/>
              <a:ahLst/>
              <a:cxnLst/>
              <a:rect r="r" b="b" t="t" l="l"/>
              <a:pathLst>
                <a:path h="380365" w="380365">
                  <a:moveTo>
                    <a:pt x="0" y="0"/>
                  </a:moveTo>
                  <a:lnTo>
                    <a:pt x="380365" y="0"/>
                  </a:lnTo>
                  <a:lnTo>
                    <a:pt x="380365" y="380365"/>
                  </a:lnTo>
                  <a:lnTo>
                    <a:pt x="0" y="380365"/>
                  </a:lnTo>
                  <a:lnTo>
                    <a:pt x="0" y="0"/>
                  </a:lnTo>
                  <a:close/>
                </a:path>
              </a:pathLst>
            </a:custGeom>
            <a:blipFill>
              <a:blip r:embed="rId7"/>
              <a:stretch>
                <a:fillRect l="0" t="0" r="-6" b="-6"/>
              </a:stretch>
            </a:blipFill>
          </p:spPr>
          <p:txBody>
            <a:bodyPr/>
            <a:p/>
          </p:txBody>
        </p:sp>
      </p:grpSp>
      <p:grpSp>
        <p:nvGrpSpPr>
          <p:cNvPr name="Group 117" id="117"/>
          <p:cNvGrpSpPr/>
          <p:nvPr/>
        </p:nvGrpSpPr>
        <p:grpSpPr>
          <a:xfrm rot="0">
            <a:off x="5627675" y="6986930"/>
            <a:ext cx="329184" cy="257861"/>
            <a:chOff x="0" y="0"/>
            <a:chExt cx="438912" cy="343814"/>
          </a:xfrm>
        </p:grpSpPr>
        <p:sp>
          <p:nvSpPr>
            <p:cNvPr name="Freeform 118" id="118"/>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19" id="119"/>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04</a:t>
              </a:r>
            </a:p>
          </p:txBody>
        </p:sp>
      </p:grpSp>
      <p:grpSp>
        <p:nvGrpSpPr>
          <p:cNvPr name="Group 120" id="120"/>
          <p:cNvGrpSpPr/>
          <p:nvPr/>
        </p:nvGrpSpPr>
        <p:grpSpPr>
          <a:xfrm rot="0">
            <a:off x="1213866" y="7900416"/>
            <a:ext cx="4800600" cy="430120"/>
            <a:chOff x="0" y="0"/>
            <a:chExt cx="6400800" cy="573494"/>
          </a:xfrm>
        </p:grpSpPr>
        <p:sp>
          <p:nvSpPr>
            <p:cNvPr name="Freeform 121" id="121"/>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22" id="122"/>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ANALYSES</a:t>
              </a:r>
            </a:p>
          </p:txBody>
        </p:sp>
      </p:grpSp>
      <p:grpSp>
        <p:nvGrpSpPr>
          <p:cNvPr name="Group 123" id="123"/>
          <p:cNvGrpSpPr/>
          <p:nvPr/>
        </p:nvGrpSpPr>
        <p:grpSpPr>
          <a:xfrm rot="0">
            <a:off x="1204341" y="8391525"/>
            <a:ext cx="2076450" cy="419557"/>
            <a:chOff x="0" y="0"/>
            <a:chExt cx="2768600" cy="559410"/>
          </a:xfrm>
        </p:grpSpPr>
        <p:sp>
          <p:nvSpPr>
            <p:cNvPr name="Freeform 124" id="124"/>
            <p:cNvSpPr/>
            <p:nvPr/>
          </p:nvSpPr>
          <p:spPr>
            <a:xfrm flipH="false" flipV="false" rot="0">
              <a:off x="12700" y="12700"/>
              <a:ext cx="2743200" cy="533908"/>
            </a:xfrm>
            <a:custGeom>
              <a:avLst/>
              <a:gdLst/>
              <a:ahLst/>
              <a:cxnLst/>
              <a:rect r="r" b="b" t="t" l="l"/>
              <a:pathLst>
                <a:path h="533908" w="2743200">
                  <a:moveTo>
                    <a:pt x="0" y="261239"/>
                  </a:moveTo>
                  <a:cubicBezTo>
                    <a:pt x="0" y="116967"/>
                    <a:pt x="121412" y="0"/>
                    <a:pt x="271145" y="0"/>
                  </a:cubicBezTo>
                  <a:lnTo>
                    <a:pt x="2472055" y="0"/>
                  </a:lnTo>
                  <a:cubicBezTo>
                    <a:pt x="2621788" y="0"/>
                    <a:pt x="2743200" y="116967"/>
                    <a:pt x="2743200" y="261239"/>
                  </a:cubicBezTo>
                  <a:lnTo>
                    <a:pt x="2743200" y="272669"/>
                  </a:lnTo>
                  <a:cubicBezTo>
                    <a:pt x="2743200" y="416941"/>
                    <a:pt x="2621788" y="533908"/>
                    <a:pt x="2472055" y="533908"/>
                  </a:cubicBezTo>
                  <a:lnTo>
                    <a:pt x="271145" y="533908"/>
                  </a:lnTo>
                  <a:cubicBezTo>
                    <a:pt x="121412" y="534035"/>
                    <a:pt x="0" y="417068"/>
                    <a:pt x="0" y="272796"/>
                  </a:cubicBezTo>
                  <a:close/>
                </a:path>
              </a:pathLst>
            </a:custGeom>
            <a:solidFill>
              <a:srgbClr val="FFFFFF"/>
            </a:solidFill>
          </p:spPr>
          <p:txBody>
            <a:bodyPr/>
            <a:p/>
          </p:txBody>
        </p:sp>
      </p:grpSp>
      <p:grpSp>
        <p:nvGrpSpPr>
          <p:cNvPr name="Group 125" id="125"/>
          <p:cNvGrpSpPr/>
          <p:nvPr/>
        </p:nvGrpSpPr>
        <p:grpSpPr>
          <a:xfrm rot="0">
            <a:off x="1313993" y="8401050"/>
            <a:ext cx="2143811" cy="400508"/>
            <a:chOff x="0" y="0"/>
            <a:chExt cx="2858414" cy="534010"/>
          </a:xfrm>
        </p:grpSpPr>
        <p:sp>
          <p:nvSpPr>
            <p:cNvPr name="Freeform 126" id="126"/>
            <p:cNvSpPr/>
            <p:nvPr/>
          </p:nvSpPr>
          <p:spPr>
            <a:xfrm flipH="false" flipV="false" rot="0">
              <a:off x="0" y="0"/>
              <a:ext cx="2858414" cy="534010"/>
            </a:xfrm>
            <a:custGeom>
              <a:avLst/>
              <a:gdLst/>
              <a:ahLst/>
              <a:cxnLst/>
              <a:rect r="r" b="b" t="t" l="l"/>
              <a:pathLst>
                <a:path h="534010" w="2858414">
                  <a:moveTo>
                    <a:pt x="0" y="0"/>
                  </a:moveTo>
                  <a:lnTo>
                    <a:pt x="2858414" y="0"/>
                  </a:lnTo>
                  <a:lnTo>
                    <a:pt x="2858414" y="534010"/>
                  </a:lnTo>
                  <a:lnTo>
                    <a:pt x="0" y="534010"/>
                  </a:lnTo>
                  <a:close/>
                </a:path>
              </a:pathLst>
            </a:custGeom>
            <a:blipFill>
              <a:blip r:embed="rId4">
                <a:alphaModFix amt="0"/>
              </a:blip>
              <a:stretch>
                <a:fillRect l="0" t="-54298" r="0" b="-54298"/>
              </a:stretch>
            </a:blipFill>
          </p:spPr>
          <p:txBody>
            <a:bodyPr/>
            <a:p/>
          </p:txBody>
        </p:sp>
        <p:sp>
          <p:nvSpPr>
            <p:cNvPr name="TextBox 127" id="127"/>
            <p:cNvSpPr txBox="true"/>
            <p:nvPr/>
          </p:nvSpPr>
          <p:spPr>
            <a:xfrm>
              <a:off x="0" y="0"/>
              <a:ext cx="2858414"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Panel Biomarqueurs</a:t>
              </a:r>
            </a:p>
          </p:txBody>
        </p:sp>
      </p:grpSp>
      <p:grpSp>
        <p:nvGrpSpPr>
          <p:cNvPr name="Group 128" id="128"/>
          <p:cNvGrpSpPr/>
          <p:nvPr/>
        </p:nvGrpSpPr>
        <p:grpSpPr>
          <a:xfrm rot="0">
            <a:off x="1204341" y="9235059"/>
            <a:ext cx="4648200" cy="32766"/>
            <a:chOff x="0" y="0"/>
            <a:chExt cx="6197600" cy="43688"/>
          </a:xfrm>
        </p:grpSpPr>
        <p:sp>
          <p:nvSpPr>
            <p:cNvPr name="Freeform 129" id="129"/>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30" id="130"/>
          <p:cNvGrpSpPr/>
          <p:nvPr/>
        </p:nvGrpSpPr>
        <p:grpSpPr>
          <a:xfrm rot="0">
            <a:off x="1213866" y="9429750"/>
            <a:ext cx="5187391" cy="293380"/>
            <a:chOff x="0" y="0"/>
            <a:chExt cx="6916522" cy="391173"/>
          </a:xfrm>
        </p:grpSpPr>
        <p:sp>
          <p:nvSpPr>
            <p:cNvPr name="Freeform 131" id="131"/>
            <p:cNvSpPr/>
            <p:nvPr/>
          </p:nvSpPr>
          <p:spPr>
            <a:xfrm flipH="false" flipV="false" rot="0">
              <a:off x="0" y="0"/>
              <a:ext cx="6916522" cy="391174"/>
            </a:xfrm>
            <a:custGeom>
              <a:avLst/>
              <a:gdLst/>
              <a:ahLst/>
              <a:cxnLst/>
              <a:rect r="r" b="b" t="t" l="l"/>
              <a:pathLst>
                <a:path h="391174" w="6916522">
                  <a:moveTo>
                    <a:pt x="0" y="0"/>
                  </a:moveTo>
                  <a:lnTo>
                    <a:pt x="6916522" y="0"/>
                  </a:lnTo>
                  <a:lnTo>
                    <a:pt x="6916522" y="391174"/>
                  </a:lnTo>
                  <a:lnTo>
                    <a:pt x="0" y="391174"/>
                  </a:lnTo>
                  <a:close/>
                </a:path>
              </a:pathLst>
            </a:custGeom>
            <a:blipFill>
              <a:blip r:embed="rId4">
                <a:alphaModFix amt="0"/>
              </a:blip>
              <a:stretch>
                <a:fillRect l="0" t="-295668" r="0" b="-293379"/>
              </a:stretch>
            </a:blipFill>
          </p:spPr>
          <p:txBody>
            <a:bodyPr/>
            <a:p/>
          </p:txBody>
        </p:sp>
        <p:sp>
          <p:nvSpPr>
            <p:cNvPr name="TextBox 132" id="132"/>
            <p:cNvSpPr txBox="true"/>
            <p:nvPr/>
          </p:nvSpPr>
          <p:spPr>
            <a:xfrm>
              <a:off x="0" y="0"/>
              <a:ext cx="6916522"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Biologie profonde pour une détection précoce.</a:t>
              </a:r>
            </a:p>
          </p:txBody>
        </p:sp>
      </p:grpSp>
      <p:grpSp>
        <p:nvGrpSpPr>
          <p:cNvPr name="Group 133" id="133"/>
          <p:cNvGrpSpPr/>
          <p:nvPr/>
        </p:nvGrpSpPr>
        <p:grpSpPr>
          <a:xfrm rot="0">
            <a:off x="1204341" y="9812503"/>
            <a:ext cx="647243" cy="319430"/>
            <a:chOff x="0" y="0"/>
            <a:chExt cx="862990" cy="425907"/>
          </a:xfrm>
        </p:grpSpPr>
        <p:sp>
          <p:nvSpPr>
            <p:cNvPr name="Freeform 134" id="134"/>
            <p:cNvSpPr/>
            <p:nvPr/>
          </p:nvSpPr>
          <p:spPr>
            <a:xfrm flipH="false" flipV="false" rot="0">
              <a:off x="12700" y="12700"/>
              <a:ext cx="837438" cy="400558"/>
            </a:xfrm>
            <a:custGeom>
              <a:avLst/>
              <a:gdLst/>
              <a:ahLst/>
              <a:cxnLst/>
              <a:rect r="r" b="b" t="t" l="l"/>
              <a:pathLst>
                <a:path h="400558" w="837438">
                  <a:moveTo>
                    <a:pt x="0" y="200279"/>
                  </a:moveTo>
                  <a:cubicBezTo>
                    <a:pt x="0" y="89662"/>
                    <a:pt x="92583" y="0"/>
                    <a:pt x="206629" y="0"/>
                  </a:cubicBezTo>
                  <a:lnTo>
                    <a:pt x="630809" y="0"/>
                  </a:lnTo>
                  <a:cubicBezTo>
                    <a:pt x="744982" y="0"/>
                    <a:pt x="837438" y="89662"/>
                    <a:pt x="837438" y="200279"/>
                  </a:cubicBezTo>
                  <a:cubicBezTo>
                    <a:pt x="837438" y="310896"/>
                    <a:pt x="745109" y="400558"/>
                    <a:pt x="630936" y="400558"/>
                  </a:cubicBezTo>
                  <a:lnTo>
                    <a:pt x="206629" y="400558"/>
                  </a:lnTo>
                  <a:cubicBezTo>
                    <a:pt x="92583" y="400558"/>
                    <a:pt x="0" y="310896"/>
                    <a:pt x="0" y="200279"/>
                  </a:cubicBezTo>
                  <a:close/>
                </a:path>
              </a:pathLst>
            </a:custGeom>
            <a:solidFill>
              <a:srgbClr val="FFFFFF">
                <a:alpha val="0"/>
              </a:srgbClr>
            </a:solidFill>
          </p:spPr>
          <p:txBody>
            <a:bodyPr/>
            <a:p/>
          </p:txBody>
        </p:sp>
      </p:grpSp>
      <p:grpSp>
        <p:nvGrpSpPr>
          <p:cNvPr name="Group 135" id="135"/>
          <p:cNvGrpSpPr/>
          <p:nvPr/>
        </p:nvGrpSpPr>
        <p:grpSpPr>
          <a:xfrm rot="0">
            <a:off x="1213866" y="9822028"/>
            <a:ext cx="743407" cy="300381"/>
            <a:chOff x="0" y="0"/>
            <a:chExt cx="991210" cy="400508"/>
          </a:xfrm>
        </p:grpSpPr>
        <p:sp>
          <p:nvSpPr>
            <p:cNvPr name="Freeform 136" id="136"/>
            <p:cNvSpPr/>
            <p:nvPr/>
          </p:nvSpPr>
          <p:spPr>
            <a:xfrm flipH="false" flipV="false" rot="0">
              <a:off x="0" y="0"/>
              <a:ext cx="991210" cy="400509"/>
            </a:xfrm>
            <a:custGeom>
              <a:avLst/>
              <a:gdLst/>
              <a:ahLst/>
              <a:cxnLst/>
              <a:rect r="r" b="b" t="t" l="l"/>
              <a:pathLst>
                <a:path h="400509" w="991210">
                  <a:moveTo>
                    <a:pt x="0" y="0"/>
                  </a:moveTo>
                  <a:lnTo>
                    <a:pt x="991210" y="0"/>
                  </a:lnTo>
                  <a:lnTo>
                    <a:pt x="991210" y="400509"/>
                  </a:lnTo>
                  <a:lnTo>
                    <a:pt x="0" y="400509"/>
                  </a:lnTo>
                  <a:close/>
                </a:path>
              </a:pathLst>
            </a:custGeom>
            <a:blipFill>
              <a:blip r:embed="rId4">
                <a:alphaModFix amt="0"/>
              </a:blip>
              <a:stretch>
                <a:fillRect l="-1842" t="0" r="-1842" b="0"/>
              </a:stretch>
            </a:blipFill>
          </p:spPr>
          <p:txBody>
            <a:bodyPr/>
            <a:p/>
          </p:txBody>
        </p:sp>
        <p:sp>
          <p:nvSpPr>
            <p:cNvPr name="TextBox 137" id="137"/>
            <p:cNvSpPr txBox="true"/>
            <p:nvPr/>
          </p:nvSpPr>
          <p:spPr>
            <a:xfrm>
              <a:off x="0" y="0"/>
              <a:ext cx="99121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HbA1c</a:t>
              </a:r>
            </a:p>
          </p:txBody>
        </p:sp>
      </p:grpSp>
      <p:grpSp>
        <p:nvGrpSpPr>
          <p:cNvPr name="Group 138" id="138"/>
          <p:cNvGrpSpPr/>
          <p:nvPr/>
        </p:nvGrpSpPr>
        <p:grpSpPr>
          <a:xfrm rot="0">
            <a:off x="1940890" y="9812503"/>
            <a:ext cx="762457" cy="319430"/>
            <a:chOff x="0" y="0"/>
            <a:chExt cx="1016610" cy="425907"/>
          </a:xfrm>
        </p:grpSpPr>
        <p:sp>
          <p:nvSpPr>
            <p:cNvPr name="Freeform 139" id="139"/>
            <p:cNvSpPr/>
            <p:nvPr/>
          </p:nvSpPr>
          <p:spPr>
            <a:xfrm flipH="false" flipV="false" rot="0">
              <a:off x="12700" y="12700"/>
              <a:ext cx="991235" cy="400558"/>
            </a:xfrm>
            <a:custGeom>
              <a:avLst/>
              <a:gdLst/>
              <a:ahLst/>
              <a:cxnLst/>
              <a:rect r="r" b="b" t="t" l="l"/>
              <a:pathLst>
                <a:path h="400558" w="991235">
                  <a:moveTo>
                    <a:pt x="0" y="200279"/>
                  </a:moveTo>
                  <a:cubicBezTo>
                    <a:pt x="0" y="89662"/>
                    <a:pt x="92964" y="0"/>
                    <a:pt x="207645" y="0"/>
                  </a:cubicBezTo>
                  <a:lnTo>
                    <a:pt x="783590" y="0"/>
                  </a:lnTo>
                  <a:cubicBezTo>
                    <a:pt x="898271" y="0"/>
                    <a:pt x="991235" y="89662"/>
                    <a:pt x="991235" y="200279"/>
                  </a:cubicBezTo>
                  <a:cubicBezTo>
                    <a:pt x="991235" y="310896"/>
                    <a:pt x="898271" y="400558"/>
                    <a:pt x="783590" y="400558"/>
                  </a:cubicBezTo>
                  <a:lnTo>
                    <a:pt x="207645" y="400558"/>
                  </a:lnTo>
                  <a:cubicBezTo>
                    <a:pt x="92964" y="400558"/>
                    <a:pt x="0" y="310896"/>
                    <a:pt x="0" y="200279"/>
                  </a:cubicBezTo>
                  <a:close/>
                </a:path>
              </a:pathLst>
            </a:custGeom>
            <a:solidFill>
              <a:srgbClr val="FFFFFF">
                <a:alpha val="0"/>
              </a:srgbClr>
            </a:solidFill>
          </p:spPr>
          <p:txBody>
            <a:bodyPr/>
            <a:p/>
          </p:txBody>
        </p:sp>
      </p:grpSp>
      <p:grpSp>
        <p:nvGrpSpPr>
          <p:cNvPr name="Group 140" id="140"/>
          <p:cNvGrpSpPr/>
          <p:nvPr/>
        </p:nvGrpSpPr>
        <p:grpSpPr>
          <a:xfrm rot="0">
            <a:off x="1950415" y="9822028"/>
            <a:ext cx="857250" cy="300381"/>
            <a:chOff x="0" y="0"/>
            <a:chExt cx="1143000" cy="400508"/>
          </a:xfrm>
        </p:grpSpPr>
        <p:sp>
          <p:nvSpPr>
            <p:cNvPr name="Freeform 141" id="141"/>
            <p:cNvSpPr/>
            <p:nvPr/>
          </p:nvSpPr>
          <p:spPr>
            <a:xfrm flipH="false" flipV="false" rot="0">
              <a:off x="0" y="0"/>
              <a:ext cx="1143000" cy="400509"/>
            </a:xfrm>
            <a:custGeom>
              <a:avLst/>
              <a:gdLst/>
              <a:ahLst/>
              <a:cxnLst/>
              <a:rect r="r" b="b" t="t" l="l"/>
              <a:pathLst>
                <a:path h="400509" w="1143000">
                  <a:moveTo>
                    <a:pt x="0" y="0"/>
                  </a:moveTo>
                  <a:lnTo>
                    <a:pt x="1143000" y="0"/>
                  </a:lnTo>
                  <a:lnTo>
                    <a:pt x="1143000" y="400509"/>
                  </a:lnTo>
                  <a:lnTo>
                    <a:pt x="0" y="400509"/>
                  </a:lnTo>
                  <a:close/>
                </a:path>
              </a:pathLst>
            </a:custGeom>
            <a:blipFill>
              <a:blip r:embed="rId4">
                <a:alphaModFix amt="0"/>
              </a:blip>
              <a:stretch>
                <a:fillRect l="0" t="-5607" r="0" b="-5607"/>
              </a:stretch>
            </a:blipFill>
          </p:spPr>
          <p:txBody>
            <a:bodyPr/>
            <a:p/>
          </p:txBody>
        </p:sp>
        <p:sp>
          <p:nvSpPr>
            <p:cNvPr name="TextBox 142" id="142"/>
            <p:cNvSpPr txBox="true"/>
            <p:nvPr/>
          </p:nvSpPr>
          <p:spPr>
            <a:xfrm>
              <a:off x="0" y="0"/>
              <a:ext cx="1143000"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Insuline</a:t>
              </a:r>
            </a:p>
          </p:txBody>
        </p:sp>
      </p:grpSp>
      <p:grpSp>
        <p:nvGrpSpPr>
          <p:cNvPr name="Group 143" id="143"/>
          <p:cNvGrpSpPr/>
          <p:nvPr/>
        </p:nvGrpSpPr>
        <p:grpSpPr>
          <a:xfrm rot="0">
            <a:off x="2791282" y="9812503"/>
            <a:ext cx="704850" cy="319430"/>
            <a:chOff x="0" y="0"/>
            <a:chExt cx="939800" cy="425907"/>
          </a:xfrm>
        </p:grpSpPr>
        <p:sp>
          <p:nvSpPr>
            <p:cNvPr name="Freeform 144" id="144"/>
            <p:cNvSpPr/>
            <p:nvPr/>
          </p:nvSpPr>
          <p:spPr>
            <a:xfrm flipH="false" flipV="false" rot="0">
              <a:off x="12700" y="12700"/>
              <a:ext cx="914400" cy="400558"/>
            </a:xfrm>
            <a:custGeom>
              <a:avLst/>
              <a:gdLst/>
              <a:ahLst/>
              <a:cxnLst/>
              <a:rect r="r" b="b" t="t" l="l"/>
              <a:pathLst>
                <a:path h="400558" w="914400">
                  <a:moveTo>
                    <a:pt x="0" y="200279"/>
                  </a:moveTo>
                  <a:cubicBezTo>
                    <a:pt x="0" y="89662"/>
                    <a:pt x="92710" y="0"/>
                    <a:pt x="207137" y="0"/>
                  </a:cubicBezTo>
                  <a:lnTo>
                    <a:pt x="707263" y="0"/>
                  </a:lnTo>
                  <a:cubicBezTo>
                    <a:pt x="821690" y="0"/>
                    <a:pt x="914400" y="89662"/>
                    <a:pt x="914400" y="200279"/>
                  </a:cubicBezTo>
                  <a:cubicBezTo>
                    <a:pt x="914400" y="310896"/>
                    <a:pt x="821690" y="400558"/>
                    <a:pt x="707263" y="400558"/>
                  </a:cubicBezTo>
                  <a:lnTo>
                    <a:pt x="207137" y="400558"/>
                  </a:lnTo>
                  <a:cubicBezTo>
                    <a:pt x="92710" y="400558"/>
                    <a:pt x="0" y="310896"/>
                    <a:pt x="0" y="200279"/>
                  </a:cubicBezTo>
                  <a:close/>
                </a:path>
              </a:pathLst>
            </a:custGeom>
            <a:solidFill>
              <a:srgbClr val="FFFFFF">
                <a:alpha val="0"/>
              </a:srgbClr>
            </a:solidFill>
          </p:spPr>
          <p:txBody>
            <a:bodyPr/>
            <a:p/>
          </p:txBody>
        </p:sp>
      </p:grpSp>
      <p:grpSp>
        <p:nvGrpSpPr>
          <p:cNvPr name="Group 145" id="145"/>
          <p:cNvGrpSpPr/>
          <p:nvPr/>
        </p:nvGrpSpPr>
        <p:grpSpPr>
          <a:xfrm rot="0">
            <a:off x="2800807" y="9822028"/>
            <a:ext cx="801014" cy="300381"/>
            <a:chOff x="0" y="0"/>
            <a:chExt cx="1068019" cy="400508"/>
          </a:xfrm>
        </p:grpSpPr>
        <p:sp>
          <p:nvSpPr>
            <p:cNvPr name="Freeform 146" id="146"/>
            <p:cNvSpPr/>
            <p:nvPr/>
          </p:nvSpPr>
          <p:spPr>
            <a:xfrm flipH="false" flipV="false" rot="0">
              <a:off x="0" y="0"/>
              <a:ext cx="1068020" cy="400509"/>
            </a:xfrm>
            <a:custGeom>
              <a:avLst/>
              <a:gdLst/>
              <a:ahLst/>
              <a:cxnLst/>
              <a:rect r="r" b="b" t="t" l="l"/>
              <a:pathLst>
                <a:path h="400509" w="1068020">
                  <a:moveTo>
                    <a:pt x="0" y="0"/>
                  </a:moveTo>
                  <a:lnTo>
                    <a:pt x="1068020" y="0"/>
                  </a:lnTo>
                  <a:lnTo>
                    <a:pt x="1068020" y="400509"/>
                  </a:lnTo>
                  <a:lnTo>
                    <a:pt x="0" y="400509"/>
                  </a:lnTo>
                  <a:close/>
                </a:path>
              </a:pathLst>
            </a:custGeom>
            <a:blipFill>
              <a:blip r:embed="rId4">
                <a:alphaModFix amt="0"/>
              </a:blip>
              <a:stretch>
                <a:fillRect l="0" t="-1960" r="0" b="-1959"/>
              </a:stretch>
            </a:blipFill>
          </p:spPr>
          <p:txBody>
            <a:bodyPr/>
            <a:p/>
          </p:txBody>
        </p:sp>
        <p:sp>
          <p:nvSpPr>
            <p:cNvPr name="TextBox 147" id="147"/>
            <p:cNvSpPr txBox="true"/>
            <p:nvPr/>
          </p:nvSpPr>
          <p:spPr>
            <a:xfrm>
              <a:off x="0" y="0"/>
              <a:ext cx="1068019"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Lipides</a:t>
              </a:r>
            </a:p>
          </p:txBody>
        </p:sp>
      </p:grpSp>
      <p:grpSp>
        <p:nvGrpSpPr>
          <p:cNvPr name="Group 148" id="148"/>
          <p:cNvGrpSpPr/>
          <p:nvPr/>
        </p:nvGrpSpPr>
        <p:grpSpPr>
          <a:xfrm rot="0">
            <a:off x="3590925" y="9812503"/>
            <a:ext cx="747370" cy="319430"/>
            <a:chOff x="0" y="0"/>
            <a:chExt cx="996493" cy="425907"/>
          </a:xfrm>
        </p:grpSpPr>
        <p:sp>
          <p:nvSpPr>
            <p:cNvPr name="Freeform 149" id="149"/>
            <p:cNvSpPr/>
            <p:nvPr/>
          </p:nvSpPr>
          <p:spPr>
            <a:xfrm flipH="false" flipV="false" rot="0">
              <a:off x="12700" y="12700"/>
              <a:ext cx="971042" cy="400558"/>
            </a:xfrm>
            <a:custGeom>
              <a:avLst/>
              <a:gdLst/>
              <a:ahLst/>
              <a:cxnLst/>
              <a:rect r="r" b="b" t="t" l="l"/>
              <a:pathLst>
                <a:path h="400558" w="971042">
                  <a:moveTo>
                    <a:pt x="0" y="200279"/>
                  </a:moveTo>
                  <a:cubicBezTo>
                    <a:pt x="0" y="89662"/>
                    <a:pt x="92964" y="0"/>
                    <a:pt x="207518" y="0"/>
                  </a:cubicBezTo>
                  <a:lnTo>
                    <a:pt x="763524" y="0"/>
                  </a:lnTo>
                  <a:cubicBezTo>
                    <a:pt x="878078" y="0"/>
                    <a:pt x="971042" y="89662"/>
                    <a:pt x="971042" y="200279"/>
                  </a:cubicBezTo>
                  <a:cubicBezTo>
                    <a:pt x="971042" y="310896"/>
                    <a:pt x="878205" y="400558"/>
                    <a:pt x="763524" y="400558"/>
                  </a:cubicBezTo>
                  <a:lnTo>
                    <a:pt x="207518" y="400558"/>
                  </a:lnTo>
                  <a:cubicBezTo>
                    <a:pt x="92964" y="400558"/>
                    <a:pt x="0" y="310896"/>
                    <a:pt x="0" y="200279"/>
                  </a:cubicBezTo>
                  <a:close/>
                </a:path>
              </a:pathLst>
            </a:custGeom>
            <a:solidFill>
              <a:srgbClr val="FFFFFF">
                <a:alpha val="0"/>
              </a:srgbClr>
            </a:solidFill>
          </p:spPr>
          <p:txBody>
            <a:bodyPr/>
            <a:p/>
          </p:txBody>
        </p:sp>
      </p:grpSp>
      <p:grpSp>
        <p:nvGrpSpPr>
          <p:cNvPr name="Group 150" id="150"/>
          <p:cNvGrpSpPr/>
          <p:nvPr/>
        </p:nvGrpSpPr>
        <p:grpSpPr>
          <a:xfrm rot="0">
            <a:off x="3600450" y="9822028"/>
            <a:ext cx="843534" cy="300381"/>
            <a:chOff x="0" y="0"/>
            <a:chExt cx="1124712" cy="400508"/>
          </a:xfrm>
        </p:grpSpPr>
        <p:sp>
          <p:nvSpPr>
            <p:cNvPr name="Freeform 151" id="151"/>
            <p:cNvSpPr/>
            <p:nvPr/>
          </p:nvSpPr>
          <p:spPr>
            <a:xfrm flipH="false" flipV="false" rot="0">
              <a:off x="0" y="0"/>
              <a:ext cx="1124712" cy="400509"/>
            </a:xfrm>
            <a:custGeom>
              <a:avLst/>
              <a:gdLst/>
              <a:ahLst/>
              <a:cxnLst/>
              <a:rect r="r" b="b" t="t" l="l"/>
              <a:pathLst>
                <a:path h="400509" w="1124712">
                  <a:moveTo>
                    <a:pt x="0" y="0"/>
                  </a:moveTo>
                  <a:lnTo>
                    <a:pt x="1124712" y="0"/>
                  </a:lnTo>
                  <a:lnTo>
                    <a:pt x="1124712" y="400509"/>
                  </a:lnTo>
                  <a:lnTo>
                    <a:pt x="0" y="400509"/>
                  </a:lnTo>
                  <a:close/>
                </a:path>
              </a:pathLst>
            </a:custGeom>
            <a:blipFill>
              <a:blip r:embed="rId4">
                <a:alphaModFix amt="0"/>
              </a:blip>
              <a:stretch>
                <a:fillRect l="0" t="-4718" r="0" b="-4717"/>
              </a:stretch>
            </a:blipFill>
          </p:spPr>
          <p:txBody>
            <a:bodyPr/>
            <a:p/>
          </p:txBody>
        </p:sp>
        <p:sp>
          <p:nvSpPr>
            <p:cNvPr name="TextBox 152" id="152"/>
            <p:cNvSpPr txBox="true"/>
            <p:nvPr/>
          </p:nvSpPr>
          <p:spPr>
            <a:xfrm>
              <a:off x="0" y="0"/>
              <a:ext cx="1124712"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hs-CRP</a:t>
              </a:r>
            </a:p>
          </p:txBody>
        </p:sp>
      </p:grpSp>
      <p:grpSp>
        <p:nvGrpSpPr>
          <p:cNvPr name="Group 153" id="153"/>
          <p:cNvGrpSpPr/>
          <p:nvPr/>
        </p:nvGrpSpPr>
        <p:grpSpPr>
          <a:xfrm rot="0">
            <a:off x="4424858" y="9812503"/>
            <a:ext cx="947623" cy="319430"/>
            <a:chOff x="0" y="0"/>
            <a:chExt cx="1263498" cy="425907"/>
          </a:xfrm>
        </p:grpSpPr>
        <p:sp>
          <p:nvSpPr>
            <p:cNvPr name="Freeform 154" id="154"/>
            <p:cNvSpPr/>
            <p:nvPr/>
          </p:nvSpPr>
          <p:spPr>
            <a:xfrm flipH="false" flipV="false" rot="0">
              <a:off x="12700" y="12700"/>
              <a:ext cx="1238123" cy="400558"/>
            </a:xfrm>
            <a:custGeom>
              <a:avLst/>
              <a:gdLst/>
              <a:ahLst/>
              <a:cxnLst/>
              <a:rect r="r" b="b" t="t" l="l"/>
              <a:pathLst>
                <a:path h="400558" w="1238123">
                  <a:moveTo>
                    <a:pt x="0" y="200279"/>
                  </a:moveTo>
                  <a:cubicBezTo>
                    <a:pt x="0" y="89662"/>
                    <a:pt x="93472" y="0"/>
                    <a:pt x="208661" y="0"/>
                  </a:cubicBezTo>
                  <a:lnTo>
                    <a:pt x="1029462" y="0"/>
                  </a:lnTo>
                  <a:cubicBezTo>
                    <a:pt x="1144651" y="0"/>
                    <a:pt x="1238123" y="89662"/>
                    <a:pt x="1238123" y="200279"/>
                  </a:cubicBezTo>
                  <a:cubicBezTo>
                    <a:pt x="1238123" y="310896"/>
                    <a:pt x="1144651" y="400558"/>
                    <a:pt x="1029462" y="400558"/>
                  </a:cubicBezTo>
                  <a:lnTo>
                    <a:pt x="208661" y="400558"/>
                  </a:lnTo>
                  <a:cubicBezTo>
                    <a:pt x="93472" y="400558"/>
                    <a:pt x="0" y="310896"/>
                    <a:pt x="0" y="200279"/>
                  </a:cubicBezTo>
                  <a:close/>
                </a:path>
              </a:pathLst>
            </a:custGeom>
            <a:solidFill>
              <a:srgbClr val="FFFFFF">
                <a:alpha val="0"/>
              </a:srgbClr>
            </a:solidFill>
          </p:spPr>
          <p:txBody>
            <a:bodyPr/>
            <a:p/>
          </p:txBody>
        </p:sp>
      </p:grpSp>
      <p:grpSp>
        <p:nvGrpSpPr>
          <p:cNvPr name="Group 155" id="155"/>
          <p:cNvGrpSpPr/>
          <p:nvPr/>
        </p:nvGrpSpPr>
        <p:grpSpPr>
          <a:xfrm rot="0">
            <a:off x="4434383" y="9822028"/>
            <a:ext cx="1043788" cy="300381"/>
            <a:chOff x="0" y="0"/>
            <a:chExt cx="1391717" cy="400508"/>
          </a:xfrm>
        </p:grpSpPr>
        <p:sp>
          <p:nvSpPr>
            <p:cNvPr name="Freeform 156" id="156"/>
            <p:cNvSpPr/>
            <p:nvPr/>
          </p:nvSpPr>
          <p:spPr>
            <a:xfrm flipH="false" flipV="false" rot="0">
              <a:off x="0" y="0"/>
              <a:ext cx="1391716" cy="400509"/>
            </a:xfrm>
            <a:custGeom>
              <a:avLst/>
              <a:gdLst/>
              <a:ahLst/>
              <a:cxnLst/>
              <a:rect r="r" b="b" t="t" l="l"/>
              <a:pathLst>
                <a:path h="400509" w="1391716">
                  <a:moveTo>
                    <a:pt x="0" y="0"/>
                  </a:moveTo>
                  <a:lnTo>
                    <a:pt x="1391716" y="0"/>
                  </a:lnTo>
                  <a:lnTo>
                    <a:pt x="1391716" y="400509"/>
                  </a:lnTo>
                  <a:lnTo>
                    <a:pt x="0" y="400509"/>
                  </a:lnTo>
                  <a:close/>
                </a:path>
              </a:pathLst>
            </a:custGeom>
            <a:blipFill>
              <a:blip r:embed="rId4">
                <a:alphaModFix amt="0"/>
              </a:blip>
              <a:stretch>
                <a:fillRect l="0" t="-17708" r="0" b="-17707"/>
              </a:stretch>
            </a:blipFill>
          </p:spPr>
          <p:txBody>
            <a:bodyPr/>
            <a:p/>
          </p:txBody>
        </p:sp>
        <p:sp>
          <p:nvSpPr>
            <p:cNvPr name="TextBox 157" id="157"/>
            <p:cNvSpPr txBox="true"/>
            <p:nvPr/>
          </p:nvSpPr>
          <p:spPr>
            <a:xfrm>
              <a:off x="0" y="0"/>
              <a:ext cx="1391717"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PhenoAge</a:t>
              </a:r>
            </a:p>
          </p:txBody>
        </p:sp>
      </p:grpSp>
      <p:grpSp>
        <p:nvGrpSpPr>
          <p:cNvPr name="Group 158" id="158"/>
          <p:cNvGrpSpPr/>
          <p:nvPr/>
        </p:nvGrpSpPr>
        <p:grpSpPr>
          <a:xfrm rot="0">
            <a:off x="6467170" y="6619418"/>
            <a:ext cx="5362804" cy="3595511"/>
            <a:chOff x="0" y="0"/>
            <a:chExt cx="7150405" cy="4794015"/>
          </a:xfrm>
        </p:grpSpPr>
        <p:sp>
          <p:nvSpPr>
            <p:cNvPr name="Freeform 159" id="159"/>
            <p:cNvSpPr/>
            <p:nvPr/>
          </p:nvSpPr>
          <p:spPr>
            <a:xfrm flipH="false" flipV="false" rot="0">
              <a:off x="12700" y="11823"/>
              <a:ext cx="7124954" cy="4770393"/>
            </a:xfrm>
            <a:custGeom>
              <a:avLst/>
              <a:gdLst/>
              <a:ahLst/>
              <a:cxnLst/>
              <a:rect r="r" b="b" t="t" l="l"/>
              <a:pathLst>
                <a:path h="4770393" w="7124954">
                  <a:moveTo>
                    <a:pt x="0" y="0"/>
                  </a:moveTo>
                  <a:lnTo>
                    <a:pt x="7124954" y="0"/>
                  </a:lnTo>
                  <a:lnTo>
                    <a:pt x="7124954" y="4770393"/>
                  </a:lnTo>
                  <a:lnTo>
                    <a:pt x="0" y="4770393"/>
                  </a:lnTo>
                  <a:close/>
                </a:path>
              </a:pathLst>
            </a:custGeom>
            <a:solidFill>
              <a:srgbClr val="141419"/>
            </a:solidFill>
          </p:spPr>
          <p:txBody>
            <a:bodyPr/>
            <a:p/>
          </p:txBody>
        </p:sp>
        <p:sp>
          <p:nvSpPr>
            <p:cNvPr name="Freeform 160" id="160"/>
            <p:cNvSpPr/>
            <p:nvPr/>
          </p:nvSpPr>
          <p:spPr>
            <a:xfrm flipH="false" flipV="false" rot="0">
              <a:off x="0" y="0"/>
              <a:ext cx="7150354" cy="4794040"/>
            </a:xfrm>
            <a:custGeom>
              <a:avLst/>
              <a:gdLst/>
              <a:ahLst/>
              <a:cxnLst/>
              <a:rect r="r" b="b" t="t" l="l"/>
              <a:pathLst>
                <a:path h="4794040" w="7150354">
                  <a:moveTo>
                    <a:pt x="12700" y="0"/>
                  </a:moveTo>
                  <a:lnTo>
                    <a:pt x="7137654" y="0"/>
                  </a:lnTo>
                  <a:cubicBezTo>
                    <a:pt x="7144639" y="0"/>
                    <a:pt x="7150354" y="5320"/>
                    <a:pt x="7150354" y="11823"/>
                  </a:cubicBezTo>
                  <a:lnTo>
                    <a:pt x="7150354" y="4782216"/>
                  </a:lnTo>
                  <a:cubicBezTo>
                    <a:pt x="7150354" y="4788718"/>
                    <a:pt x="7144639" y="4794040"/>
                    <a:pt x="7137654" y="4794040"/>
                  </a:cubicBezTo>
                  <a:lnTo>
                    <a:pt x="12700" y="4794040"/>
                  </a:lnTo>
                  <a:cubicBezTo>
                    <a:pt x="5715" y="4794040"/>
                    <a:pt x="0" y="4788718"/>
                    <a:pt x="0" y="4782216"/>
                  </a:cubicBezTo>
                  <a:lnTo>
                    <a:pt x="0" y="11823"/>
                  </a:lnTo>
                  <a:cubicBezTo>
                    <a:pt x="0" y="5320"/>
                    <a:pt x="5715" y="0"/>
                    <a:pt x="12700" y="0"/>
                  </a:cubicBezTo>
                  <a:moveTo>
                    <a:pt x="12700" y="23646"/>
                  </a:moveTo>
                  <a:lnTo>
                    <a:pt x="12700" y="11823"/>
                  </a:lnTo>
                  <a:lnTo>
                    <a:pt x="25400" y="11823"/>
                  </a:lnTo>
                  <a:lnTo>
                    <a:pt x="25400" y="4782216"/>
                  </a:lnTo>
                  <a:lnTo>
                    <a:pt x="12700" y="4782216"/>
                  </a:lnTo>
                  <a:lnTo>
                    <a:pt x="12700" y="4770393"/>
                  </a:lnTo>
                  <a:lnTo>
                    <a:pt x="7137654" y="4770393"/>
                  </a:lnTo>
                  <a:lnTo>
                    <a:pt x="7137654" y="4782216"/>
                  </a:lnTo>
                  <a:lnTo>
                    <a:pt x="7124954" y="4782216"/>
                  </a:lnTo>
                  <a:lnTo>
                    <a:pt x="7124954" y="11823"/>
                  </a:lnTo>
                  <a:lnTo>
                    <a:pt x="7137654" y="11823"/>
                  </a:lnTo>
                  <a:lnTo>
                    <a:pt x="7137654" y="23646"/>
                  </a:lnTo>
                  <a:lnTo>
                    <a:pt x="12700" y="23646"/>
                  </a:lnTo>
                  <a:close/>
                </a:path>
              </a:pathLst>
            </a:custGeom>
            <a:solidFill>
              <a:srgbClr val="40424D"/>
            </a:solidFill>
          </p:spPr>
          <p:txBody>
            <a:bodyPr/>
            <a:p/>
          </p:txBody>
        </p:sp>
      </p:grpSp>
      <p:grpSp>
        <p:nvGrpSpPr>
          <p:cNvPr name="Group 161" id="161"/>
          <p:cNvGrpSpPr/>
          <p:nvPr/>
        </p:nvGrpSpPr>
        <p:grpSpPr>
          <a:xfrm rot="0">
            <a:off x="6825158" y="6977405"/>
            <a:ext cx="647243" cy="647243"/>
            <a:chOff x="0" y="0"/>
            <a:chExt cx="862990" cy="862990"/>
          </a:xfrm>
        </p:grpSpPr>
        <p:sp>
          <p:nvSpPr>
            <p:cNvPr name="Freeform 162" id="162"/>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63" id="163"/>
          <p:cNvGrpSpPr/>
          <p:nvPr/>
        </p:nvGrpSpPr>
        <p:grpSpPr>
          <a:xfrm rot="0">
            <a:off x="7041794" y="7158380"/>
            <a:ext cx="213970" cy="285293"/>
            <a:chOff x="0" y="0"/>
            <a:chExt cx="285293" cy="380390"/>
          </a:xfrm>
        </p:grpSpPr>
        <p:sp>
          <p:nvSpPr>
            <p:cNvPr name="Freeform 164" id="164" descr="preencoded.png"/>
            <p:cNvSpPr/>
            <p:nvPr/>
          </p:nvSpPr>
          <p:spPr>
            <a:xfrm flipH="false" flipV="false" rot="0">
              <a:off x="0" y="0"/>
              <a:ext cx="285242" cy="380365"/>
            </a:xfrm>
            <a:custGeom>
              <a:avLst/>
              <a:gdLst/>
              <a:ahLst/>
              <a:cxnLst/>
              <a:rect r="r" b="b" t="t" l="l"/>
              <a:pathLst>
                <a:path h="380365" w="285242">
                  <a:moveTo>
                    <a:pt x="0" y="0"/>
                  </a:moveTo>
                  <a:lnTo>
                    <a:pt x="285242" y="0"/>
                  </a:lnTo>
                  <a:lnTo>
                    <a:pt x="285242" y="380365"/>
                  </a:lnTo>
                  <a:lnTo>
                    <a:pt x="0" y="380365"/>
                  </a:lnTo>
                  <a:lnTo>
                    <a:pt x="0" y="0"/>
                  </a:lnTo>
                  <a:close/>
                </a:path>
              </a:pathLst>
            </a:custGeom>
            <a:blipFill>
              <a:blip r:embed="rId8"/>
              <a:stretch>
                <a:fillRect l="0" t="0" r="-1095" b="-6"/>
              </a:stretch>
            </a:blipFill>
          </p:spPr>
          <p:txBody>
            <a:bodyPr/>
            <a:p/>
          </p:txBody>
        </p:sp>
      </p:grpSp>
      <p:grpSp>
        <p:nvGrpSpPr>
          <p:cNvPr name="Group 165" id="165"/>
          <p:cNvGrpSpPr/>
          <p:nvPr/>
        </p:nvGrpSpPr>
        <p:grpSpPr>
          <a:xfrm rot="0">
            <a:off x="11248492" y="6986930"/>
            <a:ext cx="329184" cy="257861"/>
            <a:chOff x="0" y="0"/>
            <a:chExt cx="438912" cy="343814"/>
          </a:xfrm>
        </p:grpSpPr>
        <p:sp>
          <p:nvSpPr>
            <p:cNvPr name="Freeform 166" id="166"/>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67" id="167"/>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05</a:t>
              </a:r>
            </a:p>
          </p:txBody>
        </p:sp>
      </p:grpSp>
      <p:grpSp>
        <p:nvGrpSpPr>
          <p:cNvPr name="Group 168" id="168"/>
          <p:cNvGrpSpPr/>
          <p:nvPr/>
        </p:nvGrpSpPr>
        <p:grpSpPr>
          <a:xfrm rot="0">
            <a:off x="6834683" y="7900416"/>
            <a:ext cx="4800600" cy="430120"/>
            <a:chOff x="0" y="0"/>
            <a:chExt cx="6400800" cy="573494"/>
          </a:xfrm>
        </p:grpSpPr>
        <p:sp>
          <p:nvSpPr>
            <p:cNvPr name="Freeform 169" id="169"/>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170" id="170"/>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CGM</a:t>
              </a:r>
            </a:p>
          </p:txBody>
        </p:sp>
      </p:grpSp>
      <p:grpSp>
        <p:nvGrpSpPr>
          <p:cNvPr name="Group 171" id="171"/>
          <p:cNvGrpSpPr/>
          <p:nvPr/>
        </p:nvGrpSpPr>
        <p:grpSpPr>
          <a:xfrm rot="0">
            <a:off x="6825158" y="8391525"/>
            <a:ext cx="2047646" cy="419557"/>
            <a:chOff x="0" y="0"/>
            <a:chExt cx="2730195" cy="559410"/>
          </a:xfrm>
        </p:grpSpPr>
        <p:sp>
          <p:nvSpPr>
            <p:cNvPr name="Freeform 172" id="172"/>
            <p:cNvSpPr/>
            <p:nvPr/>
          </p:nvSpPr>
          <p:spPr>
            <a:xfrm flipH="false" flipV="false" rot="0">
              <a:off x="12700" y="12700"/>
              <a:ext cx="2704846" cy="533908"/>
            </a:xfrm>
            <a:custGeom>
              <a:avLst/>
              <a:gdLst/>
              <a:ahLst/>
              <a:cxnLst/>
              <a:rect r="r" b="b" t="t" l="l"/>
              <a:pathLst>
                <a:path h="533908" w="2704846">
                  <a:moveTo>
                    <a:pt x="0" y="261239"/>
                  </a:moveTo>
                  <a:cubicBezTo>
                    <a:pt x="0" y="116967"/>
                    <a:pt x="121412" y="0"/>
                    <a:pt x="271145" y="0"/>
                  </a:cubicBezTo>
                  <a:lnTo>
                    <a:pt x="2433701" y="0"/>
                  </a:lnTo>
                  <a:cubicBezTo>
                    <a:pt x="2583434" y="0"/>
                    <a:pt x="2704846" y="116967"/>
                    <a:pt x="2704846" y="261239"/>
                  </a:cubicBezTo>
                  <a:lnTo>
                    <a:pt x="2704846" y="272669"/>
                  </a:lnTo>
                  <a:cubicBezTo>
                    <a:pt x="2704846" y="416941"/>
                    <a:pt x="2583434" y="533908"/>
                    <a:pt x="2433701" y="533908"/>
                  </a:cubicBezTo>
                  <a:lnTo>
                    <a:pt x="271145" y="533908"/>
                  </a:lnTo>
                  <a:cubicBezTo>
                    <a:pt x="121412" y="534035"/>
                    <a:pt x="0" y="417068"/>
                    <a:pt x="0" y="272796"/>
                  </a:cubicBezTo>
                  <a:close/>
                </a:path>
              </a:pathLst>
            </a:custGeom>
            <a:solidFill>
              <a:srgbClr val="FFFFFF"/>
            </a:solidFill>
          </p:spPr>
          <p:txBody>
            <a:bodyPr/>
            <a:p/>
          </p:txBody>
        </p:sp>
      </p:grpSp>
      <p:grpSp>
        <p:nvGrpSpPr>
          <p:cNvPr name="Group 173" id="173"/>
          <p:cNvGrpSpPr/>
          <p:nvPr/>
        </p:nvGrpSpPr>
        <p:grpSpPr>
          <a:xfrm rot="0">
            <a:off x="7006133" y="8401050"/>
            <a:ext cx="2115007" cy="400508"/>
            <a:chOff x="0" y="0"/>
            <a:chExt cx="2820010" cy="534010"/>
          </a:xfrm>
        </p:grpSpPr>
        <p:sp>
          <p:nvSpPr>
            <p:cNvPr name="Freeform 174" id="174"/>
            <p:cNvSpPr/>
            <p:nvPr/>
          </p:nvSpPr>
          <p:spPr>
            <a:xfrm flipH="false" flipV="false" rot="0">
              <a:off x="0" y="0"/>
              <a:ext cx="2820010" cy="534010"/>
            </a:xfrm>
            <a:custGeom>
              <a:avLst/>
              <a:gdLst/>
              <a:ahLst/>
              <a:cxnLst/>
              <a:rect r="r" b="b" t="t" l="l"/>
              <a:pathLst>
                <a:path h="534010" w="2820010">
                  <a:moveTo>
                    <a:pt x="0" y="0"/>
                  </a:moveTo>
                  <a:lnTo>
                    <a:pt x="2820010" y="0"/>
                  </a:lnTo>
                  <a:lnTo>
                    <a:pt x="2820010" y="534010"/>
                  </a:lnTo>
                  <a:lnTo>
                    <a:pt x="0" y="534010"/>
                  </a:lnTo>
                  <a:close/>
                </a:path>
              </a:pathLst>
            </a:custGeom>
            <a:blipFill>
              <a:blip r:embed="rId4">
                <a:alphaModFix amt="0"/>
              </a:blip>
              <a:stretch>
                <a:fillRect l="0" t="-52896" r="0" b="-52896"/>
              </a:stretch>
            </a:blipFill>
          </p:spPr>
          <p:txBody>
            <a:bodyPr/>
            <a:p/>
          </p:txBody>
        </p:sp>
        <p:sp>
          <p:nvSpPr>
            <p:cNvPr name="TextBox 175" id="175"/>
            <p:cNvSpPr txBox="true"/>
            <p:nvPr/>
          </p:nvSpPr>
          <p:spPr>
            <a:xfrm>
              <a:off x="0" y="0"/>
              <a:ext cx="2820010"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Glucose en Continu</a:t>
              </a:r>
            </a:p>
          </p:txBody>
        </p:sp>
      </p:grpSp>
      <p:grpSp>
        <p:nvGrpSpPr>
          <p:cNvPr name="Group 176" id="176"/>
          <p:cNvGrpSpPr/>
          <p:nvPr/>
        </p:nvGrpSpPr>
        <p:grpSpPr>
          <a:xfrm rot="0">
            <a:off x="6825158" y="9235059"/>
            <a:ext cx="4648200" cy="32766"/>
            <a:chOff x="0" y="0"/>
            <a:chExt cx="6197600" cy="43688"/>
          </a:xfrm>
        </p:grpSpPr>
        <p:sp>
          <p:nvSpPr>
            <p:cNvPr name="Freeform 177" id="177"/>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178" id="178"/>
          <p:cNvGrpSpPr/>
          <p:nvPr/>
        </p:nvGrpSpPr>
        <p:grpSpPr>
          <a:xfrm rot="0">
            <a:off x="6834683" y="9429750"/>
            <a:ext cx="5298491" cy="293380"/>
            <a:chOff x="0" y="0"/>
            <a:chExt cx="7064654" cy="391173"/>
          </a:xfrm>
        </p:grpSpPr>
        <p:sp>
          <p:nvSpPr>
            <p:cNvPr name="Freeform 179" id="179"/>
            <p:cNvSpPr/>
            <p:nvPr/>
          </p:nvSpPr>
          <p:spPr>
            <a:xfrm flipH="false" flipV="false" rot="0">
              <a:off x="0" y="0"/>
              <a:ext cx="7064654" cy="391174"/>
            </a:xfrm>
            <a:custGeom>
              <a:avLst/>
              <a:gdLst/>
              <a:ahLst/>
              <a:cxnLst/>
              <a:rect r="r" b="b" t="t" l="l"/>
              <a:pathLst>
                <a:path h="391174" w="7064654">
                  <a:moveTo>
                    <a:pt x="0" y="0"/>
                  </a:moveTo>
                  <a:lnTo>
                    <a:pt x="7064654" y="0"/>
                  </a:lnTo>
                  <a:lnTo>
                    <a:pt x="7064654" y="391174"/>
                  </a:lnTo>
                  <a:lnTo>
                    <a:pt x="0" y="391174"/>
                  </a:lnTo>
                  <a:close/>
                </a:path>
              </a:pathLst>
            </a:custGeom>
            <a:blipFill>
              <a:blip r:embed="rId4">
                <a:alphaModFix amt="0"/>
              </a:blip>
              <a:stretch>
                <a:fillRect l="0" t="-303047" r="0" b="-300758"/>
              </a:stretch>
            </a:blipFill>
          </p:spPr>
          <p:txBody>
            <a:bodyPr/>
            <a:p/>
          </p:txBody>
        </p:sp>
        <p:sp>
          <p:nvSpPr>
            <p:cNvPr name="TextBox 180" id="180"/>
            <p:cNvSpPr txBox="true"/>
            <p:nvPr/>
          </p:nvSpPr>
          <p:spPr>
            <a:xfrm>
              <a:off x="0" y="0"/>
              <a:ext cx="7064654"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Comprendre l'impact métabolique en temps réel.</a:t>
              </a:r>
            </a:p>
          </p:txBody>
        </p:sp>
      </p:grpSp>
      <p:grpSp>
        <p:nvGrpSpPr>
          <p:cNvPr name="Group 181" id="181"/>
          <p:cNvGrpSpPr/>
          <p:nvPr/>
        </p:nvGrpSpPr>
        <p:grpSpPr>
          <a:xfrm rot="0">
            <a:off x="6825158" y="9812503"/>
            <a:ext cx="1590904" cy="319430"/>
            <a:chOff x="0" y="0"/>
            <a:chExt cx="2121205" cy="425907"/>
          </a:xfrm>
        </p:grpSpPr>
        <p:sp>
          <p:nvSpPr>
            <p:cNvPr name="Freeform 182" id="182"/>
            <p:cNvSpPr/>
            <p:nvPr/>
          </p:nvSpPr>
          <p:spPr>
            <a:xfrm flipH="false" flipV="false" rot="0">
              <a:off x="12700" y="12700"/>
              <a:ext cx="2095881" cy="400558"/>
            </a:xfrm>
            <a:custGeom>
              <a:avLst/>
              <a:gdLst/>
              <a:ahLst/>
              <a:cxnLst/>
              <a:rect r="r" b="b" t="t" l="l"/>
              <a:pathLst>
                <a:path h="400558" w="2095881">
                  <a:moveTo>
                    <a:pt x="0" y="200279"/>
                  </a:moveTo>
                  <a:cubicBezTo>
                    <a:pt x="0" y="89662"/>
                    <a:pt x="94234" y="0"/>
                    <a:pt x="210439" y="0"/>
                  </a:cubicBezTo>
                  <a:lnTo>
                    <a:pt x="1885442" y="0"/>
                  </a:lnTo>
                  <a:cubicBezTo>
                    <a:pt x="2001647" y="0"/>
                    <a:pt x="2095881" y="89662"/>
                    <a:pt x="2095881" y="200279"/>
                  </a:cubicBezTo>
                  <a:cubicBezTo>
                    <a:pt x="2095881" y="310896"/>
                    <a:pt x="2001647" y="400558"/>
                    <a:pt x="1885442" y="400558"/>
                  </a:cubicBezTo>
                  <a:lnTo>
                    <a:pt x="210439" y="400558"/>
                  </a:lnTo>
                  <a:cubicBezTo>
                    <a:pt x="94234" y="400558"/>
                    <a:pt x="0" y="310896"/>
                    <a:pt x="0" y="200279"/>
                  </a:cubicBezTo>
                  <a:close/>
                </a:path>
              </a:pathLst>
            </a:custGeom>
            <a:solidFill>
              <a:srgbClr val="FFFFFF">
                <a:alpha val="0"/>
              </a:srgbClr>
            </a:solidFill>
          </p:spPr>
          <p:txBody>
            <a:bodyPr/>
            <a:p/>
          </p:txBody>
        </p:sp>
      </p:grpSp>
      <p:grpSp>
        <p:nvGrpSpPr>
          <p:cNvPr name="Group 183" id="183"/>
          <p:cNvGrpSpPr/>
          <p:nvPr/>
        </p:nvGrpSpPr>
        <p:grpSpPr>
          <a:xfrm rot="0">
            <a:off x="6834683" y="9822028"/>
            <a:ext cx="1855775" cy="300381"/>
            <a:chOff x="0" y="0"/>
            <a:chExt cx="2474366" cy="400508"/>
          </a:xfrm>
        </p:grpSpPr>
        <p:sp>
          <p:nvSpPr>
            <p:cNvPr name="Freeform 184" id="184"/>
            <p:cNvSpPr/>
            <p:nvPr/>
          </p:nvSpPr>
          <p:spPr>
            <a:xfrm flipH="false" flipV="false" rot="0">
              <a:off x="0" y="0"/>
              <a:ext cx="2474366" cy="400509"/>
            </a:xfrm>
            <a:custGeom>
              <a:avLst/>
              <a:gdLst/>
              <a:ahLst/>
              <a:cxnLst/>
              <a:rect r="r" b="b" t="t" l="l"/>
              <a:pathLst>
                <a:path h="400509" w="2474366">
                  <a:moveTo>
                    <a:pt x="0" y="0"/>
                  </a:moveTo>
                  <a:lnTo>
                    <a:pt x="2474366" y="0"/>
                  </a:lnTo>
                  <a:lnTo>
                    <a:pt x="2474366" y="400509"/>
                  </a:lnTo>
                  <a:lnTo>
                    <a:pt x="0" y="400509"/>
                  </a:lnTo>
                  <a:close/>
                </a:path>
              </a:pathLst>
            </a:custGeom>
            <a:blipFill>
              <a:blip r:embed="rId4">
                <a:alphaModFix amt="0"/>
              </a:blip>
              <a:stretch>
                <a:fillRect l="0" t="-70379" r="0" b="-70379"/>
              </a:stretch>
            </a:blipFill>
          </p:spPr>
          <p:txBody>
            <a:bodyPr/>
            <a:p/>
          </p:txBody>
        </p:sp>
        <p:sp>
          <p:nvSpPr>
            <p:cNvPr name="TextBox 185" id="185"/>
            <p:cNvSpPr txBox="true"/>
            <p:nvPr/>
          </p:nvSpPr>
          <p:spPr>
            <a:xfrm>
              <a:off x="0" y="0"/>
              <a:ext cx="2474366"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Temps dans la cible</a:t>
              </a:r>
            </a:p>
          </p:txBody>
        </p:sp>
      </p:grpSp>
      <p:grpSp>
        <p:nvGrpSpPr>
          <p:cNvPr name="Group 186" id="186"/>
          <p:cNvGrpSpPr/>
          <p:nvPr/>
        </p:nvGrpSpPr>
        <p:grpSpPr>
          <a:xfrm rot="0">
            <a:off x="8506739" y="9812503"/>
            <a:ext cx="1791157" cy="319430"/>
            <a:chOff x="0" y="0"/>
            <a:chExt cx="2388210" cy="425907"/>
          </a:xfrm>
        </p:grpSpPr>
        <p:sp>
          <p:nvSpPr>
            <p:cNvPr name="Freeform 187" id="187"/>
            <p:cNvSpPr/>
            <p:nvPr/>
          </p:nvSpPr>
          <p:spPr>
            <a:xfrm flipH="false" flipV="false" rot="0">
              <a:off x="12700" y="12700"/>
              <a:ext cx="2362835" cy="400558"/>
            </a:xfrm>
            <a:custGeom>
              <a:avLst/>
              <a:gdLst/>
              <a:ahLst/>
              <a:cxnLst/>
              <a:rect r="r" b="b" t="t" l="l"/>
              <a:pathLst>
                <a:path h="400558" w="2362835">
                  <a:moveTo>
                    <a:pt x="0" y="200279"/>
                  </a:moveTo>
                  <a:cubicBezTo>
                    <a:pt x="0" y="89662"/>
                    <a:pt x="94361" y="0"/>
                    <a:pt x="210693" y="0"/>
                  </a:cubicBezTo>
                  <a:lnTo>
                    <a:pt x="2152142" y="0"/>
                  </a:lnTo>
                  <a:cubicBezTo>
                    <a:pt x="2268474" y="0"/>
                    <a:pt x="2362835" y="89662"/>
                    <a:pt x="2362835" y="200279"/>
                  </a:cubicBezTo>
                  <a:cubicBezTo>
                    <a:pt x="2362835" y="310896"/>
                    <a:pt x="2268474" y="400558"/>
                    <a:pt x="2152142" y="400558"/>
                  </a:cubicBezTo>
                  <a:lnTo>
                    <a:pt x="210693" y="400558"/>
                  </a:lnTo>
                  <a:cubicBezTo>
                    <a:pt x="94361" y="400558"/>
                    <a:pt x="0" y="310896"/>
                    <a:pt x="0" y="200279"/>
                  </a:cubicBezTo>
                  <a:close/>
                </a:path>
              </a:pathLst>
            </a:custGeom>
            <a:solidFill>
              <a:srgbClr val="FFFFFF">
                <a:alpha val="0"/>
              </a:srgbClr>
            </a:solidFill>
          </p:spPr>
          <p:txBody>
            <a:bodyPr/>
            <a:p/>
          </p:txBody>
        </p:sp>
      </p:grpSp>
      <p:grpSp>
        <p:nvGrpSpPr>
          <p:cNvPr name="Group 188" id="188"/>
          <p:cNvGrpSpPr/>
          <p:nvPr/>
        </p:nvGrpSpPr>
        <p:grpSpPr>
          <a:xfrm rot="0">
            <a:off x="8516264" y="9822028"/>
            <a:ext cx="2109521" cy="300381"/>
            <a:chOff x="0" y="0"/>
            <a:chExt cx="2812694" cy="400508"/>
          </a:xfrm>
        </p:grpSpPr>
        <p:sp>
          <p:nvSpPr>
            <p:cNvPr name="Freeform 189" id="189"/>
            <p:cNvSpPr/>
            <p:nvPr/>
          </p:nvSpPr>
          <p:spPr>
            <a:xfrm flipH="false" flipV="false" rot="0">
              <a:off x="0" y="0"/>
              <a:ext cx="2812694" cy="400509"/>
            </a:xfrm>
            <a:custGeom>
              <a:avLst/>
              <a:gdLst/>
              <a:ahLst/>
              <a:cxnLst/>
              <a:rect r="r" b="b" t="t" l="l"/>
              <a:pathLst>
                <a:path h="400509" w="2812694">
                  <a:moveTo>
                    <a:pt x="0" y="0"/>
                  </a:moveTo>
                  <a:lnTo>
                    <a:pt x="2812694" y="0"/>
                  </a:lnTo>
                  <a:lnTo>
                    <a:pt x="2812694" y="400509"/>
                  </a:lnTo>
                  <a:lnTo>
                    <a:pt x="0" y="400509"/>
                  </a:lnTo>
                  <a:close/>
                </a:path>
              </a:pathLst>
            </a:custGeom>
            <a:blipFill>
              <a:blip r:embed="rId4">
                <a:alphaModFix amt="0"/>
              </a:blip>
              <a:stretch>
                <a:fillRect l="0" t="-86839" r="0" b="-86839"/>
              </a:stretch>
            </a:blipFill>
          </p:spPr>
          <p:txBody>
            <a:bodyPr/>
            <a:p/>
          </p:txBody>
        </p:sp>
        <p:sp>
          <p:nvSpPr>
            <p:cNvPr name="TextBox 190" id="190"/>
            <p:cNvSpPr txBox="true"/>
            <p:nvPr/>
          </p:nvSpPr>
          <p:spPr>
            <a:xfrm>
              <a:off x="0" y="0"/>
              <a:ext cx="281269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Variabilité Glycémique</a:t>
              </a:r>
            </a:p>
          </p:txBody>
        </p:sp>
      </p:grpSp>
      <p:grpSp>
        <p:nvGrpSpPr>
          <p:cNvPr name="Group 191" id="191"/>
          <p:cNvGrpSpPr/>
          <p:nvPr/>
        </p:nvGrpSpPr>
        <p:grpSpPr>
          <a:xfrm rot="0">
            <a:off x="12086615" y="6619418"/>
            <a:ext cx="5362804" cy="3595511"/>
            <a:chOff x="0" y="0"/>
            <a:chExt cx="7150405" cy="4794015"/>
          </a:xfrm>
        </p:grpSpPr>
        <p:sp>
          <p:nvSpPr>
            <p:cNvPr name="Freeform 192" id="192"/>
            <p:cNvSpPr/>
            <p:nvPr/>
          </p:nvSpPr>
          <p:spPr>
            <a:xfrm flipH="false" flipV="false" rot="0">
              <a:off x="12700" y="11823"/>
              <a:ext cx="7124954" cy="4770393"/>
            </a:xfrm>
            <a:custGeom>
              <a:avLst/>
              <a:gdLst/>
              <a:ahLst/>
              <a:cxnLst/>
              <a:rect r="r" b="b" t="t" l="l"/>
              <a:pathLst>
                <a:path h="4770393" w="7124954">
                  <a:moveTo>
                    <a:pt x="0" y="0"/>
                  </a:moveTo>
                  <a:lnTo>
                    <a:pt x="7124954" y="0"/>
                  </a:lnTo>
                  <a:lnTo>
                    <a:pt x="7124954" y="4770393"/>
                  </a:lnTo>
                  <a:lnTo>
                    <a:pt x="0" y="4770393"/>
                  </a:lnTo>
                  <a:close/>
                </a:path>
              </a:pathLst>
            </a:custGeom>
            <a:solidFill>
              <a:srgbClr val="141419"/>
            </a:solidFill>
          </p:spPr>
          <p:txBody>
            <a:bodyPr/>
            <a:p/>
          </p:txBody>
        </p:sp>
        <p:sp>
          <p:nvSpPr>
            <p:cNvPr name="Freeform 193" id="193"/>
            <p:cNvSpPr/>
            <p:nvPr/>
          </p:nvSpPr>
          <p:spPr>
            <a:xfrm flipH="false" flipV="false" rot="0">
              <a:off x="0" y="0"/>
              <a:ext cx="7150354" cy="4794040"/>
            </a:xfrm>
            <a:custGeom>
              <a:avLst/>
              <a:gdLst/>
              <a:ahLst/>
              <a:cxnLst/>
              <a:rect r="r" b="b" t="t" l="l"/>
              <a:pathLst>
                <a:path h="4794040" w="7150354">
                  <a:moveTo>
                    <a:pt x="12700" y="0"/>
                  </a:moveTo>
                  <a:lnTo>
                    <a:pt x="7137654" y="0"/>
                  </a:lnTo>
                  <a:cubicBezTo>
                    <a:pt x="7144639" y="0"/>
                    <a:pt x="7150354" y="5320"/>
                    <a:pt x="7150354" y="11823"/>
                  </a:cubicBezTo>
                  <a:lnTo>
                    <a:pt x="7150354" y="4782216"/>
                  </a:lnTo>
                  <a:cubicBezTo>
                    <a:pt x="7150354" y="4788718"/>
                    <a:pt x="7144639" y="4794040"/>
                    <a:pt x="7137654" y="4794040"/>
                  </a:cubicBezTo>
                  <a:lnTo>
                    <a:pt x="12700" y="4794040"/>
                  </a:lnTo>
                  <a:cubicBezTo>
                    <a:pt x="5715" y="4794040"/>
                    <a:pt x="0" y="4788718"/>
                    <a:pt x="0" y="4782216"/>
                  </a:cubicBezTo>
                  <a:lnTo>
                    <a:pt x="0" y="11823"/>
                  </a:lnTo>
                  <a:cubicBezTo>
                    <a:pt x="0" y="5320"/>
                    <a:pt x="5715" y="0"/>
                    <a:pt x="12700" y="0"/>
                  </a:cubicBezTo>
                  <a:moveTo>
                    <a:pt x="12700" y="23646"/>
                  </a:moveTo>
                  <a:lnTo>
                    <a:pt x="12700" y="11823"/>
                  </a:lnTo>
                  <a:lnTo>
                    <a:pt x="25400" y="11823"/>
                  </a:lnTo>
                  <a:lnTo>
                    <a:pt x="25400" y="4782216"/>
                  </a:lnTo>
                  <a:lnTo>
                    <a:pt x="12700" y="4782216"/>
                  </a:lnTo>
                  <a:lnTo>
                    <a:pt x="12700" y="4770393"/>
                  </a:lnTo>
                  <a:lnTo>
                    <a:pt x="7137654" y="4770393"/>
                  </a:lnTo>
                  <a:lnTo>
                    <a:pt x="7137654" y="4782216"/>
                  </a:lnTo>
                  <a:lnTo>
                    <a:pt x="7124954" y="4782216"/>
                  </a:lnTo>
                  <a:lnTo>
                    <a:pt x="7124954" y="11823"/>
                  </a:lnTo>
                  <a:lnTo>
                    <a:pt x="7137654" y="11823"/>
                  </a:lnTo>
                  <a:lnTo>
                    <a:pt x="7137654" y="23646"/>
                  </a:lnTo>
                  <a:lnTo>
                    <a:pt x="12700" y="23646"/>
                  </a:lnTo>
                  <a:close/>
                </a:path>
              </a:pathLst>
            </a:custGeom>
            <a:solidFill>
              <a:srgbClr val="40424D"/>
            </a:solidFill>
          </p:spPr>
          <p:txBody>
            <a:bodyPr/>
            <a:p/>
          </p:txBody>
        </p:sp>
      </p:grpSp>
      <p:grpSp>
        <p:nvGrpSpPr>
          <p:cNvPr name="Group 194" id="194"/>
          <p:cNvGrpSpPr/>
          <p:nvPr/>
        </p:nvGrpSpPr>
        <p:grpSpPr>
          <a:xfrm rot="0">
            <a:off x="12444603" y="6977405"/>
            <a:ext cx="647243" cy="647243"/>
            <a:chOff x="0" y="0"/>
            <a:chExt cx="862990" cy="862990"/>
          </a:xfrm>
        </p:grpSpPr>
        <p:sp>
          <p:nvSpPr>
            <p:cNvPr name="Freeform 195" id="195"/>
            <p:cNvSpPr/>
            <p:nvPr/>
          </p:nvSpPr>
          <p:spPr>
            <a:xfrm flipH="false" flipV="false" rot="0">
              <a:off x="12700" y="12700"/>
              <a:ext cx="837565" cy="837565"/>
            </a:xfrm>
            <a:custGeom>
              <a:avLst/>
              <a:gdLst/>
              <a:ahLst/>
              <a:cxnLst/>
              <a:rect r="r" b="b" t="t" l="l"/>
              <a:pathLst>
                <a:path h="837565" w="837565">
                  <a:moveTo>
                    <a:pt x="0" y="332486"/>
                  </a:moveTo>
                  <a:cubicBezTo>
                    <a:pt x="0" y="148844"/>
                    <a:pt x="148844" y="0"/>
                    <a:pt x="332486" y="0"/>
                  </a:cubicBezTo>
                  <a:lnTo>
                    <a:pt x="505079" y="0"/>
                  </a:lnTo>
                  <a:cubicBezTo>
                    <a:pt x="688721" y="0"/>
                    <a:pt x="837565" y="148844"/>
                    <a:pt x="837565" y="332486"/>
                  </a:cubicBezTo>
                  <a:lnTo>
                    <a:pt x="837565" y="505079"/>
                  </a:lnTo>
                  <a:cubicBezTo>
                    <a:pt x="837565" y="688721"/>
                    <a:pt x="688721" y="837565"/>
                    <a:pt x="505079" y="837565"/>
                  </a:cubicBezTo>
                  <a:lnTo>
                    <a:pt x="332486" y="837565"/>
                  </a:lnTo>
                  <a:cubicBezTo>
                    <a:pt x="148844" y="837565"/>
                    <a:pt x="0" y="688721"/>
                    <a:pt x="0" y="505079"/>
                  </a:cubicBezTo>
                  <a:close/>
                </a:path>
              </a:pathLst>
            </a:custGeom>
            <a:solidFill>
              <a:srgbClr val="FFFFFF">
                <a:alpha val="0"/>
              </a:srgbClr>
            </a:solidFill>
          </p:spPr>
          <p:txBody>
            <a:bodyPr/>
            <a:p/>
          </p:txBody>
        </p:sp>
      </p:grpSp>
      <p:grpSp>
        <p:nvGrpSpPr>
          <p:cNvPr name="Group 196" id="196"/>
          <p:cNvGrpSpPr/>
          <p:nvPr/>
        </p:nvGrpSpPr>
        <p:grpSpPr>
          <a:xfrm rot="0">
            <a:off x="12639294" y="7158380"/>
            <a:ext cx="257861" cy="285293"/>
            <a:chOff x="0" y="0"/>
            <a:chExt cx="343814" cy="380390"/>
          </a:xfrm>
        </p:grpSpPr>
        <p:sp>
          <p:nvSpPr>
            <p:cNvPr name="Freeform 197" id="197" descr="preencoded.png"/>
            <p:cNvSpPr/>
            <p:nvPr/>
          </p:nvSpPr>
          <p:spPr>
            <a:xfrm flipH="false" flipV="false" rot="0">
              <a:off x="0" y="0"/>
              <a:ext cx="343789" cy="380365"/>
            </a:xfrm>
            <a:custGeom>
              <a:avLst/>
              <a:gdLst/>
              <a:ahLst/>
              <a:cxnLst/>
              <a:rect r="r" b="b" t="t" l="l"/>
              <a:pathLst>
                <a:path h="380365" w="343789">
                  <a:moveTo>
                    <a:pt x="0" y="0"/>
                  </a:moveTo>
                  <a:lnTo>
                    <a:pt x="343789" y="0"/>
                  </a:lnTo>
                  <a:lnTo>
                    <a:pt x="343789" y="380365"/>
                  </a:lnTo>
                  <a:lnTo>
                    <a:pt x="0" y="380365"/>
                  </a:lnTo>
                  <a:lnTo>
                    <a:pt x="0" y="0"/>
                  </a:lnTo>
                  <a:close/>
                </a:path>
              </a:pathLst>
            </a:custGeom>
            <a:blipFill>
              <a:blip r:embed="rId9"/>
              <a:stretch>
                <a:fillRect l="1595" t="0" r="1588" b="-6"/>
              </a:stretch>
            </a:blipFill>
          </p:spPr>
          <p:txBody>
            <a:bodyPr/>
            <a:p/>
          </p:txBody>
        </p:sp>
      </p:grpSp>
      <p:grpSp>
        <p:nvGrpSpPr>
          <p:cNvPr name="Group 198" id="198"/>
          <p:cNvGrpSpPr/>
          <p:nvPr/>
        </p:nvGrpSpPr>
        <p:grpSpPr>
          <a:xfrm rot="0">
            <a:off x="16867937" y="6986930"/>
            <a:ext cx="329184" cy="257861"/>
            <a:chOff x="0" y="0"/>
            <a:chExt cx="438912" cy="343814"/>
          </a:xfrm>
        </p:grpSpPr>
        <p:sp>
          <p:nvSpPr>
            <p:cNvPr name="Freeform 199" id="199"/>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200" id="200"/>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06</a:t>
              </a:r>
            </a:p>
          </p:txBody>
        </p:sp>
      </p:grpSp>
      <p:grpSp>
        <p:nvGrpSpPr>
          <p:cNvPr name="Group 201" id="201"/>
          <p:cNvGrpSpPr/>
          <p:nvPr/>
        </p:nvGrpSpPr>
        <p:grpSpPr>
          <a:xfrm rot="0">
            <a:off x="12454128" y="7900416"/>
            <a:ext cx="4800600" cy="430120"/>
            <a:chOff x="0" y="0"/>
            <a:chExt cx="6400800" cy="573494"/>
          </a:xfrm>
        </p:grpSpPr>
        <p:sp>
          <p:nvSpPr>
            <p:cNvPr name="Freeform 202" id="202"/>
            <p:cNvSpPr/>
            <p:nvPr/>
          </p:nvSpPr>
          <p:spPr>
            <a:xfrm flipH="false" flipV="false" rot="0">
              <a:off x="0" y="0"/>
              <a:ext cx="6400800" cy="573494"/>
            </a:xfrm>
            <a:custGeom>
              <a:avLst/>
              <a:gdLst/>
              <a:ahLst/>
              <a:cxnLst/>
              <a:rect r="r" b="b" t="t" l="l"/>
              <a:pathLst>
                <a:path h="573494" w="6400800">
                  <a:moveTo>
                    <a:pt x="0" y="0"/>
                  </a:moveTo>
                  <a:lnTo>
                    <a:pt x="6400800" y="0"/>
                  </a:lnTo>
                  <a:lnTo>
                    <a:pt x="6400800" y="573494"/>
                  </a:lnTo>
                  <a:lnTo>
                    <a:pt x="0" y="573494"/>
                  </a:lnTo>
                  <a:close/>
                </a:path>
              </a:pathLst>
            </a:custGeom>
            <a:blipFill>
              <a:blip r:embed="rId4">
                <a:alphaModFix amt="0"/>
              </a:blip>
              <a:stretch>
                <a:fillRect l="0" t="-172510" r="0" b="-162436"/>
              </a:stretch>
            </a:blipFill>
          </p:spPr>
          <p:txBody>
            <a:bodyPr/>
            <a:p/>
          </p:txBody>
        </p:sp>
        <p:sp>
          <p:nvSpPr>
            <p:cNvPr name="TextBox 203" id="203"/>
            <p:cNvSpPr txBox="true"/>
            <p:nvPr/>
          </p:nvSpPr>
          <p:spPr>
            <a:xfrm>
              <a:off x="0" y="-9525"/>
              <a:ext cx="640080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PERFORMANCE</a:t>
              </a:r>
            </a:p>
          </p:txBody>
        </p:sp>
      </p:grpSp>
      <p:grpSp>
        <p:nvGrpSpPr>
          <p:cNvPr name="Group 204" id="204"/>
          <p:cNvGrpSpPr/>
          <p:nvPr/>
        </p:nvGrpSpPr>
        <p:grpSpPr>
          <a:xfrm rot="0">
            <a:off x="12444603" y="8391525"/>
            <a:ext cx="1704746" cy="419557"/>
            <a:chOff x="0" y="0"/>
            <a:chExt cx="2272995" cy="559410"/>
          </a:xfrm>
        </p:grpSpPr>
        <p:sp>
          <p:nvSpPr>
            <p:cNvPr name="Freeform 205" id="205"/>
            <p:cNvSpPr/>
            <p:nvPr/>
          </p:nvSpPr>
          <p:spPr>
            <a:xfrm flipH="false" flipV="false" rot="0">
              <a:off x="12700" y="12700"/>
              <a:ext cx="2247646" cy="533908"/>
            </a:xfrm>
            <a:custGeom>
              <a:avLst/>
              <a:gdLst/>
              <a:ahLst/>
              <a:cxnLst/>
              <a:rect r="r" b="b" t="t" l="l"/>
              <a:pathLst>
                <a:path h="533908" w="2247646">
                  <a:moveTo>
                    <a:pt x="0" y="261239"/>
                  </a:moveTo>
                  <a:cubicBezTo>
                    <a:pt x="0" y="116967"/>
                    <a:pt x="121158" y="0"/>
                    <a:pt x="270637" y="0"/>
                  </a:cubicBezTo>
                  <a:lnTo>
                    <a:pt x="1977009" y="0"/>
                  </a:lnTo>
                  <a:cubicBezTo>
                    <a:pt x="2126488" y="0"/>
                    <a:pt x="2247646" y="116967"/>
                    <a:pt x="2247646" y="261239"/>
                  </a:cubicBezTo>
                  <a:lnTo>
                    <a:pt x="2247646" y="272669"/>
                  </a:lnTo>
                  <a:cubicBezTo>
                    <a:pt x="2247646" y="416941"/>
                    <a:pt x="2126488" y="533908"/>
                    <a:pt x="1977009" y="533908"/>
                  </a:cubicBezTo>
                  <a:lnTo>
                    <a:pt x="270637" y="533908"/>
                  </a:lnTo>
                  <a:cubicBezTo>
                    <a:pt x="121158" y="534035"/>
                    <a:pt x="0" y="417068"/>
                    <a:pt x="0" y="272796"/>
                  </a:cubicBezTo>
                  <a:close/>
                </a:path>
              </a:pathLst>
            </a:custGeom>
            <a:solidFill>
              <a:srgbClr val="FFFFFF"/>
            </a:solidFill>
          </p:spPr>
          <p:txBody>
            <a:bodyPr/>
            <a:p/>
          </p:txBody>
        </p:sp>
      </p:grpSp>
      <p:grpSp>
        <p:nvGrpSpPr>
          <p:cNvPr name="Group 206" id="206"/>
          <p:cNvGrpSpPr/>
          <p:nvPr/>
        </p:nvGrpSpPr>
        <p:grpSpPr>
          <a:xfrm rot="0">
            <a:off x="12541910" y="8401050"/>
            <a:ext cx="1772107" cy="400508"/>
            <a:chOff x="0" y="0"/>
            <a:chExt cx="2362810" cy="534010"/>
          </a:xfrm>
        </p:grpSpPr>
        <p:sp>
          <p:nvSpPr>
            <p:cNvPr name="Freeform 207" id="207"/>
            <p:cNvSpPr/>
            <p:nvPr/>
          </p:nvSpPr>
          <p:spPr>
            <a:xfrm flipH="false" flipV="false" rot="0">
              <a:off x="0" y="0"/>
              <a:ext cx="2362810" cy="534010"/>
            </a:xfrm>
            <a:custGeom>
              <a:avLst/>
              <a:gdLst/>
              <a:ahLst/>
              <a:cxnLst/>
              <a:rect r="r" b="b" t="t" l="l"/>
              <a:pathLst>
                <a:path h="534010" w="2362810">
                  <a:moveTo>
                    <a:pt x="0" y="0"/>
                  </a:moveTo>
                  <a:lnTo>
                    <a:pt x="2362810" y="0"/>
                  </a:lnTo>
                  <a:lnTo>
                    <a:pt x="2362810" y="534010"/>
                  </a:lnTo>
                  <a:lnTo>
                    <a:pt x="0" y="534010"/>
                  </a:lnTo>
                  <a:close/>
                </a:path>
              </a:pathLst>
            </a:custGeom>
            <a:blipFill>
              <a:blip r:embed="rId4">
                <a:alphaModFix amt="0"/>
              </a:blip>
              <a:stretch>
                <a:fillRect l="0" t="-36214" r="0" b="-36214"/>
              </a:stretch>
            </a:blipFill>
          </p:spPr>
          <p:txBody>
            <a:bodyPr/>
            <a:p/>
          </p:txBody>
        </p:sp>
        <p:sp>
          <p:nvSpPr>
            <p:cNvPr name="TextBox 208" id="208"/>
            <p:cNvSpPr txBox="true"/>
            <p:nvPr/>
          </p:nvSpPr>
          <p:spPr>
            <a:xfrm>
              <a:off x="0" y="0"/>
              <a:ext cx="2362810" cy="534010"/>
            </a:xfrm>
            <a:prstGeom prst="rect">
              <a:avLst/>
            </a:prstGeom>
          </p:spPr>
          <p:txBody>
            <a:bodyPr anchor="ctr" rtlCol="false" tIns="0" lIns="0" bIns="0" rIns="0"/>
            <a:lstStyle/>
            <a:p>
              <a:pPr algn="l">
                <a:lnSpc>
                  <a:spcPts val="1620"/>
                </a:lnSpc>
              </a:pPr>
              <a:r>
                <a:rPr lang="en-US" sz="1350" b="true">
                  <a:solidFill>
                    <a:srgbClr val="000000"/>
                  </a:solidFill>
                  <a:latin typeface="Manrope Bold"/>
                  <a:ea typeface="Manrope Bold"/>
                  <a:cs typeface="Manrope Bold"/>
                  <a:sym typeface="Manrope Bold"/>
                </a:rPr>
                <a:t>VO₂max &amp; Force</a:t>
              </a:r>
            </a:p>
          </p:txBody>
        </p:sp>
      </p:grpSp>
      <p:grpSp>
        <p:nvGrpSpPr>
          <p:cNvPr name="Group 209" id="209"/>
          <p:cNvGrpSpPr/>
          <p:nvPr/>
        </p:nvGrpSpPr>
        <p:grpSpPr>
          <a:xfrm rot="0">
            <a:off x="12444603" y="9235059"/>
            <a:ext cx="4648200" cy="32766"/>
            <a:chOff x="0" y="0"/>
            <a:chExt cx="6197600" cy="43688"/>
          </a:xfrm>
        </p:grpSpPr>
        <p:sp>
          <p:nvSpPr>
            <p:cNvPr name="Freeform 210" id="210"/>
            <p:cNvSpPr/>
            <p:nvPr/>
          </p:nvSpPr>
          <p:spPr>
            <a:xfrm flipH="false" flipV="false" rot="0">
              <a:off x="12700" y="12700"/>
              <a:ext cx="6172200" cy="18288"/>
            </a:xfrm>
            <a:custGeom>
              <a:avLst/>
              <a:gdLst/>
              <a:ahLst/>
              <a:cxnLst/>
              <a:rect r="r" b="b" t="t" l="l"/>
              <a:pathLst>
                <a:path h="18288" w="6172200">
                  <a:moveTo>
                    <a:pt x="0" y="0"/>
                  </a:moveTo>
                  <a:lnTo>
                    <a:pt x="6172200" y="0"/>
                  </a:lnTo>
                  <a:lnTo>
                    <a:pt x="6172200" y="18288"/>
                  </a:lnTo>
                  <a:lnTo>
                    <a:pt x="0" y="18288"/>
                  </a:lnTo>
                  <a:close/>
                </a:path>
              </a:pathLst>
            </a:custGeom>
            <a:solidFill>
              <a:srgbClr val="40424D"/>
            </a:solidFill>
          </p:spPr>
          <p:txBody>
            <a:bodyPr/>
            <a:p/>
          </p:txBody>
        </p:sp>
      </p:grpSp>
      <p:grpSp>
        <p:nvGrpSpPr>
          <p:cNvPr name="Group 211" id="211"/>
          <p:cNvGrpSpPr/>
          <p:nvPr/>
        </p:nvGrpSpPr>
        <p:grpSpPr>
          <a:xfrm rot="0">
            <a:off x="12454128" y="9429750"/>
            <a:ext cx="5496001" cy="293380"/>
            <a:chOff x="0" y="0"/>
            <a:chExt cx="7328002" cy="391173"/>
          </a:xfrm>
        </p:grpSpPr>
        <p:sp>
          <p:nvSpPr>
            <p:cNvPr name="Freeform 212" id="212"/>
            <p:cNvSpPr/>
            <p:nvPr/>
          </p:nvSpPr>
          <p:spPr>
            <a:xfrm flipH="false" flipV="false" rot="0">
              <a:off x="0" y="0"/>
              <a:ext cx="7328002" cy="391174"/>
            </a:xfrm>
            <a:custGeom>
              <a:avLst/>
              <a:gdLst/>
              <a:ahLst/>
              <a:cxnLst/>
              <a:rect r="r" b="b" t="t" l="l"/>
              <a:pathLst>
                <a:path h="391174" w="7328002">
                  <a:moveTo>
                    <a:pt x="0" y="0"/>
                  </a:moveTo>
                  <a:lnTo>
                    <a:pt x="7328002" y="0"/>
                  </a:lnTo>
                  <a:lnTo>
                    <a:pt x="7328002" y="391174"/>
                  </a:lnTo>
                  <a:lnTo>
                    <a:pt x="0" y="391174"/>
                  </a:lnTo>
                  <a:close/>
                </a:path>
              </a:pathLst>
            </a:custGeom>
            <a:blipFill>
              <a:blip r:embed="rId4">
                <a:alphaModFix amt="0"/>
              </a:blip>
              <a:stretch>
                <a:fillRect l="0" t="-316165" r="0" b="-313876"/>
              </a:stretch>
            </a:blipFill>
          </p:spPr>
          <p:txBody>
            <a:bodyPr/>
            <a:p/>
          </p:txBody>
        </p:sp>
        <p:sp>
          <p:nvSpPr>
            <p:cNvPr name="TextBox 213" id="213"/>
            <p:cNvSpPr txBox="true"/>
            <p:nvPr/>
          </p:nvSpPr>
          <p:spPr>
            <a:xfrm>
              <a:off x="0" y="0"/>
              <a:ext cx="7328002" cy="391173"/>
            </a:xfrm>
            <a:prstGeom prst="rect">
              <a:avLst/>
            </a:prstGeom>
          </p:spPr>
          <p:txBody>
            <a:bodyPr anchor="ctr" rtlCol="false" tIns="0" lIns="0" bIns="0" rIns="0"/>
            <a:lstStyle/>
            <a:p>
              <a:pPr algn="l">
                <a:lnSpc>
                  <a:spcPts val="1620"/>
                </a:lnSpc>
              </a:pPr>
              <a:r>
                <a:rPr lang="en-US" sz="1350">
                  <a:solidFill>
                    <a:srgbClr val="9DA2B3"/>
                  </a:solidFill>
                  <a:latin typeface="Manrope"/>
                  <a:ea typeface="Manrope"/>
                  <a:cs typeface="Manrope"/>
                  <a:sym typeface="Manrope"/>
                </a:rPr>
                <a:t>Marqueurs fonctionnels de longévité et de résilience.</a:t>
              </a:r>
            </a:p>
          </p:txBody>
        </p:sp>
      </p:grpSp>
      <p:grpSp>
        <p:nvGrpSpPr>
          <p:cNvPr name="Group 214" id="214"/>
          <p:cNvGrpSpPr/>
          <p:nvPr/>
        </p:nvGrpSpPr>
        <p:grpSpPr>
          <a:xfrm rot="0">
            <a:off x="12444603" y="9812503"/>
            <a:ext cx="1018946" cy="319430"/>
            <a:chOff x="0" y="0"/>
            <a:chExt cx="1358595" cy="425907"/>
          </a:xfrm>
        </p:grpSpPr>
        <p:sp>
          <p:nvSpPr>
            <p:cNvPr name="Freeform 215" id="215"/>
            <p:cNvSpPr/>
            <p:nvPr/>
          </p:nvSpPr>
          <p:spPr>
            <a:xfrm flipH="false" flipV="false" rot="0">
              <a:off x="12700" y="12700"/>
              <a:ext cx="1333119" cy="400558"/>
            </a:xfrm>
            <a:custGeom>
              <a:avLst/>
              <a:gdLst/>
              <a:ahLst/>
              <a:cxnLst/>
              <a:rect r="r" b="b" t="t" l="l"/>
              <a:pathLst>
                <a:path h="400558" w="1333119">
                  <a:moveTo>
                    <a:pt x="0" y="200279"/>
                  </a:moveTo>
                  <a:cubicBezTo>
                    <a:pt x="0" y="89662"/>
                    <a:pt x="93599" y="0"/>
                    <a:pt x="208915" y="0"/>
                  </a:cubicBezTo>
                  <a:lnTo>
                    <a:pt x="1124204" y="0"/>
                  </a:lnTo>
                  <a:cubicBezTo>
                    <a:pt x="1239647" y="0"/>
                    <a:pt x="1333119" y="89662"/>
                    <a:pt x="1333119" y="200279"/>
                  </a:cubicBezTo>
                  <a:cubicBezTo>
                    <a:pt x="1333119" y="310896"/>
                    <a:pt x="1239647" y="400558"/>
                    <a:pt x="1124204" y="400558"/>
                  </a:cubicBezTo>
                  <a:lnTo>
                    <a:pt x="208915" y="400558"/>
                  </a:lnTo>
                  <a:cubicBezTo>
                    <a:pt x="93599" y="400558"/>
                    <a:pt x="0" y="310896"/>
                    <a:pt x="0" y="200279"/>
                  </a:cubicBezTo>
                  <a:close/>
                </a:path>
              </a:pathLst>
            </a:custGeom>
            <a:solidFill>
              <a:srgbClr val="FFFFFF">
                <a:alpha val="0"/>
              </a:srgbClr>
            </a:solidFill>
          </p:spPr>
          <p:txBody>
            <a:bodyPr/>
            <a:p/>
          </p:txBody>
        </p:sp>
      </p:grpSp>
      <p:grpSp>
        <p:nvGrpSpPr>
          <p:cNvPr name="Group 216" id="216"/>
          <p:cNvGrpSpPr/>
          <p:nvPr/>
        </p:nvGrpSpPr>
        <p:grpSpPr>
          <a:xfrm rot="0">
            <a:off x="12454128" y="9822028"/>
            <a:ext cx="1115111" cy="300381"/>
            <a:chOff x="0" y="0"/>
            <a:chExt cx="1486814" cy="400508"/>
          </a:xfrm>
        </p:grpSpPr>
        <p:sp>
          <p:nvSpPr>
            <p:cNvPr name="Freeform 217" id="217"/>
            <p:cNvSpPr/>
            <p:nvPr/>
          </p:nvSpPr>
          <p:spPr>
            <a:xfrm flipH="false" flipV="false" rot="0">
              <a:off x="0" y="0"/>
              <a:ext cx="1486814" cy="400509"/>
            </a:xfrm>
            <a:custGeom>
              <a:avLst/>
              <a:gdLst/>
              <a:ahLst/>
              <a:cxnLst/>
              <a:rect r="r" b="b" t="t" l="l"/>
              <a:pathLst>
                <a:path h="400509" w="1486814">
                  <a:moveTo>
                    <a:pt x="0" y="0"/>
                  </a:moveTo>
                  <a:lnTo>
                    <a:pt x="1486814" y="0"/>
                  </a:lnTo>
                  <a:lnTo>
                    <a:pt x="1486814" y="400509"/>
                  </a:lnTo>
                  <a:lnTo>
                    <a:pt x="0" y="400509"/>
                  </a:lnTo>
                  <a:close/>
                </a:path>
              </a:pathLst>
            </a:custGeom>
            <a:blipFill>
              <a:blip r:embed="rId4">
                <a:alphaModFix amt="0"/>
              </a:blip>
              <a:stretch>
                <a:fillRect l="0" t="-22334" r="0" b="-22334"/>
              </a:stretch>
            </a:blipFill>
          </p:spPr>
          <p:txBody>
            <a:bodyPr/>
            <a:p/>
          </p:txBody>
        </p:sp>
        <p:sp>
          <p:nvSpPr>
            <p:cNvPr name="TextBox 218" id="218"/>
            <p:cNvSpPr txBox="true"/>
            <p:nvPr/>
          </p:nvSpPr>
          <p:spPr>
            <a:xfrm>
              <a:off x="0" y="0"/>
              <a:ext cx="148681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Préhension</a:t>
              </a:r>
            </a:p>
          </p:txBody>
        </p:sp>
      </p:grpSp>
      <p:grpSp>
        <p:nvGrpSpPr>
          <p:cNvPr name="Group 219" id="219"/>
          <p:cNvGrpSpPr/>
          <p:nvPr/>
        </p:nvGrpSpPr>
        <p:grpSpPr>
          <a:xfrm rot="0">
            <a:off x="13555599" y="9812503"/>
            <a:ext cx="504596" cy="319430"/>
            <a:chOff x="0" y="0"/>
            <a:chExt cx="672795" cy="425907"/>
          </a:xfrm>
        </p:grpSpPr>
        <p:sp>
          <p:nvSpPr>
            <p:cNvPr name="Freeform 220" id="220"/>
            <p:cNvSpPr/>
            <p:nvPr/>
          </p:nvSpPr>
          <p:spPr>
            <a:xfrm flipH="false" flipV="false" rot="0">
              <a:off x="12700" y="12700"/>
              <a:ext cx="647319" cy="400558"/>
            </a:xfrm>
            <a:custGeom>
              <a:avLst/>
              <a:gdLst/>
              <a:ahLst/>
              <a:cxnLst/>
              <a:rect r="r" b="b" t="t" l="l"/>
              <a:pathLst>
                <a:path h="400558" w="647319">
                  <a:moveTo>
                    <a:pt x="0" y="200279"/>
                  </a:moveTo>
                  <a:cubicBezTo>
                    <a:pt x="0" y="89662"/>
                    <a:pt x="91694" y="0"/>
                    <a:pt x="204851" y="0"/>
                  </a:cubicBezTo>
                  <a:lnTo>
                    <a:pt x="442468" y="0"/>
                  </a:lnTo>
                  <a:cubicBezTo>
                    <a:pt x="555625" y="0"/>
                    <a:pt x="647319" y="89662"/>
                    <a:pt x="647319" y="200279"/>
                  </a:cubicBezTo>
                  <a:cubicBezTo>
                    <a:pt x="647319" y="310896"/>
                    <a:pt x="555625" y="400558"/>
                    <a:pt x="442468" y="400558"/>
                  </a:cubicBezTo>
                  <a:lnTo>
                    <a:pt x="204851" y="400558"/>
                  </a:lnTo>
                  <a:cubicBezTo>
                    <a:pt x="91694" y="400558"/>
                    <a:pt x="0" y="310896"/>
                    <a:pt x="0" y="200279"/>
                  </a:cubicBezTo>
                  <a:close/>
                </a:path>
              </a:pathLst>
            </a:custGeom>
            <a:solidFill>
              <a:srgbClr val="FFFFFF">
                <a:alpha val="0"/>
              </a:srgbClr>
            </a:solidFill>
          </p:spPr>
          <p:txBody>
            <a:bodyPr/>
            <a:p/>
          </p:txBody>
        </p:sp>
      </p:grpSp>
      <p:grpSp>
        <p:nvGrpSpPr>
          <p:cNvPr name="Group 221" id="221"/>
          <p:cNvGrpSpPr/>
          <p:nvPr/>
        </p:nvGrpSpPr>
        <p:grpSpPr>
          <a:xfrm rot="0">
            <a:off x="13565124" y="9822028"/>
            <a:ext cx="600761" cy="300381"/>
            <a:chOff x="0" y="0"/>
            <a:chExt cx="801014" cy="400508"/>
          </a:xfrm>
        </p:grpSpPr>
        <p:sp>
          <p:nvSpPr>
            <p:cNvPr name="Freeform 222" id="222"/>
            <p:cNvSpPr/>
            <p:nvPr/>
          </p:nvSpPr>
          <p:spPr>
            <a:xfrm flipH="false" flipV="false" rot="0">
              <a:off x="0" y="0"/>
              <a:ext cx="801014" cy="400509"/>
            </a:xfrm>
            <a:custGeom>
              <a:avLst/>
              <a:gdLst/>
              <a:ahLst/>
              <a:cxnLst/>
              <a:rect r="r" b="b" t="t" l="l"/>
              <a:pathLst>
                <a:path h="400509" w="801014">
                  <a:moveTo>
                    <a:pt x="0" y="0"/>
                  </a:moveTo>
                  <a:lnTo>
                    <a:pt x="801014" y="0"/>
                  </a:lnTo>
                  <a:lnTo>
                    <a:pt x="801014" y="400509"/>
                  </a:lnTo>
                  <a:lnTo>
                    <a:pt x="0" y="400509"/>
                  </a:lnTo>
                  <a:close/>
                </a:path>
              </a:pathLst>
            </a:custGeom>
            <a:blipFill>
              <a:blip r:embed="rId4">
                <a:alphaModFix amt="0"/>
              </a:blip>
              <a:stretch>
                <a:fillRect l="-14151" t="0" r="-14151" b="0"/>
              </a:stretch>
            </a:blipFill>
          </p:spPr>
          <p:txBody>
            <a:bodyPr/>
            <a:p/>
          </p:txBody>
        </p:sp>
        <p:sp>
          <p:nvSpPr>
            <p:cNvPr name="TextBox 223" id="223"/>
            <p:cNvSpPr txBox="true"/>
            <p:nvPr/>
          </p:nvSpPr>
          <p:spPr>
            <a:xfrm>
              <a:off x="0" y="0"/>
              <a:ext cx="801014"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HRV</a:t>
              </a:r>
            </a:p>
          </p:txBody>
        </p:sp>
      </p:grpSp>
      <p:grpSp>
        <p:nvGrpSpPr>
          <p:cNvPr name="Group 224" id="224"/>
          <p:cNvGrpSpPr/>
          <p:nvPr/>
        </p:nvGrpSpPr>
        <p:grpSpPr>
          <a:xfrm rot="0">
            <a:off x="14142644" y="9812503"/>
            <a:ext cx="1176680" cy="319430"/>
            <a:chOff x="0" y="0"/>
            <a:chExt cx="1568907" cy="425907"/>
          </a:xfrm>
        </p:grpSpPr>
        <p:sp>
          <p:nvSpPr>
            <p:cNvPr name="Freeform 225" id="225"/>
            <p:cNvSpPr/>
            <p:nvPr/>
          </p:nvSpPr>
          <p:spPr>
            <a:xfrm flipH="false" flipV="false" rot="0">
              <a:off x="12700" y="12700"/>
              <a:ext cx="1543558" cy="400558"/>
            </a:xfrm>
            <a:custGeom>
              <a:avLst/>
              <a:gdLst/>
              <a:ahLst/>
              <a:cxnLst/>
              <a:rect r="r" b="b" t="t" l="l"/>
              <a:pathLst>
                <a:path h="400558" w="1543558">
                  <a:moveTo>
                    <a:pt x="0" y="200279"/>
                  </a:moveTo>
                  <a:cubicBezTo>
                    <a:pt x="0" y="89662"/>
                    <a:pt x="93853" y="0"/>
                    <a:pt x="209550" y="0"/>
                  </a:cubicBezTo>
                  <a:lnTo>
                    <a:pt x="1334008" y="0"/>
                  </a:lnTo>
                  <a:cubicBezTo>
                    <a:pt x="1449705" y="0"/>
                    <a:pt x="1543558" y="89662"/>
                    <a:pt x="1543558" y="200279"/>
                  </a:cubicBezTo>
                  <a:cubicBezTo>
                    <a:pt x="1543558" y="310896"/>
                    <a:pt x="1449705" y="400558"/>
                    <a:pt x="1334008" y="400558"/>
                  </a:cubicBezTo>
                  <a:lnTo>
                    <a:pt x="209550" y="400558"/>
                  </a:lnTo>
                  <a:cubicBezTo>
                    <a:pt x="93853" y="400558"/>
                    <a:pt x="0" y="310896"/>
                    <a:pt x="0" y="200279"/>
                  </a:cubicBezTo>
                  <a:close/>
                </a:path>
              </a:pathLst>
            </a:custGeom>
            <a:solidFill>
              <a:srgbClr val="FFFFFF">
                <a:alpha val="0"/>
              </a:srgbClr>
            </a:solidFill>
          </p:spPr>
          <p:txBody>
            <a:bodyPr/>
            <a:p/>
          </p:txBody>
        </p:sp>
      </p:grpSp>
      <p:grpSp>
        <p:nvGrpSpPr>
          <p:cNvPr name="Group 226" id="226"/>
          <p:cNvGrpSpPr/>
          <p:nvPr/>
        </p:nvGrpSpPr>
        <p:grpSpPr>
          <a:xfrm rot="0">
            <a:off x="14152169" y="9822028"/>
            <a:ext cx="1272845" cy="300381"/>
            <a:chOff x="0" y="0"/>
            <a:chExt cx="1697126" cy="400508"/>
          </a:xfrm>
        </p:grpSpPr>
        <p:sp>
          <p:nvSpPr>
            <p:cNvPr name="Freeform 227" id="227"/>
            <p:cNvSpPr/>
            <p:nvPr/>
          </p:nvSpPr>
          <p:spPr>
            <a:xfrm flipH="false" flipV="false" rot="0">
              <a:off x="0" y="0"/>
              <a:ext cx="1697126" cy="400509"/>
            </a:xfrm>
            <a:custGeom>
              <a:avLst/>
              <a:gdLst/>
              <a:ahLst/>
              <a:cxnLst/>
              <a:rect r="r" b="b" t="t" l="l"/>
              <a:pathLst>
                <a:path h="400509" w="1697126">
                  <a:moveTo>
                    <a:pt x="0" y="0"/>
                  </a:moveTo>
                  <a:lnTo>
                    <a:pt x="1697126" y="0"/>
                  </a:lnTo>
                  <a:lnTo>
                    <a:pt x="1697126" y="400509"/>
                  </a:lnTo>
                  <a:lnTo>
                    <a:pt x="0" y="400509"/>
                  </a:lnTo>
                  <a:close/>
                </a:path>
              </a:pathLst>
            </a:custGeom>
            <a:blipFill>
              <a:blip r:embed="rId4">
                <a:alphaModFix amt="0"/>
              </a:blip>
              <a:stretch>
                <a:fillRect l="0" t="-32566" r="0" b="-32566"/>
              </a:stretch>
            </a:blipFill>
          </p:spPr>
          <p:txBody>
            <a:bodyPr/>
            <a:p/>
          </p:txBody>
        </p:sp>
        <p:sp>
          <p:nvSpPr>
            <p:cNvPr name="TextBox 228" id="228"/>
            <p:cNvSpPr txBox="true"/>
            <p:nvPr/>
          </p:nvSpPr>
          <p:spPr>
            <a:xfrm>
              <a:off x="0" y="0"/>
              <a:ext cx="1697126" cy="400508"/>
            </a:xfrm>
            <a:prstGeom prst="rect">
              <a:avLst/>
            </a:prstGeom>
          </p:spPr>
          <p:txBody>
            <a:bodyPr anchor="ctr" rtlCol="false" tIns="0" lIns="0" bIns="0" rIns="0"/>
            <a:lstStyle/>
            <a:p>
              <a:pPr algn="l">
                <a:lnSpc>
                  <a:spcPts val="1439"/>
                </a:lnSpc>
              </a:pPr>
              <a:r>
                <a:rPr lang="en-US" sz="1200">
                  <a:solidFill>
                    <a:srgbClr val="BCBFCC"/>
                  </a:solidFill>
                  <a:latin typeface="Manrope"/>
                  <a:ea typeface="Manrope"/>
                  <a:cs typeface="Manrope"/>
                  <a:sym typeface="Manrope"/>
                </a:rPr>
                <a:t>Récupération</a:t>
              </a:r>
            </a:p>
          </p:txBody>
        </p:sp>
      </p:grpSp>
      <p:grpSp>
        <p:nvGrpSpPr>
          <p:cNvPr name="Group 229" id="229"/>
          <p:cNvGrpSpPr/>
          <p:nvPr/>
        </p:nvGrpSpPr>
        <p:grpSpPr>
          <a:xfrm rot="0">
            <a:off x="857250" y="714604"/>
            <a:ext cx="456743" cy="13716"/>
            <a:chOff x="0" y="0"/>
            <a:chExt cx="608990" cy="18288"/>
          </a:xfrm>
        </p:grpSpPr>
        <p:sp>
          <p:nvSpPr>
            <p:cNvPr name="Freeform 230" id="230"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10"/>
              <a:stretch>
                <a:fillRect l="1949" t="0" r="1945" b="0"/>
              </a:stretch>
            </a:blipFill>
          </p:spPr>
          <p:txBody>
            <a:bodyPr/>
            <a:p/>
          </p:txBody>
        </p:sp>
      </p:grpSp>
      <p:grpSp>
        <p:nvGrpSpPr>
          <p:cNvPr name="Group 231" id="231"/>
          <p:cNvGrpSpPr/>
          <p:nvPr/>
        </p:nvGrpSpPr>
        <p:grpSpPr>
          <a:xfrm rot="0">
            <a:off x="1485443" y="571957"/>
            <a:ext cx="2857043" cy="332327"/>
            <a:chOff x="0" y="0"/>
            <a:chExt cx="3809390" cy="443103"/>
          </a:xfrm>
        </p:grpSpPr>
        <p:sp>
          <p:nvSpPr>
            <p:cNvPr name="Freeform 232" id="232"/>
            <p:cNvSpPr/>
            <p:nvPr/>
          </p:nvSpPr>
          <p:spPr>
            <a:xfrm flipH="false" flipV="false" rot="0">
              <a:off x="0" y="0"/>
              <a:ext cx="3809390" cy="443104"/>
            </a:xfrm>
            <a:custGeom>
              <a:avLst/>
              <a:gdLst/>
              <a:ahLst/>
              <a:cxnLst/>
              <a:rect r="r" b="b" t="t" l="l"/>
              <a:pathLst>
                <a:path h="443104" w="3809390">
                  <a:moveTo>
                    <a:pt x="0" y="0"/>
                  </a:moveTo>
                  <a:lnTo>
                    <a:pt x="3809390" y="0"/>
                  </a:lnTo>
                  <a:lnTo>
                    <a:pt x="3809390" y="443104"/>
                  </a:lnTo>
                  <a:lnTo>
                    <a:pt x="0" y="443104"/>
                  </a:lnTo>
                  <a:close/>
                </a:path>
              </a:pathLst>
            </a:custGeom>
            <a:blipFill>
              <a:blip r:embed="rId4">
                <a:alphaModFix amt="0"/>
              </a:blip>
              <a:stretch>
                <a:fillRect l="0" t="-122320" r="0" b="-112707"/>
              </a:stretch>
            </a:blipFill>
          </p:spPr>
          <p:txBody>
            <a:bodyPr/>
            <a:p/>
          </p:txBody>
        </p:sp>
        <p:sp>
          <p:nvSpPr>
            <p:cNvPr name="TextBox 233" id="233"/>
            <p:cNvSpPr txBox="true"/>
            <p:nvPr/>
          </p:nvSpPr>
          <p:spPr>
            <a:xfrm>
              <a:off x="0" y="-9525"/>
              <a:ext cx="3809390" cy="452628"/>
            </a:xfrm>
            <a:prstGeom prst="rect">
              <a:avLst/>
            </a:prstGeom>
          </p:spPr>
          <p:txBody>
            <a:bodyPr anchor="ctr" rtlCol="false" tIns="0" lIns="0" bIns="0" rIns="0"/>
            <a:lstStyle/>
            <a:p>
              <a:pPr algn="l">
                <a:lnSpc>
                  <a:spcPts val="1800"/>
                </a:lnSpc>
              </a:pPr>
              <a:r>
                <a:rPr lang="en-US" sz="1500" spc="225">
                  <a:solidFill>
                    <a:srgbClr val="BCBFCC"/>
                  </a:solidFill>
                  <a:latin typeface="Manrope"/>
                  <a:ea typeface="Manrope"/>
                  <a:cs typeface="Manrope"/>
                  <a:sym typeface="Manrope"/>
                </a:rPr>
                <a:t>Test · Track · Tune</a:t>
              </a:r>
            </a:p>
          </p:txBody>
        </p:sp>
      </p:grpSp>
      <p:grpSp>
        <p:nvGrpSpPr>
          <p:cNvPr name="Group 234" id="234"/>
          <p:cNvGrpSpPr/>
          <p:nvPr/>
        </p:nvGrpSpPr>
        <p:grpSpPr>
          <a:xfrm rot="0">
            <a:off x="857250" y="986180"/>
            <a:ext cx="10230764" cy="1192568"/>
            <a:chOff x="0" y="0"/>
            <a:chExt cx="13641019" cy="1590091"/>
          </a:xfrm>
        </p:grpSpPr>
        <p:sp>
          <p:nvSpPr>
            <p:cNvPr name="Freeform 235" id="235"/>
            <p:cNvSpPr/>
            <p:nvPr/>
          </p:nvSpPr>
          <p:spPr>
            <a:xfrm flipH="false" flipV="false" rot="0">
              <a:off x="0" y="0"/>
              <a:ext cx="13641020" cy="1590091"/>
            </a:xfrm>
            <a:custGeom>
              <a:avLst/>
              <a:gdLst/>
              <a:ahLst/>
              <a:cxnLst/>
              <a:rect r="r" b="b" t="t" l="l"/>
              <a:pathLst>
                <a:path h="1590091" w="13641020">
                  <a:moveTo>
                    <a:pt x="0" y="0"/>
                  </a:moveTo>
                  <a:lnTo>
                    <a:pt x="13641020" y="0"/>
                  </a:lnTo>
                  <a:lnTo>
                    <a:pt x="13641020" y="1590091"/>
                  </a:lnTo>
                  <a:lnTo>
                    <a:pt x="0" y="1590091"/>
                  </a:lnTo>
                  <a:close/>
                </a:path>
              </a:pathLst>
            </a:custGeom>
            <a:blipFill>
              <a:blip r:embed="rId4">
                <a:alphaModFix amt="0"/>
              </a:blip>
              <a:stretch>
                <a:fillRect l="0" t="-138404" r="0" b="-95910"/>
              </a:stretch>
            </a:blipFill>
          </p:spPr>
          <p:txBody>
            <a:bodyPr/>
            <a:p/>
          </p:txBody>
        </p:sp>
        <p:sp>
          <p:nvSpPr>
            <p:cNvPr name="TextBox 236" id="236"/>
            <p:cNvSpPr txBox="true"/>
            <p:nvPr/>
          </p:nvSpPr>
          <p:spPr>
            <a:xfrm>
              <a:off x="0" y="9525"/>
              <a:ext cx="13641019" cy="1580566"/>
            </a:xfrm>
            <a:prstGeom prst="rect">
              <a:avLst/>
            </a:prstGeom>
          </p:spPr>
          <p:txBody>
            <a:bodyPr anchor="ctr" rtlCol="false" tIns="0" lIns="0" bIns="0" rIns="0"/>
            <a:lstStyle/>
            <a:p>
              <a:pPr algn="l">
                <a:lnSpc>
                  <a:spcPts val="6480"/>
                </a:lnSpc>
              </a:pPr>
              <a:r>
                <a:rPr lang="en-US" sz="5400" spc="-112">
                  <a:solidFill>
                    <a:srgbClr val="FFFFFF"/>
                  </a:solidFill>
                  <a:latin typeface="Manrope"/>
                  <a:ea typeface="Manrope"/>
                  <a:cs typeface="Manrope"/>
                  <a:sym typeface="Manrope"/>
                </a:rPr>
                <a:t>TESTER · SUIVRE · AJUSTER</a:t>
              </a:r>
            </a:p>
          </p:txBody>
        </p:sp>
      </p:grpSp>
      <p:grpSp>
        <p:nvGrpSpPr>
          <p:cNvPr name="Group 237" id="237"/>
          <p:cNvGrpSpPr/>
          <p:nvPr/>
        </p:nvGrpSpPr>
        <p:grpSpPr>
          <a:xfrm rot="0">
            <a:off x="857250" y="1882350"/>
            <a:ext cx="8761781" cy="332327"/>
            <a:chOff x="0" y="0"/>
            <a:chExt cx="11682374" cy="443103"/>
          </a:xfrm>
        </p:grpSpPr>
        <p:sp>
          <p:nvSpPr>
            <p:cNvPr name="Freeform 238" id="238"/>
            <p:cNvSpPr/>
            <p:nvPr/>
          </p:nvSpPr>
          <p:spPr>
            <a:xfrm flipH="false" flipV="false" rot="0">
              <a:off x="0" y="0"/>
              <a:ext cx="11682374" cy="443104"/>
            </a:xfrm>
            <a:custGeom>
              <a:avLst/>
              <a:gdLst/>
              <a:ahLst/>
              <a:cxnLst/>
              <a:rect r="r" b="b" t="t" l="l"/>
              <a:pathLst>
                <a:path h="443104" w="11682374">
                  <a:moveTo>
                    <a:pt x="0" y="0"/>
                  </a:moveTo>
                  <a:lnTo>
                    <a:pt x="11682374" y="0"/>
                  </a:lnTo>
                  <a:lnTo>
                    <a:pt x="11682374" y="443104"/>
                  </a:lnTo>
                  <a:lnTo>
                    <a:pt x="0" y="443104"/>
                  </a:lnTo>
                  <a:close/>
                </a:path>
              </a:pathLst>
            </a:custGeom>
            <a:blipFill>
              <a:blip r:embed="rId4">
                <a:alphaModFix amt="0"/>
              </a:blip>
              <a:stretch>
                <a:fillRect l="0" t="-470590" r="0" b="-456850"/>
              </a:stretch>
            </a:blipFill>
          </p:spPr>
          <p:txBody>
            <a:bodyPr/>
            <a:p/>
          </p:txBody>
        </p:sp>
        <p:sp>
          <p:nvSpPr>
            <p:cNvPr name="TextBox 239" id="239"/>
            <p:cNvSpPr txBox="true"/>
            <p:nvPr/>
          </p:nvSpPr>
          <p:spPr>
            <a:xfrm>
              <a:off x="0" y="-9525"/>
              <a:ext cx="11682374" cy="452628"/>
            </a:xfrm>
            <a:prstGeom prst="rect">
              <a:avLst/>
            </a:prstGeom>
          </p:spPr>
          <p:txBody>
            <a:bodyPr anchor="ctr" rtlCol="false" tIns="0" lIns="0" bIns="0" rIns="0"/>
            <a:lstStyle/>
            <a:p>
              <a:pPr algn="l">
                <a:lnSpc>
                  <a:spcPts val="1800"/>
                </a:lnSpc>
              </a:pPr>
              <a:r>
                <a:rPr lang="en-US" sz="1500" spc="225">
                  <a:solidFill>
                    <a:srgbClr val="BCBFCC"/>
                  </a:solidFill>
                  <a:latin typeface="Manrope"/>
                  <a:ea typeface="Manrope"/>
                  <a:cs typeface="Manrope"/>
                  <a:sym typeface="Manrope"/>
                </a:rPr>
                <a:t>La mesure précise au service de l'optimisation biologique.</a:t>
              </a:r>
            </a:p>
          </p:txBody>
        </p:sp>
      </p:grpSp>
      <p:grpSp>
        <p:nvGrpSpPr>
          <p:cNvPr name="Group 240" id="240"/>
          <p:cNvGrpSpPr/>
          <p:nvPr/>
        </p:nvGrpSpPr>
        <p:grpSpPr>
          <a:xfrm rot="0">
            <a:off x="16915943" y="1521104"/>
            <a:ext cx="514350" cy="514350"/>
            <a:chOff x="0" y="0"/>
            <a:chExt cx="685800" cy="685800"/>
          </a:xfrm>
        </p:grpSpPr>
        <p:sp>
          <p:nvSpPr>
            <p:cNvPr name="Freeform 241" id="241"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11">
                <a:alphaModFix amt="30000"/>
              </a:blip>
              <a:stretch>
                <a:fillRect l="0" t="0" r="0" b="0"/>
              </a:stretch>
            </a:blipFill>
          </p:spPr>
          <p:txBody>
            <a:body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8220075" y="-9525"/>
            <a:ext cx="10076993" cy="10306050"/>
            <a:chOff x="0" y="0"/>
            <a:chExt cx="13435990" cy="13741400"/>
          </a:xfrm>
        </p:grpSpPr>
        <p:sp>
          <p:nvSpPr>
            <p:cNvPr name="Freeform 7" id="7"/>
            <p:cNvSpPr/>
            <p:nvPr/>
          </p:nvSpPr>
          <p:spPr>
            <a:xfrm flipH="false" flipV="false" rot="0">
              <a:off x="12700" y="12700"/>
              <a:ext cx="13410564" cy="13716000"/>
            </a:xfrm>
            <a:custGeom>
              <a:avLst/>
              <a:gdLst/>
              <a:ahLst/>
              <a:cxnLst/>
              <a:rect r="r" b="b" t="t" l="l"/>
              <a:pathLst>
                <a:path h="13716000" w="13410564">
                  <a:moveTo>
                    <a:pt x="0" y="0"/>
                  </a:moveTo>
                  <a:lnTo>
                    <a:pt x="13410564" y="0"/>
                  </a:lnTo>
                  <a:lnTo>
                    <a:pt x="13410564" y="13716000"/>
                  </a:lnTo>
                  <a:lnTo>
                    <a:pt x="0" y="13716000"/>
                  </a:lnTo>
                  <a:close/>
                </a:path>
              </a:pathLst>
            </a:custGeom>
            <a:solidFill>
              <a:srgbClr val="000000"/>
            </a:solidFill>
          </p:spPr>
          <p:txBody>
            <a:bodyPr/>
            <a:p/>
          </p:txBody>
        </p:sp>
      </p:grpSp>
      <p:grpSp>
        <p:nvGrpSpPr>
          <p:cNvPr name="Group 8" id="8"/>
          <p:cNvGrpSpPr/>
          <p:nvPr/>
        </p:nvGrpSpPr>
        <p:grpSpPr>
          <a:xfrm rot="0">
            <a:off x="8229600" y="0"/>
            <a:ext cx="10057943" cy="10287000"/>
            <a:chOff x="0" y="0"/>
            <a:chExt cx="13410590" cy="13716000"/>
          </a:xfrm>
        </p:grpSpPr>
        <p:sp>
          <p:nvSpPr>
            <p:cNvPr name="Freeform 9" id="9"/>
            <p:cNvSpPr/>
            <p:nvPr/>
          </p:nvSpPr>
          <p:spPr>
            <a:xfrm flipH="false" flipV="false" rot="0">
              <a:off x="0" y="0"/>
              <a:ext cx="13410564" cy="13716000"/>
            </a:xfrm>
            <a:custGeom>
              <a:avLst/>
              <a:gdLst/>
              <a:ahLst/>
              <a:cxnLst/>
              <a:rect r="r" b="b" t="t" l="l"/>
              <a:pathLst>
                <a:path h="13716000" w="13410564">
                  <a:moveTo>
                    <a:pt x="0" y="0"/>
                  </a:moveTo>
                  <a:lnTo>
                    <a:pt x="13410564" y="0"/>
                  </a:lnTo>
                  <a:lnTo>
                    <a:pt x="13410564" y="13716000"/>
                  </a:lnTo>
                  <a:lnTo>
                    <a:pt x="0" y="13716000"/>
                  </a:lnTo>
                  <a:lnTo>
                    <a:pt x="0" y="0"/>
                  </a:lnTo>
                  <a:close/>
                </a:path>
              </a:pathLst>
            </a:custGeom>
            <a:blipFill>
              <a:blip r:embed="rId3"/>
              <a:stretch>
                <a:fillRect l="0" t="-9601" r="0" b="-9601"/>
              </a:stretch>
            </a:blipFill>
          </p:spPr>
          <p:txBody>
            <a:bodyPr/>
            <a:p/>
          </p:txBody>
        </p:sp>
      </p:grpSp>
      <p:grpSp>
        <p:nvGrpSpPr>
          <p:cNvPr name="Group 10" id="10"/>
          <p:cNvGrpSpPr/>
          <p:nvPr/>
        </p:nvGrpSpPr>
        <p:grpSpPr>
          <a:xfrm rot="0">
            <a:off x="17590770" y="9543593"/>
            <a:ext cx="357988" cy="332327"/>
            <a:chOff x="0" y="0"/>
            <a:chExt cx="477317" cy="443103"/>
          </a:xfrm>
        </p:grpSpPr>
        <p:sp>
          <p:nvSpPr>
            <p:cNvPr name="Freeform 11" id="11"/>
            <p:cNvSpPr/>
            <p:nvPr/>
          </p:nvSpPr>
          <p:spPr>
            <a:xfrm flipH="false" flipV="false" rot="0">
              <a:off x="0" y="0"/>
              <a:ext cx="477316" cy="443104"/>
            </a:xfrm>
            <a:custGeom>
              <a:avLst/>
              <a:gdLst/>
              <a:ahLst/>
              <a:cxnLst/>
              <a:rect r="r" b="b" t="t" l="l"/>
              <a:pathLst>
                <a:path h="443104" w="477316">
                  <a:moveTo>
                    <a:pt x="0" y="0"/>
                  </a:moveTo>
                  <a:lnTo>
                    <a:pt x="477316" y="0"/>
                  </a:lnTo>
                  <a:lnTo>
                    <a:pt x="477316" y="443104"/>
                  </a:lnTo>
                  <a:lnTo>
                    <a:pt x="0" y="443104"/>
                  </a:lnTo>
                  <a:close/>
                </a:path>
              </a:pathLst>
            </a:custGeom>
            <a:blipFill>
              <a:blip r:embed="rId4">
                <a:alphaModFix amt="0"/>
              </a:blip>
              <a:stretch>
                <a:fillRect l="-52741" t="0" r="-52741" b="13740"/>
              </a:stretch>
            </a:blipFill>
          </p:spPr>
          <p:txBody>
            <a:bodyPr/>
            <a:p/>
          </p:txBody>
        </p:sp>
        <p:sp>
          <p:nvSpPr>
            <p:cNvPr name="TextBox 12" id="12"/>
            <p:cNvSpPr txBox="true"/>
            <p:nvPr/>
          </p:nvSpPr>
          <p:spPr>
            <a:xfrm>
              <a:off x="0" y="-9525"/>
              <a:ext cx="477317" cy="452628"/>
            </a:xfrm>
            <a:prstGeom prst="rect">
              <a:avLst/>
            </a:prstGeom>
          </p:spPr>
          <p:txBody>
            <a:bodyPr anchor="ctr" rtlCol="false" tIns="0" lIns="0" bIns="0" rIns="0"/>
            <a:lstStyle/>
            <a:p>
              <a:pPr algn="l">
                <a:lnSpc>
                  <a:spcPts val="1800"/>
                </a:lnSpc>
              </a:pPr>
              <a:r>
                <a:rPr lang="en-US" sz="1500">
                  <a:solidFill>
                    <a:srgbClr val="4B5563"/>
                  </a:solidFill>
                  <a:latin typeface="Manrope"/>
                  <a:ea typeface="Manrope"/>
                  <a:cs typeface="Manrope"/>
                  <a:sym typeface="Manrope"/>
                </a:rPr>
                <a:t>02</a:t>
              </a:r>
            </a:p>
          </p:txBody>
        </p:sp>
      </p:grpSp>
      <p:grpSp>
        <p:nvGrpSpPr>
          <p:cNvPr name="Group 13" id="13"/>
          <p:cNvGrpSpPr/>
          <p:nvPr/>
        </p:nvGrpSpPr>
        <p:grpSpPr>
          <a:xfrm rot="0">
            <a:off x="0" y="0"/>
            <a:ext cx="8229600" cy="10287000"/>
            <a:chOff x="0" y="0"/>
            <a:chExt cx="10972800" cy="13716000"/>
          </a:xfrm>
        </p:grpSpPr>
        <p:sp>
          <p:nvSpPr>
            <p:cNvPr name="Freeform 14" id="14"/>
            <p:cNvSpPr/>
            <p:nvPr/>
          </p:nvSpPr>
          <p:spPr>
            <a:xfrm flipH="false" flipV="false" rot="0">
              <a:off x="0" y="0"/>
              <a:ext cx="10972800" cy="13716000"/>
            </a:xfrm>
            <a:custGeom>
              <a:avLst/>
              <a:gdLst/>
              <a:ahLst/>
              <a:cxnLst/>
              <a:rect r="r" b="b" t="t" l="l"/>
              <a:pathLst>
                <a:path h="13716000" w="10972800">
                  <a:moveTo>
                    <a:pt x="0" y="0"/>
                  </a:moveTo>
                  <a:lnTo>
                    <a:pt x="10972800" y="0"/>
                  </a:lnTo>
                  <a:lnTo>
                    <a:pt x="10972800" y="13716000"/>
                  </a:lnTo>
                  <a:lnTo>
                    <a:pt x="0" y="13716000"/>
                  </a:lnTo>
                  <a:close/>
                </a:path>
              </a:pathLst>
            </a:custGeom>
            <a:solidFill>
              <a:srgbClr val="1E1E24"/>
            </a:solidFill>
          </p:spPr>
          <p:txBody>
            <a:bodyPr/>
            <a:p/>
          </p:txBody>
        </p:sp>
      </p:grpSp>
      <p:grpSp>
        <p:nvGrpSpPr>
          <p:cNvPr name="Group 15" id="15"/>
          <p:cNvGrpSpPr/>
          <p:nvPr/>
        </p:nvGrpSpPr>
        <p:grpSpPr>
          <a:xfrm rot="0">
            <a:off x="8206359" y="-9525"/>
            <a:ext cx="32766" cy="10306050"/>
            <a:chOff x="0" y="0"/>
            <a:chExt cx="43688" cy="13741400"/>
          </a:xfrm>
        </p:grpSpPr>
        <p:sp>
          <p:nvSpPr>
            <p:cNvPr name="Freeform 16" id="16"/>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7" id="17"/>
          <p:cNvGrpSpPr/>
          <p:nvPr/>
        </p:nvGrpSpPr>
        <p:grpSpPr>
          <a:xfrm rot="0">
            <a:off x="847725" y="364922"/>
            <a:ext cx="1319327" cy="361950"/>
            <a:chOff x="0" y="0"/>
            <a:chExt cx="1759102" cy="482600"/>
          </a:xfrm>
        </p:grpSpPr>
        <p:sp>
          <p:nvSpPr>
            <p:cNvPr name="Freeform 18" id="18"/>
            <p:cNvSpPr/>
            <p:nvPr/>
          </p:nvSpPr>
          <p:spPr>
            <a:xfrm flipH="false" flipV="false" rot="0">
              <a:off x="12700" y="12700"/>
              <a:ext cx="1733804" cy="457200"/>
            </a:xfrm>
            <a:custGeom>
              <a:avLst/>
              <a:gdLst/>
              <a:ahLst/>
              <a:cxnLst/>
              <a:rect r="r" b="b" t="t" l="l"/>
              <a:pathLst>
                <a:path h="457200" w="1733804">
                  <a:moveTo>
                    <a:pt x="0" y="228600"/>
                  </a:moveTo>
                  <a:cubicBezTo>
                    <a:pt x="0" y="102362"/>
                    <a:pt x="106426" y="0"/>
                    <a:pt x="237871" y="0"/>
                  </a:cubicBezTo>
                  <a:lnTo>
                    <a:pt x="1495933" y="0"/>
                  </a:lnTo>
                  <a:cubicBezTo>
                    <a:pt x="1627251" y="0"/>
                    <a:pt x="1733804" y="102362"/>
                    <a:pt x="1733804" y="228600"/>
                  </a:cubicBezTo>
                  <a:cubicBezTo>
                    <a:pt x="1733804" y="354838"/>
                    <a:pt x="1627378" y="457200"/>
                    <a:pt x="1495933" y="457200"/>
                  </a:cubicBezTo>
                  <a:lnTo>
                    <a:pt x="237871" y="457200"/>
                  </a:lnTo>
                  <a:cubicBezTo>
                    <a:pt x="106426" y="457200"/>
                    <a:pt x="0" y="354838"/>
                    <a:pt x="0" y="228600"/>
                  </a:cubicBezTo>
                  <a:close/>
                </a:path>
              </a:pathLst>
            </a:custGeom>
            <a:solidFill>
              <a:srgbClr val="FFFFFF"/>
            </a:solidFill>
          </p:spPr>
          <p:txBody>
            <a:bodyPr/>
            <a:p/>
          </p:txBody>
        </p:sp>
      </p:grpSp>
      <p:grpSp>
        <p:nvGrpSpPr>
          <p:cNvPr name="Group 19" id="19"/>
          <p:cNvGrpSpPr/>
          <p:nvPr/>
        </p:nvGrpSpPr>
        <p:grpSpPr>
          <a:xfrm rot="0">
            <a:off x="1021842" y="374447"/>
            <a:ext cx="1386688" cy="342900"/>
            <a:chOff x="0" y="0"/>
            <a:chExt cx="1848917" cy="457200"/>
          </a:xfrm>
        </p:grpSpPr>
        <p:sp>
          <p:nvSpPr>
            <p:cNvPr name="Freeform 20" id="20"/>
            <p:cNvSpPr/>
            <p:nvPr/>
          </p:nvSpPr>
          <p:spPr>
            <a:xfrm flipH="false" flipV="false" rot="0">
              <a:off x="0" y="0"/>
              <a:ext cx="1848916" cy="457200"/>
            </a:xfrm>
            <a:custGeom>
              <a:avLst/>
              <a:gdLst/>
              <a:ahLst/>
              <a:cxnLst/>
              <a:rect r="r" b="b" t="t" l="l"/>
              <a:pathLst>
                <a:path h="457200" w="1848916">
                  <a:moveTo>
                    <a:pt x="0" y="0"/>
                  </a:moveTo>
                  <a:lnTo>
                    <a:pt x="1848916" y="0"/>
                  </a:lnTo>
                  <a:lnTo>
                    <a:pt x="1848916" y="457200"/>
                  </a:lnTo>
                  <a:lnTo>
                    <a:pt x="0" y="457200"/>
                  </a:lnTo>
                  <a:close/>
                </a:path>
              </a:pathLst>
            </a:custGeom>
            <a:blipFill>
              <a:blip r:embed="rId4">
                <a:alphaModFix amt="0"/>
              </a:blip>
              <a:stretch>
                <a:fillRect l="0" t="-28797" r="0" b="-28797"/>
              </a:stretch>
            </a:blipFill>
          </p:spPr>
          <p:txBody>
            <a:bodyPr/>
            <a:p/>
          </p:txBody>
        </p:sp>
        <p:sp>
          <p:nvSpPr>
            <p:cNvPr name="TextBox 21" id="21"/>
            <p:cNvSpPr txBox="true"/>
            <p:nvPr/>
          </p:nvSpPr>
          <p:spPr>
            <a:xfrm>
              <a:off x="0" y="0"/>
              <a:ext cx="1848917" cy="457200"/>
            </a:xfrm>
            <a:prstGeom prst="rect">
              <a:avLst/>
            </a:prstGeom>
          </p:spPr>
          <p:txBody>
            <a:bodyPr anchor="ctr" rtlCol="false" tIns="0" lIns="0" bIns="0" rIns="0"/>
            <a:lstStyle/>
            <a:p>
              <a:pPr algn="l">
                <a:lnSpc>
                  <a:spcPts val="1620"/>
                </a:lnSpc>
              </a:pPr>
              <a:r>
                <a:rPr lang="en-US" b="true" sz="1350" spc="67">
                  <a:solidFill>
                    <a:srgbClr val="000000"/>
                  </a:solidFill>
                  <a:latin typeface="Manrope Bold"/>
                  <a:ea typeface="Manrope Bold"/>
                  <a:cs typeface="Manrope Bold"/>
                  <a:sym typeface="Manrope Bold"/>
                </a:rPr>
                <a:t>Skin</a:t>
              </a:r>
            </a:p>
          </p:txBody>
        </p:sp>
      </p:grpSp>
      <p:grpSp>
        <p:nvGrpSpPr>
          <p:cNvPr name="Group 22" id="22"/>
          <p:cNvGrpSpPr/>
          <p:nvPr/>
        </p:nvGrpSpPr>
        <p:grpSpPr>
          <a:xfrm rot="0">
            <a:off x="2316632" y="539039"/>
            <a:ext cx="685800" cy="13716"/>
            <a:chOff x="0" y="0"/>
            <a:chExt cx="914400" cy="18288"/>
          </a:xfrm>
        </p:grpSpPr>
        <p:sp>
          <p:nvSpPr>
            <p:cNvPr name="Freeform 23" id="23" descr="preencoded.png"/>
            <p:cNvSpPr/>
            <p:nvPr/>
          </p:nvSpPr>
          <p:spPr>
            <a:xfrm flipH="false" flipV="false" rot="0">
              <a:off x="0" y="0"/>
              <a:ext cx="914400" cy="18288"/>
            </a:xfrm>
            <a:custGeom>
              <a:avLst/>
              <a:gdLst/>
              <a:ahLst/>
              <a:cxnLst/>
              <a:rect r="r" b="b" t="t" l="l"/>
              <a:pathLst>
                <a:path h="18288" w="914400">
                  <a:moveTo>
                    <a:pt x="0" y="0"/>
                  </a:moveTo>
                  <a:lnTo>
                    <a:pt x="914400" y="0"/>
                  </a:lnTo>
                  <a:lnTo>
                    <a:pt x="914400" y="18288"/>
                  </a:lnTo>
                  <a:lnTo>
                    <a:pt x="0" y="18288"/>
                  </a:lnTo>
                  <a:lnTo>
                    <a:pt x="0" y="0"/>
                  </a:lnTo>
                  <a:close/>
                </a:path>
              </a:pathLst>
            </a:custGeom>
            <a:blipFill>
              <a:blip r:embed="rId5"/>
              <a:stretch>
                <a:fillRect l="2000" t="0" r="1999" b="0"/>
              </a:stretch>
            </a:blipFill>
          </p:spPr>
          <p:txBody>
            <a:bodyPr/>
            <a:p/>
          </p:txBody>
        </p:sp>
      </p:grpSp>
      <p:grpSp>
        <p:nvGrpSpPr>
          <p:cNvPr name="Group 24" id="24"/>
          <p:cNvGrpSpPr/>
          <p:nvPr/>
        </p:nvGrpSpPr>
        <p:grpSpPr>
          <a:xfrm rot="0">
            <a:off x="857250" y="946404"/>
            <a:ext cx="6759245" cy="2011718"/>
            <a:chOff x="0" y="0"/>
            <a:chExt cx="9012326" cy="2682291"/>
          </a:xfrm>
        </p:grpSpPr>
        <p:sp>
          <p:nvSpPr>
            <p:cNvPr name="Freeform 25" id="25"/>
            <p:cNvSpPr/>
            <p:nvPr/>
          </p:nvSpPr>
          <p:spPr>
            <a:xfrm flipH="false" flipV="false" rot="0">
              <a:off x="0" y="0"/>
              <a:ext cx="9012326" cy="2682291"/>
            </a:xfrm>
            <a:custGeom>
              <a:avLst/>
              <a:gdLst/>
              <a:ahLst/>
              <a:cxnLst/>
              <a:rect r="r" b="b" t="t" l="l"/>
              <a:pathLst>
                <a:path h="2682291" w="9012326">
                  <a:moveTo>
                    <a:pt x="0" y="0"/>
                  </a:moveTo>
                  <a:lnTo>
                    <a:pt x="9012326" y="0"/>
                  </a:lnTo>
                  <a:lnTo>
                    <a:pt x="9012326" y="2682291"/>
                  </a:lnTo>
                  <a:lnTo>
                    <a:pt x="0" y="2682291"/>
                  </a:lnTo>
                  <a:close/>
                </a:path>
              </a:pathLst>
            </a:custGeom>
            <a:blipFill>
              <a:blip r:embed="rId4">
                <a:alphaModFix amt="0"/>
              </a:blip>
              <a:stretch>
                <a:fillRect l="0" t="-22855" r="0" b="-8081"/>
              </a:stretch>
            </a:blipFill>
          </p:spPr>
          <p:txBody>
            <a:bodyPr/>
            <a:p/>
          </p:txBody>
        </p:sp>
        <p:sp>
          <p:nvSpPr>
            <p:cNvPr name="TextBox 26" id="26"/>
            <p:cNvSpPr txBox="true"/>
            <p:nvPr/>
          </p:nvSpPr>
          <p:spPr>
            <a:xfrm>
              <a:off x="0" y="9525"/>
              <a:ext cx="9012326" cy="2672766"/>
            </a:xfrm>
            <a:prstGeom prst="rect">
              <a:avLst/>
            </a:prstGeom>
          </p:spPr>
          <p:txBody>
            <a:bodyPr anchor="ctr" rtlCol="false" tIns="0" lIns="0" bIns="0" rIns="0"/>
            <a:lstStyle/>
            <a:p>
              <a:pPr algn="l">
                <a:lnSpc>
                  <a:spcPts val="6480"/>
                </a:lnSpc>
              </a:pPr>
              <a:r>
                <a:rPr lang="en-US" sz="5400" b="true">
                  <a:solidFill>
                    <a:srgbClr val="FFFFFF"/>
                  </a:solidFill>
                  <a:latin typeface="Manrope Bold"/>
                  <a:ea typeface="Manrope Bold"/>
                  <a:cs typeface="Manrope Bold"/>
                  <a:sym typeface="Manrope Bold"/>
                </a:rPr>
                <a:t>La peau </a:t>
              </a:r>
            </a:p>
            <a:p>
              <a:pPr algn="l">
                <a:lnSpc>
                  <a:spcPts val="6480"/>
                </a:lnSpc>
              </a:pPr>
              <a:r>
                <a:rPr lang="en-US" sz="5400" b="true">
                  <a:solidFill>
                    <a:srgbClr val="9CA3AF"/>
                  </a:solidFill>
                  <a:latin typeface="Manrope Bold"/>
                  <a:ea typeface="Manrope Bold"/>
                  <a:cs typeface="Manrope Bold"/>
                  <a:sym typeface="Manrope Bold"/>
                </a:rPr>
                <a:t>révèle</a:t>
              </a:r>
            </a:p>
          </p:txBody>
        </p:sp>
      </p:grpSp>
      <p:grpSp>
        <p:nvGrpSpPr>
          <p:cNvPr name="Group 27" id="27"/>
          <p:cNvGrpSpPr/>
          <p:nvPr/>
        </p:nvGrpSpPr>
        <p:grpSpPr>
          <a:xfrm rot="0">
            <a:off x="847725" y="8573948"/>
            <a:ext cx="6520434" cy="32766"/>
            <a:chOff x="0" y="0"/>
            <a:chExt cx="8693912" cy="43688"/>
          </a:xfrm>
        </p:grpSpPr>
        <p:sp>
          <p:nvSpPr>
            <p:cNvPr name="Freeform 28" id="28"/>
            <p:cNvSpPr/>
            <p:nvPr/>
          </p:nvSpPr>
          <p:spPr>
            <a:xfrm flipH="false" flipV="false" rot="0">
              <a:off x="12700" y="12700"/>
              <a:ext cx="8668512" cy="18288"/>
            </a:xfrm>
            <a:custGeom>
              <a:avLst/>
              <a:gdLst/>
              <a:ahLst/>
              <a:cxnLst/>
              <a:rect r="r" b="b" t="t" l="l"/>
              <a:pathLst>
                <a:path h="18288" w="8668512">
                  <a:moveTo>
                    <a:pt x="0" y="0"/>
                  </a:moveTo>
                  <a:lnTo>
                    <a:pt x="8668512" y="0"/>
                  </a:lnTo>
                  <a:lnTo>
                    <a:pt x="8668512" y="18288"/>
                  </a:lnTo>
                  <a:lnTo>
                    <a:pt x="0" y="18288"/>
                  </a:lnTo>
                  <a:close/>
                </a:path>
              </a:pathLst>
            </a:custGeom>
            <a:solidFill>
              <a:srgbClr val="1F2937"/>
            </a:solidFill>
          </p:spPr>
          <p:txBody>
            <a:bodyPr/>
            <a:p/>
          </p:txBody>
        </p:sp>
      </p:grpSp>
      <p:grpSp>
        <p:nvGrpSpPr>
          <p:cNvPr name="Group 29" id="29"/>
          <p:cNvGrpSpPr/>
          <p:nvPr/>
        </p:nvGrpSpPr>
        <p:grpSpPr>
          <a:xfrm rot="0">
            <a:off x="0" y="0"/>
            <a:ext cx="8215884" cy="113843"/>
            <a:chOff x="0" y="0"/>
            <a:chExt cx="10954512" cy="151790"/>
          </a:xfrm>
        </p:grpSpPr>
        <p:sp>
          <p:nvSpPr>
            <p:cNvPr name="Freeform 30" id="30" descr="preencoded.png"/>
            <p:cNvSpPr/>
            <p:nvPr/>
          </p:nvSpPr>
          <p:spPr>
            <a:xfrm flipH="false" flipV="false" rot="0">
              <a:off x="0" y="0"/>
              <a:ext cx="10954512" cy="151765"/>
            </a:xfrm>
            <a:custGeom>
              <a:avLst/>
              <a:gdLst/>
              <a:ahLst/>
              <a:cxnLst/>
              <a:rect r="r" b="b" t="t" l="l"/>
              <a:pathLst>
                <a:path h="151765" w="10954512">
                  <a:moveTo>
                    <a:pt x="0" y="0"/>
                  </a:moveTo>
                  <a:lnTo>
                    <a:pt x="10954512" y="0"/>
                  </a:lnTo>
                  <a:lnTo>
                    <a:pt x="10954512" y="151765"/>
                  </a:lnTo>
                  <a:lnTo>
                    <a:pt x="0" y="151765"/>
                  </a:lnTo>
                  <a:lnTo>
                    <a:pt x="0" y="0"/>
                  </a:lnTo>
                  <a:close/>
                </a:path>
              </a:pathLst>
            </a:custGeom>
            <a:blipFill>
              <a:blip r:embed="rId6">
                <a:alphaModFix amt="9999"/>
              </a:blip>
              <a:stretch>
                <a:fillRect l="203" t="0" r="203" b="-16"/>
              </a:stretch>
            </a:blipFill>
          </p:spPr>
          <p:txBody>
            <a:bodyPr/>
            <a:p/>
          </p:txBody>
        </p:sp>
      </p:grpSp>
      <p:grpSp>
        <p:nvGrpSpPr>
          <p:cNvPr name="Group 31" id="31"/>
          <p:cNvGrpSpPr/>
          <p:nvPr/>
        </p:nvGrpSpPr>
        <p:grpSpPr>
          <a:xfrm rot="0">
            <a:off x="1014984" y="4524908"/>
            <a:ext cx="13716" cy="3943350"/>
            <a:chOff x="0" y="0"/>
            <a:chExt cx="18288" cy="5257800"/>
          </a:xfrm>
        </p:grpSpPr>
        <p:sp>
          <p:nvSpPr>
            <p:cNvPr name="Freeform 32" id="32" descr="preencoded.png"/>
            <p:cNvSpPr/>
            <p:nvPr/>
          </p:nvSpPr>
          <p:spPr>
            <a:xfrm flipH="false" flipV="false" rot="0">
              <a:off x="0" y="0"/>
              <a:ext cx="18288" cy="5257800"/>
            </a:xfrm>
            <a:custGeom>
              <a:avLst/>
              <a:gdLst/>
              <a:ahLst/>
              <a:cxnLst/>
              <a:rect r="r" b="b" t="t" l="l"/>
              <a:pathLst>
                <a:path h="5257800" w="18288">
                  <a:moveTo>
                    <a:pt x="0" y="0"/>
                  </a:moveTo>
                  <a:lnTo>
                    <a:pt x="18288" y="0"/>
                  </a:lnTo>
                  <a:lnTo>
                    <a:pt x="18288" y="5257800"/>
                  </a:lnTo>
                  <a:lnTo>
                    <a:pt x="0" y="5257800"/>
                  </a:lnTo>
                  <a:lnTo>
                    <a:pt x="0" y="0"/>
                  </a:lnTo>
                  <a:close/>
                </a:path>
              </a:pathLst>
            </a:custGeom>
            <a:blipFill>
              <a:blip r:embed="rId7"/>
              <a:stretch>
                <a:fillRect l="0" t="1999" r="0" b="1999"/>
              </a:stretch>
            </a:blipFill>
          </p:spPr>
          <p:txBody>
            <a:bodyPr/>
            <a:p/>
          </p:txBody>
        </p:sp>
      </p:grpSp>
      <p:grpSp>
        <p:nvGrpSpPr>
          <p:cNvPr name="Group 33" id="33"/>
          <p:cNvGrpSpPr/>
          <p:nvPr/>
        </p:nvGrpSpPr>
        <p:grpSpPr>
          <a:xfrm rot="0">
            <a:off x="1458011" y="4827889"/>
            <a:ext cx="6216091" cy="538410"/>
            <a:chOff x="0" y="0"/>
            <a:chExt cx="8288122" cy="717880"/>
          </a:xfrm>
        </p:grpSpPr>
        <p:sp>
          <p:nvSpPr>
            <p:cNvPr name="Freeform 34" id="34"/>
            <p:cNvSpPr/>
            <p:nvPr/>
          </p:nvSpPr>
          <p:spPr>
            <a:xfrm flipH="false" flipV="false" rot="0">
              <a:off x="0" y="0"/>
              <a:ext cx="8288122" cy="717881"/>
            </a:xfrm>
            <a:custGeom>
              <a:avLst/>
              <a:gdLst/>
              <a:ahLst/>
              <a:cxnLst/>
              <a:rect r="r" b="b" t="t" l="l"/>
              <a:pathLst>
                <a:path h="717881" w="8288122">
                  <a:moveTo>
                    <a:pt x="0" y="0"/>
                  </a:moveTo>
                  <a:lnTo>
                    <a:pt x="8288122" y="0"/>
                  </a:lnTo>
                  <a:lnTo>
                    <a:pt x="8288122" y="717881"/>
                  </a:lnTo>
                  <a:lnTo>
                    <a:pt x="0" y="717881"/>
                  </a:lnTo>
                  <a:close/>
                </a:path>
              </a:pathLst>
            </a:custGeom>
            <a:blipFill>
              <a:blip r:embed="rId4">
                <a:alphaModFix amt="0"/>
              </a:blip>
              <a:stretch>
                <a:fillRect l="0" t="-187766" r="0" b="-162153"/>
              </a:stretch>
            </a:blipFill>
          </p:spPr>
          <p:txBody>
            <a:bodyPr/>
            <a:p/>
          </p:txBody>
        </p:sp>
        <p:sp>
          <p:nvSpPr>
            <p:cNvPr name="TextBox 35" id="35"/>
            <p:cNvSpPr txBox="true"/>
            <p:nvPr/>
          </p:nvSpPr>
          <p:spPr>
            <a:xfrm>
              <a:off x="0" y="-9525"/>
              <a:ext cx="8288122" cy="727405"/>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Ce qui se joue à l'intérieur</a:t>
              </a:r>
            </a:p>
          </p:txBody>
        </p:sp>
      </p:grpSp>
      <p:grpSp>
        <p:nvGrpSpPr>
          <p:cNvPr name="Group 36" id="36"/>
          <p:cNvGrpSpPr/>
          <p:nvPr/>
        </p:nvGrpSpPr>
        <p:grpSpPr>
          <a:xfrm rot="0">
            <a:off x="1458011" y="6079517"/>
            <a:ext cx="6216091" cy="498491"/>
            <a:chOff x="0" y="0"/>
            <a:chExt cx="8288122" cy="664654"/>
          </a:xfrm>
        </p:grpSpPr>
        <p:sp>
          <p:nvSpPr>
            <p:cNvPr name="Freeform 37" id="37"/>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38" id="38"/>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finit toujours par se lire </a:t>
              </a:r>
            </a:p>
          </p:txBody>
        </p:sp>
      </p:grpSp>
      <p:grpSp>
        <p:nvGrpSpPr>
          <p:cNvPr name="Group 39" id="39"/>
          <p:cNvGrpSpPr/>
          <p:nvPr/>
        </p:nvGrpSpPr>
        <p:grpSpPr>
          <a:xfrm rot="0">
            <a:off x="1458011" y="7533213"/>
            <a:ext cx="6216091" cy="498491"/>
            <a:chOff x="0" y="0"/>
            <a:chExt cx="8288122" cy="664654"/>
          </a:xfrm>
        </p:grpSpPr>
        <p:sp>
          <p:nvSpPr>
            <p:cNvPr name="Freeform 40" id="40"/>
            <p:cNvSpPr/>
            <p:nvPr/>
          </p:nvSpPr>
          <p:spPr>
            <a:xfrm flipH="false" flipV="false" rot="0">
              <a:off x="0" y="0"/>
              <a:ext cx="8288122" cy="664655"/>
            </a:xfrm>
            <a:custGeom>
              <a:avLst/>
              <a:gdLst/>
              <a:ahLst/>
              <a:cxnLst/>
              <a:rect r="r" b="b" t="t" l="l"/>
              <a:pathLst>
                <a:path h="664655" w="8288122">
                  <a:moveTo>
                    <a:pt x="0" y="0"/>
                  </a:moveTo>
                  <a:lnTo>
                    <a:pt x="8288122" y="0"/>
                  </a:lnTo>
                  <a:lnTo>
                    <a:pt x="8288122" y="664655"/>
                  </a:lnTo>
                  <a:lnTo>
                    <a:pt x="0" y="664655"/>
                  </a:lnTo>
                  <a:close/>
                </a:path>
              </a:pathLst>
            </a:custGeom>
            <a:blipFill>
              <a:blip r:embed="rId4">
                <a:alphaModFix amt="0"/>
              </a:blip>
              <a:stretch>
                <a:fillRect l="0" t="-202802" r="0" b="-183146"/>
              </a:stretch>
            </a:blipFill>
          </p:spPr>
          <p:txBody>
            <a:bodyPr/>
            <a:p/>
          </p:txBody>
        </p:sp>
        <p:sp>
          <p:nvSpPr>
            <p:cNvPr name="TextBox 41" id="41"/>
            <p:cNvSpPr txBox="true"/>
            <p:nvPr/>
          </p:nvSpPr>
          <p:spPr>
            <a:xfrm>
              <a:off x="0" y="-9525"/>
              <a:ext cx="8288122" cy="674179"/>
            </a:xfrm>
            <a:prstGeom prst="rect">
              <a:avLst/>
            </a:prstGeom>
          </p:spPr>
          <p:txBody>
            <a:bodyPr anchor="ctr" rtlCol="false" tIns="0" lIns="0" bIns="0" rIns="0"/>
            <a:lstStyle/>
            <a:p>
              <a:pPr algn="l">
                <a:lnSpc>
                  <a:spcPts val="2700"/>
                </a:lnSpc>
              </a:pPr>
              <a:r>
                <a:rPr lang="en-US" sz="2250" b="true">
                  <a:solidFill>
                    <a:srgbClr val="FFFFFF"/>
                  </a:solidFill>
                  <a:latin typeface="Manrope Bold"/>
                  <a:ea typeface="Manrope Bold"/>
                  <a:cs typeface="Manrope Bold"/>
                  <a:sym typeface="Manrope Bold"/>
                </a:rPr>
                <a:t>à la surface. </a:t>
              </a:r>
            </a:p>
          </p:txBody>
        </p:sp>
      </p:grpSp>
      <p:grpSp>
        <p:nvGrpSpPr>
          <p:cNvPr name="Group 42" id="42"/>
          <p:cNvGrpSpPr/>
          <p:nvPr/>
        </p:nvGrpSpPr>
        <p:grpSpPr>
          <a:xfrm rot="0">
            <a:off x="924611" y="4906366"/>
            <a:ext cx="381000" cy="381000"/>
            <a:chOff x="0" y="0"/>
            <a:chExt cx="508000" cy="508000"/>
          </a:xfrm>
        </p:grpSpPr>
        <p:sp>
          <p:nvSpPr>
            <p:cNvPr name="Freeform 43" id="43"/>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44" id="44"/>
          <p:cNvGrpSpPr/>
          <p:nvPr/>
        </p:nvGrpSpPr>
        <p:grpSpPr>
          <a:xfrm rot="0">
            <a:off x="1021842" y="5025542"/>
            <a:ext cx="185166" cy="142646"/>
            <a:chOff x="0" y="0"/>
            <a:chExt cx="246888" cy="190195"/>
          </a:xfrm>
        </p:grpSpPr>
        <p:sp>
          <p:nvSpPr>
            <p:cNvPr name="Freeform 45" id="45" descr="preencoded.png"/>
            <p:cNvSpPr/>
            <p:nvPr/>
          </p:nvSpPr>
          <p:spPr>
            <a:xfrm flipH="false" flipV="false" rot="0">
              <a:off x="0" y="0"/>
              <a:ext cx="246888" cy="190246"/>
            </a:xfrm>
            <a:custGeom>
              <a:avLst/>
              <a:gdLst/>
              <a:ahLst/>
              <a:cxnLst/>
              <a:rect r="r" b="b" t="t" l="l"/>
              <a:pathLst>
                <a:path h="190246" w="246888">
                  <a:moveTo>
                    <a:pt x="0" y="0"/>
                  </a:moveTo>
                  <a:lnTo>
                    <a:pt x="246888" y="0"/>
                  </a:lnTo>
                  <a:lnTo>
                    <a:pt x="246888" y="190246"/>
                  </a:lnTo>
                  <a:lnTo>
                    <a:pt x="0" y="190246"/>
                  </a:lnTo>
                  <a:lnTo>
                    <a:pt x="0" y="0"/>
                  </a:lnTo>
                  <a:close/>
                </a:path>
              </a:pathLst>
            </a:custGeom>
            <a:blipFill>
              <a:blip r:embed="rId8"/>
              <a:stretch>
                <a:fillRect l="1898" t="0" r="-601" b="26"/>
              </a:stretch>
            </a:blipFill>
          </p:spPr>
          <p:txBody>
            <a:bodyPr/>
            <a:p/>
          </p:txBody>
        </p:sp>
      </p:grpSp>
      <p:grpSp>
        <p:nvGrpSpPr>
          <p:cNvPr name="Group 46" id="46"/>
          <p:cNvGrpSpPr/>
          <p:nvPr/>
        </p:nvGrpSpPr>
        <p:grpSpPr>
          <a:xfrm rot="0">
            <a:off x="924611" y="6106516"/>
            <a:ext cx="381000" cy="381000"/>
            <a:chOff x="0" y="0"/>
            <a:chExt cx="508000" cy="508000"/>
          </a:xfrm>
        </p:grpSpPr>
        <p:sp>
          <p:nvSpPr>
            <p:cNvPr name="Freeform 47" id="47"/>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48" id="48"/>
          <p:cNvGrpSpPr/>
          <p:nvPr/>
        </p:nvGrpSpPr>
        <p:grpSpPr>
          <a:xfrm rot="0">
            <a:off x="1042416" y="6225692"/>
            <a:ext cx="142646" cy="142646"/>
            <a:chOff x="0" y="0"/>
            <a:chExt cx="190195" cy="190195"/>
          </a:xfrm>
        </p:grpSpPr>
        <p:sp>
          <p:nvSpPr>
            <p:cNvPr name="Freeform 49" id="49" descr="preencoded.png"/>
            <p:cNvSpPr/>
            <p:nvPr/>
          </p:nvSpPr>
          <p:spPr>
            <a:xfrm flipH="false" flipV="false" rot="0">
              <a:off x="0" y="0"/>
              <a:ext cx="190246" cy="190246"/>
            </a:xfrm>
            <a:custGeom>
              <a:avLst/>
              <a:gdLst/>
              <a:ahLst/>
              <a:cxnLst/>
              <a:rect r="r" b="b" t="t" l="l"/>
              <a:pathLst>
                <a:path h="190246" w="190246">
                  <a:moveTo>
                    <a:pt x="0" y="0"/>
                  </a:moveTo>
                  <a:lnTo>
                    <a:pt x="190246" y="0"/>
                  </a:lnTo>
                  <a:lnTo>
                    <a:pt x="190246" y="190246"/>
                  </a:lnTo>
                  <a:lnTo>
                    <a:pt x="0" y="190246"/>
                  </a:lnTo>
                  <a:lnTo>
                    <a:pt x="0" y="0"/>
                  </a:lnTo>
                  <a:close/>
                </a:path>
              </a:pathLst>
            </a:custGeom>
            <a:blipFill>
              <a:blip r:embed="rId9"/>
              <a:stretch>
                <a:fillRect l="0" t="0" r="26" b="26"/>
              </a:stretch>
            </a:blipFill>
          </p:spPr>
          <p:txBody>
            <a:bodyPr/>
            <a:p/>
          </p:txBody>
        </p:sp>
      </p:grpSp>
      <p:grpSp>
        <p:nvGrpSpPr>
          <p:cNvPr name="Group 50" id="50"/>
          <p:cNvGrpSpPr/>
          <p:nvPr/>
        </p:nvGrpSpPr>
        <p:grpSpPr>
          <a:xfrm rot="0">
            <a:off x="924611" y="7591958"/>
            <a:ext cx="381000" cy="381000"/>
            <a:chOff x="0" y="0"/>
            <a:chExt cx="508000" cy="508000"/>
          </a:xfrm>
        </p:grpSpPr>
        <p:sp>
          <p:nvSpPr>
            <p:cNvPr name="Freeform 51" id="51"/>
            <p:cNvSpPr/>
            <p:nvPr/>
          </p:nvSpPr>
          <p:spPr>
            <a:xfrm flipH="false" flipV="false" rot="0">
              <a:off x="0" y="0"/>
              <a:ext cx="508000" cy="508000"/>
            </a:xfrm>
            <a:custGeom>
              <a:avLst/>
              <a:gdLst/>
              <a:ahLst/>
              <a:cxnLst/>
              <a:rect r="r" b="b" t="t" l="l"/>
              <a:pathLst>
                <a:path h="508000" w="508000">
                  <a:moveTo>
                    <a:pt x="0" y="254000"/>
                  </a:moveTo>
                  <a:cubicBezTo>
                    <a:pt x="0" y="113665"/>
                    <a:pt x="113665" y="0"/>
                    <a:pt x="254000" y="0"/>
                  </a:cubicBezTo>
                  <a:lnTo>
                    <a:pt x="254000" y="25400"/>
                  </a:lnTo>
                  <a:lnTo>
                    <a:pt x="254000" y="0"/>
                  </a:lnTo>
                  <a:cubicBezTo>
                    <a:pt x="394335" y="0"/>
                    <a:pt x="508000" y="113665"/>
                    <a:pt x="508000" y="254000"/>
                  </a:cubicBezTo>
                  <a:lnTo>
                    <a:pt x="482600" y="254000"/>
                  </a:lnTo>
                  <a:lnTo>
                    <a:pt x="508000" y="254000"/>
                  </a:lnTo>
                  <a:cubicBezTo>
                    <a:pt x="508000" y="394335"/>
                    <a:pt x="394335" y="508000"/>
                    <a:pt x="254000" y="508000"/>
                  </a:cubicBezTo>
                  <a:lnTo>
                    <a:pt x="254000" y="482600"/>
                  </a:lnTo>
                  <a:lnTo>
                    <a:pt x="254000" y="508000"/>
                  </a:lnTo>
                  <a:cubicBezTo>
                    <a:pt x="113665" y="508000"/>
                    <a:pt x="0" y="394335"/>
                    <a:pt x="0" y="254000"/>
                  </a:cubicBezTo>
                  <a:lnTo>
                    <a:pt x="25400" y="254000"/>
                  </a:lnTo>
                  <a:lnTo>
                    <a:pt x="50800" y="254000"/>
                  </a:lnTo>
                  <a:lnTo>
                    <a:pt x="25400" y="254000"/>
                  </a:lnTo>
                  <a:lnTo>
                    <a:pt x="0" y="254000"/>
                  </a:lnTo>
                  <a:moveTo>
                    <a:pt x="50800" y="254000"/>
                  </a:moveTo>
                  <a:cubicBezTo>
                    <a:pt x="50800" y="267970"/>
                    <a:pt x="39370" y="279400"/>
                    <a:pt x="25400" y="279400"/>
                  </a:cubicBezTo>
                  <a:cubicBezTo>
                    <a:pt x="11430" y="279400"/>
                    <a:pt x="0" y="267970"/>
                    <a:pt x="0" y="254000"/>
                  </a:cubicBezTo>
                  <a:cubicBezTo>
                    <a:pt x="0" y="240030"/>
                    <a:pt x="11430" y="228600"/>
                    <a:pt x="25400" y="228600"/>
                  </a:cubicBezTo>
                  <a:cubicBezTo>
                    <a:pt x="39370" y="228600"/>
                    <a:pt x="50800" y="240030"/>
                    <a:pt x="50800" y="254000"/>
                  </a:cubicBezTo>
                  <a:cubicBezTo>
                    <a:pt x="50800" y="366268"/>
                    <a:pt x="141732" y="457200"/>
                    <a:pt x="254000" y="457200"/>
                  </a:cubicBezTo>
                  <a:cubicBezTo>
                    <a:pt x="366268" y="457200"/>
                    <a:pt x="457200" y="366268"/>
                    <a:pt x="457200" y="254000"/>
                  </a:cubicBezTo>
                  <a:cubicBezTo>
                    <a:pt x="457200" y="141732"/>
                    <a:pt x="366268" y="50800"/>
                    <a:pt x="254000" y="50800"/>
                  </a:cubicBezTo>
                  <a:lnTo>
                    <a:pt x="254000" y="25400"/>
                  </a:lnTo>
                  <a:lnTo>
                    <a:pt x="254000" y="50800"/>
                  </a:lnTo>
                  <a:cubicBezTo>
                    <a:pt x="141732" y="50800"/>
                    <a:pt x="50800" y="141732"/>
                    <a:pt x="50800" y="254000"/>
                  </a:cubicBezTo>
                  <a:close/>
                </a:path>
              </a:pathLst>
            </a:custGeom>
            <a:solidFill>
              <a:srgbClr val="E5E7EB"/>
            </a:solidFill>
          </p:spPr>
          <p:txBody>
            <a:bodyPr/>
            <a:p/>
          </p:txBody>
        </p:sp>
      </p:grpSp>
      <p:grpSp>
        <p:nvGrpSpPr>
          <p:cNvPr name="Group 52" id="52"/>
          <p:cNvGrpSpPr/>
          <p:nvPr/>
        </p:nvGrpSpPr>
        <p:grpSpPr>
          <a:xfrm rot="0">
            <a:off x="1057504" y="7711135"/>
            <a:ext cx="113843" cy="142646"/>
            <a:chOff x="0" y="0"/>
            <a:chExt cx="151790" cy="190195"/>
          </a:xfrm>
        </p:grpSpPr>
        <p:sp>
          <p:nvSpPr>
            <p:cNvPr name="Freeform 53" id="53" descr="preencoded.png"/>
            <p:cNvSpPr/>
            <p:nvPr/>
          </p:nvSpPr>
          <p:spPr>
            <a:xfrm flipH="false" flipV="false" rot="0">
              <a:off x="0" y="0"/>
              <a:ext cx="151765" cy="190246"/>
            </a:xfrm>
            <a:custGeom>
              <a:avLst/>
              <a:gdLst/>
              <a:ahLst/>
              <a:cxnLst/>
              <a:rect r="r" b="b" t="t" l="l"/>
              <a:pathLst>
                <a:path h="190246" w="151765">
                  <a:moveTo>
                    <a:pt x="0" y="0"/>
                  </a:moveTo>
                  <a:lnTo>
                    <a:pt x="151765" y="0"/>
                  </a:lnTo>
                  <a:lnTo>
                    <a:pt x="151765" y="190246"/>
                  </a:lnTo>
                  <a:lnTo>
                    <a:pt x="0" y="190246"/>
                  </a:lnTo>
                  <a:lnTo>
                    <a:pt x="0" y="0"/>
                  </a:lnTo>
                  <a:close/>
                </a:path>
              </a:pathLst>
            </a:custGeom>
            <a:blipFill>
              <a:blip r:embed="rId10"/>
              <a:stretch>
                <a:fillRect l="3046" t="0" r="2008" b="26"/>
              </a:stretch>
            </a:blipFill>
          </p:spPr>
          <p:txBody>
            <a:body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9525" y="-9525"/>
            <a:ext cx="18306593" cy="10306050"/>
            <a:chOff x="0" y="0"/>
            <a:chExt cx="24408790" cy="13741400"/>
          </a:xfrm>
        </p:grpSpPr>
        <p:sp>
          <p:nvSpPr>
            <p:cNvPr name="Freeform 7" id="7"/>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8" id="8"/>
          <p:cNvGrpSpPr/>
          <p:nvPr/>
        </p:nvGrpSpPr>
        <p:grpSpPr>
          <a:xfrm rot="0">
            <a:off x="0" y="0"/>
            <a:ext cx="5715457" cy="10287000"/>
            <a:chOff x="0" y="0"/>
            <a:chExt cx="7620610" cy="13716000"/>
          </a:xfrm>
        </p:grpSpPr>
        <p:sp>
          <p:nvSpPr>
            <p:cNvPr name="Freeform 9" id="9"/>
            <p:cNvSpPr/>
            <p:nvPr/>
          </p:nvSpPr>
          <p:spPr>
            <a:xfrm flipH="false" flipV="false" rot="0">
              <a:off x="0" y="0"/>
              <a:ext cx="7620635" cy="13716000"/>
            </a:xfrm>
            <a:custGeom>
              <a:avLst/>
              <a:gdLst/>
              <a:ahLst/>
              <a:cxnLst/>
              <a:rect r="r" b="b" t="t" l="l"/>
              <a:pathLst>
                <a:path h="13716000" w="7620635">
                  <a:moveTo>
                    <a:pt x="0" y="0"/>
                  </a:moveTo>
                  <a:lnTo>
                    <a:pt x="7620635" y="0"/>
                  </a:lnTo>
                  <a:lnTo>
                    <a:pt x="7620635" y="13716000"/>
                  </a:lnTo>
                  <a:lnTo>
                    <a:pt x="0" y="13716000"/>
                  </a:lnTo>
                  <a:close/>
                </a:path>
              </a:pathLst>
            </a:custGeom>
            <a:solidFill>
              <a:srgbClr val="1E1E24">
                <a:alpha val="15686"/>
              </a:srgbClr>
            </a:solidFill>
          </p:spPr>
          <p:txBody>
            <a:bodyPr/>
            <a:p/>
          </p:txBody>
        </p:sp>
      </p:grpSp>
      <p:grpSp>
        <p:nvGrpSpPr>
          <p:cNvPr name="Group 10" id="10"/>
          <p:cNvGrpSpPr/>
          <p:nvPr/>
        </p:nvGrpSpPr>
        <p:grpSpPr>
          <a:xfrm rot="0">
            <a:off x="5692216" y="-9525"/>
            <a:ext cx="32766" cy="10306050"/>
            <a:chOff x="0" y="0"/>
            <a:chExt cx="43688" cy="13741400"/>
          </a:xfrm>
        </p:grpSpPr>
        <p:sp>
          <p:nvSpPr>
            <p:cNvPr name="Freeform 11" id="11"/>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2" id="12"/>
          <p:cNvGrpSpPr/>
          <p:nvPr/>
        </p:nvGrpSpPr>
        <p:grpSpPr>
          <a:xfrm rot="0">
            <a:off x="571957" y="571957"/>
            <a:ext cx="4729277" cy="332327"/>
            <a:chOff x="0" y="0"/>
            <a:chExt cx="6305702" cy="443103"/>
          </a:xfrm>
        </p:grpSpPr>
        <p:sp>
          <p:nvSpPr>
            <p:cNvPr name="Freeform 13" id="13"/>
            <p:cNvSpPr/>
            <p:nvPr/>
          </p:nvSpPr>
          <p:spPr>
            <a:xfrm flipH="false" flipV="false" rot="0">
              <a:off x="0" y="0"/>
              <a:ext cx="6305702" cy="443104"/>
            </a:xfrm>
            <a:custGeom>
              <a:avLst/>
              <a:gdLst/>
              <a:ahLst/>
              <a:cxnLst/>
              <a:rect r="r" b="b" t="t" l="l"/>
              <a:pathLst>
                <a:path h="443104" w="6305702">
                  <a:moveTo>
                    <a:pt x="0" y="0"/>
                  </a:moveTo>
                  <a:lnTo>
                    <a:pt x="6305702" y="0"/>
                  </a:lnTo>
                  <a:lnTo>
                    <a:pt x="6305702" y="443104"/>
                  </a:lnTo>
                  <a:lnTo>
                    <a:pt x="0" y="443104"/>
                  </a:lnTo>
                  <a:close/>
                </a:path>
              </a:pathLst>
            </a:custGeom>
            <a:blipFill>
              <a:blip r:embed="rId3">
                <a:alphaModFix amt="0"/>
              </a:blip>
              <a:stretch>
                <a:fillRect l="0" t="-232093" r="0" b="-222480"/>
              </a:stretch>
            </a:blipFill>
          </p:spPr>
          <p:txBody>
            <a:bodyPr/>
            <a:p/>
          </p:txBody>
        </p:sp>
        <p:sp>
          <p:nvSpPr>
            <p:cNvPr name="TextBox 14" id="14"/>
            <p:cNvSpPr txBox="true"/>
            <p:nvPr/>
          </p:nvSpPr>
          <p:spPr>
            <a:xfrm>
              <a:off x="0" y="-9525"/>
              <a:ext cx="6305702"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Longevity Skin</a:t>
              </a:r>
            </a:p>
          </p:txBody>
        </p:sp>
      </p:grpSp>
      <p:grpSp>
        <p:nvGrpSpPr>
          <p:cNvPr name="Group 15" id="15"/>
          <p:cNvGrpSpPr/>
          <p:nvPr/>
        </p:nvGrpSpPr>
        <p:grpSpPr>
          <a:xfrm rot="0">
            <a:off x="562432" y="562432"/>
            <a:ext cx="304343" cy="32766"/>
            <a:chOff x="0" y="0"/>
            <a:chExt cx="405790" cy="43688"/>
          </a:xfrm>
        </p:grpSpPr>
        <p:sp>
          <p:nvSpPr>
            <p:cNvPr name="Freeform 16" id="16"/>
            <p:cNvSpPr/>
            <p:nvPr/>
          </p:nvSpPr>
          <p:spPr>
            <a:xfrm flipH="false" flipV="false" rot="0">
              <a:off x="12700" y="12700"/>
              <a:ext cx="380365" cy="18288"/>
            </a:xfrm>
            <a:custGeom>
              <a:avLst/>
              <a:gdLst/>
              <a:ahLst/>
              <a:cxnLst/>
              <a:rect r="r" b="b" t="t" l="l"/>
              <a:pathLst>
                <a:path h="18288" w="380365">
                  <a:moveTo>
                    <a:pt x="0" y="0"/>
                  </a:moveTo>
                  <a:lnTo>
                    <a:pt x="380365" y="0"/>
                  </a:lnTo>
                  <a:lnTo>
                    <a:pt x="380365" y="18288"/>
                  </a:lnTo>
                  <a:lnTo>
                    <a:pt x="0" y="18288"/>
                  </a:lnTo>
                  <a:close/>
                </a:path>
              </a:pathLst>
            </a:custGeom>
            <a:solidFill>
              <a:srgbClr val="FFFFFF"/>
            </a:solidFill>
          </p:spPr>
          <p:txBody>
            <a:bodyPr/>
            <a:p/>
          </p:txBody>
        </p:sp>
      </p:grpSp>
      <p:grpSp>
        <p:nvGrpSpPr>
          <p:cNvPr name="Group 17" id="17"/>
          <p:cNvGrpSpPr/>
          <p:nvPr/>
        </p:nvGrpSpPr>
        <p:grpSpPr>
          <a:xfrm rot="0">
            <a:off x="571957" y="1040875"/>
            <a:ext cx="4729277" cy="834272"/>
            <a:chOff x="0" y="0"/>
            <a:chExt cx="6305702" cy="1112363"/>
          </a:xfrm>
        </p:grpSpPr>
        <p:sp>
          <p:nvSpPr>
            <p:cNvPr name="Freeform 18" id="18"/>
            <p:cNvSpPr/>
            <p:nvPr/>
          </p:nvSpPr>
          <p:spPr>
            <a:xfrm flipH="false" flipV="false" rot="0">
              <a:off x="0" y="0"/>
              <a:ext cx="6305702" cy="1112363"/>
            </a:xfrm>
            <a:custGeom>
              <a:avLst/>
              <a:gdLst/>
              <a:ahLst/>
              <a:cxnLst/>
              <a:rect r="r" b="b" t="t" l="l"/>
              <a:pathLst>
                <a:path h="1112363" w="6305702">
                  <a:moveTo>
                    <a:pt x="0" y="0"/>
                  </a:moveTo>
                  <a:lnTo>
                    <a:pt x="6305702" y="0"/>
                  </a:lnTo>
                  <a:lnTo>
                    <a:pt x="6305702" y="1112363"/>
                  </a:lnTo>
                  <a:lnTo>
                    <a:pt x="0" y="1112363"/>
                  </a:lnTo>
                  <a:close/>
                </a:path>
              </a:pathLst>
            </a:custGeom>
            <a:blipFill>
              <a:blip r:embed="rId3">
                <a:alphaModFix amt="0"/>
              </a:blip>
              <a:stretch>
                <a:fillRect l="0" t="-96727" r="0" b="-24183"/>
              </a:stretch>
            </a:blipFill>
          </p:spPr>
          <p:txBody>
            <a:bodyPr/>
            <a:p/>
          </p:txBody>
        </p:sp>
        <p:sp>
          <p:nvSpPr>
            <p:cNvPr name="TextBox 19" id="19"/>
            <p:cNvSpPr txBox="true"/>
            <p:nvPr/>
          </p:nvSpPr>
          <p:spPr>
            <a:xfrm>
              <a:off x="0" y="0"/>
              <a:ext cx="6305702" cy="1112363"/>
            </a:xfrm>
            <a:prstGeom prst="rect">
              <a:avLst/>
            </a:prstGeom>
          </p:spPr>
          <p:txBody>
            <a:bodyPr anchor="ctr" rtlCol="false" tIns="0" lIns="0" bIns="0" rIns="0"/>
            <a:lstStyle/>
            <a:p>
              <a:pPr algn="l">
                <a:lnSpc>
                  <a:spcPts val="4559"/>
                </a:lnSpc>
              </a:pPr>
              <a:r>
                <a:rPr lang="en-US" sz="3799" spc="-474">
                  <a:solidFill>
                    <a:srgbClr val="FFFFFF"/>
                  </a:solidFill>
                  <a:latin typeface="Manrope"/>
                  <a:ea typeface="Manrope"/>
                  <a:cs typeface="Manrope"/>
                  <a:sym typeface="Manrope"/>
                </a:rPr>
                <a:t>PEAU &amp; LIFESTYLE</a:t>
              </a:r>
            </a:p>
          </p:txBody>
        </p:sp>
      </p:grpSp>
      <p:grpSp>
        <p:nvGrpSpPr>
          <p:cNvPr name="Group 20" id="20"/>
          <p:cNvGrpSpPr/>
          <p:nvPr/>
        </p:nvGrpSpPr>
        <p:grpSpPr>
          <a:xfrm rot="0">
            <a:off x="562432" y="1754686"/>
            <a:ext cx="5413705" cy="498491"/>
            <a:chOff x="0" y="0"/>
            <a:chExt cx="7218274" cy="664654"/>
          </a:xfrm>
        </p:grpSpPr>
        <p:sp>
          <p:nvSpPr>
            <p:cNvPr name="Freeform 21" id="21"/>
            <p:cNvSpPr/>
            <p:nvPr/>
          </p:nvSpPr>
          <p:spPr>
            <a:xfrm flipH="false" flipV="false" rot="0">
              <a:off x="0" y="0"/>
              <a:ext cx="7218274" cy="664655"/>
            </a:xfrm>
            <a:custGeom>
              <a:avLst/>
              <a:gdLst/>
              <a:ahLst/>
              <a:cxnLst/>
              <a:rect r="r" b="b" t="t" l="l"/>
              <a:pathLst>
                <a:path h="664655" w="7218274">
                  <a:moveTo>
                    <a:pt x="0" y="0"/>
                  </a:moveTo>
                  <a:lnTo>
                    <a:pt x="7218274" y="0"/>
                  </a:lnTo>
                  <a:lnTo>
                    <a:pt x="7218274" y="664655"/>
                  </a:lnTo>
                  <a:lnTo>
                    <a:pt x="0" y="664655"/>
                  </a:lnTo>
                  <a:close/>
                </a:path>
              </a:pathLst>
            </a:custGeom>
            <a:blipFill>
              <a:blip r:embed="rId3">
                <a:alphaModFix amt="0"/>
              </a:blip>
              <a:stretch>
                <a:fillRect l="0" t="-171439" r="0" b="-151783"/>
              </a:stretch>
            </a:blipFill>
          </p:spPr>
          <p:txBody>
            <a:bodyPr/>
            <a:p/>
          </p:txBody>
        </p:sp>
        <p:sp>
          <p:nvSpPr>
            <p:cNvPr name="TextBox 22" id="22"/>
            <p:cNvSpPr txBox="true"/>
            <p:nvPr/>
          </p:nvSpPr>
          <p:spPr>
            <a:xfrm>
              <a:off x="0" y="-9525"/>
              <a:ext cx="7218274"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Nutrition · Sommeil · Stress · Élimination</a:t>
              </a:r>
            </a:p>
          </p:txBody>
        </p:sp>
      </p:grpSp>
      <p:grpSp>
        <p:nvGrpSpPr>
          <p:cNvPr name="Group 23" id="23"/>
          <p:cNvGrpSpPr/>
          <p:nvPr/>
        </p:nvGrpSpPr>
        <p:grpSpPr>
          <a:xfrm rot="0">
            <a:off x="571957" y="2529230"/>
            <a:ext cx="4729277" cy="293380"/>
            <a:chOff x="0" y="0"/>
            <a:chExt cx="6305702" cy="391173"/>
          </a:xfrm>
        </p:grpSpPr>
        <p:sp>
          <p:nvSpPr>
            <p:cNvPr name="Freeform 24" id="24"/>
            <p:cNvSpPr/>
            <p:nvPr/>
          </p:nvSpPr>
          <p:spPr>
            <a:xfrm flipH="false" flipV="false" rot="0">
              <a:off x="0" y="0"/>
              <a:ext cx="6305702" cy="391173"/>
            </a:xfrm>
            <a:custGeom>
              <a:avLst/>
              <a:gdLst/>
              <a:ahLst/>
              <a:cxnLst/>
              <a:rect r="r" b="b" t="t" l="l"/>
              <a:pathLst>
                <a:path h="391173" w="6305702">
                  <a:moveTo>
                    <a:pt x="0" y="0"/>
                  </a:moveTo>
                  <a:lnTo>
                    <a:pt x="6305702" y="0"/>
                  </a:lnTo>
                  <a:lnTo>
                    <a:pt x="6305702" y="391173"/>
                  </a:lnTo>
                  <a:lnTo>
                    <a:pt x="0" y="391173"/>
                  </a:lnTo>
                  <a:close/>
                </a:path>
              </a:pathLst>
            </a:custGeom>
            <a:blipFill>
              <a:blip r:embed="rId3">
                <a:alphaModFix amt="0"/>
              </a:blip>
              <a:stretch>
                <a:fillRect l="0" t="-275060" r="0" b="-253136"/>
              </a:stretch>
            </a:blipFill>
          </p:spPr>
          <p:txBody>
            <a:bodyPr/>
            <a:p/>
          </p:txBody>
        </p:sp>
        <p:sp>
          <p:nvSpPr>
            <p:cNvPr name="TextBox 25" id="25"/>
            <p:cNvSpPr txBox="true"/>
            <p:nvPr/>
          </p:nvSpPr>
          <p:spPr>
            <a:xfrm>
              <a:off x="0" y="0"/>
              <a:ext cx="6305702" cy="391173"/>
            </a:xfrm>
            <a:prstGeom prst="rect">
              <a:avLst/>
            </a:prstGeom>
          </p:spPr>
          <p:txBody>
            <a:bodyPr anchor="ctr" rtlCol="false" tIns="0" lIns="0" bIns="0" rIns="0"/>
            <a:lstStyle/>
            <a:p>
              <a:pPr algn="l">
                <a:lnSpc>
                  <a:spcPts val="1620"/>
                </a:lnSpc>
              </a:pPr>
              <a:r>
                <a:rPr lang="en-US" b="true" sz="1350" spc="135">
                  <a:solidFill>
                    <a:srgbClr val="FFFFFF"/>
                  </a:solidFill>
                  <a:latin typeface="Manrope Bold"/>
                  <a:ea typeface="Manrope Bold"/>
                  <a:cs typeface="Manrope Bold"/>
                  <a:sym typeface="Manrope Bold"/>
                </a:rPr>
                <a:t>Quatre Leviers Systémiques</a:t>
              </a:r>
            </a:p>
          </p:txBody>
        </p:sp>
      </p:grpSp>
      <p:grpSp>
        <p:nvGrpSpPr>
          <p:cNvPr name="Group 26" id="26"/>
          <p:cNvGrpSpPr/>
          <p:nvPr/>
        </p:nvGrpSpPr>
        <p:grpSpPr>
          <a:xfrm rot="0">
            <a:off x="562432" y="2976448"/>
            <a:ext cx="2219096" cy="1376934"/>
            <a:chOff x="0" y="0"/>
            <a:chExt cx="2958795" cy="1835912"/>
          </a:xfrm>
        </p:grpSpPr>
        <p:sp>
          <p:nvSpPr>
            <p:cNvPr name="Freeform 27" id="27"/>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28" id="28"/>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29" id="29"/>
          <p:cNvGrpSpPr/>
          <p:nvPr/>
        </p:nvGrpSpPr>
        <p:grpSpPr>
          <a:xfrm rot="0">
            <a:off x="814730" y="3228746"/>
            <a:ext cx="1829714" cy="293380"/>
            <a:chOff x="0" y="0"/>
            <a:chExt cx="2439619" cy="391173"/>
          </a:xfrm>
        </p:grpSpPr>
        <p:sp>
          <p:nvSpPr>
            <p:cNvPr name="Freeform 30" id="30"/>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31" id="31"/>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Microbiote</a:t>
              </a:r>
            </a:p>
          </p:txBody>
        </p:sp>
      </p:grpSp>
      <p:grpSp>
        <p:nvGrpSpPr>
          <p:cNvPr name="Group 32" id="32"/>
          <p:cNvGrpSpPr/>
          <p:nvPr/>
        </p:nvGrpSpPr>
        <p:grpSpPr>
          <a:xfrm rot="0">
            <a:off x="814730" y="3542843"/>
            <a:ext cx="1800911" cy="625907"/>
            <a:chOff x="0" y="0"/>
            <a:chExt cx="2401214" cy="834542"/>
          </a:xfrm>
        </p:grpSpPr>
        <p:sp>
          <p:nvSpPr>
            <p:cNvPr name="Freeform 33" id="33"/>
            <p:cNvSpPr/>
            <p:nvPr/>
          </p:nvSpPr>
          <p:spPr>
            <a:xfrm flipH="false" flipV="false" rot="0">
              <a:off x="0" y="0"/>
              <a:ext cx="2401214" cy="834541"/>
            </a:xfrm>
            <a:custGeom>
              <a:avLst/>
              <a:gdLst/>
              <a:ahLst/>
              <a:cxnLst/>
              <a:rect r="r" b="b" t="t" l="l"/>
              <a:pathLst>
                <a:path h="834541" w="2401214">
                  <a:moveTo>
                    <a:pt x="0" y="0"/>
                  </a:moveTo>
                  <a:lnTo>
                    <a:pt x="2401214" y="0"/>
                  </a:lnTo>
                  <a:lnTo>
                    <a:pt x="2401214" y="834541"/>
                  </a:lnTo>
                  <a:lnTo>
                    <a:pt x="0" y="834541"/>
                  </a:lnTo>
                  <a:close/>
                </a:path>
              </a:pathLst>
            </a:custGeom>
            <a:blipFill>
              <a:blip r:embed="rId3">
                <a:alphaModFix amt="0"/>
              </a:blip>
              <a:stretch>
                <a:fillRect l="0" t="-26370" r="0" b="14242"/>
              </a:stretch>
            </a:blipFill>
          </p:spPr>
          <p:txBody>
            <a:bodyPr/>
            <a:p/>
          </p:txBody>
        </p:sp>
        <p:sp>
          <p:nvSpPr>
            <p:cNvPr name="TextBox 34" id="34"/>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L'axe intestin-peau module l'immunité et l'inflammation cutanée.</a:t>
              </a:r>
            </a:p>
          </p:txBody>
        </p:sp>
      </p:grpSp>
      <p:grpSp>
        <p:nvGrpSpPr>
          <p:cNvPr name="Group 35" id="35"/>
          <p:cNvGrpSpPr/>
          <p:nvPr/>
        </p:nvGrpSpPr>
        <p:grpSpPr>
          <a:xfrm rot="0">
            <a:off x="2927071" y="2976448"/>
            <a:ext cx="2219096" cy="1376934"/>
            <a:chOff x="0" y="0"/>
            <a:chExt cx="2958795" cy="1835912"/>
          </a:xfrm>
        </p:grpSpPr>
        <p:sp>
          <p:nvSpPr>
            <p:cNvPr name="Freeform 36" id="36"/>
            <p:cNvSpPr/>
            <p:nvPr/>
          </p:nvSpPr>
          <p:spPr>
            <a:xfrm flipH="false" flipV="false" rot="0">
              <a:off x="12700" y="12700"/>
              <a:ext cx="2933446" cy="1810512"/>
            </a:xfrm>
            <a:custGeom>
              <a:avLst/>
              <a:gdLst/>
              <a:ahLst/>
              <a:cxnLst/>
              <a:rect r="r" b="b" t="t" l="l"/>
              <a:pathLst>
                <a:path h="1810512" w="2933446">
                  <a:moveTo>
                    <a:pt x="0" y="154051"/>
                  </a:moveTo>
                  <a:cubicBezTo>
                    <a:pt x="0" y="68961"/>
                    <a:pt x="69342" y="0"/>
                    <a:pt x="154813" y="0"/>
                  </a:cubicBezTo>
                  <a:lnTo>
                    <a:pt x="2778633" y="0"/>
                  </a:lnTo>
                  <a:cubicBezTo>
                    <a:pt x="2864104" y="0"/>
                    <a:pt x="2933446" y="68961"/>
                    <a:pt x="2933446" y="154051"/>
                  </a:cubicBezTo>
                  <a:lnTo>
                    <a:pt x="2933446" y="1656461"/>
                  </a:lnTo>
                  <a:cubicBezTo>
                    <a:pt x="2933446" y="1741551"/>
                    <a:pt x="2864104" y="1810512"/>
                    <a:pt x="2778633" y="1810512"/>
                  </a:cubicBezTo>
                  <a:lnTo>
                    <a:pt x="154813" y="1810512"/>
                  </a:lnTo>
                  <a:cubicBezTo>
                    <a:pt x="69342" y="1810512"/>
                    <a:pt x="0" y="1741551"/>
                    <a:pt x="0" y="1656461"/>
                  </a:cubicBezTo>
                  <a:close/>
                </a:path>
              </a:pathLst>
            </a:custGeom>
            <a:solidFill>
              <a:srgbClr val="1E1E24"/>
            </a:solidFill>
          </p:spPr>
          <p:txBody>
            <a:bodyPr/>
            <a:p/>
          </p:txBody>
        </p:sp>
        <p:sp>
          <p:nvSpPr>
            <p:cNvPr name="Freeform 37" id="37"/>
            <p:cNvSpPr/>
            <p:nvPr/>
          </p:nvSpPr>
          <p:spPr>
            <a:xfrm flipH="false" flipV="false" rot="0">
              <a:off x="0" y="0"/>
              <a:ext cx="2958846" cy="1835912"/>
            </a:xfrm>
            <a:custGeom>
              <a:avLst/>
              <a:gdLst/>
              <a:ahLst/>
              <a:cxnLst/>
              <a:rect r="r" b="b" t="t" l="l"/>
              <a:pathLst>
                <a:path h="1835912" w="2958846">
                  <a:moveTo>
                    <a:pt x="0" y="166751"/>
                  </a:moveTo>
                  <a:cubicBezTo>
                    <a:pt x="0" y="74549"/>
                    <a:pt x="75057" y="0"/>
                    <a:pt x="167513" y="0"/>
                  </a:cubicBezTo>
                  <a:lnTo>
                    <a:pt x="2791333" y="0"/>
                  </a:lnTo>
                  <a:lnTo>
                    <a:pt x="2791333" y="12700"/>
                  </a:lnTo>
                  <a:lnTo>
                    <a:pt x="2791333" y="0"/>
                  </a:lnTo>
                  <a:cubicBezTo>
                    <a:pt x="2883789" y="0"/>
                    <a:pt x="2958846" y="74549"/>
                    <a:pt x="2958846" y="166751"/>
                  </a:cubicBezTo>
                  <a:lnTo>
                    <a:pt x="2946146" y="166751"/>
                  </a:lnTo>
                  <a:lnTo>
                    <a:pt x="2958846" y="166751"/>
                  </a:lnTo>
                  <a:lnTo>
                    <a:pt x="2958846" y="1669161"/>
                  </a:lnTo>
                  <a:lnTo>
                    <a:pt x="2946146" y="1669161"/>
                  </a:lnTo>
                  <a:lnTo>
                    <a:pt x="2958846" y="1669161"/>
                  </a:lnTo>
                  <a:cubicBezTo>
                    <a:pt x="2958846" y="1761236"/>
                    <a:pt x="2883789" y="1835912"/>
                    <a:pt x="2791333" y="1835912"/>
                  </a:cubicBezTo>
                  <a:lnTo>
                    <a:pt x="2791333" y="1823212"/>
                  </a:lnTo>
                  <a:lnTo>
                    <a:pt x="2791333" y="1835912"/>
                  </a:lnTo>
                  <a:lnTo>
                    <a:pt x="167513" y="1835912"/>
                  </a:lnTo>
                  <a:lnTo>
                    <a:pt x="167513" y="1823212"/>
                  </a:lnTo>
                  <a:lnTo>
                    <a:pt x="167513" y="1835912"/>
                  </a:lnTo>
                  <a:cubicBezTo>
                    <a:pt x="75057" y="1835912"/>
                    <a:pt x="0" y="1761363"/>
                    <a:pt x="0" y="1669161"/>
                  </a:cubicBezTo>
                  <a:lnTo>
                    <a:pt x="0" y="166751"/>
                  </a:lnTo>
                  <a:lnTo>
                    <a:pt x="12700" y="166751"/>
                  </a:lnTo>
                  <a:lnTo>
                    <a:pt x="0" y="166751"/>
                  </a:lnTo>
                  <a:moveTo>
                    <a:pt x="25400" y="166751"/>
                  </a:moveTo>
                  <a:lnTo>
                    <a:pt x="25400" y="1669161"/>
                  </a:lnTo>
                  <a:lnTo>
                    <a:pt x="12700" y="1669161"/>
                  </a:lnTo>
                  <a:lnTo>
                    <a:pt x="25400" y="1669161"/>
                  </a:lnTo>
                  <a:cubicBezTo>
                    <a:pt x="25400" y="1747139"/>
                    <a:pt x="89027" y="1810512"/>
                    <a:pt x="167513" y="1810512"/>
                  </a:cubicBezTo>
                  <a:lnTo>
                    <a:pt x="2791333" y="1810512"/>
                  </a:lnTo>
                  <a:cubicBezTo>
                    <a:pt x="2869946" y="1810512"/>
                    <a:pt x="2933446" y="1747139"/>
                    <a:pt x="2933446" y="1669161"/>
                  </a:cubicBezTo>
                  <a:lnTo>
                    <a:pt x="2933446" y="166751"/>
                  </a:lnTo>
                  <a:cubicBezTo>
                    <a:pt x="2933446" y="88773"/>
                    <a:pt x="2869819" y="25400"/>
                    <a:pt x="2791333" y="25400"/>
                  </a:cubicBezTo>
                  <a:lnTo>
                    <a:pt x="167513" y="25400"/>
                  </a:lnTo>
                  <a:lnTo>
                    <a:pt x="167513" y="12700"/>
                  </a:lnTo>
                  <a:lnTo>
                    <a:pt x="167513" y="25400"/>
                  </a:lnTo>
                  <a:cubicBezTo>
                    <a:pt x="89027" y="25400"/>
                    <a:pt x="25400" y="88773"/>
                    <a:pt x="25400" y="166751"/>
                  </a:cubicBezTo>
                  <a:close/>
                </a:path>
              </a:pathLst>
            </a:custGeom>
            <a:solidFill>
              <a:srgbClr val="40424D"/>
            </a:solidFill>
          </p:spPr>
          <p:txBody>
            <a:bodyPr/>
            <a:p/>
          </p:txBody>
        </p:sp>
      </p:grpSp>
      <p:grpSp>
        <p:nvGrpSpPr>
          <p:cNvPr name="Group 38" id="38"/>
          <p:cNvGrpSpPr/>
          <p:nvPr/>
        </p:nvGrpSpPr>
        <p:grpSpPr>
          <a:xfrm rot="0">
            <a:off x="3179369" y="3228746"/>
            <a:ext cx="1829714" cy="293380"/>
            <a:chOff x="0" y="0"/>
            <a:chExt cx="2439619" cy="391173"/>
          </a:xfrm>
        </p:grpSpPr>
        <p:sp>
          <p:nvSpPr>
            <p:cNvPr name="Freeform 39" id="39"/>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0" id="40"/>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Sommeil</a:t>
              </a:r>
            </a:p>
          </p:txBody>
        </p:sp>
      </p:grpSp>
      <p:grpSp>
        <p:nvGrpSpPr>
          <p:cNvPr name="Group 41" id="41"/>
          <p:cNvGrpSpPr/>
          <p:nvPr/>
        </p:nvGrpSpPr>
        <p:grpSpPr>
          <a:xfrm rot="0">
            <a:off x="3179369" y="3542843"/>
            <a:ext cx="1800911" cy="625907"/>
            <a:chOff x="0" y="0"/>
            <a:chExt cx="2401214" cy="834542"/>
          </a:xfrm>
        </p:grpSpPr>
        <p:sp>
          <p:nvSpPr>
            <p:cNvPr name="Freeform 42" id="42"/>
            <p:cNvSpPr/>
            <p:nvPr/>
          </p:nvSpPr>
          <p:spPr>
            <a:xfrm flipH="false" flipV="false" rot="0">
              <a:off x="0" y="0"/>
              <a:ext cx="2401214" cy="834543"/>
            </a:xfrm>
            <a:custGeom>
              <a:avLst/>
              <a:gdLst/>
              <a:ahLst/>
              <a:cxnLst/>
              <a:rect r="r" b="b" t="t" l="l"/>
              <a:pathLst>
                <a:path h="834543" w="2401214">
                  <a:moveTo>
                    <a:pt x="0" y="0"/>
                  </a:moveTo>
                  <a:lnTo>
                    <a:pt x="2401214" y="0"/>
                  </a:lnTo>
                  <a:lnTo>
                    <a:pt x="2401214" y="834543"/>
                  </a:lnTo>
                  <a:lnTo>
                    <a:pt x="0" y="834543"/>
                  </a:lnTo>
                  <a:close/>
                </a:path>
              </a:pathLst>
            </a:custGeom>
            <a:blipFill>
              <a:blip r:embed="rId3">
                <a:alphaModFix amt="0"/>
              </a:blip>
              <a:stretch>
                <a:fillRect l="0" t="-11469" r="0" b="-658"/>
              </a:stretch>
            </a:blipFill>
          </p:spPr>
          <p:txBody>
            <a:bodyPr/>
            <a:p/>
          </p:txBody>
        </p:sp>
        <p:sp>
          <p:nvSpPr>
            <p:cNvPr name="TextBox 43" id="43"/>
            <p:cNvSpPr txBox="true"/>
            <p:nvPr/>
          </p:nvSpPr>
          <p:spPr>
            <a:xfrm>
              <a:off x="0" y="0"/>
              <a:ext cx="2401214" cy="8345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La nuit : synthèse de collagène, prolifération des kératinocytes.</a:t>
              </a:r>
            </a:p>
          </p:txBody>
        </p:sp>
      </p:grpSp>
      <p:grpSp>
        <p:nvGrpSpPr>
          <p:cNvPr name="Group 44" id="44"/>
          <p:cNvGrpSpPr/>
          <p:nvPr/>
        </p:nvGrpSpPr>
        <p:grpSpPr>
          <a:xfrm rot="0">
            <a:off x="562432" y="4505782"/>
            <a:ext cx="2219096" cy="1190396"/>
            <a:chOff x="0" y="0"/>
            <a:chExt cx="2958795" cy="1587195"/>
          </a:xfrm>
        </p:grpSpPr>
        <p:sp>
          <p:nvSpPr>
            <p:cNvPr name="Freeform 45" id="45"/>
            <p:cNvSpPr/>
            <p:nvPr/>
          </p:nvSpPr>
          <p:spPr>
            <a:xfrm flipH="false" flipV="false" rot="0">
              <a:off x="12700" y="12700"/>
              <a:ext cx="2933319" cy="1561846"/>
            </a:xfrm>
            <a:custGeom>
              <a:avLst/>
              <a:gdLst/>
              <a:ahLst/>
              <a:cxnLst/>
              <a:rect r="r" b="b" t="t" l="l"/>
              <a:pathLst>
                <a:path h="1561846" w="2933319">
                  <a:moveTo>
                    <a:pt x="0" y="178435"/>
                  </a:moveTo>
                  <a:cubicBezTo>
                    <a:pt x="0" y="79883"/>
                    <a:pt x="80518" y="0"/>
                    <a:pt x="179705" y="0"/>
                  </a:cubicBezTo>
                  <a:lnTo>
                    <a:pt x="2753614" y="0"/>
                  </a:lnTo>
                  <a:cubicBezTo>
                    <a:pt x="2852928" y="0"/>
                    <a:pt x="2933319" y="79883"/>
                    <a:pt x="2933319" y="178435"/>
                  </a:cubicBezTo>
                  <a:lnTo>
                    <a:pt x="2933319" y="1383411"/>
                  </a:lnTo>
                  <a:cubicBezTo>
                    <a:pt x="2933319" y="1481963"/>
                    <a:pt x="2852801" y="1561846"/>
                    <a:pt x="2753614" y="1561846"/>
                  </a:cubicBezTo>
                  <a:lnTo>
                    <a:pt x="179705" y="1561846"/>
                  </a:lnTo>
                  <a:cubicBezTo>
                    <a:pt x="80518" y="1561846"/>
                    <a:pt x="0" y="1481963"/>
                    <a:pt x="0" y="1383411"/>
                  </a:cubicBezTo>
                  <a:close/>
                </a:path>
              </a:pathLst>
            </a:custGeom>
            <a:solidFill>
              <a:srgbClr val="1E1E24"/>
            </a:solidFill>
          </p:spPr>
          <p:txBody>
            <a:bodyPr/>
            <a:p/>
          </p:txBody>
        </p:sp>
        <p:sp>
          <p:nvSpPr>
            <p:cNvPr name="Freeform 46" id="46"/>
            <p:cNvSpPr/>
            <p:nvPr/>
          </p:nvSpPr>
          <p:spPr>
            <a:xfrm flipH="false" flipV="false" rot="0">
              <a:off x="0" y="0"/>
              <a:ext cx="2958719" cy="1587246"/>
            </a:xfrm>
            <a:custGeom>
              <a:avLst/>
              <a:gdLst/>
              <a:ahLst/>
              <a:cxnLst/>
              <a:rect r="r" b="b" t="t" l="l"/>
              <a:pathLst>
                <a:path h="1587246" w="2958719">
                  <a:moveTo>
                    <a:pt x="0" y="191135"/>
                  </a:moveTo>
                  <a:cubicBezTo>
                    <a:pt x="0" y="85471"/>
                    <a:pt x="86233" y="0"/>
                    <a:pt x="192405" y="0"/>
                  </a:cubicBezTo>
                  <a:lnTo>
                    <a:pt x="2766314" y="0"/>
                  </a:lnTo>
                  <a:lnTo>
                    <a:pt x="2766314" y="12700"/>
                  </a:lnTo>
                  <a:lnTo>
                    <a:pt x="2766314" y="0"/>
                  </a:lnTo>
                  <a:cubicBezTo>
                    <a:pt x="2872486" y="0"/>
                    <a:pt x="2958719" y="85471"/>
                    <a:pt x="2958719" y="191135"/>
                  </a:cubicBezTo>
                  <a:lnTo>
                    <a:pt x="2946019" y="191135"/>
                  </a:lnTo>
                  <a:lnTo>
                    <a:pt x="2958719" y="191135"/>
                  </a:lnTo>
                  <a:lnTo>
                    <a:pt x="2958719" y="1396111"/>
                  </a:lnTo>
                  <a:lnTo>
                    <a:pt x="2946019" y="1396111"/>
                  </a:lnTo>
                  <a:lnTo>
                    <a:pt x="2958719" y="1396111"/>
                  </a:lnTo>
                  <a:cubicBezTo>
                    <a:pt x="2958719" y="1501775"/>
                    <a:pt x="2872486" y="1587246"/>
                    <a:pt x="2766314" y="1587246"/>
                  </a:cubicBezTo>
                  <a:lnTo>
                    <a:pt x="2766314" y="1574546"/>
                  </a:lnTo>
                  <a:lnTo>
                    <a:pt x="2766314" y="1587246"/>
                  </a:lnTo>
                  <a:lnTo>
                    <a:pt x="192405" y="1587246"/>
                  </a:lnTo>
                  <a:lnTo>
                    <a:pt x="192405" y="1574546"/>
                  </a:lnTo>
                  <a:lnTo>
                    <a:pt x="192405" y="1587246"/>
                  </a:lnTo>
                  <a:cubicBezTo>
                    <a:pt x="86233" y="1587246"/>
                    <a:pt x="0" y="1501775"/>
                    <a:pt x="0" y="1396111"/>
                  </a:cubicBezTo>
                  <a:lnTo>
                    <a:pt x="0" y="191135"/>
                  </a:lnTo>
                  <a:lnTo>
                    <a:pt x="12700" y="191135"/>
                  </a:lnTo>
                  <a:lnTo>
                    <a:pt x="0" y="191135"/>
                  </a:lnTo>
                  <a:moveTo>
                    <a:pt x="25400" y="191135"/>
                  </a:moveTo>
                  <a:lnTo>
                    <a:pt x="25400" y="1396111"/>
                  </a:lnTo>
                  <a:lnTo>
                    <a:pt x="12700" y="1396111"/>
                  </a:lnTo>
                  <a:lnTo>
                    <a:pt x="25400" y="1396111"/>
                  </a:lnTo>
                  <a:cubicBezTo>
                    <a:pt x="25400" y="1487551"/>
                    <a:pt x="100076" y="1561846"/>
                    <a:pt x="192405" y="1561846"/>
                  </a:cubicBezTo>
                  <a:lnTo>
                    <a:pt x="2766314" y="1561846"/>
                  </a:lnTo>
                  <a:cubicBezTo>
                    <a:pt x="2858643" y="1561846"/>
                    <a:pt x="2933319" y="1487551"/>
                    <a:pt x="2933319" y="1396111"/>
                  </a:cubicBezTo>
                  <a:lnTo>
                    <a:pt x="2933319" y="191135"/>
                  </a:lnTo>
                  <a:cubicBezTo>
                    <a:pt x="2933319" y="99695"/>
                    <a:pt x="2858643" y="25400"/>
                    <a:pt x="2766314" y="25400"/>
                  </a:cubicBezTo>
                  <a:lnTo>
                    <a:pt x="192405" y="25400"/>
                  </a:lnTo>
                  <a:lnTo>
                    <a:pt x="192405" y="12700"/>
                  </a:lnTo>
                  <a:lnTo>
                    <a:pt x="192405" y="25400"/>
                  </a:lnTo>
                  <a:cubicBezTo>
                    <a:pt x="100076" y="25400"/>
                    <a:pt x="25400" y="99695"/>
                    <a:pt x="25400" y="191135"/>
                  </a:cubicBezTo>
                  <a:close/>
                </a:path>
              </a:pathLst>
            </a:custGeom>
            <a:solidFill>
              <a:srgbClr val="40424D"/>
            </a:solidFill>
          </p:spPr>
          <p:txBody>
            <a:bodyPr/>
            <a:p/>
          </p:txBody>
        </p:sp>
      </p:grpSp>
      <p:grpSp>
        <p:nvGrpSpPr>
          <p:cNvPr name="Group 47" id="47"/>
          <p:cNvGrpSpPr/>
          <p:nvPr/>
        </p:nvGrpSpPr>
        <p:grpSpPr>
          <a:xfrm rot="0">
            <a:off x="814730" y="4758080"/>
            <a:ext cx="1829714" cy="293380"/>
            <a:chOff x="0" y="0"/>
            <a:chExt cx="2439619" cy="391173"/>
          </a:xfrm>
        </p:grpSpPr>
        <p:sp>
          <p:nvSpPr>
            <p:cNvPr name="Freeform 48" id="48"/>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49" id="49"/>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Stress</a:t>
              </a:r>
            </a:p>
          </p:txBody>
        </p:sp>
      </p:grpSp>
      <p:grpSp>
        <p:nvGrpSpPr>
          <p:cNvPr name="Group 50" id="50"/>
          <p:cNvGrpSpPr/>
          <p:nvPr/>
        </p:nvGrpSpPr>
        <p:grpSpPr>
          <a:xfrm rot="0">
            <a:off x="814730" y="5072177"/>
            <a:ext cx="1800911" cy="444932"/>
            <a:chOff x="0" y="0"/>
            <a:chExt cx="2401214" cy="593242"/>
          </a:xfrm>
        </p:grpSpPr>
        <p:sp>
          <p:nvSpPr>
            <p:cNvPr name="Freeform 51" id="51"/>
            <p:cNvSpPr/>
            <p:nvPr/>
          </p:nvSpPr>
          <p:spPr>
            <a:xfrm flipH="false" flipV="false" rot="0">
              <a:off x="0" y="0"/>
              <a:ext cx="2401214" cy="593241"/>
            </a:xfrm>
            <a:custGeom>
              <a:avLst/>
              <a:gdLst/>
              <a:ahLst/>
              <a:cxnLst/>
              <a:rect r="r" b="b" t="t" l="l"/>
              <a:pathLst>
                <a:path h="593241" w="2401214">
                  <a:moveTo>
                    <a:pt x="0" y="0"/>
                  </a:moveTo>
                  <a:lnTo>
                    <a:pt x="2401214" y="0"/>
                  </a:lnTo>
                  <a:lnTo>
                    <a:pt x="2401214" y="593241"/>
                  </a:lnTo>
                  <a:lnTo>
                    <a:pt x="0" y="593241"/>
                  </a:lnTo>
                  <a:close/>
                </a:path>
              </a:pathLst>
            </a:custGeom>
            <a:blipFill>
              <a:blip r:embed="rId3">
                <a:alphaModFix amt="0"/>
              </a:blip>
              <a:stretch>
                <a:fillRect l="0" t="-37097" r="0" b="-20638"/>
              </a:stretch>
            </a:blipFill>
          </p:spPr>
          <p:txBody>
            <a:bodyPr/>
            <a:p/>
          </p:txBody>
        </p:sp>
        <p:sp>
          <p:nvSpPr>
            <p:cNvPr name="TextBox 52" id="52"/>
            <p:cNvSpPr txBox="true"/>
            <p:nvPr/>
          </p:nvSpPr>
          <p:spPr>
            <a:xfrm>
              <a:off x="0" y="0"/>
              <a:ext cx="2401214" cy="5932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Le cortisol inhibe les fibroblastes et dégrade la matrice.</a:t>
              </a:r>
            </a:p>
          </p:txBody>
        </p:sp>
      </p:grpSp>
      <p:grpSp>
        <p:nvGrpSpPr>
          <p:cNvPr name="Group 53" id="53"/>
          <p:cNvGrpSpPr/>
          <p:nvPr/>
        </p:nvGrpSpPr>
        <p:grpSpPr>
          <a:xfrm rot="0">
            <a:off x="2927071" y="4505782"/>
            <a:ext cx="2219096" cy="1190396"/>
            <a:chOff x="0" y="0"/>
            <a:chExt cx="2958795" cy="1587195"/>
          </a:xfrm>
        </p:grpSpPr>
        <p:sp>
          <p:nvSpPr>
            <p:cNvPr name="Freeform 54" id="54"/>
            <p:cNvSpPr/>
            <p:nvPr/>
          </p:nvSpPr>
          <p:spPr>
            <a:xfrm flipH="false" flipV="false" rot="0">
              <a:off x="12700" y="12700"/>
              <a:ext cx="2933319" cy="1561846"/>
            </a:xfrm>
            <a:custGeom>
              <a:avLst/>
              <a:gdLst/>
              <a:ahLst/>
              <a:cxnLst/>
              <a:rect r="r" b="b" t="t" l="l"/>
              <a:pathLst>
                <a:path h="1561846" w="2933319">
                  <a:moveTo>
                    <a:pt x="0" y="178435"/>
                  </a:moveTo>
                  <a:cubicBezTo>
                    <a:pt x="0" y="79883"/>
                    <a:pt x="80518" y="0"/>
                    <a:pt x="179705" y="0"/>
                  </a:cubicBezTo>
                  <a:lnTo>
                    <a:pt x="2753614" y="0"/>
                  </a:lnTo>
                  <a:cubicBezTo>
                    <a:pt x="2852928" y="0"/>
                    <a:pt x="2933319" y="79883"/>
                    <a:pt x="2933319" y="178435"/>
                  </a:cubicBezTo>
                  <a:lnTo>
                    <a:pt x="2933319" y="1383411"/>
                  </a:lnTo>
                  <a:cubicBezTo>
                    <a:pt x="2933319" y="1481963"/>
                    <a:pt x="2852801" y="1561846"/>
                    <a:pt x="2753614" y="1561846"/>
                  </a:cubicBezTo>
                  <a:lnTo>
                    <a:pt x="179705" y="1561846"/>
                  </a:lnTo>
                  <a:cubicBezTo>
                    <a:pt x="80518" y="1561846"/>
                    <a:pt x="0" y="1481963"/>
                    <a:pt x="0" y="1383411"/>
                  </a:cubicBezTo>
                  <a:close/>
                </a:path>
              </a:pathLst>
            </a:custGeom>
            <a:solidFill>
              <a:srgbClr val="1E1E24"/>
            </a:solidFill>
          </p:spPr>
          <p:txBody>
            <a:bodyPr/>
            <a:p/>
          </p:txBody>
        </p:sp>
        <p:sp>
          <p:nvSpPr>
            <p:cNvPr name="Freeform 55" id="55"/>
            <p:cNvSpPr/>
            <p:nvPr/>
          </p:nvSpPr>
          <p:spPr>
            <a:xfrm flipH="false" flipV="false" rot="0">
              <a:off x="0" y="0"/>
              <a:ext cx="2958719" cy="1587246"/>
            </a:xfrm>
            <a:custGeom>
              <a:avLst/>
              <a:gdLst/>
              <a:ahLst/>
              <a:cxnLst/>
              <a:rect r="r" b="b" t="t" l="l"/>
              <a:pathLst>
                <a:path h="1587246" w="2958719">
                  <a:moveTo>
                    <a:pt x="0" y="191135"/>
                  </a:moveTo>
                  <a:cubicBezTo>
                    <a:pt x="0" y="85471"/>
                    <a:pt x="86233" y="0"/>
                    <a:pt x="192405" y="0"/>
                  </a:cubicBezTo>
                  <a:lnTo>
                    <a:pt x="2766314" y="0"/>
                  </a:lnTo>
                  <a:lnTo>
                    <a:pt x="2766314" y="12700"/>
                  </a:lnTo>
                  <a:lnTo>
                    <a:pt x="2766314" y="0"/>
                  </a:lnTo>
                  <a:cubicBezTo>
                    <a:pt x="2872486" y="0"/>
                    <a:pt x="2958719" y="85471"/>
                    <a:pt x="2958719" y="191135"/>
                  </a:cubicBezTo>
                  <a:lnTo>
                    <a:pt x="2946019" y="191135"/>
                  </a:lnTo>
                  <a:lnTo>
                    <a:pt x="2958719" y="191135"/>
                  </a:lnTo>
                  <a:lnTo>
                    <a:pt x="2958719" y="1396111"/>
                  </a:lnTo>
                  <a:lnTo>
                    <a:pt x="2946019" y="1396111"/>
                  </a:lnTo>
                  <a:lnTo>
                    <a:pt x="2958719" y="1396111"/>
                  </a:lnTo>
                  <a:cubicBezTo>
                    <a:pt x="2958719" y="1501775"/>
                    <a:pt x="2872486" y="1587246"/>
                    <a:pt x="2766314" y="1587246"/>
                  </a:cubicBezTo>
                  <a:lnTo>
                    <a:pt x="2766314" y="1574546"/>
                  </a:lnTo>
                  <a:lnTo>
                    <a:pt x="2766314" y="1587246"/>
                  </a:lnTo>
                  <a:lnTo>
                    <a:pt x="192405" y="1587246"/>
                  </a:lnTo>
                  <a:lnTo>
                    <a:pt x="192405" y="1574546"/>
                  </a:lnTo>
                  <a:lnTo>
                    <a:pt x="192405" y="1587246"/>
                  </a:lnTo>
                  <a:cubicBezTo>
                    <a:pt x="86233" y="1587246"/>
                    <a:pt x="0" y="1501775"/>
                    <a:pt x="0" y="1396111"/>
                  </a:cubicBezTo>
                  <a:lnTo>
                    <a:pt x="0" y="191135"/>
                  </a:lnTo>
                  <a:lnTo>
                    <a:pt x="12700" y="191135"/>
                  </a:lnTo>
                  <a:lnTo>
                    <a:pt x="0" y="191135"/>
                  </a:lnTo>
                  <a:moveTo>
                    <a:pt x="25400" y="191135"/>
                  </a:moveTo>
                  <a:lnTo>
                    <a:pt x="25400" y="1396111"/>
                  </a:lnTo>
                  <a:lnTo>
                    <a:pt x="12700" y="1396111"/>
                  </a:lnTo>
                  <a:lnTo>
                    <a:pt x="25400" y="1396111"/>
                  </a:lnTo>
                  <a:cubicBezTo>
                    <a:pt x="25400" y="1487551"/>
                    <a:pt x="100076" y="1561846"/>
                    <a:pt x="192405" y="1561846"/>
                  </a:cubicBezTo>
                  <a:lnTo>
                    <a:pt x="2766314" y="1561846"/>
                  </a:lnTo>
                  <a:cubicBezTo>
                    <a:pt x="2858643" y="1561846"/>
                    <a:pt x="2933319" y="1487551"/>
                    <a:pt x="2933319" y="1396111"/>
                  </a:cubicBezTo>
                  <a:lnTo>
                    <a:pt x="2933319" y="191135"/>
                  </a:lnTo>
                  <a:cubicBezTo>
                    <a:pt x="2933319" y="99695"/>
                    <a:pt x="2858643" y="25400"/>
                    <a:pt x="2766314" y="25400"/>
                  </a:cubicBezTo>
                  <a:lnTo>
                    <a:pt x="192405" y="25400"/>
                  </a:lnTo>
                  <a:lnTo>
                    <a:pt x="192405" y="12700"/>
                  </a:lnTo>
                  <a:lnTo>
                    <a:pt x="192405" y="25400"/>
                  </a:lnTo>
                  <a:cubicBezTo>
                    <a:pt x="100076" y="25400"/>
                    <a:pt x="25400" y="99695"/>
                    <a:pt x="25400" y="191135"/>
                  </a:cubicBezTo>
                  <a:close/>
                </a:path>
              </a:pathLst>
            </a:custGeom>
            <a:solidFill>
              <a:srgbClr val="40424D"/>
            </a:solidFill>
          </p:spPr>
          <p:txBody>
            <a:bodyPr/>
            <a:p/>
          </p:txBody>
        </p:sp>
      </p:grpSp>
      <p:grpSp>
        <p:nvGrpSpPr>
          <p:cNvPr name="Group 56" id="56"/>
          <p:cNvGrpSpPr/>
          <p:nvPr/>
        </p:nvGrpSpPr>
        <p:grpSpPr>
          <a:xfrm rot="0">
            <a:off x="3179369" y="4758080"/>
            <a:ext cx="1829714" cy="293380"/>
            <a:chOff x="0" y="0"/>
            <a:chExt cx="2439619" cy="391173"/>
          </a:xfrm>
        </p:grpSpPr>
        <p:sp>
          <p:nvSpPr>
            <p:cNvPr name="Freeform 57" id="57"/>
            <p:cNvSpPr/>
            <p:nvPr/>
          </p:nvSpPr>
          <p:spPr>
            <a:xfrm flipH="false" flipV="false" rot="0">
              <a:off x="0" y="0"/>
              <a:ext cx="2439620" cy="391172"/>
            </a:xfrm>
            <a:custGeom>
              <a:avLst/>
              <a:gdLst/>
              <a:ahLst/>
              <a:cxnLst/>
              <a:rect r="r" b="b" t="t" l="l"/>
              <a:pathLst>
                <a:path h="391172" w="2439620">
                  <a:moveTo>
                    <a:pt x="0" y="0"/>
                  </a:moveTo>
                  <a:lnTo>
                    <a:pt x="2439620" y="0"/>
                  </a:lnTo>
                  <a:lnTo>
                    <a:pt x="2439620" y="391172"/>
                  </a:lnTo>
                  <a:lnTo>
                    <a:pt x="0" y="391172"/>
                  </a:lnTo>
                  <a:close/>
                </a:path>
              </a:pathLst>
            </a:custGeom>
            <a:blipFill>
              <a:blip r:embed="rId3">
                <a:alphaModFix amt="0"/>
              </a:blip>
              <a:stretch>
                <a:fillRect l="0" t="-77575" r="0" b="-65468"/>
              </a:stretch>
            </a:blipFill>
          </p:spPr>
          <p:txBody>
            <a:bodyPr/>
            <a:p/>
          </p:txBody>
        </p:sp>
        <p:sp>
          <p:nvSpPr>
            <p:cNvPr name="TextBox 58" id="58"/>
            <p:cNvSpPr txBox="true"/>
            <p:nvPr/>
          </p:nvSpPr>
          <p:spPr>
            <a:xfrm>
              <a:off x="0" y="0"/>
              <a:ext cx="2439619"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Élimination</a:t>
              </a:r>
            </a:p>
          </p:txBody>
        </p:sp>
      </p:grpSp>
      <p:grpSp>
        <p:nvGrpSpPr>
          <p:cNvPr name="Group 59" id="59"/>
          <p:cNvGrpSpPr/>
          <p:nvPr/>
        </p:nvGrpSpPr>
        <p:grpSpPr>
          <a:xfrm rot="0">
            <a:off x="3179369" y="5072177"/>
            <a:ext cx="1800911" cy="444932"/>
            <a:chOff x="0" y="0"/>
            <a:chExt cx="2401214" cy="593242"/>
          </a:xfrm>
        </p:grpSpPr>
        <p:sp>
          <p:nvSpPr>
            <p:cNvPr name="Freeform 60" id="60"/>
            <p:cNvSpPr/>
            <p:nvPr/>
          </p:nvSpPr>
          <p:spPr>
            <a:xfrm flipH="false" flipV="false" rot="0">
              <a:off x="0" y="0"/>
              <a:ext cx="2401214" cy="593241"/>
            </a:xfrm>
            <a:custGeom>
              <a:avLst/>
              <a:gdLst/>
              <a:ahLst/>
              <a:cxnLst/>
              <a:rect r="r" b="b" t="t" l="l"/>
              <a:pathLst>
                <a:path h="593241" w="2401214">
                  <a:moveTo>
                    <a:pt x="0" y="0"/>
                  </a:moveTo>
                  <a:lnTo>
                    <a:pt x="2401214" y="0"/>
                  </a:lnTo>
                  <a:lnTo>
                    <a:pt x="2401214" y="593241"/>
                  </a:lnTo>
                  <a:lnTo>
                    <a:pt x="0" y="593241"/>
                  </a:lnTo>
                  <a:close/>
                </a:path>
              </a:pathLst>
            </a:custGeom>
            <a:blipFill>
              <a:blip r:embed="rId3">
                <a:alphaModFix amt="0"/>
              </a:blip>
              <a:stretch>
                <a:fillRect l="0" t="-37097" r="0" b="-20638"/>
              </a:stretch>
            </a:blipFill>
          </p:spPr>
          <p:txBody>
            <a:bodyPr/>
            <a:p/>
          </p:txBody>
        </p:sp>
        <p:sp>
          <p:nvSpPr>
            <p:cNvPr name="TextBox 61" id="61"/>
            <p:cNvSpPr txBox="true"/>
            <p:nvPr/>
          </p:nvSpPr>
          <p:spPr>
            <a:xfrm>
              <a:off x="0" y="0"/>
              <a:ext cx="2401214" cy="593242"/>
            </a:xfrm>
            <a:prstGeom prst="rect">
              <a:avLst/>
            </a:prstGeom>
          </p:spPr>
          <p:txBody>
            <a:bodyPr anchor="ctr" rtlCol="false" tIns="0" lIns="0" bIns="0" rIns="0"/>
            <a:lstStyle/>
            <a:p>
              <a:pPr algn="l">
                <a:lnSpc>
                  <a:spcPts val="1439"/>
                </a:lnSpc>
              </a:pPr>
              <a:r>
                <a:rPr lang="en-US" sz="1200">
                  <a:solidFill>
                    <a:srgbClr val="9DA2B3"/>
                  </a:solidFill>
                  <a:latin typeface="Manrope"/>
                  <a:ea typeface="Manrope"/>
                  <a:cs typeface="Manrope"/>
                  <a:sym typeface="Manrope"/>
                </a:rPr>
                <a:t>La sueur évacue une fraction des composés à éliminer.</a:t>
              </a:r>
            </a:p>
          </p:txBody>
        </p:sp>
      </p:grpSp>
      <p:grpSp>
        <p:nvGrpSpPr>
          <p:cNvPr name="Group 62" id="62"/>
          <p:cNvGrpSpPr/>
          <p:nvPr/>
        </p:nvGrpSpPr>
        <p:grpSpPr>
          <a:xfrm rot="0">
            <a:off x="562432" y="7848371"/>
            <a:ext cx="4576877" cy="1876196"/>
            <a:chOff x="0" y="0"/>
            <a:chExt cx="6102502" cy="2501595"/>
          </a:xfrm>
        </p:grpSpPr>
        <p:sp>
          <p:nvSpPr>
            <p:cNvPr name="Freeform 63" id="63"/>
            <p:cNvSpPr/>
            <p:nvPr/>
          </p:nvSpPr>
          <p:spPr>
            <a:xfrm flipH="false" flipV="false" rot="0">
              <a:off x="12700" y="12700"/>
              <a:ext cx="6077077" cy="2476246"/>
            </a:xfrm>
            <a:custGeom>
              <a:avLst/>
              <a:gdLst/>
              <a:ahLst/>
              <a:cxnLst/>
              <a:rect r="r" b="b" t="t" l="l"/>
              <a:pathLst>
                <a:path h="2476246" w="6077077">
                  <a:moveTo>
                    <a:pt x="0" y="0"/>
                  </a:moveTo>
                  <a:lnTo>
                    <a:pt x="6077077" y="0"/>
                  </a:lnTo>
                  <a:lnTo>
                    <a:pt x="6077077" y="2476246"/>
                  </a:lnTo>
                  <a:lnTo>
                    <a:pt x="0" y="2476246"/>
                  </a:lnTo>
                  <a:close/>
                </a:path>
              </a:pathLst>
            </a:custGeom>
            <a:solidFill>
              <a:srgbClr val="40424D">
                <a:alpha val="784"/>
              </a:srgbClr>
            </a:solidFill>
          </p:spPr>
          <p:txBody>
            <a:bodyPr/>
            <a:p/>
          </p:txBody>
        </p:sp>
        <p:sp>
          <p:nvSpPr>
            <p:cNvPr name="Freeform 64" id="64"/>
            <p:cNvSpPr/>
            <p:nvPr/>
          </p:nvSpPr>
          <p:spPr>
            <a:xfrm flipH="false" flipV="false" rot="0">
              <a:off x="0" y="0"/>
              <a:ext cx="6102477" cy="2501646"/>
            </a:xfrm>
            <a:custGeom>
              <a:avLst/>
              <a:gdLst/>
              <a:ahLst/>
              <a:cxnLst/>
              <a:rect r="r" b="b" t="t" l="l"/>
              <a:pathLst>
                <a:path h="2501646" w="6102477">
                  <a:moveTo>
                    <a:pt x="12700" y="0"/>
                  </a:moveTo>
                  <a:lnTo>
                    <a:pt x="6089777" y="0"/>
                  </a:lnTo>
                  <a:cubicBezTo>
                    <a:pt x="6096762" y="0"/>
                    <a:pt x="6102477" y="5715"/>
                    <a:pt x="6102477" y="12700"/>
                  </a:cubicBezTo>
                  <a:lnTo>
                    <a:pt x="6102477" y="2488946"/>
                  </a:lnTo>
                  <a:cubicBezTo>
                    <a:pt x="6102477" y="2495931"/>
                    <a:pt x="6096762" y="2501646"/>
                    <a:pt x="6089777" y="2501646"/>
                  </a:cubicBezTo>
                  <a:lnTo>
                    <a:pt x="12700" y="2501646"/>
                  </a:lnTo>
                  <a:cubicBezTo>
                    <a:pt x="5715" y="2501646"/>
                    <a:pt x="0" y="2495931"/>
                    <a:pt x="0" y="2488946"/>
                  </a:cubicBezTo>
                  <a:lnTo>
                    <a:pt x="0" y="12700"/>
                  </a:lnTo>
                  <a:cubicBezTo>
                    <a:pt x="0" y="5715"/>
                    <a:pt x="5715" y="0"/>
                    <a:pt x="12700" y="0"/>
                  </a:cubicBezTo>
                  <a:moveTo>
                    <a:pt x="12700" y="25400"/>
                  </a:moveTo>
                  <a:lnTo>
                    <a:pt x="12700" y="12700"/>
                  </a:lnTo>
                  <a:lnTo>
                    <a:pt x="25400" y="12700"/>
                  </a:lnTo>
                  <a:lnTo>
                    <a:pt x="25400" y="2488946"/>
                  </a:lnTo>
                  <a:lnTo>
                    <a:pt x="12700" y="2488946"/>
                  </a:lnTo>
                  <a:lnTo>
                    <a:pt x="12700" y="2476246"/>
                  </a:lnTo>
                  <a:lnTo>
                    <a:pt x="6089777" y="2476246"/>
                  </a:lnTo>
                  <a:lnTo>
                    <a:pt x="6089777" y="2488946"/>
                  </a:lnTo>
                  <a:lnTo>
                    <a:pt x="6077077" y="2488946"/>
                  </a:lnTo>
                  <a:lnTo>
                    <a:pt x="6077077" y="12700"/>
                  </a:lnTo>
                  <a:lnTo>
                    <a:pt x="6089777" y="12700"/>
                  </a:lnTo>
                  <a:lnTo>
                    <a:pt x="6089777" y="25400"/>
                  </a:lnTo>
                  <a:lnTo>
                    <a:pt x="12700" y="25400"/>
                  </a:lnTo>
                  <a:close/>
                </a:path>
              </a:pathLst>
            </a:custGeom>
            <a:solidFill>
              <a:srgbClr val="40424D"/>
            </a:solidFill>
          </p:spPr>
          <p:txBody>
            <a:bodyPr/>
            <a:p/>
          </p:txBody>
        </p:sp>
      </p:grpSp>
      <p:grpSp>
        <p:nvGrpSpPr>
          <p:cNvPr name="Group 65" id="65"/>
          <p:cNvGrpSpPr/>
          <p:nvPr/>
        </p:nvGrpSpPr>
        <p:grpSpPr>
          <a:xfrm rot="0">
            <a:off x="562432" y="7848371"/>
            <a:ext cx="61570" cy="1876196"/>
            <a:chOff x="0" y="0"/>
            <a:chExt cx="82093" cy="2501595"/>
          </a:xfrm>
        </p:grpSpPr>
        <p:sp>
          <p:nvSpPr>
            <p:cNvPr name="Freeform 66" id="66"/>
            <p:cNvSpPr/>
            <p:nvPr/>
          </p:nvSpPr>
          <p:spPr>
            <a:xfrm flipH="false" flipV="false" rot="0">
              <a:off x="12700" y="12700"/>
              <a:ext cx="56642" cy="2476246"/>
            </a:xfrm>
            <a:custGeom>
              <a:avLst/>
              <a:gdLst/>
              <a:ahLst/>
              <a:cxnLst/>
              <a:rect r="r" b="b" t="t" l="l"/>
              <a:pathLst>
                <a:path h="2476246" w="56642">
                  <a:moveTo>
                    <a:pt x="0" y="0"/>
                  </a:moveTo>
                  <a:lnTo>
                    <a:pt x="56642" y="0"/>
                  </a:lnTo>
                  <a:lnTo>
                    <a:pt x="56642" y="2476246"/>
                  </a:lnTo>
                  <a:lnTo>
                    <a:pt x="0" y="2476246"/>
                  </a:lnTo>
                  <a:close/>
                </a:path>
              </a:pathLst>
            </a:custGeom>
            <a:solidFill>
              <a:srgbClr val="FFFFFF"/>
            </a:solidFill>
          </p:spPr>
          <p:txBody>
            <a:bodyPr/>
            <a:p/>
          </p:txBody>
        </p:sp>
      </p:grpSp>
      <p:grpSp>
        <p:nvGrpSpPr>
          <p:cNvPr name="Group 67" id="67"/>
          <p:cNvGrpSpPr/>
          <p:nvPr/>
        </p:nvGrpSpPr>
        <p:grpSpPr>
          <a:xfrm rot="0">
            <a:off x="899770" y="8158277"/>
            <a:ext cx="171450" cy="229057"/>
            <a:chOff x="0" y="0"/>
            <a:chExt cx="228600" cy="305410"/>
          </a:xfrm>
        </p:grpSpPr>
        <p:sp>
          <p:nvSpPr>
            <p:cNvPr name="Freeform 68" id="68" descr="preencoded.png"/>
            <p:cNvSpPr/>
            <p:nvPr/>
          </p:nvSpPr>
          <p:spPr>
            <a:xfrm flipH="false" flipV="false" rot="0">
              <a:off x="0" y="0"/>
              <a:ext cx="228600" cy="305435"/>
            </a:xfrm>
            <a:custGeom>
              <a:avLst/>
              <a:gdLst/>
              <a:ahLst/>
              <a:cxnLst/>
              <a:rect r="r" b="b" t="t" l="l"/>
              <a:pathLst>
                <a:path h="305435" w="228600">
                  <a:moveTo>
                    <a:pt x="0" y="0"/>
                  </a:moveTo>
                  <a:lnTo>
                    <a:pt x="228600" y="0"/>
                  </a:lnTo>
                  <a:lnTo>
                    <a:pt x="228600" y="305435"/>
                  </a:lnTo>
                  <a:lnTo>
                    <a:pt x="0" y="305435"/>
                  </a:lnTo>
                  <a:lnTo>
                    <a:pt x="0" y="0"/>
                  </a:lnTo>
                  <a:close/>
                </a:path>
              </a:pathLst>
            </a:custGeom>
            <a:blipFill>
              <a:blip r:embed="rId4"/>
              <a:stretch>
                <a:fillRect l="0" t="12573" r="0" b="12582"/>
              </a:stretch>
            </a:blipFill>
          </p:spPr>
          <p:txBody>
            <a:bodyPr/>
            <a:p/>
          </p:txBody>
        </p:sp>
      </p:grpSp>
      <p:grpSp>
        <p:nvGrpSpPr>
          <p:cNvPr name="Group 69" id="69"/>
          <p:cNvGrpSpPr/>
          <p:nvPr/>
        </p:nvGrpSpPr>
        <p:grpSpPr>
          <a:xfrm rot="0">
            <a:off x="1186434" y="8158277"/>
            <a:ext cx="1671980" cy="293380"/>
            <a:chOff x="0" y="0"/>
            <a:chExt cx="2229307" cy="391173"/>
          </a:xfrm>
        </p:grpSpPr>
        <p:sp>
          <p:nvSpPr>
            <p:cNvPr name="Freeform 70" id="70"/>
            <p:cNvSpPr/>
            <p:nvPr/>
          </p:nvSpPr>
          <p:spPr>
            <a:xfrm flipH="false" flipV="false" rot="0">
              <a:off x="0" y="0"/>
              <a:ext cx="2229308" cy="391173"/>
            </a:xfrm>
            <a:custGeom>
              <a:avLst/>
              <a:gdLst/>
              <a:ahLst/>
              <a:cxnLst/>
              <a:rect r="r" b="b" t="t" l="l"/>
              <a:pathLst>
                <a:path h="391173" w="2229308">
                  <a:moveTo>
                    <a:pt x="0" y="0"/>
                  </a:moveTo>
                  <a:lnTo>
                    <a:pt x="2229308" y="0"/>
                  </a:lnTo>
                  <a:lnTo>
                    <a:pt x="2229308" y="391173"/>
                  </a:lnTo>
                  <a:lnTo>
                    <a:pt x="0" y="391173"/>
                  </a:lnTo>
                  <a:close/>
                </a:path>
              </a:pathLst>
            </a:custGeom>
            <a:blipFill>
              <a:blip r:embed="rId3">
                <a:alphaModFix amt="0"/>
              </a:blip>
              <a:stretch>
                <a:fillRect l="0" t="-72008" r="0" b="-50083"/>
              </a:stretch>
            </a:blipFill>
          </p:spPr>
          <p:txBody>
            <a:bodyPr/>
            <a:p/>
          </p:txBody>
        </p:sp>
        <p:sp>
          <p:nvSpPr>
            <p:cNvPr name="TextBox 71" id="71"/>
            <p:cNvSpPr txBox="true"/>
            <p:nvPr/>
          </p:nvSpPr>
          <p:spPr>
            <a:xfrm>
              <a:off x="0" y="0"/>
              <a:ext cx="2229307"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Barrière Cutanée</a:t>
              </a:r>
            </a:p>
          </p:txBody>
        </p:sp>
      </p:grpSp>
      <p:grpSp>
        <p:nvGrpSpPr>
          <p:cNvPr name="Group 72" id="72"/>
          <p:cNvGrpSpPr/>
          <p:nvPr/>
        </p:nvGrpSpPr>
        <p:grpSpPr>
          <a:xfrm rot="0">
            <a:off x="899770" y="8501177"/>
            <a:ext cx="4087368" cy="293380"/>
            <a:chOff x="0" y="0"/>
            <a:chExt cx="5449824" cy="391173"/>
          </a:xfrm>
        </p:grpSpPr>
        <p:sp>
          <p:nvSpPr>
            <p:cNvPr name="Freeform 73" id="73"/>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74" id="74"/>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Privation de sommeil : IL-1β et TNF-α en hausse</a:t>
              </a:r>
            </a:p>
          </p:txBody>
        </p:sp>
      </p:grpSp>
      <p:grpSp>
        <p:nvGrpSpPr>
          <p:cNvPr name="Group 75" id="75"/>
          <p:cNvGrpSpPr/>
          <p:nvPr/>
        </p:nvGrpSpPr>
        <p:grpSpPr>
          <a:xfrm rot="0">
            <a:off x="899770" y="8844077"/>
            <a:ext cx="4087368" cy="293380"/>
            <a:chOff x="0" y="0"/>
            <a:chExt cx="5449824" cy="391173"/>
          </a:xfrm>
        </p:grpSpPr>
        <p:sp>
          <p:nvSpPr>
            <p:cNvPr name="Freeform 76" id="76"/>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77" id="77"/>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Stress : métalloprotéinases matricielles activées</a:t>
              </a:r>
            </a:p>
          </p:txBody>
        </p:sp>
      </p:grpSp>
      <p:grpSp>
        <p:nvGrpSpPr>
          <p:cNvPr name="Group 78" id="78"/>
          <p:cNvGrpSpPr/>
          <p:nvPr/>
        </p:nvGrpSpPr>
        <p:grpSpPr>
          <a:xfrm rot="0">
            <a:off x="899770" y="9186977"/>
            <a:ext cx="4087368" cy="293380"/>
            <a:chOff x="0" y="0"/>
            <a:chExt cx="5449824" cy="391173"/>
          </a:xfrm>
        </p:grpSpPr>
        <p:sp>
          <p:nvSpPr>
            <p:cNvPr name="Freeform 79" id="79"/>
            <p:cNvSpPr/>
            <p:nvPr/>
          </p:nvSpPr>
          <p:spPr>
            <a:xfrm flipH="false" flipV="false" rot="0">
              <a:off x="0" y="0"/>
              <a:ext cx="5449824" cy="391173"/>
            </a:xfrm>
            <a:custGeom>
              <a:avLst/>
              <a:gdLst/>
              <a:ahLst/>
              <a:cxnLst/>
              <a:rect r="r" b="b" t="t" l="l"/>
              <a:pathLst>
                <a:path h="391173" w="5449824">
                  <a:moveTo>
                    <a:pt x="0" y="0"/>
                  </a:moveTo>
                  <a:lnTo>
                    <a:pt x="5449824" y="0"/>
                  </a:lnTo>
                  <a:lnTo>
                    <a:pt x="5449824" y="391173"/>
                  </a:lnTo>
                  <a:lnTo>
                    <a:pt x="0" y="391173"/>
                  </a:lnTo>
                  <a:close/>
                </a:path>
              </a:pathLst>
            </a:custGeom>
            <a:blipFill>
              <a:blip r:embed="rId3">
                <a:alphaModFix amt="0"/>
              </a:blip>
              <a:stretch>
                <a:fillRect l="0" t="-232427" r="0" b="-210503"/>
              </a:stretch>
            </a:blipFill>
          </p:spPr>
          <p:txBody>
            <a:bodyPr/>
            <a:p/>
          </p:txBody>
        </p:sp>
        <p:sp>
          <p:nvSpPr>
            <p:cNvPr name="TextBox 80" id="80"/>
            <p:cNvSpPr txBox="true"/>
            <p:nvPr/>
          </p:nvSpPr>
          <p:spPr>
            <a:xfrm>
              <a:off x="0" y="0"/>
              <a:ext cx="5449824"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   Documenté : psoriasis, dermatite atopique, acné</a:t>
              </a:r>
            </a:p>
          </p:txBody>
        </p:sp>
      </p:grpSp>
      <p:grpSp>
        <p:nvGrpSpPr>
          <p:cNvPr name="Group 81" id="81"/>
          <p:cNvGrpSpPr/>
          <p:nvPr/>
        </p:nvGrpSpPr>
        <p:grpSpPr>
          <a:xfrm rot="0">
            <a:off x="6572707" y="678942"/>
            <a:ext cx="456743" cy="13716"/>
            <a:chOff x="0" y="0"/>
            <a:chExt cx="608990" cy="18288"/>
          </a:xfrm>
        </p:grpSpPr>
        <p:sp>
          <p:nvSpPr>
            <p:cNvPr name="Freeform 82" id="82"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83" id="83"/>
          <p:cNvGrpSpPr/>
          <p:nvPr/>
        </p:nvGrpSpPr>
        <p:grpSpPr>
          <a:xfrm rot="0">
            <a:off x="7200900" y="571957"/>
            <a:ext cx="2592324" cy="293380"/>
            <a:chOff x="0" y="0"/>
            <a:chExt cx="3456432" cy="391173"/>
          </a:xfrm>
        </p:grpSpPr>
        <p:sp>
          <p:nvSpPr>
            <p:cNvPr name="Freeform 84" id="84"/>
            <p:cNvSpPr/>
            <p:nvPr/>
          </p:nvSpPr>
          <p:spPr>
            <a:xfrm flipH="false" flipV="false" rot="0">
              <a:off x="0" y="0"/>
              <a:ext cx="3456432" cy="391173"/>
            </a:xfrm>
            <a:custGeom>
              <a:avLst/>
              <a:gdLst/>
              <a:ahLst/>
              <a:cxnLst/>
              <a:rect r="r" b="b" t="t" l="l"/>
              <a:pathLst>
                <a:path h="391173" w="3456432">
                  <a:moveTo>
                    <a:pt x="0" y="0"/>
                  </a:moveTo>
                  <a:lnTo>
                    <a:pt x="3456432" y="0"/>
                  </a:lnTo>
                  <a:lnTo>
                    <a:pt x="3456432" y="391173"/>
                  </a:lnTo>
                  <a:lnTo>
                    <a:pt x="0" y="391173"/>
                  </a:lnTo>
                  <a:close/>
                </a:path>
              </a:pathLst>
            </a:custGeom>
            <a:blipFill>
              <a:blip r:embed="rId3">
                <a:alphaModFix amt="0"/>
              </a:blip>
              <a:stretch>
                <a:fillRect l="0" t="-133133" r="0" b="-111208"/>
              </a:stretch>
            </a:blipFill>
          </p:spPr>
          <p:txBody>
            <a:bodyPr/>
            <a:p/>
          </p:txBody>
        </p:sp>
        <p:sp>
          <p:nvSpPr>
            <p:cNvPr name="TextBox 85" id="85"/>
            <p:cNvSpPr txBox="true"/>
            <p:nvPr/>
          </p:nvSpPr>
          <p:spPr>
            <a:xfrm>
              <a:off x="0" y="0"/>
              <a:ext cx="3456432"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Science &amp; Pratique</a:t>
              </a:r>
            </a:p>
          </p:txBody>
        </p:sp>
      </p:grpSp>
      <p:grpSp>
        <p:nvGrpSpPr>
          <p:cNvPr name="Group 86" id="86"/>
          <p:cNvGrpSpPr/>
          <p:nvPr/>
        </p:nvGrpSpPr>
        <p:grpSpPr>
          <a:xfrm rot="0">
            <a:off x="16590874" y="571957"/>
            <a:ext cx="957377" cy="332327"/>
            <a:chOff x="0" y="0"/>
            <a:chExt cx="1276502" cy="443103"/>
          </a:xfrm>
        </p:grpSpPr>
        <p:sp>
          <p:nvSpPr>
            <p:cNvPr name="Freeform 87" id="87"/>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3">
                <a:alphaModFix amt="0"/>
              </a:blip>
              <a:stretch>
                <a:fillRect l="0" t="-13003" r="0" b="737"/>
              </a:stretch>
            </a:blipFill>
          </p:spPr>
          <p:txBody>
            <a:bodyPr/>
            <a:p/>
          </p:txBody>
        </p:sp>
        <p:sp>
          <p:nvSpPr>
            <p:cNvPr name="TextBox 88" id="88"/>
            <p:cNvSpPr txBox="true"/>
            <p:nvPr/>
          </p:nvSpPr>
          <p:spPr>
            <a:xfrm>
              <a:off x="0" y="-9525"/>
              <a:ext cx="1276502" cy="452628"/>
            </a:xfrm>
            <a:prstGeom prst="rect">
              <a:avLst/>
            </a:prstGeom>
          </p:spPr>
          <p:txBody>
            <a:bodyPr anchor="ctr" rtlCol="false" tIns="0" lIns="0" bIns="0" rIns="0"/>
            <a:lstStyle/>
            <a:p>
              <a:pPr algn="l">
                <a:lnSpc>
                  <a:spcPts val="1800"/>
                </a:lnSpc>
              </a:pPr>
              <a:r>
                <a:rPr lang="en-US" sz="1500">
                  <a:solidFill>
                    <a:srgbClr val="6B7280"/>
                  </a:solidFill>
                  <a:latin typeface="Manrope"/>
                  <a:ea typeface="Manrope"/>
                  <a:cs typeface="Manrope"/>
                  <a:sym typeface="Manrope"/>
                </a:rPr>
                <a:t>16 / 20</a:t>
              </a:r>
            </a:p>
          </p:txBody>
        </p:sp>
      </p:grpSp>
      <p:grpSp>
        <p:nvGrpSpPr>
          <p:cNvPr name="Group 89" id="89"/>
          <p:cNvGrpSpPr/>
          <p:nvPr/>
        </p:nvGrpSpPr>
        <p:grpSpPr>
          <a:xfrm rot="0">
            <a:off x="6563182" y="3706139"/>
            <a:ext cx="10878007" cy="32766"/>
            <a:chOff x="0" y="0"/>
            <a:chExt cx="14504010" cy="43688"/>
          </a:xfrm>
        </p:grpSpPr>
        <p:sp>
          <p:nvSpPr>
            <p:cNvPr name="Freeform 90" id="90"/>
            <p:cNvSpPr/>
            <p:nvPr/>
          </p:nvSpPr>
          <p:spPr>
            <a:xfrm flipH="false" flipV="false" rot="0">
              <a:off x="12700" y="12700"/>
              <a:ext cx="14478636" cy="18288"/>
            </a:xfrm>
            <a:custGeom>
              <a:avLst/>
              <a:gdLst/>
              <a:ahLst/>
              <a:cxnLst/>
              <a:rect r="r" b="b" t="t" l="l"/>
              <a:pathLst>
                <a:path h="18288" w="14478636">
                  <a:moveTo>
                    <a:pt x="0" y="0"/>
                  </a:moveTo>
                  <a:lnTo>
                    <a:pt x="14478636" y="0"/>
                  </a:lnTo>
                  <a:lnTo>
                    <a:pt x="14478636" y="18288"/>
                  </a:lnTo>
                  <a:lnTo>
                    <a:pt x="0" y="18288"/>
                  </a:lnTo>
                  <a:close/>
                </a:path>
              </a:pathLst>
            </a:custGeom>
            <a:solidFill>
              <a:srgbClr val="40424D"/>
            </a:solidFill>
          </p:spPr>
          <p:txBody>
            <a:bodyPr/>
            <a:p/>
          </p:txBody>
        </p:sp>
      </p:grpSp>
      <p:grpSp>
        <p:nvGrpSpPr>
          <p:cNvPr name="Group 91" id="91"/>
          <p:cNvGrpSpPr/>
          <p:nvPr/>
        </p:nvGrpSpPr>
        <p:grpSpPr>
          <a:xfrm rot="0">
            <a:off x="6563182" y="1190625"/>
            <a:ext cx="876300" cy="876300"/>
            <a:chOff x="0" y="0"/>
            <a:chExt cx="1168400" cy="1168400"/>
          </a:xfrm>
        </p:grpSpPr>
        <p:sp>
          <p:nvSpPr>
            <p:cNvPr name="Freeform 92" id="92"/>
            <p:cNvSpPr/>
            <p:nvPr/>
          </p:nvSpPr>
          <p:spPr>
            <a:xfrm flipH="false" flipV="false" rot="0">
              <a:off x="12700" y="12700"/>
              <a:ext cx="1143000" cy="1143000"/>
            </a:xfrm>
            <a:custGeom>
              <a:avLst/>
              <a:gdLst/>
              <a:ahLst/>
              <a:cxnLst/>
              <a:rect r="r" b="b" t="t" l="l"/>
              <a:pathLst>
                <a:path h="1143000" w="1143000">
                  <a:moveTo>
                    <a:pt x="0" y="0"/>
                  </a:moveTo>
                  <a:lnTo>
                    <a:pt x="1143000" y="0"/>
                  </a:lnTo>
                  <a:lnTo>
                    <a:pt x="1143000" y="1143000"/>
                  </a:lnTo>
                  <a:lnTo>
                    <a:pt x="0" y="1143000"/>
                  </a:lnTo>
                  <a:close/>
                </a:path>
              </a:pathLst>
            </a:custGeom>
            <a:solidFill>
              <a:srgbClr val="FFFFFF"/>
            </a:solidFill>
          </p:spPr>
          <p:txBody>
            <a:bodyPr/>
            <a:p/>
          </p:txBody>
        </p:sp>
      </p:grpSp>
      <p:grpSp>
        <p:nvGrpSpPr>
          <p:cNvPr name="Group 93" id="93"/>
          <p:cNvGrpSpPr/>
          <p:nvPr/>
        </p:nvGrpSpPr>
        <p:grpSpPr>
          <a:xfrm rot="0">
            <a:off x="6786677" y="1458011"/>
            <a:ext cx="429311" cy="342900"/>
            <a:chOff x="0" y="0"/>
            <a:chExt cx="572414" cy="457200"/>
          </a:xfrm>
        </p:grpSpPr>
        <p:sp>
          <p:nvSpPr>
            <p:cNvPr name="Freeform 94" id="94" descr="preencoded.png"/>
            <p:cNvSpPr/>
            <p:nvPr/>
          </p:nvSpPr>
          <p:spPr>
            <a:xfrm flipH="false" flipV="false" rot="0">
              <a:off x="0" y="0"/>
              <a:ext cx="572389" cy="457200"/>
            </a:xfrm>
            <a:custGeom>
              <a:avLst/>
              <a:gdLst/>
              <a:ahLst/>
              <a:cxnLst/>
              <a:rect r="r" b="b" t="t" l="l"/>
              <a:pathLst>
                <a:path h="457200" w="572389">
                  <a:moveTo>
                    <a:pt x="0" y="0"/>
                  </a:moveTo>
                  <a:lnTo>
                    <a:pt x="572389" y="0"/>
                  </a:lnTo>
                  <a:lnTo>
                    <a:pt x="572389" y="457200"/>
                  </a:lnTo>
                  <a:lnTo>
                    <a:pt x="0" y="457200"/>
                  </a:lnTo>
                  <a:lnTo>
                    <a:pt x="0" y="0"/>
                  </a:lnTo>
                  <a:close/>
                </a:path>
              </a:pathLst>
            </a:custGeom>
            <a:blipFill>
              <a:blip r:embed="rId6"/>
              <a:stretch>
                <a:fillRect l="79" t="0" r="-190" b="0"/>
              </a:stretch>
            </a:blipFill>
          </p:spPr>
          <p:txBody>
            <a:bodyPr/>
            <a:p/>
          </p:txBody>
        </p:sp>
      </p:grpSp>
      <p:grpSp>
        <p:nvGrpSpPr>
          <p:cNvPr name="Group 95" id="95"/>
          <p:cNvGrpSpPr/>
          <p:nvPr/>
        </p:nvGrpSpPr>
        <p:grpSpPr>
          <a:xfrm rot="0">
            <a:off x="7772857" y="1656893"/>
            <a:ext cx="9830257" cy="596284"/>
            <a:chOff x="0" y="0"/>
            <a:chExt cx="13107010" cy="795045"/>
          </a:xfrm>
        </p:grpSpPr>
        <p:sp>
          <p:nvSpPr>
            <p:cNvPr name="Freeform 96" id="96"/>
            <p:cNvSpPr/>
            <p:nvPr/>
          </p:nvSpPr>
          <p:spPr>
            <a:xfrm flipH="false" flipV="false" rot="0">
              <a:off x="0" y="0"/>
              <a:ext cx="13107011" cy="795046"/>
            </a:xfrm>
            <a:custGeom>
              <a:avLst/>
              <a:gdLst/>
              <a:ahLst/>
              <a:cxnLst/>
              <a:rect r="r" b="b" t="t" l="l"/>
              <a:pathLst>
                <a:path h="795046" w="13107011">
                  <a:moveTo>
                    <a:pt x="0" y="0"/>
                  </a:moveTo>
                  <a:lnTo>
                    <a:pt x="13107011" y="0"/>
                  </a:lnTo>
                  <a:lnTo>
                    <a:pt x="13107011" y="795046"/>
                  </a:lnTo>
                  <a:lnTo>
                    <a:pt x="0" y="795046"/>
                  </a:lnTo>
                  <a:close/>
                </a:path>
              </a:pathLst>
            </a:custGeom>
            <a:blipFill>
              <a:blip r:embed="rId3">
                <a:alphaModFix amt="0"/>
              </a:blip>
              <a:stretch>
                <a:fillRect l="0" t="-282813" r="0" b="-259641"/>
              </a:stretch>
            </a:blipFill>
          </p:spPr>
          <p:txBody>
            <a:bodyPr/>
            <a:p/>
          </p:txBody>
        </p:sp>
        <p:sp>
          <p:nvSpPr>
            <p:cNvPr name="TextBox 97" id="97"/>
            <p:cNvSpPr txBox="true"/>
            <p:nvPr/>
          </p:nvSpPr>
          <p:spPr>
            <a:xfrm>
              <a:off x="0" y="0"/>
              <a:ext cx="13107010"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L'Axe Intestin-Peau</a:t>
              </a:r>
            </a:p>
          </p:txBody>
        </p:sp>
      </p:grpSp>
      <p:grpSp>
        <p:nvGrpSpPr>
          <p:cNvPr name="Group 98" id="98"/>
          <p:cNvGrpSpPr/>
          <p:nvPr/>
        </p:nvGrpSpPr>
        <p:grpSpPr>
          <a:xfrm rot="0">
            <a:off x="7772857" y="2228850"/>
            <a:ext cx="9772650" cy="658368"/>
            <a:chOff x="0" y="0"/>
            <a:chExt cx="13030200" cy="877824"/>
          </a:xfrm>
        </p:grpSpPr>
        <p:sp>
          <p:nvSpPr>
            <p:cNvPr name="Freeform 99" id="99"/>
            <p:cNvSpPr/>
            <p:nvPr/>
          </p:nvSpPr>
          <p:spPr>
            <a:xfrm flipH="false" flipV="false" rot="0">
              <a:off x="0" y="0"/>
              <a:ext cx="13030200" cy="877824"/>
            </a:xfrm>
            <a:custGeom>
              <a:avLst/>
              <a:gdLst/>
              <a:ahLst/>
              <a:cxnLst/>
              <a:rect r="r" b="b" t="t" l="l"/>
              <a:pathLst>
                <a:path h="877824" w="13030200">
                  <a:moveTo>
                    <a:pt x="0" y="0"/>
                  </a:moveTo>
                  <a:lnTo>
                    <a:pt x="13030200" y="0"/>
                  </a:lnTo>
                  <a:lnTo>
                    <a:pt x="13030200" y="877824"/>
                  </a:lnTo>
                  <a:lnTo>
                    <a:pt x="0" y="877824"/>
                  </a:lnTo>
                  <a:close/>
                </a:path>
              </a:pathLst>
            </a:custGeom>
            <a:blipFill>
              <a:blip r:embed="rId3">
                <a:alphaModFix amt="0"/>
              </a:blip>
              <a:stretch>
                <a:fillRect l="0" t="-239231" r="0" b="-239231"/>
              </a:stretch>
            </a:blipFill>
          </p:spPr>
          <p:txBody>
            <a:bodyPr/>
            <a:p/>
          </p:txBody>
        </p:sp>
        <p:sp>
          <p:nvSpPr>
            <p:cNvPr name="TextBox 100" id="100"/>
            <p:cNvSpPr txBox="true"/>
            <p:nvPr/>
          </p:nvSpPr>
          <p:spPr>
            <a:xfrm>
              <a:off x="0" y="-9525"/>
              <a:ext cx="13030200" cy="887349"/>
            </a:xfrm>
            <a:prstGeom prst="rect">
              <a:avLst/>
            </a:prstGeom>
          </p:spPr>
          <p:txBody>
            <a:bodyPr anchor="ctr" rtlCol="false" tIns="0" lIns="0" bIns="0" rIns="0"/>
            <a:lstStyle/>
            <a:p>
              <a:pPr algn="l">
                <a:lnSpc>
                  <a:spcPts val="1800"/>
                </a:lnSpc>
              </a:pPr>
              <a:r>
                <a:rPr lang="en-US" sz="1500">
                  <a:solidFill>
                    <a:srgbClr val="FFFFFF"/>
                  </a:solidFill>
                  <a:latin typeface="Manrope"/>
                  <a:ea typeface="Manrope"/>
                  <a:cs typeface="Manrope"/>
                  <a:sym typeface="Manrope"/>
                </a:rPr>
                <a:t>Le microbiote intestinal module l'immunité systémique, la réponse inflammatoire et les voies métaboliques qui gouvernent la peau. La communication est bidirectionnelle, et se lit sur le visage avant partout ailleurs.</a:t>
              </a:r>
            </a:p>
          </p:txBody>
        </p:sp>
      </p:grpSp>
      <p:grpSp>
        <p:nvGrpSpPr>
          <p:cNvPr name="Group 101" id="101"/>
          <p:cNvGrpSpPr/>
          <p:nvPr/>
        </p:nvGrpSpPr>
        <p:grpSpPr>
          <a:xfrm rot="0">
            <a:off x="7763332" y="2983306"/>
            <a:ext cx="1519580" cy="405842"/>
            <a:chOff x="0" y="0"/>
            <a:chExt cx="2026107" cy="541122"/>
          </a:xfrm>
        </p:grpSpPr>
        <p:sp>
          <p:nvSpPr>
            <p:cNvPr name="Freeform 102" id="102"/>
            <p:cNvSpPr/>
            <p:nvPr/>
          </p:nvSpPr>
          <p:spPr>
            <a:xfrm flipH="false" flipV="false" rot="0">
              <a:off x="0" y="0"/>
              <a:ext cx="2026158" cy="541147"/>
            </a:xfrm>
            <a:custGeom>
              <a:avLst/>
              <a:gdLst/>
              <a:ahLst/>
              <a:cxnLst/>
              <a:rect r="r" b="b" t="t" l="l"/>
              <a:pathLst>
                <a:path h="541147" w="2026158">
                  <a:moveTo>
                    <a:pt x="12700" y="0"/>
                  </a:moveTo>
                  <a:lnTo>
                    <a:pt x="2013458" y="0"/>
                  </a:lnTo>
                  <a:cubicBezTo>
                    <a:pt x="2020443" y="0"/>
                    <a:pt x="2026158" y="5715"/>
                    <a:pt x="2026158" y="12700"/>
                  </a:cubicBezTo>
                  <a:lnTo>
                    <a:pt x="2026158" y="528447"/>
                  </a:lnTo>
                  <a:cubicBezTo>
                    <a:pt x="2026158" y="535432"/>
                    <a:pt x="2020443" y="541147"/>
                    <a:pt x="2013458"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2013458" y="515747"/>
                  </a:lnTo>
                  <a:lnTo>
                    <a:pt x="2013458" y="528447"/>
                  </a:lnTo>
                  <a:lnTo>
                    <a:pt x="2000758" y="528447"/>
                  </a:lnTo>
                  <a:lnTo>
                    <a:pt x="2000758" y="12700"/>
                  </a:lnTo>
                  <a:lnTo>
                    <a:pt x="2013458" y="12700"/>
                  </a:lnTo>
                  <a:lnTo>
                    <a:pt x="2013458" y="25400"/>
                  </a:lnTo>
                  <a:lnTo>
                    <a:pt x="12700" y="25400"/>
                  </a:lnTo>
                  <a:close/>
                </a:path>
              </a:pathLst>
            </a:custGeom>
            <a:solidFill>
              <a:srgbClr val="40424D"/>
            </a:solidFill>
          </p:spPr>
          <p:txBody>
            <a:bodyPr/>
            <a:p/>
          </p:txBody>
        </p:sp>
        <p:sp>
          <p:nvSpPr>
            <p:cNvPr name="TextBox 103" id="103"/>
            <p:cNvSpPr txBox="true"/>
            <p:nvPr/>
          </p:nvSpPr>
          <p:spPr>
            <a:xfrm>
              <a:off x="0" y="0"/>
              <a:ext cx="2026107"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Microbiome</a:t>
              </a:r>
            </a:p>
          </p:txBody>
        </p:sp>
      </p:grpSp>
      <p:grpSp>
        <p:nvGrpSpPr>
          <p:cNvPr name="Group 104" id="104"/>
          <p:cNvGrpSpPr/>
          <p:nvPr/>
        </p:nvGrpSpPr>
        <p:grpSpPr>
          <a:xfrm rot="0">
            <a:off x="9399651" y="2983306"/>
            <a:ext cx="948995" cy="405842"/>
            <a:chOff x="0" y="0"/>
            <a:chExt cx="1265326" cy="541122"/>
          </a:xfrm>
        </p:grpSpPr>
        <p:sp>
          <p:nvSpPr>
            <p:cNvPr name="Freeform 105" id="105"/>
            <p:cNvSpPr/>
            <p:nvPr/>
          </p:nvSpPr>
          <p:spPr>
            <a:xfrm flipH="false" flipV="false" rot="0">
              <a:off x="0" y="0"/>
              <a:ext cx="1265301" cy="541147"/>
            </a:xfrm>
            <a:custGeom>
              <a:avLst/>
              <a:gdLst/>
              <a:ahLst/>
              <a:cxnLst/>
              <a:rect r="r" b="b" t="t" l="l"/>
              <a:pathLst>
                <a:path h="541147" w="1265301">
                  <a:moveTo>
                    <a:pt x="12700" y="0"/>
                  </a:moveTo>
                  <a:lnTo>
                    <a:pt x="1252601" y="0"/>
                  </a:lnTo>
                  <a:cubicBezTo>
                    <a:pt x="1259586" y="0"/>
                    <a:pt x="1265301" y="5715"/>
                    <a:pt x="1265301" y="12700"/>
                  </a:cubicBezTo>
                  <a:lnTo>
                    <a:pt x="1265301" y="528447"/>
                  </a:lnTo>
                  <a:cubicBezTo>
                    <a:pt x="1265301" y="535432"/>
                    <a:pt x="1259586" y="541147"/>
                    <a:pt x="1252601"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1252601" y="515747"/>
                  </a:lnTo>
                  <a:lnTo>
                    <a:pt x="1252601" y="528447"/>
                  </a:lnTo>
                  <a:lnTo>
                    <a:pt x="1239901" y="528447"/>
                  </a:lnTo>
                  <a:lnTo>
                    <a:pt x="1239901" y="12700"/>
                  </a:lnTo>
                  <a:lnTo>
                    <a:pt x="1252601" y="12700"/>
                  </a:lnTo>
                  <a:lnTo>
                    <a:pt x="1252601" y="25400"/>
                  </a:lnTo>
                  <a:lnTo>
                    <a:pt x="12700" y="25400"/>
                  </a:lnTo>
                  <a:close/>
                </a:path>
              </a:pathLst>
            </a:custGeom>
            <a:solidFill>
              <a:srgbClr val="40424D"/>
            </a:solidFill>
          </p:spPr>
          <p:txBody>
            <a:bodyPr/>
            <a:p/>
          </p:txBody>
        </p:sp>
        <p:sp>
          <p:nvSpPr>
            <p:cNvPr name="TextBox 106" id="106"/>
            <p:cNvSpPr txBox="true"/>
            <p:nvPr/>
          </p:nvSpPr>
          <p:spPr>
            <a:xfrm>
              <a:off x="0" y="0"/>
              <a:ext cx="1265326"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Immunité</a:t>
              </a:r>
            </a:p>
          </p:txBody>
        </p:sp>
      </p:grpSp>
      <p:grpSp>
        <p:nvGrpSpPr>
          <p:cNvPr name="Group 107" id="107"/>
          <p:cNvGrpSpPr/>
          <p:nvPr/>
        </p:nvGrpSpPr>
        <p:grpSpPr>
          <a:xfrm rot="0">
            <a:off x="10462641" y="2983306"/>
            <a:ext cx="1648511" cy="405842"/>
            <a:chOff x="0" y="0"/>
            <a:chExt cx="2198014" cy="541122"/>
          </a:xfrm>
        </p:grpSpPr>
        <p:sp>
          <p:nvSpPr>
            <p:cNvPr name="Freeform 108" id="108"/>
            <p:cNvSpPr/>
            <p:nvPr/>
          </p:nvSpPr>
          <p:spPr>
            <a:xfrm flipH="false" flipV="false" rot="0">
              <a:off x="0" y="0"/>
              <a:ext cx="2197989" cy="541147"/>
            </a:xfrm>
            <a:custGeom>
              <a:avLst/>
              <a:gdLst/>
              <a:ahLst/>
              <a:cxnLst/>
              <a:rect r="r" b="b" t="t" l="l"/>
              <a:pathLst>
                <a:path h="541147" w="2197989">
                  <a:moveTo>
                    <a:pt x="12700" y="0"/>
                  </a:moveTo>
                  <a:lnTo>
                    <a:pt x="2185289" y="0"/>
                  </a:lnTo>
                  <a:cubicBezTo>
                    <a:pt x="2192274" y="0"/>
                    <a:pt x="2197989" y="5715"/>
                    <a:pt x="2197989" y="12700"/>
                  </a:cubicBezTo>
                  <a:lnTo>
                    <a:pt x="2197989" y="528447"/>
                  </a:lnTo>
                  <a:cubicBezTo>
                    <a:pt x="2197989" y="535432"/>
                    <a:pt x="2192274" y="541147"/>
                    <a:pt x="2185289" y="541147"/>
                  </a:cubicBezTo>
                  <a:lnTo>
                    <a:pt x="12700" y="541147"/>
                  </a:lnTo>
                  <a:cubicBezTo>
                    <a:pt x="5715" y="541147"/>
                    <a:pt x="0" y="535432"/>
                    <a:pt x="0" y="528447"/>
                  </a:cubicBezTo>
                  <a:lnTo>
                    <a:pt x="0" y="12700"/>
                  </a:lnTo>
                  <a:cubicBezTo>
                    <a:pt x="0" y="5715"/>
                    <a:pt x="5715" y="0"/>
                    <a:pt x="12700" y="0"/>
                  </a:cubicBezTo>
                  <a:moveTo>
                    <a:pt x="12700" y="25400"/>
                  </a:moveTo>
                  <a:lnTo>
                    <a:pt x="12700" y="12700"/>
                  </a:lnTo>
                  <a:lnTo>
                    <a:pt x="25400" y="12700"/>
                  </a:lnTo>
                  <a:lnTo>
                    <a:pt x="25400" y="528447"/>
                  </a:lnTo>
                  <a:lnTo>
                    <a:pt x="12700" y="528447"/>
                  </a:lnTo>
                  <a:lnTo>
                    <a:pt x="12700" y="515747"/>
                  </a:lnTo>
                  <a:lnTo>
                    <a:pt x="2185289" y="515747"/>
                  </a:lnTo>
                  <a:lnTo>
                    <a:pt x="2185289" y="528447"/>
                  </a:lnTo>
                  <a:lnTo>
                    <a:pt x="2172589" y="528447"/>
                  </a:lnTo>
                  <a:lnTo>
                    <a:pt x="2172589" y="12700"/>
                  </a:lnTo>
                  <a:lnTo>
                    <a:pt x="2185289" y="12700"/>
                  </a:lnTo>
                  <a:lnTo>
                    <a:pt x="2185289" y="25400"/>
                  </a:lnTo>
                  <a:lnTo>
                    <a:pt x="12700" y="25400"/>
                  </a:lnTo>
                  <a:close/>
                </a:path>
              </a:pathLst>
            </a:custGeom>
            <a:solidFill>
              <a:srgbClr val="40424D"/>
            </a:solidFill>
          </p:spPr>
          <p:txBody>
            <a:bodyPr/>
            <a:p/>
          </p:txBody>
        </p:sp>
        <p:sp>
          <p:nvSpPr>
            <p:cNvPr name="TextBox 109" id="109"/>
            <p:cNvSpPr txBox="true"/>
            <p:nvPr/>
          </p:nvSpPr>
          <p:spPr>
            <a:xfrm>
              <a:off x="0" y="0"/>
              <a:ext cx="2198014" cy="541122"/>
            </a:xfrm>
            <a:prstGeom prst="rect">
              <a:avLst/>
            </a:prstGeom>
          </p:spPr>
          <p:txBody>
            <a:bodyPr anchor="ctr" rtlCol="false" tIns="50800" lIns="50800" bIns="50800" rIns="50800"/>
            <a:lstStyle/>
            <a:p>
              <a:pPr algn="l">
                <a:lnSpc>
                  <a:spcPts val="1439"/>
                </a:lnSpc>
              </a:pPr>
              <a:r>
                <a:rPr lang="en-US" sz="1200">
                  <a:solidFill>
                    <a:srgbClr val="BCBFCC"/>
                  </a:solidFill>
                  <a:latin typeface="Manrope"/>
                  <a:ea typeface="Manrope"/>
                  <a:cs typeface="Manrope"/>
                  <a:sym typeface="Manrope"/>
                </a:rPr>
                <a:t>Inflammation</a:t>
              </a:r>
            </a:p>
          </p:txBody>
        </p:sp>
      </p:grpSp>
      <p:grpSp>
        <p:nvGrpSpPr>
          <p:cNvPr name="Group 110" id="110"/>
          <p:cNvGrpSpPr/>
          <p:nvPr/>
        </p:nvGrpSpPr>
        <p:grpSpPr>
          <a:xfrm rot="0">
            <a:off x="6886804" y="4072280"/>
            <a:ext cx="10716311" cy="430120"/>
            <a:chOff x="0" y="0"/>
            <a:chExt cx="14288414" cy="573494"/>
          </a:xfrm>
        </p:grpSpPr>
        <p:sp>
          <p:nvSpPr>
            <p:cNvPr name="Freeform 111" id="111"/>
            <p:cNvSpPr/>
            <p:nvPr/>
          </p:nvSpPr>
          <p:spPr>
            <a:xfrm flipH="false" flipV="false" rot="0">
              <a:off x="0" y="0"/>
              <a:ext cx="14288415" cy="573494"/>
            </a:xfrm>
            <a:custGeom>
              <a:avLst/>
              <a:gdLst/>
              <a:ahLst/>
              <a:cxnLst/>
              <a:rect r="r" b="b" t="t" l="l"/>
              <a:pathLst>
                <a:path h="573494" w="14288415">
                  <a:moveTo>
                    <a:pt x="0" y="0"/>
                  </a:moveTo>
                  <a:lnTo>
                    <a:pt x="14288415" y="0"/>
                  </a:lnTo>
                  <a:lnTo>
                    <a:pt x="14288415" y="573494"/>
                  </a:lnTo>
                  <a:lnTo>
                    <a:pt x="0" y="573494"/>
                  </a:lnTo>
                  <a:close/>
                </a:path>
              </a:pathLst>
            </a:custGeom>
            <a:blipFill>
              <a:blip r:embed="rId3">
                <a:alphaModFix amt="0"/>
              </a:blip>
              <a:stretch>
                <a:fillRect l="0" t="-438905" r="0" b="-432020"/>
              </a:stretch>
            </a:blipFill>
          </p:spPr>
          <p:txBody>
            <a:bodyPr/>
            <a:p/>
          </p:txBody>
        </p:sp>
        <p:sp>
          <p:nvSpPr>
            <p:cNvPr name="TextBox 112" id="112"/>
            <p:cNvSpPr txBox="true"/>
            <p:nvPr/>
          </p:nvSpPr>
          <p:spPr>
            <a:xfrm>
              <a:off x="0" y="-9525"/>
              <a:ext cx="14288414" cy="583019"/>
            </a:xfrm>
            <a:prstGeom prst="rect">
              <a:avLst/>
            </a:prstGeom>
          </p:spPr>
          <p:txBody>
            <a:bodyPr anchor="ctr" rtlCol="false" tIns="0" lIns="0" bIns="0" rIns="0"/>
            <a:lstStyle/>
            <a:p>
              <a:pPr algn="l">
                <a:lnSpc>
                  <a:spcPts val="2340"/>
                </a:lnSpc>
              </a:pPr>
              <a:r>
                <a:rPr lang="en-US" sz="1950" b="true">
                  <a:solidFill>
                    <a:srgbClr val="FFFFFF"/>
                  </a:solidFill>
                  <a:latin typeface="Manrope Bold"/>
                  <a:ea typeface="Manrope Bold"/>
                  <a:cs typeface="Manrope Bold"/>
                  <a:sym typeface="Manrope Bold"/>
                </a:rPr>
                <a:t>Ce que la science documente</a:t>
              </a:r>
            </a:p>
          </p:txBody>
        </p:sp>
      </p:grpSp>
      <p:grpSp>
        <p:nvGrpSpPr>
          <p:cNvPr name="Group 113" id="113"/>
          <p:cNvGrpSpPr/>
          <p:nvPr/>
        </p:nvGrpSpPr>
        <p:grpSpPr>
          <a:xfrm rot="0">
            <a:off x="6572707" y="4529023"/>
            <a:ext cx="11030407" cy="293380"/>
            <a:chOff x="0" y="0"/>
            <a:chExt cx="14707210" cy="391173"/>
          </a:xfrm>
        </p:grpSpPr>
        <p:sp>
          <p:nvSpPr>
            <p:cNvPr name="Freeform 114" id="114"/>
            <p:cNvSpPr/>
            <p:nvPr/>
          </p:nvSpPr>
          <p:spPr>
            <a:xfrm flipH="false" flipV="false" rot="0">
              <a:off x="0" y="0"/>
              <a:ext cx="14707211" cy="391173"/>
            </a:xfrm>
            <a:custGeom>
              <a:avLst/>
              <a:gdLst/>
              <a:ahLst/>
              <a:cxnLst/>
              <a:rect r="r" b="b" t="t" l="l"/>
              <a:pathLst>
                <a:path h="391173" w="14707211">
                  <a:moveTo>
                    <a:pt x="0" y="0"/>
                  </a:moveTo>
                  <a:lnTo>
                    <a:pt x="14707211" y="0"/>
                  </a:lnTo>
                  <a:lnTo>
                    <a:pt x="14707211" y="391173"/>
                  </a:lnTo>
                  <a:lnTo>
                    <a:pt x="0" y="391173"/>
                  </a:lnTo>
                  <a:close/>
                </a:path>
              </a:pathLst>
            </a:custGeom>
            <a:blipFill>
              <a:blip r:embed="rId3">
                <a:alphaModFix amt="0"/>
              </a:blip>
              <a:stretch>
                <a:fillRect l="0" t="-693555" r="0" b="-671630"/>
              </a:stretch>
            </a:blipFill>
          </p:spPr>
          <p:txBody>
            <a:bodyPr/>
            <a:p/>
          </p:txBody>
        </p:sp>
        <p:sp>
          <p:nvSpPr>
            <p:cNvPr name="TextBox 115" id="115"/>
            <p:cNvSpPr txBox="true"/>
            <p:nvPr/>
          </p:nvSpPr>
          <p:spPr>
            <a:xfrm>
              <a:off x="0" y="0"/>
              <a:ext cx="14707210" cy="391173"/>
            </a:xfrm>
            <a:prstGeom prst="rect">
              <a:avLst/>
            </a:prstGeom>
          </p:spPr>
          <p:txBody>
            <a:bodyPr anchor="ctr" rtlCol="false" tIns="0" lIns="0" bIns="0" rIns="0"/>
            <a:lstStyle/>
            <a:p>
              <a:pPr algn="l">
                <a:lnSpc>
                  <a:spcPts val="1620"/>
                </a:lnSpc>
              </a:pPr>
              <a:r>
                <a:rPr lang="en-US" sz="1350">
                  <a:solidFill>
                    <a:srgbClr val="FFFFFF"/>
                  </a:solidFill>
                  <a:latin typeface="Manrope"/>
                  <a:ea typeface="Manrope"/>
                  <a:cs typeface="Manrope"/>
                  <a:sym typeface="Manrope"/>
                </a:rPr>
                <a:t>Quatre mécanismes mesurables, publiés, reproductibles.</a:t>
              </a:r>
            </a:p>
          </p:txBody>
        </p:sp>
      </p:grpSp>
      <p:grpSp>
        <p:nvGrpSpPr>
          <p:cNvPr name="Group 116" id="116"/>
          <p:cNvGrpSpPr/>
          <p:nvPr/>
        </p:nvGrpSpPr>
        <p:grpSpPr>
          <a:xfrm rot="0">
            <a:off x="6563182" y="5205298"/>
            <a:ext cx="5334000" cy="1205484"/>
            <a:chOff x="0" y="0"/>
            <a:chExt cx="7112000" cy="1607312"/>
          </a:xfrm>
        </p:grpSpPr>
        <p:sp>
          <p:nvSpPr>
            <p:cNvPr name="Freeform 117" id="117"/>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18" id="118"/>
          <p:cNvGrpSpPr/>
          <p:nvPr/>
        </p:nvGrpSpPr>
        <p:grpSpPr>
          <a:xfrm rot="0">
            <a:off x="6757873" y="5443880"/>
            <a:ext cx="200254" cy="200254"/>
            <a:chOff x="0" y="0"/>
            <a:chExt cx="267005" cy="267005"/>
          </a:xfrm>
        </p:grpSpPr>
        <p:sp>
          <p:nvSpPr>
            <p:cNvPr name="Freeform 119" id="119"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7"/>
              <a:stretch>
                <a:fillRect l="0" t="0" r="-19" b="-19"/>
              </a:stretch>
            </a:blipFill>
          </p:spPr>
          <p:txBody>
            <a:bodyPr/>
            <a:p/>
          </p:txBody>
        </p:sp>
      </p:grpSp>
      <p:grpSp>
        <p:nvGrpSpPr>
          <p:cNvPr name="Group 120" id="120"/>
          <p:cNvGrpSpPr/>
          <p:nvPr/>
        </p:nvGrpSpPr>
        <p:grpSpPr>
          <a:xfrm rot="0">
            <a:off x="7129577" y="5205298"/>
            <a:ext cx="4686757" cy="814731"/>
            <a:chOff x="0" y="0"/>
            <a:chExt cx="6249010" cy="1086308"/>
          </a:xfrm>
        </p:grpSpPr>
        <p:sp>
          <p:nvSpPr>
            <p:cNvPr name="Freeform 121" id="121"/>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3">
                <a:alphaModFix amt="0"/>
              </a:blip>
              <a:stretch>
                <a:fillRect l="0" t="-62088" r="0" b="-62087"/>
              </a:stretch>
            </a:blipFill>
          </p:spPr>
          <p:txBody>
            <a:bodyPr/>
            <a:p/>
          </p:txBody>
        </p:sp>
        <p:sp>
          <p:nvSpPr>
            <p:cNvPr name="TextBox 122" id="122"/>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Intestin-peau</a:t>
              </a:r>
              <a:r>
                <a:rPr lang="en-US" sz="1350">
                  <a:solidFill>
                    <a:srgbClr val="D3D6E0"/>
                  </a:solidFill>
                  <a:latin typeface="Manrope"/>
                  <a:ea typeface="Manrope"/>
                  <a:cs typeface="Manrope"/>
                  <a:sym typeface="Manrope"/>
                </a:rPr>
                <a:t> Immunité systémique et voies métaboliques (Gut Microbes, 2025). </a:t>
              </a:r>
            </a:p>
          </p:txBody>
        </p:sp>
      </p:grpSp>
      <p:grpSp>
        <p:nvGrpSpPr>
          <p:cNvPr name="Group 123" id="123"/>
          <p:cNvGrpSpPr/>
          <p:nvPr/>
        </p:nvGrpSpPr>
        <p:grpSpPr>
          <a:xfrm rot="0">
            <a:off x="12105818" y="5205298"/>
            <a:ext cx="5334000" cy="1205484"/>
            <a:chOff x="0" y="0"/>
            <a:chExt cx="7112000" cy="1607312"/>
          </a:xfrm>
        </p:grpSpPr>
        <p:sp>
          <p:nvSpPr>
            <p:cNvPr name="Freeform 124" id="124"/>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25" id="125"/>
          <p:cNvGrpSpPr/>
          <p:nvPr/>
        </p:nvGrpSpPr>
        <p:grpSpPr>
          <a:xfrm rot="0">
            <a:off x="12301880" y="5443880"/>
            <a:ext cx="157734" cy="200254"/>
            <a:chOff x="0" y="0"/>
            <a:chExt cx="210312" cy="267005"/>
          </a:xfrm>
        </p:grpSpPr>
        <p:sp>
          <p:nvSpPr>
            <p:cNvPr name="Freeform 126" id="126" descr="preencoded.png"/>
            <p:cNvSpPr/>
            <p:nvPr/>
          </p:nvSpPr>
          <p:spPr>
            <a:xfrm flipH="false" flipV="false" rot="0">
              <a:off x="0" y="0"/>
              <a:ext cx="210312" cy="266954"/>
            </a:xfrm>
            <a:custGeom>
              <a:avLst/>
              <a:gdLst/>
              <a:ahLst/>
              <a:cxnLst/>
              <a:rect r="r" b="b" t="t" l="l"/>
              <a:pathLst>
                <a:path h="266954" w="210312">
                  <a:moveTo>
                    <a:pt x="0" y="0"/>
                  </a:moveTo>
                  <a:lnTo>
                    <a:pt x="210312" y="0"/>
                  </a:lnTo>
                  <a:lnTo>
                    <a:pt x="210312" y="266954"/>
                  </a:lnTo>
                  <a:lnTo>
                    <a:pt x="0" y="266954"/>
                  </a:lnTo>
                  <a:lnTo>
                    <a:pt x="0" y="0"/>
                  </a:lnTo>
                  <a:close/>
                </a:path>
              </a:pathLst>
            </a:custGeom>
            <a:blipFill>
              <a:blip r:embed="rId8"/>
              <a:stretch>
                <a:fillRect l="2427" t="0" r="978" b="-19"/>
              </a:stretch>
            </a:blipFill>
          </p:spPr>
          <p:txBody>
            <a:bodyPr/>
            <a:p/>
          </p:txBody>
        </p:sp>
      </p:grpSp>
      <p:grpSp>
        <p:nvGrpSpPr>
          <p:cNvPr name="Group 127" id="127"/>
          <p:cNvGrpSpPr/>
          <p:nvPr/>
        </p:nvGrpSpPr>
        <p:grpSpPr>
          <a:xfrm rot="0">
            <a:off x="12629693" y="5205298"/>
            <a:ext cx="4729277" cy="814731"/>
            <a:chOff x="0" y="0"/>
            <a:chExt cx="6305702" cy="1086308"/>
          </a:xfrm>
        </p:grpSpPr>
        <p:sp>
          <p:nvSpPr>
            <p:cNvPr name="Freeform 128" id="128"/>
            <p:cNvSpPr/>
            <p:nvPr/>
          </p:nvSpPr>
          <p:spPr>
            <a:xfrm flipH="false" flipV="false" rot="0">
              <a:off x="0" y="0"/>
              <a:ext cx="6305702" cy="1086309"/>
            </a:xfrm>
            <a:custGeom>
              <a:avLst/>
              <a:gdLst/>
              <a:ahLst/>
              <a:cxnLst/>
              <a:rect r="r" b="b" t="t" l="l"/>
              <a:pathLst>
                <a:path h="1086309" w="6305702">
                  <a:moveTo>
                    <a:pt x="0" y="0"/>
                  </a:moveTo>
                  <a:lnTo>
                    <a:pt x="6305702" y="0"/>
                  </a:lnTo>
                  <a:lnTo>
                    <a:pt x="6305702" y="1086309"/>
                  </a:lnTo>
                  <a:lnTo>
                    <a:pt x="0" y="1086309"/>
                  </a:lnTo>
                  <a:close/>
                </a:path>
              </a:pathLst>
            </a:custGeom>
            <a:blipFill>
              <a:blip r:embed="rId3">
                <a:alphaModFix amt="0"/>
              </a:blip>
              <a:stretch>
                <a:fillRect l="0" t="-63104" r="0" b="-63104"/>
              </a:stretch>
            </a:blipFill>
          </p:spPr>
          <p:txBody>
            <a:bodyPr/>
            <a:p/>
          </p:txBody>
        </p:sp>
        <p:sp>
          <p:nvSpPr>
            <p:cNvPr name="TextBox 129" id="129"/>
            <p:cNvSpPr txBox="true"/>
            <p:nvPr/>
          </p:nvSpPr>
          <p:spPr>
            <a:xfrm>
              <a:off x="0" y="0"/>
              <a:ext cx="6305702"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Sommeil</a:t>
              </a:r>
              <a:r>
                <a:rPr lang="en-US" sz="1350">
                  <a:solidFill>
                    <a:srgbClr val="D3D6E0"/>
                  </a:solidFill>
                  <a:latin typeface="Manrope"/>
                  <a:ea typeface="Manrope"/>
                  <a:cs typeface="Manrope"/>
                  <a:sym typeface="Manrope"/>
                </a:rPr>
                <a:t> Récupération de la barrière et synthèse de collagène (Dermato, 2025). </a:t>
              </a:r>
            </a:p>
          </p:txBody>
        </p:sp>
      </p:grpSp>
      <p:grpSp>
        <p:nvGrpSpPr>
          <p:cNvPr name="Group 130" id="130"/>
          <p:cNvGrpSpPr/>
          <p:nvPr/>
        </p:nvGrpSpPr>
        <p:grpSpPr>
          <a:xfrm rot="0">
            <a:off x="6563182" y="6613931"/>
            <a:ext cx="5334000" cy="1205484"/>
            <a:chOff x="0" y="0"/>
            <a:chExt cx="7112000" cy="1607312"/>
          </a:xfrm>
        </p:grpSpPr>
        <p:sp>
          <p:nvSpPr>
            <p:cNvPr name="Freeform 131" id="131"/>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2" id="132"/>
          <p:cNvGrpSpPr/>
          <p:nvPr/>
        </p:nvGrpSpPr>
        <p:grpSpPr>
          <a:xfrm rot="0">
            <a:off x="6757873" y="6852514"/>
            <a:ext cx="200254" cy="200254"/>
            <a:chOff x="0" y="0"/>
            <a:chExt cx="267005" cy="267005"/>
          </a:xfrm>
        </p:grpSpPr>
        <p:sp>
          <p:nvSpPr>
            <p:cNvPr name="Freeform 133" id="133"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9"/>
              <a:stretch>
                <a:fillRect l="0" t="0" r="-19" b="-19"/>
              </a:stretch>
            </a:blipFill>
          </p:spPr>
          <p:txBody>
            <a:bodyPr/>
            <a:p/>
          </p:txBody>
        </p:sp>
      </p:grpSp>
      <p:grpSp>
        <p:nvGrpSpPr>
          <p:cNvPr name="Group 134" id="134"/>
          <p:cNvGrpSpPr/>
          <p:nvPr/>
        </p:nvGrpSpPr>
        <p:grpSpPr>
          <a:xfrm rot="0">
            <a:off x="7129577" y="6613931"/>
            <a:ext cx="4686757" cy="814731"/>
            <a:chOff x="0" y="0"/>
            <a:chExt cx="6249010" cy="1086308"/>
          </a:xfrm>
        </p:grpSpPr>
        <p:sp>
          <p:nvSpPr>
            <p:cNvPr name="Freeform 135" id="135"/>
            <p:cNvSpPr/>
            <p:nvPr/>
          </p:nvSpPr>
          <p:spPr>
            <a:xfrm flipH="false" flipV="false" rot="0">
              <a:off x="0" y="0"/>
              <a:ext cx="6249010" cy="1086309"/>
            </a:xfrm>
            <a:custGeom>
              <a:avLst/>
              <a:gdLst/>
              <a:ahLst/>
              <a:cxnLst/>
              <a:rect r="r" b="b" t="t" l="l"/>
              <a:pathLst>
                <a:path h="1086309" w="6249010">
                  <a:moveTo>
                    <a:pt x="0" y="0"/>
                  </a:moveTo>
                  <a:lnTo>
                    <a:pt x="6249010" y="0"/>
                  </a:lnTo>
                  <a:lnTo>
                    <a:pt x="6249010" y="1086309"/>
                  </a:lnTo>
                  <a:lnTo>
                    <a:pt x="0" y="1086309"/>
                  </a:lnTo>
                  <a:close/>
                </a:path>
              </a:pathLst>
            </a:custGeom>
            <a:blipFill>
              <a:blip r:embed="rId3">
                <a:alphaModFix amt="0"/>
              </a:blip>
              <a:stretch>
                <a:fillRect l="0" t="-62088" r="0" b="-62087"/>
              </a:stretch>
            </a:blipFill>
          </p:spPr>
          <p:txBody>
            <a:bodyPr/>
            <a:p/>
          </p:txBody>
        </p:sp>
        <p:sp>
          <p:nvSpPr>
            <p:cNvPr name="TextBox 136" id="136"/>
            <p:cNvSpPr txBox="true"/>
            <p:nvPr/>
          </p:nvSpPr>
          <p:spPr>
            <a:xfrm>
              <a:off x="0" y="0"/>
              <a:ext cx="624901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Stress</a:t>
              </a:r>
              <a:r>
                <a:rPr lang="en-US" sz="1350">
                  <a:solidFill>
                    <a:srgbClr val="D3D6E0"/>
                  </a:solidFill>
                  <a:latin typeface="Manrope"/>
                  <a:ea typeface="Manrope"/>
                  <a:cs typeface="Manrope"/>
                  <a:sym typeface="Manrope"/>
                </a:rPr>
                <a:t> Fonction barrière altérée chez des sujets sains (Altemus, JID). </a:t>
              </a:r>
            </a:p>
          </p:txBody>
        </p:sp>
      </p:grpSp>
      <p:grpSp>
        <p:nvGrpSpPr>
          <p:cNvPr name="Group 137" id="137"/>
          <p:cNvGrpSpPr/>
          <p:nvPr/>
        </p:nvGrpSpPr>
        <p:grpSpPr>
          <a:xfrm rot="0">
            <a:off x="12105818" y="6613931"/>
            <a:ext cx="5334000" cy="1205484"/>
            <a:chOff x="0" y="0"/>
            <a:chExt cx="7112000" cy="1607312"/>
          </a:xfrm>
        </p:grpSpPr>
        <p:sp>
          <p:nvSpPr>
            <p:cNvPr name="Freeform 138" id="138"/>
            <p:cNvSpPr/>
            <p:nvPr/>
          </p:nvSpPr>
          <p:spPr>
            <a:xfrm flipH="false" flipV="false" rot="0">
              <a:off x="12700" y="12700"/>
              <a:ext cx="7086600" cy="1581912"/>
            </a:xfrm>
            <a:custGeom>
              <a:avLst/>
              <a:gdLst/>
              <a:ahLst/>
              <a:cxnLst/>
              <a:rect r="r" b="b" t="t" l="l"/>
              <a:pathLst>
                <a:path h="1581912" w="7086600">
                  <a:moveTo>
                    <a:pt x="0" y="0"/>
                  </a:moveTo>
                  <a:lnTo>
                    <a:pt x="7086600" y="0"/>
                  </a:lnTo>
                  <a:lnTo>
                    <a:pt x="7086600" y="1581912"/>
                  </a:lnTo>
                  <a:lnTo>
                    <a:pt x="0" y="1581912"/>
                  </a:lnTo>
                  <a:close/>
                </a:path>
              </a:pathLst>
            </a:custGeom>
            <a:solidFill>
              <a:srgbClr val="FFFFFF">
                <a:alpha val="0"/>
              </a:srgbClr>
            </a:solidFill>
          </p:spPr>
          <p:txBody>
            <a:bodyPr/>
            <a:p/>
          </p:txBody>
        </p:sp>
      </p:grpSp>
      <p:grpSp>
        <p:nvGrpSpPr>
          <p:cNvPr name="Group 139" id="139"/>
          <p:cNvGrpSpPr/>
          <p:nvPr/>
        </p:nvGrpSpPr>
        <p:grpSpPr>
          <a:xfrm rot="0">
            <a:off x="12301880" y="6852514"/>
            <a:ext cx="257861" cy="200254"/>
            <a:chOff x="0" y="0"/>
            <a:chExt cx="343814" cy="267005"/>
          </a:xfrm>
        </p:grpSpPr>
        <p:sp>
          <p:nvSpPr>
            <p:cNvPr name="Freeform 140" id="140" descr="preencoded.png"/>
            <p:cNvSpPr/>
            <p:nvPr/>
          </p:nvSpPr>
          <p:spPr>
            <a:xfrm flipH="false" flipV="false" rot="0">
              <a:off x="0" y="0"/>
              <a:ext cx="343789" cy="266954"/>
            </a:xfrm>
            <a:custGeom>
              <a:avLst/>
              <a:gdLst/>
              <a:ahLst/>
              <a:cxnLst/>
              <a:rect r="r" b="b" t="t" l="l"/>
              <a:pathLst>
                <a:path h="266954" w="343789">
                  <a:moveTo>
                    <a:pt x="0" y="0"/>
                  </a:moveTo>
                  <a:lnTo>
                    <a:pt x="343789" y="0"/>
                  </a:lnTo>
                  <a:lnTo>
                    <a:pt x="343789" y="266954"/>
                  </a:lnTo>
                  <a:lnTo>
                    <a:pt x="0" y="266954"/>
                  </a:lnTo>
                  <a:lnTo>
                    <a:pt x="0" y="0"/>
                  </a:lnTo>
                  <a:close/>
                </a:path>
              </a:pathLst>
            </a:custGeom>
            <a:blipFill>
              <a:blip r:embed="rId10"/>
              <a:stretch>
                <a:fillRect l="1462" t="0" r="1455" b="-466"/>
              </a:stretch>
            </a:blipFill>
          </p:spPr>
          <p:txBody>
            <a:bodyPr/>
            <a:p/>
          </p:txBody>
        </p:sp>
      </p:grpSp>
      <p:grpSp>
        <p:nvGrpSpPr>
          <p:cNvPr name="Group 141" id="141"/>
          <p:cNvGrpSpPr/>
          <p:nvPr/>
        </p:nvGrpSpPr>
        <p:grpSpPr>
          <a:xfrm rot="0">
            <a:off x="12729820" y="6613931"/>
            <a:ext cx="4629150" cy="814731"/>
            <a:chOff x="0" y="0"/>
            <a:chExt cx="6172200" cy="1086308"/>
          </a:xfrm>
        </p:grpSpPr>
        <p:sp>
          <p:nvSpPr>
            <p:cNvPr name="Freeform 142" id="142"/>
            <p:cNvSpPr/>
            <p:nvPr/>
          </p:nvSpPr>
          <p:spPr>
            <a:xfrm flipH="false" flipV="false" rot="0">
              <a:off x="0" y="0"/>
              <a:ext cx="6172200" cy="1086309"/>
            </a:xfrm>
            <a:custGeom>
              <a:avLst/>
              <a:gdLst/>
              <a:ahLst/>
              <a:cxnLst/>
              <a:rect r="r" b="b" t="t" l="l"/>
              <a:pathLst>
                <a:path h="1086309" w="6172200">
                  <a:moveTo>
                    <a:pt x="0" y="0"/>
                  </a:moveTo>
                  <a:lnTo>
                    <a:pt x="6172200" y="0"/>
                  </a:lnTo>
                  <a:lnTo>
                    <a:pt x="6172200" y="1086309"/>
                  </a:lnTo>
                  <a:lnTo>
                    <a:pt x="0" y="1086309"/>
                  </a:lnTo>
                  <a:close/>
                </a:path>
              </a:pathLst>
            </a:custGeom>
            <a:blipFill>
              <a:blip r:embed="rId3">
                <a:alphaModFix amt="0"/>
              </a:blip>
              <a:stretch>
                <a:fillRect l="0" t="-60710" r="0" b="-60710"/>
              </a:stretch>
            </a:blipFill>
          </p:spPr>
          <p:txBody>
            <a:bodyPr/>
            <a:p/>
          </p:txBody>
        </p:sp>
        <p:sp>
          <p:nvSpPr>
            <p:cNvPr name="TextBox 143" id="143"/>
            <p:cNvSpPr txBox="true"/>
            <p:nvPr/>
          </p:nvSpPr>
          <p:spPr>
            <a:xfrm>
              <a:off x="0" y="0"/>
              <a:ext cx="6172200" cy="1086308"/>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Sueur</a:t>
              </a:r>
              <a:r>
                <a:rPr lang="en-US" sz="1350">
                  <a:solidFill>
                    <a:srgbClr val="D3D6E0"/>
                  </a:solidFill>
                  <a:latin typeface="Manrope"/>
                  <a:ea typeface="Manrope"/>
                  <a:cs typeface="Manrope"/>
                  <a:sym typeface="Manrope"/>
                </a:rPr>
                <a:t> Fonction d'élimination réelle mais complémentaire. </a:t>
              </a:r>
            </a:p>
          </p:txBody>
        </p:sp>
      </p:grpSp>
      <p:grpSp>
        <p:nvGrpSpPr>
          <p:cNvPr name="Group 144" id="144"/>
          <p:cNvGrpSpPr/>
          <p:nvPr/>
        </p:nvGrpSpPr>
        <p:grpSpPr>
          <a:xfrm rot="0">
            <a:off x="6563182" y="8022565"/>
            <a:ext cx="10878007" cy="947623"/>
            <a:chOff x="0" y="0"/>
            <a:chExt cx="14504010" cy="1263498"/>
          </a:xfrm>
        </p:grpSpPr>
        <p:sp>
          <p:nvSpPr>
            <p:cNvPr name="Freeform 145" id="145"/>
            <p:cNvSpPr/>
            <p:nvPr/>
          </p:nvSpPr>
          <p:spPr>
            <a:xfrm flipH="false" flipV="false" rot="0">
              <a:off x="12700" y="12700"/>
              <a:ext cx="14478636" cy="1238123"/>
            </a:xfrm>
            <a:custGeom>
              <a:avLst/>
              <a:gdLst/>
              <a:ahLst/>
              <a:cxnLst/>
              <a:rect r="r" b="b" t="t" l="l"/>
              <a:pathLst>
                <a:path h="1238123" w="14478636">
                  <a:moveTo>
                    <a:pt x="0" y="0"/>
                  </a:moveTo>
                  <a:lnTo>
                    <a:pt x="14478636" y="0"/>
                  </a:lnTo>
                  <a:lnTo>
                    <a:pt x="14478636" y="1238123"/>
                  </a:lnTo>
                  <a:lnTo>
                    <a:pt x="0" y="1238123"/>
                  </a:lnTo>
                  <a:close/>
                </a:path>
              </a:pathLst>
            </a:custGeom>
            <a:solidFill>
              <a:srgbClr val="FFFFFF">
                <a:alpha val="0"/>
              </a:srgbClr>
            </a:solidFill>
          </p:spPr>
          <p:txBody>
            <a:bodyPr/>
            <a:p/>
          </p:txBody>
        </p:sp>
      </p:grpSp>
      <p:grpSp>
        <p:nvGrpSpPr>
          <p:cNvPr name="Group 146" id="146"/>
          <p:cNvGrpSpPr/>
          <p:nvPr/>
        </p:nvGrpSpPr>
        <p:grpSpPr>
          <a:xfrm rot="0">
            <a:off x="6757873" y="8261147"/>
            <a:ext cx="200254" cy="200254"/>
            <a:chOff x="0" y="0"/>
            <a:chExt cx="267005" cy="267005"/>
          </a:xfrm>
        </p:grpSpPr>
        <p:sp>
          <p:nvSpPr>
            <p:cNvPr name="Freeform 147" id="147" descr="preencoded.png"/>
            <p:cNvSpPr/>
            <p:nvPr/>
          </p:nvSpPr>
          <p:spPr>
            <a:xfrm flipH="false" flipV="false" rot="0">
              <a:off x="0" y="0"/>
              <a:ext cx="266954" cy="266954"/>
            </a:xfrm>
            <a:custGeom>
              <a:avLst/>
              <a:gdLst/>
              <a:ahLst/>
              <a:cxnLst/>
              <a:rect r="r" b="b" t="t" l="l"/>
              <a:pathLst>
                <a:path h="266954" w="266954">
                  <a:moveTo>
                    <a:pt x="0" y="0"/>
                  </a:moveTo>
                  <a:lnTo>
                    <a:pt x="266954" y="0"/>
                  </a:lnTo>
                  <a:lnTo>
                    <a:pt x="266954" y="266954"/>
                  </a:lnTo>
                  <a:lnTo>
                    <a:pt x="0" y="266954"/>
                  </a:lnTo>
                  <a:lnTo>
                    <a:pt x="0" y="0"/>
                  </a:lnTo>
                  <a:close/>
                </a:path>
              </a:pathLst>
            </a:custGeom>
            <a:blipFill>
              <a:blip r:embed="rId11"/>
              <a:stretch>
                <a:fillRect l="0" t="0" r="-19" b="-19"/>
              </a:stretch>
            </a:blipFill>
          </p:spPr>
          <p:txBody>
            <a:bodyPr/>
            <a:p/>
          </p:txBody>
        </p:sp>
      </p:grpSp>
      <p:grpSp>
        <p:nvGrpSpPr>
          <p:cNvPr name="Group 148" id="148"/>
          <p:cNvGrpSpPr/>
          <p:nvPr/>
        </p:nvGrpSpPr>
        <p:grpSpPr>
          <a:xfrm rot="0">
            <a:off x="7129577" y="8133740"/>
            <a:ext cx="6115964" cy="558241"/>
            <a:chOff x="0" y="0"/>
            <a:chExt cx="8154619" cy="744322"/>
          </a:xfrm>
        </p:grpSpPr>
        <p:sp>
          <p:nvSpPr>
            <p:cNvPr name="Freeform 149" id="149"/>
            <p:cNvSpPr/>
            <p:nvPr/>
          </p:nvSpPr>
          <p:spPr>
            <a:xfrm flipH="false" flipV="false" rot="0">
              <a:off x="0" y="0"/>
              <a:ext cx="8154620" cy="744322"/>
            </a:xfrm>
            <a:custGeom>
              <a:avLst/>
              <a:gdLst/>
              <a:ahLst/>
              <a:cxnLst/>
              <a:rect r="r" b="b" t="t" l="l"/>
              <a:pathLst>
                <a:path h="744322" w="8154620">
                  <a:moveTo>
                    <a:pt x="0" y="0"/>
                  </a:moveTo>
                  <a:lnTo>
                    <a:pt x="8154620" y="0"/>
                  </a:lnTo>
                  <a:lnTo>
                    <a:pt x="8154620" y="744322"/>
                  </a:lnTo>
                  <a:lnTo>
                    <a:pt x="0" y="744322"/>
                  </a:lnTo>
                  <a:close/>
                </a:path>
              </a:pathLst>
            </a:custGeom>
            <a:blipFill>
              <a:blip r:embed="rId3">
                <a:alphaModFix amt="0"/>
              </a:blip>
              <a:stretch>
                <a:fillRect l="0" t="-163473" r="0" b="-163473"/>
              </a:stretch>
            </a:blipFill>
          </p:spPr>
          <p:txBody>
            <a:bodyPr/>
            <a:p/>
          </p:txBody>
        </p:sp>
        <p:sp>
          <p:nvSpPr>
            <p:cNvPr name="TextBox 150" id="150"/>
            <p:cNvSpPr txBox="true"/>
            <p:nvPr/>
          </p:nvSpPr>
          <p:spPr>
            <a:xfrm>
              <a:off x="0" y="0"/>
              <a:ext cx="8154619" cy="744322"/>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La peau, rapport de lecture du corps entier</a:t>
              </a:r>
              <a:r>
                <a:rPr lang="en-US" sz="1350">
                  <a:solidFill>
                    <a:srgbClr val="D3D6E0"/>
                  </a:solidFill>
                  <a:latin typeface="Manrope"/>
                  <a:ea typeface="Manrope"/>
                  <a:cs typeface="Manrope"/>
                  <a:sym typeface="Manrope"/>
                </a:rPr>
                <a:t> </a:t>
              </a:r>
            </a:p>
            <a:p>
              <a:pPr algn="l">
                <a:lnSpc>
                  <a:spcPts val="1620"/>
                </a:lnSpc>
              </a:pPr>
              <a:r>
                <a:rPr lang="en-US" sz="1350">
                  <a:solidFill>
                    <a:srgbClr val="D3D6E0"/>
                  </a:solidFill>
                  <a:latin typeface="Manrope"/>
                  <a:ea typeface="Manrope"/>
                  <a:cs typeface="Manrope"/>
                  <a:sym typeface="Manrope"/>
                </a:rPr>
                <a:t>Nutrition, sommeil, stress, mouvement : tout finit par se voir. </a:t>
              </a:r>
            </a:p>
          </p:txBody>
        </p:sp>
      </p:grpSp>
      <p:grpSp>
        <p:nvGrpSpPr>
          <p:cNvPr name="Group 151" id="151"/>
          <p:cNvGrpSpPr/>
          <p:nvPr/>
        </p:nvGrpSpPr>
        <p:grpSpPr>
          <a:xfrm rot="0">
            <a:off x="7763332" y="1261948"/>
            <a:ext cx="1991411" cy="290627"/>
            <a:chOff x="0" y="0"/>
            <a:chExt cx="2655214" cy="387502"/>
          </a:xfrm>
        </p:grpSpPr>
        <p:sp>
          <p:nvSpPr>
            <p:cNvPr name="Freeform 152" id="152"/>
            <p:cNvSpPr/>
            <p:nvPr/>
          </p:nvSpPr>
          <p:spPr>
            <a:xfrm flipH="false" flipV="false" rot="0">
              <a:off x="12700" y="12700"/>
              <a:ext cx="2629789" cy="362204"/>
            </a:xfrm>
            <a:custGeom>
              <a:avLst/>
              <a:gdLst/>
              <a:ahLst/>
              <a:cxnLst/>
              <a:rect r="r" b="b" t="t" l="l"/>
              <a:pathLst>
                <a:path h="362204" w="2629789">
                  <a:moveTo>
                    <a:pt x="0" y="181102"/>
                  </a:moveTo>
                  <a:cubicBezTo>
                    <a:pt x="0" y="81026"/>
                    <a:pt x="85852" y="0"/>
                    <a:pt x="191897" y="0"/>
                  </a:cubicBezTo>
                  <a:lnTo>
                    <a:pt x="2437892" y="0"/>
                  </a:lnTo>
                  <a:cubicBezTo>
                    <a:pt x="2543937" y="0"/>
                    <a:pt x="2629789" y="81026"/>
                    <a:pt x="2629789" y="181102"/>
                  </a:cubicBezTo>
                  <a:cubicBezTo>
                    <a:pt x="2629789" y="281178"/>
                    <a:pt x="2543937" y="362204"/>
                    <a:pt x="2437892" y="362204"/>
                  </a:cubicBezTo>
                  <a:lnTo>
                    <a:pt x="191897" y="362204"/>
                  </a:lnTo>
                  <a:cubicBezTo>
                    <a:pt x="85852" y="362077"/>
                    <a:pt x="0" y="281051"/>
                    <a:pt x="0" y="181102"/>
                  </a:cubicBezTo>
                  <a:close/>
                </a:path>
              </a:pathLst>
            </a:custGeom>
            <a:solidFill>
              <a:srgbClr val="40424D"/>
            </a:solidFill>
          </p:spPr>
          <p:txBody>
            <a:bodyPr/>
            <a:p/>
          </p:txBody>
        </p:sp>
      </p:grpSp>
      <p:grpSp>
        <p:nvGrpSpPr>
          <p:cNvPr name="Group 153" id="153"/>
          <p:cNvGrpSpPr/>
          <p:nvPr/>
        </p:nvGrpSpPr>
        <p:grpSpPr>
          <a:xfrm rot="0">
            <a:off x="7953832" y="1271473"/>
            <a:ext cx="2086204" cy="271576"/>
            <a:chOff x="0" y="0"/>
            <a:chExt cx="2781605" cy="362102"/>
          </a:xfrm>
        </p:grpSpPr>
        <p:sp>
          <p:nvSpPr>
            <p:cNvPr name="Freeform 154" id="154"/>
            <p:cNvSpPr/>
            <p:nvPr/>
          </p:nvSpPr>
          <p:spPr>
            <a:xfrm flipH="false" flipV="false" rot="0">
              <a:off x="0" y="0"/>
              <a:ext cx="2781604" cy="362102"/>
            </a:xfrm>
            <a:custGeom>
              <a:avLst/>
              <a:gdLst/>
              <a:ahLst/>
              <a:cxnLst/>
              <a:rect r="r" b="b" t="t" l="l"/>
              <a:pathLst>
                <a:path h="362102" w="2781604">
                  <a:moveTo>
                    <a:pt x="0" y="0"/>
                  </a:moveTo>
                  <a:lnTo>
                    <a:pt x="2781604" y="0"/>
                  </a:lnTo>
                  <a:lnTo>
                    <a:pt x="2781604" y="362102"/>
                  </a:lnTo>
                  <a:lnTo>
                    <a:pt x="0" y="362102"/>
                  </a:lnTo>
                  <a:close/>
                </a:path>
              </a:pathLst>
            </a:custGeom>
            <a:blipFill>
              <a:blip r:embed="rId3">
                <a:alphaModFix amt="0"/>
              </a:blip>
              <a:stretch>
                <a:fillRect l="0" t="-99680" r="0" b="-99680"/>
              </a:stretch>
            </a:blipFill>
          </p:spPr>
          <p:txBody>
            <a:bodyPr/>
            <a:p/>
          </p:txBody>
        </p:sp>
        <p:sp>
          <p:nvSpPr>
            <p:cNvPr name="TextBox 155" id="155"/>
            <p:cNvSpPr txBox="true"/>
            <p:nvPr/>
          </p:nvSpPr>
          <p:spPr>
            <a:xfrm>
              <a:off x="0" y="0"/>
              <a:ext cx="2781605" cy="362102"/>
            </a:xfrm>
            <a:prstGeom prst="rect">
              <a:avLst/>
            </a:prstGeom>
          </p:spPr>
          <p:txBody>
            <a:bodyPr anchor="ctr" rtlCol="false" tIns="0" lIns="0" bIns="0" rIns="0"/>
            <a:lstStyle/>
            <a:p>
              <a:pPr algn="l">
                <a:lnSpc>
                  <a:spcPts val="1439"/>
                </a:lnSpc>
              </a:pPr>
              <a:r>
                <a:rPr lang="en-US" sz="1200" b="true">
                  <a:solidFill>
                    <a:srgbClr val="FFFFFF"/>
                  </a:solidFill>
                  <a:latin typeface="Manrope Bold"/>
                  <a:ea typeface="Manrope Bold"/>
                  <a:cs typeface="Manrope Bold"/>
                  <a:sym typeface="Manrope Bold"/>
                </a:rPr>
                <a:t>Mécanisme Clé</a:t>
              </a:r>
            </a:p>
          </p:txBody>
        </p:sp>
      </p:grpSp>
      <p:grpSp>
        <p:nvGrpSpPr>
          <p:cNvPr name="Group 156" id="156"/>
          <p:cNvGrpSpPr/>
          <p:nvPr/>
        </p:nvGrpSpPr>
        <p:grpSpPr>
          <a:xfrm rot="0">
            <a:off x="6572707" y="4146347"/>
            <a:ext cx="200254" cy="257861"/>
            <a:chOff x="0" y="0"/>
            <a:chExt cx="267005" cy="343814"/>
          </a:xfrm>
        </p:grpSpPr>
        <p:sp>
          <p:nvSpPr>
            <p:cNvPr name="Freeform 157" id="157" descr="preencoded.png"/>
            <p:cNvSpPr/>
            <p:nvPr/>
          </p:nvSpPr>
          <p:spPr>
            <a:xfrm flipH="false" flipV="false" rot="0">
              <a:off x="0" y="0"/>
              <a:ext cx="266954" cy="343789"/>
            </a:xfrm>
            <a:custGeom>
              <a:avLst/>
              <a:gdLst/>
              <a:ahLst/>
              <a:cxnLst/>
              <a:rect r="r" b="b" t="t" l="l"/>
              <a:pathLst>
                <a:path h="343789" w="266954">
                  <a:moveTo>
                    <a:pt x="0" y="0"/>
                  </a:moveTo>
                  <a:lnTo>
                    <a:pt x="266954" y="0"/>
                  </a:lnTo>
                  <a:lnTo>
                    <a:pt x="266954" y="343789"/>
                  </a:lnTo>
                  <a:lnTo>
                    <a:pt x="0" y="343789"/>
                  </a:lnTo>
                  <a:lnTo>
                    <a:pt x="0" y="0"/>
                  </a:lnTo>
                  <a:close/>
                </a:path>
              </a:pathLst>
            </a:custGeom>
            <a:blipFill>
              <a:blip r:embed="rId12"/>
              <a:stretch>
                <a:fillRect l="1731" t="0" r="566" b="-7"/>
              </a:stretch>
            </a:blipFill>
          </p:spPr>
          <p:txBody>
            <a:bodyP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914857" y="792785"/>
            <a:ext cx="456743" cy="13716"/>
            <a:chOff x="0" y="0"/>
            <a:chExt cx="608990" cy="18288"/>
          </a:xfrm>
        </p:grpSpPr>
        <p:sp>
          <p:nvSpPr>
            <p:cNvPr name="Freeform 9" id="9"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4"/>
              <a:stretch>
                <a:fillRect l="1949" t="0" r="1945" b="0"/>
              </a:stretch>
            </a:blipFill>
          </p:spPr>
          <p:txBody>
            <a:bodyPr/>
            <a:p/>
          </p:txBody>
        </p:sp>
      </p:grpSp>
      <p:grpSp>
        <p:nvGrpSpPr>
          <p:cNvPr name="Group 10" id="10"/>
          <p:cNvGrpSpPr/>
          <p:nvPr/>
        </p:nvGrpSpPr>
        <p:grpSpPr>
          <a:xfrm rot="0">
            <a:off x="1543050" y="685800"/>
            <a:ext cx="2449678" cy="293380"/>
            <a:chOff x="0" y="0"/>
            <a:chExt cx="3266237" cy="391173"/>
          </a:xfrm>
        </p:grpSpPr>
        <p:sp>
          <p:nvSpPr>
            <p:cNvPr name="Freeform 11" id="11"/>
            <p:cNvSpPr/>
            <p:nvPr/>
          </p:nvSpPr>
          <p:spPr>
            <a:xfrm flipH="false" flipV="false" rot="0">
              <a:off x="0" y="0"/>
              <a:ext cx="3266236" cy="391173"/>
            </a:xfrm>
            <a:custGeom>
              <a:avLst/>
              <a:gdLst/>
              <a:ahLst/>
              <a:cxnLst/>
              <a:rect r="r" b="b" t="t" l="l"/>
              <a:pathLst>
                <a:path h="391173" w="3266236">
                  <a:moveTo>
                    <a:pt x="0" y="0"/>
                  </a:moveTo>
                  <a:lnTo>
                    <a:pt x="3266236" y="0"/>
                  </a:lnTo>
                  <a:lnTo>
                    <a:pt x="3266236" y="391173"/>
                  </a:lnTo>
                  <a:lnTo>
                    <a:pt x="0" y="391173"/>
                  </a:lnTo>
                  <a:close/>
                </a:path>
              </a:pathLst>
            </a:custGeom>
            <a:blipFill>
              <a:blip r:embed="rId5">
                <a:alphaModFix amt="0"/>
              </a:blip>
              <a:stretch>
                <a:fillRect l="0" t="-123659" r="0" b="-101734"/>
              </a:stretch>
            </a:blipFill>
          </p:spPr>
          <p:txBody>
            <a:bodyPr/>
            <a:p/>
          </p:txBody>
        </p:sp>
        <p:sp>
          <p:nvSpPr>
            <p:cNvPr name="TextBox 12" id="12"/>
            <p:cNvSpPr txBox="true"/>
            <p:nvPr/>
          </p:nvSpPr>
          <p:spPr>
            <a:xfrm>
              <a:off x="0" y="0"/>
              <a:ext cx="3266237"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Le Virage du Marché</a:t>
              </a:r>
            </a:p>
          </p:txBody>
        </p:sp>
      </p:grpSp>
      <p:grpSp>
        <p:nvGrpSpPr>
          <p:cNvPr name="Group 13" id="13"/>
          <p:cNvGrpSpPr/>
          <p:nvPr/>
        </p:nvGrpSpPr>
        <p:grpSpPr>
          <a:xfrm rot="0">
            <a:off x="914857" y="1028700"/>
            <a:ext cx="9533992" cy="889664"/>
            <a:chOff x="0" y="0"/>
            <a:chExt cx="12711989" cy="1186218"/>
          </a:xfrm>
        </p:grpSpPr>
        <p:sp>
          <p:nvSpPr>
            <p:cNvPr name="Freeform 14" id="14"/>
            <p:cNvSpPr/>
            <p:nvPr/>
          </p:nvSpPr>
          <p:spPr>
            <a:xfrm flipH="false" flipV="false" rot="0">
              <a:off x="0" y="0"/>
              <a:ext cx="12711988" cy="1186219"/>
            </a:xfrm>
            <a:custGeom>
              <a:avLst/>
              <a:gdLst/>
              <a:ahLst/>
              <a:cxnLst/>
              <a:rect r="r" b="b" t="t" l="l"/>
              <a:pathLst>
                <a:path h="1186219" w="12711988">
                  <a:moveTo>
                    <a:pt x="0" y="0"/>
                  </a:moveTo>
                  <a:lnTo>
                    <a:pt x="12711988" y="0"/>
                  </a:lnTo>
                  <a:lnTo>
                    <a:pt x="12711988" y="1186219"/>
                  </a:lnTo>
                  <a:lnTo>
                    <a:pt x="0" y="1186219"/>
                  </a:lnTo>
                  <a:close/>
                </a:path>
              </a:pathLst>
            </a:custGeom>
            <a:blipFill>
              <a:blip r:embed="rId5">
                <a:alphaModFix amt="0"/>
              </a:blip>
              <a:stretch>
                <a:fillRect l="0" t="-172656" r="0" b="-144962"/>
              </a:stretch>
            </a:blipFill>
          </p:spPr>
          <p:txBody>
            <a:bodyPr/>
            <a:p/>
          </p:txBody>
        </p:sp>
        <p:sp>
          <p:nvSpPr>
            <p:cNvPr name="TextBox 15" id="15"/>
            <p:cNvSpPr txBox="true"/>
            <p:nvPr/>
          </p:nvSpPr>
          <p:spPr>
            <a:xfrm>
              <a:off x="0" y="9525"/>
              <a:ext cx="12711989" cy="1176693"/>
            </a:xfrm>
            <a:prstGeom prst="rect">
              <a:avLst/>
            </a:prstGeom>
          </p:spPr>
          <p:txBody>
            <a:bodyPr anchor="ctr" rtlCol="false" tIns="0" lIns="0" bIns="0" rIns="0"/>
            <a:lstStyle/>
            <a:p>
              <a:pPr algn="l">
                <a:lnSpc>
                  <a:spcPts val="4860"/>
                </a:lnSpc>
              </a:pPr>
              <a:r>
                <a:rPr lang="en-US" sz="4050" b="true">
                  <a:solidFill>
                    <a:srgbClr val="FFFFFF"/>
                  </a:solidFill>
                  <a:latin typeface="Manrope Bold"/>
                  <a:ea typeface="Manrope Bold"/>
                  <a:cs typeface="Manrope Bold"/>
                  <a:sym typeface="Manrope Bold"/>
                </a:rPr>
                <a:t> De l'Anti-Âge à la </a:t>
              </a:r>
              <a:r>
                <a:rPr lang="en-US" sz="4050" b="true">
                  <a:solidFill>
                    <a:srgbClr val="9CA3AF"/>
                  </a:solidFill>
                  <a:latin typeface="Manrope Bold"/>
                  <a:ea typeface="Manrope Bold"/>
                  <a:cs typeface="Manrope Bold"/>
                  <a:sym typeface="Manrope Bold"/>
                </a:rPr>
                <a:t>Longévité Cutanée</a:t>
              </a:r>
            </a:p>
          </p:txBody>
        </p:sp>
      </p:grpSp>
      <p:grpSp>
        <p:nvGrpSpPr>
          <p:cNvPr name="Group 16" id="16"/>
          <p:cNvGrpSpPr/>
          <p:nvPr/>
        </p:nvGrpSpPr>
        <p:grpSpPr>
          <a:xfrm rot="0">
            <a:off x="914857" y="1785823"/>
            <a:ext cx="8401050" cy="430120"/>
            <a:chOff x="0" y="0"/>
            <a:chExt cx="11201400" cy="573494"/>
          </a:xfrm>
        </p:grpSpPr>
        <p:sp>
          <p:nvSpPr>
            <p:cNvPr name="Freeform 17" id="17"/>
            <p:cNvSpPr/>
            <p:nvPr/>
          </p:nvSpPr>
          <p:spPr>
            <a:xfrm flipH="false" flipV="false" rot="0">
              <a:off x="0" y="0"/>
              <a:ext cx="11201400" cy="573494"/>
            </a:xfrm>
            <a:custGeom>
              <a:avLst/>
              <a:gdLst/>
              <a:ahLst/>
              <a:cxnLst/>
              <a:rect r="r" b="b" t="t" l="l"/>
              <a:pathLst>
                <a:path h="573494" w="11201400">
                  <a:moveTo>
                    <a:pt x="0" y="0"/>
                  </a:moveTo>
                  <a:lnTo>
                    <a:pt x="11201400" y="0"/>
                  </a:lnTo>
                  <a:lnTo>
                    <a:pt x="11201400" y="573494"/>
                  </a:lnTo>
                  <a:lnTo>
                    <a:pt x="0" y="573494"/>
                  </a:lnTo>
                  <a:close/>
                </a:path>
              </a:pathLst>
            </a:custGeom>
            <a:blipFill>
              <a:blip r:embed="rId5">
                <a:alphaModFix amt="0"/>
              </a:blip>
              <a:stretch>
                <a:fillRect l="0" t="-334021" r="0" b="-327136"/>
              </a:stretch>
            </a:blipFill>
          </p:spPr>
          <p:txBody>
            <a:bodyPr/>
            <a:p/>
          </p:txBody>
        </p:sp>
        <p:sp>
          <p:nvSpPr>
            <p:cNvPr name="TextBox 18" id="18"/>
            <p:cNvSpPr txBox="true"/>
            <p:nvPr/>
          </p:nvSpPr>
          <p:spPr>
            <a:xfrm>
              <a:off x="0" y="-9525"/>
              <a:ext cx="11201400" cy="583019"/>
            </a:xfrm>
            <a:prstGeom prst="rect">
              <a:avLst/>
            </a:prstGeom>
          </p:spPr>
          <p:txBody>
            <a:bodyPr anchor="ctr" rtlCol="false" tIns="0" lIns="0" bIns="0" rIns="0"/>
            <a:lstStyle/>
            <a:p>
              <a:pPr algn="l">
                <a:lnSpc>
                  <a:spcPts val="2340"/>
                </a:lnSpc>
              </a:pPr>
              <a:r>
                <a:rPr lang="en-US" sz="1950">
                  <a:solidFill>
                    <a:srgbClr val="FFFFFF"/>
                  </a:solidFill>
                  <a:latin typeface="Manrope"/>
                  <a:ea typeface="Manrope"/>
                  <a:cs typeface="Manrope"/>
                  <a:sym typeface="Manrope"/>
                </a:rPr>
                <a:t>La catégorie ne grandit pas seulement : elle change de définition.</a:t>
              </a:r>
            </a:p>
          </p:txBody>
        </p:sp>
      </p:grpSp>
      <p:grpSp>
        <p:nvGrpSpPr>
          <p:cNvPr name="Group 19" id="19"/>
          <p:cNvGrpSpPr/>
          <p:nvPr/>
        </p:nvGrpSpPr>
        <p:grpSpPr>
          <a:xfrm rot="0">
            <a:off x="16419424" y="1899666"/>
            <a:ext cx="957377" cy="332327"/>
            <a:chOff x="0" y="0"/>
            <a:chExt cx="1276502" cy="443103"/>
          </a:xfrm>
        </p:grpSpPr>
        <p:sp>
          <p:nvSpPr>
            <p:cNvPr name="Freeform 20" id="20"/>
            <p:cNvSpPr/>
            <p:nvPr/>
          </p:nvSpPr>
          <p:spPr>
            <a:xfrm flipH="false" flipV="false" rot="0">
              <a:off x="0" y="0"/>
              <a:ext cx="1276502" cy="443104"/>
            </a:xfrm>
            <a:custGeom>
              <a:avLst/>
              <a:gdLst/>
              <a:ahLst/>
              <a:cxnLst/>
              <a:rect r="r" b="b" t="t" l="l"/>
              <a:pathLst>
                <a:path h="443104" w="1276502">
                  <a:moveTo>
                    <a:pt x="0" y="0"/>
                  </a:moveTo>
                  <a:lnTo>
                    <a:pt x="1276502" y="0"/>
                  </a:lnTo>
                  <a:lnTo>
                    <a:pt x="1276502" y="443104"/>
                  </a:lnTo>
                  <a:lnTo>
                    <a:pt x="0" y="443104"/>
                  </a:lnTo>
                  <a:close/>
                </a:path>
              </a:pathLst>
            </a:custGeom>
            <a:blipFill>
              <a:blip r:embed="rId5">
                <a:alphaModFix amt="0"/>
              </a:blip>
              <a:stretch>
                <a:fillRect l="0" t="-13003" r="0" b="737"/>
              </a:stretch>
            </a:blipFill>
          </p:spPr>
          <p:txBody>
            <a:bodyPr/>
            <a:p/>
          </p:txBody>
        </p:sp>
        <p:sp>
          <p:nvSpPr>
            <p:cNvPr name="TextBox 21" id="21"/>
            <p:cNvSpPr txBox="true"/>
            <p:nvPr/>
          </p:nvSpPr>
          <p:spPr>
            <a:xfrm>
              <a:off x="0" y="-9525"/>
              <a:ext cx="1276502" cy="452628"/>
            </a:xfrm>
            <a:prstGeom prst="rect">
              <a:avLst/>
            </a:prstGeom>
          </p:spPr>
          <p:txBody>
            <a:bodyPr anchor="ctr" rtlCol="false" tIns="0" lIns="0" bIns="0" rIns="0"/>
            <a:lstStyle/>
            <a:p>
              <a:pPr algn="r">
                <a:lnSpc>
                  <a:spcPts val="1800"/>
                </a:lnSpc>
              </a:pPr>
              <a:r>
                <a:rPr lang="en-US" sz="1500">
                  <a:solidFill>
                    <a:srgbClr val="6B7280"/>
                  </a:solidFill>
                  <a:latin typeface="Manrope"/>
                  <a:ea typeface="Manrope"/>
                  <a:cs typeface="Manrope"/>
                  <a:sym typeface="Manrope"/>
                </a:rPr>
                <a:t>04 / 14</a:t>
              </a:r>
            </a:p>
          </p:txBody>
        </p:sp>
      </p:grpSp>
      <p:grpSp>
        <p:nvGrpSpPr>
          <p:cNvPr name="Group 22" id="22"/>
          <p:cNvGrpSpPr/>
          <p:nvPr/>
        </p:nvGrpSpPr>
        <p:grpSpPr>
          <a:xfrm rot="0">
            <a:off x="905332" y="2747391"/>
            <a:ext cx="5205070" cy="5676900"/>
            <a:chOff x="0" y="0"/>
            <a:chExt cx="6940093" cy="7569200"/>
          </a:xfrm>
        </p:grpSpPr>
        <p:sp>
          <p:nvSpPr>
            <p:cNvPr name="Freeform 23" id="23"/>
            <p:cNvSpPr/>
            <p:nvPr/>
          </p:nvSpPr>
          <p:spPr>
            <a:xfrm flipH="false" flipV="false" rot="0">
              <a:off x="12700" y="12700"/>
              <a:ext cx="6914642" cy="7543800"/>
            </a:xfrm>
            <a:custGeom>
              <a:avLst/>
              <a:gdLst/>
              <a:ahLst/>
              <a:cxnLst/>
              <a:rect r="r" b="b" t="t" l="l"/>
              <a:pathLst>
                <a:path h="7543800" w="6914642">
                  <a:moveTo>
                    <a:pt x="0" y="0"/>
                  </a:moveTo>
                  <a:lnTo>
                    <a:pt x="6914642" y="0"/>
                  </a:lnTo>
                  <a:lnTo>
                    <a:pt x="6914642" y="7543800"/>
                  </a:lnTo>
                  <a:lnTo>
                    <a:pt x="0" y="7543800"/>
                  </a:lnTo>
                  <a:close/>
                </a:path>
              </a:pathLst>
            </a:custGeom>
            <a:solidFill>
              <a:srgbClr val="1E1E24">
                <a:alpha val="15686"/>
              </a:srgbClr>
            </a:solidFill>
          </p:spPr>
          <p:txBody>
            <a:bodyPr/>
            <a:p/>
          </p:txBody>
        </p:sp>
        <p:sp>
          <p:nvSpPr>
            <p:cNvPr name="Freeform 24" id="24"/>
            <p:cNvSpPr/>
            <p:nvPr/>
          </p:nvSpPr>
          <p:spPr>
            <a:xfrm flipH="false" flipV="false" rot="0">
              <a:off x="0" y="0"/>
              <a:ext cx="6940042" cy="7569200"/>
            </a:xfrm>
            <a:custGeom>
              <a:avLst/>
              <a:gdLst/>
              <a:ahLst/>
              <a:cxnLst/>
              <a:rect r="r" b="b" t="t" l="l"/>
              <a:pathLst>
                <a:path h="7569200" w="6940042">
                  <a:moveTo>
                    <a:pt x="12700" y="0"/>
                  </a:moveTo>
                  <a:lnTo>
                    <a:pt x="6927342" y="0"/>
                  </a:lnTo>
                  <a:cubicBezTo>
                    <a:pt x="6934327" y="0"/>
                    <a:pt x="6940042" y="5715"/>
                    <a:pt x="6940042" y="12700"/>
                  </a:cubicBezTo>
                  <a:lnTo>
                    <a:pt x="6940042" y="7556500"/>
                  </a:lnTo>
                  <a:cubicBezTo>
                    <a:pt x="6940042" y="7563485"/>
                    <a:pt x="6934327" y="7569200"/>
                    <a:pt x="6927342" y="7569200"/>
                  </a:cubicBezTo>
                  <a:lnTo>
                    <a:pt x="12700" y="7569200"/>
                  </a:lnTo>
                  <a:cubicBezTo>
                    <a:pt x="5715" y="7569200"/>
                    <a:pt x="0" y="7563485"/>
                    <a:pt x="0" y="7556500"/>
                  </a:cubicBezTo>
                  <a:lnTo>
                    <a:pt x="0" y="12700"/>
                  </a:lnTo>
                  <a:cubicBezTo>
                    <a:pt x="0" y="5715"/>
                    <a:pt x="5715" y="0"/>
                    <a:pt x="12700" y="0"/>
                  </a:cubicBezTo>
                  <a:moveTo>
                    <a:pt x="12700" y="25400"/>
                  </a:moveTo>
                  <a:lnTo>
                    <a:pt x="12700" y="12700"/>
                  </a:lnTo>
                  <a:lnTo>
                    <a:pt x="25400" y="12700"/>
                  </a:lnTo>
                  <a:lnTo>
                    <a:pt x="25400" y="7556500"/>
                  </a:lnTo>
                  <a:lnTo>
                    <a:pt x="12700" y="7556500"/>
                  </a:lnTo>
                  <a:lnTo>
                    <a:pt x="12700" y="7543800"/>
                  </a:lnTo>
                  <a:lnTo>
                    <a:pt x="6927342" y="7543800"/>
                  </a:lnTo>
                  <a:lnTo>
                    <a:pt x="6927342" y="7556500"/>
                  </a:lnTo>
                  <a:lnTo>
                    <a:pt x="6914642" y="7556500"/>
                  </a:lnTo>
                  <a:lnTo>
                    <a:pt x="6914642" y="12700"/>
                  </a:lnTo>
                  <a:lnTo>
                    <a:pt x="6927342" y="12700"/>
                  </a:lnTo>
                  <a:lnTo>
                    <a:pt x="6927342" y="25400"/>
                  </a:lnTo>
                  <a:lnTo>
                    <a:pt x="12700" y="25400"/>
                  </a:lnTo>
                  <a:close/>
                </a:path>
              </a:pathLst>
            </a:custGeom>
            <a:solidFill>
              <a:srgbClr val="40424D"/>
            </a:solidFill>
          </p:spPr>
          <p:txBody>
            <a:bodyPr/>
            <a:p/>
          </p:txBody>
        </p:sp>
      </p:grpSp>
      <p:grpSp>
        <p:nvGrpSpPr>
          <p:cNvPr name="Group 25" id="25"/>
          <p:cNvGrpSpPr/>
          <p:nvPr/>
        </p:nvGrpSpPr>
        <p:grpSpPr>
          <a:xfrm rot="0">
            <a:off x="905332" y="2747391"/>
            <a:ext cx="5172151" cy="47854"/>
            <a:chOff x="0" y="0"/>
            <a:chExt cx="6896202" cy="63805"/>
          </a:xfrm>
        </p:grpSpPr>
        <p:sp>
          <p:nvSpPr>
            <p:cNvPr name="Freeform 26" id="26"/>
            <p:cNvSpPr/>
            <p:nvPr/>
          </p:nvSpPr>
          <p:spPr>
            <a:xfrm flipH="false" flipV="false" rot="0">
              <a:off x="12700" y="12700"/>
              <a:ext cx="6870827" cy="38354"/>
            </a:xfrm>
            <a:custGeom>
              <a:avLst/>
              <a:gdLst/>
              <a:ahLst/>
              <a:cxnLst/>
              <a:rect r="r" b="b" t="t" l="l"/>
              <a:pathLst>
                <a:path h="38354" w="6870827">
                  <a:moveTo>
                    <a:pt x="0" y="0"/>
                  </a:moveTo>
                  <a:lnTo>
                    <a:pt x="6870827" y="0"/>
                  </a:lnTo>
                  <a:lnTo>
                    <a:pt x="6870827" y="38354"/>
                  </a:lnTo>
                  <a:lnTo>
                    <a:pt x="0" y="38354"/>
                  </a:lnTo>
                  <a:close/>
                </a:path>
              </a:pathLst>
            </a:custGeom>
            <a:solidFill>
              <a:srgbClr val="40424D"/>
            </a:solidFill>
          </p:spPr>
          <p:txBody>
            <a:bodyPr/>
            <a:p/>
          </p:txBody>
        </p:sp>
      </p:grpSp>
      <p:grpSp>
        <p:nvGrpSpPr>
          <p:cNvPr name="Group 27" id="27"/>
          <p:cNvGrpSpPr/>
          <p:nvPr/>
        </p:nvGrpSpPr>
        <p:grpSpPr>
          <a:xfrm rot="0">
            <a:off x="1385316" y="3228746"/>
            <a:ext cx="342900" cy="456743"/>
            <a:chOff x="0" y="0"/>
            <a:chExt cx="457200" cy="608990"/>
          </a:xfrm>
        </p:grpSpPr>
        <p:sp>
          <p:nvSpPr>
            <p:cNvPr name="Freeform 28" id="28" descr="preencoded.png"/>
            <p:cNvSpPr/>
            <p:nvPr/>
          </p:nvSpPr>
          <p:spPr>
            <a:xfrm flipH="false" flipV="false" rot="0">
              <a:off x="0" y="0"/>
              <a:ext cx="457200" cy="608965"/>
            </a:xfrm>
            <a:custGeom>
              <a:avLst/>
              <a:gdLst/>
              <a:ahLst/>
              <a:cxnLst/>
              <a:rect r="r" b="b" t="t" l="l"/>
              <a:pathLst>
                <a:path h="608965" w="457200">
                  <a:moveTo>
                    <a:pt x="0" y="0"/>
                  </a:moveTo>
                  <a:lnTo>
                    <a:pt x="457200" y="0"/>
                  </a:lnTo>
                  <a:lnTo>
                    <a:pt x="457200" y="608965"/>
                  </a:lnTo>
                  <a:lnTo>
                    <a:pt x="0" y="608965"/>
                  </a:lnTo>
                  <a:lnTo>
                    <a:pt x="0" y="0"/>
                  </a:lnTo>
                  <a:close/>
                </a:path>
              </a:pathLst>
            </a:custGeom>
            <a:blipFill>
              <a:blip r:embed="rId6"/>
              <a:stretch>
                <a:fillRect l="0" t="12462" r="0" b="12458"/>
              </a:stretch>
            </a:blipFill>
          </p:spPr>
          <p:txBody>
            <a:bodyPr/>
            <a:p/>
          </p:txBody>
        </p:sp>
      </p:grpSp>
      <p:grpSp>
        <p:nvGrpSpPr>
          <p:cNvPr name="Group 29" id="29"/>
          <p:cNvGrpSpPr/>
          <p:nvPr/>
        </p:nvGrpSpPr>
        <p:grpSpPr>
          <a:xfrm rot="0">
            <a:off x="4743069" y="3269971"/>
            <a:ext cx="976427" cy="377037"/>
            <a:chOff x="0" y="0"/>
            <a:chExt cx="1301902" cy="502716"/>
          </a:xfrm>
        </p:grpSpPr>
        <p:sp>
          <p:nvSpPr>
            <p:cNvPr name="Freeform 30" id="30"/>
            <p:cNvSpPr/>
            <p:nvPr/>
          </p:nvSpPr>
          <p:spPr>
            <a:xfrm flipH="false" flipV="false" rot="0">
              <a:off x="0" y="0"/>
              <a:ext cx="1301877" cy="502665"/>
            </a:xfrm>
            <a:custGeom>
              <a:avLst/>
              <a:gdLst/>
              <a:ahLst/>
              <a:cxnLst/>
              <a:rect r="r" b="b" t="t" l="l"/>
              <a:pathLst>
                <a:path h="502665" w="1301877">
                  <a:moveTo>
                    <a:pt x="12700" y="0"/>
                  </a:moveTo>
                  <a:lnTo>
                    <a:pt x="1289177" y="0"/>
                  </a:lnTo>
                  <a:cubicBezTo>
                    <a:pt x="1296162" y="0"/>
                    <a:pt x="1301877" y="5715"/>
                    <a:pt x="1301877" y="12700"/>
                  </a:cubicBezTo>
                  <a:lnTo>
                    <a:pt x="1301877" y="489965"/>
                  </a:lnTo>
                  <a:cubicBezTo>
                    <a:pt x="1301877" y="496950"/>
                    <a:pt x="1296162" y="502665"/>
                    <a:pt x="1289177"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1289177" y="477265"/>
                  </a:lnTo>
                  <a:lnTo>
                    <a:pt x="1289177" y="489965"/>
                  </a:lnTo>
                  <a:lnTo>
                    <a:pt x="1276477" y="489965"/>
                  </a:lnTo>
                  <a:lnTo>
                    <a:pt x="1276477" y="12700"/>
                  </a:lnTo>
                  <a:lnTo>
                    <a:pt x="1289177" y="12700"/>
                  </a:lnTo>
                  <a:lnTo>
                    <a:pt x="1289177" y="25400"/>
                  </a:lnTo>
                  <a:lnTo>
                    <a:pt x="12700" y="25400"/>
                  </a:lnTo>
                  <a:close/>
                </a:path>
              </a:pathLst>
            </a:custGeom>
            <a:solidFill>
              <a:srgbClr val="4B5563"/>
            </a:solidFill>
          </p:spPr>
          <p:txBody>
            <a:bodyPr/>
            <a:p/>
          </p:txBody>
        </p:sp>
        <p:sp>
          <p:nvSpPr>
            <p:cNvPr name="TextBox 31" id="31"/>
            <p:cNvSpPr txBox="true"/>
            <p:nvPr/>
          </p:nvSpPr>
          <p:spPr>
            <a:xfrm>
              <a:off x="0" y="0"/>
              <a:ext cx="1301902" cy="502716"/>
            </a:xfrm>
            <a:prstGeom prst="rect">
              <a:avLst/>
            </a:prstGeom>
          </p:spPr>
          <p:txBody>
            <a:bodyPr anchor="ctr" rtlCol="false" tIns="50800" lIns="50800" bIns="50800" rIns="50800"/>
            <a:lstStyle/>
            <a:p>
              <a:pPr algn="l">
                <a:lnSpc>
                  <a:spcPts val="1439"/>
                </a:lnSpc>
              </a:pPr>
              <a:r>
                <a:rPr lang="en-US" sz="1200">
                  <a:solidFill>
                    <a:srgbClr val="9CA3AF"/>
                  </a:solidFill>
                  <a:latin typeface="Manrope"/>
                  <a:ea typeface="Manrope"/>
                  <a:cs typeface="Manrope"/>
                  <a:sym typeface="Manrope"/>
                </a:rPr>
                <a:t>Mondial</a:t>
              </a:r>
            </a:p>
          </p:txBody>
        </p:sp>
      </p:grpSp>
      <p:grpSp>
        <p:nvGrpSpPr>
          <p:cNvPr name="Group 32" id="32"/>
          <p:cNvGrpSpPr/>
          <p:nvPr/>
        </p:nvGrpSpPr>
        <p:grpSpPr>
          <a:xfrm rot="0">
            <a:off x="1385316" y="4029761"/>
            <a:ext cx="4413809" cy="332327"/>
            <a:chOff x="0" y="0"/>
            <a:chExt cx="5885078" cy="443103"/>
          </a:xfrm>
        </p:grpSpPr>
        <p:sp>
          <p:nvSpPr>
            <p:cNvPr name="Freeform 33" id="33"/>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3596" r="0" b="-203983"/>
              </a:stretch>
            </a:blipFill>
          </p:spPr>
          <p:txBody>
            <a:bodyPr/>
            <a:p/>
          </p:txBody>
        </p:sp>
        <p:sp>
          <p:nvSpPr>
            <p:cNvPr name="TextBox 34" id="34"/>
            <p:cNvSpPr txBox="true"/>
            <p:nvPr/>
          </p:nvSpPr>
          <p:spPr>
            <a:xfrm>
              <a:off x="0" y="-9525"/>
              <a:ext cx="5885078"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Le Soin de la Peau</a:t>
              </a:r>
            </a:p>
          </p:txBody>
        </p:sp>
      </p:grpSp>
      <p:grpSp>
        <p:nvGrpSpPr>
          <p:cNvPr name="Group 35" id="35"/>
          <p:cNvGrpSpPr/>
          <p:nvPr/>
        </p:nvGrpSpPr>
        <p:grpSpPr>
          <a:xfrm rot="0">
            <a:off x="1385316" y="4671670"/>
            <a:ext cx="4413809" cy="1600657"/>
            <a:chOff x="0" y="0"/>
            <a:chExt cx="5885078" cy="2134210"/>
          </a:xfrm>
        </p:grpSpPr>
        <p:sp>
          <p:nvSpPr>
            <p:cNvPr name="Freeform 36" id="36"/>
            <p:cNvSpPr/>
            <p:nvPr/>
          </p:nvSpPr>
          <p:spPr>
            <a:xfrm flipH="false" flipV="false" rot="0">
              <a:off x="0" y="0"/>
              <a:ext cx="5885078" cy="2134210"/>
            </a:xfrm>
            <a:custGeom>
              <a:avLst/>
              <a:gdLst/>
              <a:ahLst/>
              <a:cxnLst/>
              <a:rect r="r" b="b" t="t" l="l"/>
              <a:pathLst>
                <a:path h="2134210" w="5885078">
                  <a:moveTo>
                    <a:pt x="0" y="0"/>
                  </a:moveTo>
                  <a:lnTo>
                    <a:pt x="5885078" y="0"/>
                  </a:lnTo>
                  <a:lnTo>
                    <a:pt x="5885078" y="2134210"/>
                  </a:lnTo>
                  <a:lnTo>
                    <a:pt x="0" y="2134210"/>
                  </a:lnTo>
                  <a:close/>
                </a:path>
              </a:pathLst>
            </a:custGeom>
            <a:blipFill>
              <a:blip r:embed="rId5">
                <a:alphaModFix amt="0"/>
              </a:blip>
              <a:stretch>
                <a:fillRect l="0" t="-3729" r="0" b="-3729"/>
              </a:stretch>
            </a:blipFill>
          </p:spPr>
          <p:txBody>
            <a:bodyPr/>
            <a:p/>
          </p:txBody>
        </p:sp>
        <p:sp>
          <p:nvSpPr>
            <p:cNvPr name="TextBox 37" id="37"/>
            <p:cNvSpPr txBox="true"/>
            <p:nvPr/>
          </p:nvSpPr>
          <p:spPr>
            <a:xfrm>
              <a:off x="0" y="0"/>
              <a:ext cx="5885078" cy="2134210"/>
            </a:xfrm>
            <a:prstGeom prst="rect">
              <a:avLst/>
            </a:prstGeom>
          </p:spPr>
          <p:txBody>
            <a:bodyPr anchor="ctr" rtlCol="false" tIns="0" lIns="0" bIns="0" rIns="0"/>
            <a:lstStyle/>
            <a:p>
              <a:pPr algn="l">
                <a:lnSpc>
                  <a:spcPts val="7559"/>
                </a:lnSpc>
              </a:pPr>
              <a:r>
                <a:rPr lang="en-US" b="true" sz="6300" spc="-225">
                  <a:solidFill>
                    <a:srgbClr val="FFFFFF"/>
                  </a:solidFill>
                  <a:latin typeface="Manrope Bold"/>
                  <a:ea typeface="Manrope Bold"/>
                  <a:cs typeface="Manrope Bold"/>
                  <a:sym typeface="Manrope Bold"/>
                </a:rPr>
                <a:t>150 Md$</a:t>
              </a:r>
            </a:p>
          </p:txBody>
        </p:sp>
      </p:grpSp>
      <p:grpSp>
        <p:nvGrpSpPr>
          <p:cNvPr name="Group 38" id="38"/>
          <p:cNvGrpSpPr/>
          <p:nvPr/>
        </p:nvGrpSpPr>
        <p:grpSpPr>
          <a:xfrm rot="0">
            <a:off x="1385316" y="6386170"/>
            <a:ext cx="4851349" cy="332327"/>
            <a:chOff x="0" y="0"/>
            <a:chExt cx="6468466" cy="443103"/>
          </a:xfrm>
        </p:grpSpPr>
        <p:sp>
          <p:nvSpPr>
            <p:cNvPr name="Freeform 39" id="39"/>
            <p:cNvSpPr/>
            <p:nvPr/>
          </p:nvSpPr>
          <p:spPr>
            <a:xfrm flipH="false" flipV="false" rot="0">
              <a:off x="0" y="0"/>
              <a:ext cx="6468466" cy="443104"/>
            </a:xfrm>
            <a:custGeom>
              <a:avLst/>
              <a:gdLst/>
              <a:ahLst/>
              <a:cxnLst/>
              <a:rect r="r" b="b" t="t" l="l"/>
              <a:pathLst>
                <a:path h="443104" w="6468466">
                  <a:moveTo>
                    <a:pt x="0" y="0"/>
                  </a:moveTo>
                  <a:lnTo>
                    <a:pt x="6468466" y="0"/>
                  </a:lnTo>
                  <a:lnTo>
                    <a:pt x="6468466" y="443104"/>
                  </a:lnTo>
                  <a:lnTo>
                    <a:pt x="0" y="443104"/>
                  </a:lnTo>
                  <a:close/>
                </a:path>
              </a:pathLst>
            </a:custGeom>
            <a:blipFill>
              <a:blip r:embed="rId5">
                <a:alphaModFix amt="0"/>
              </a:blip>
              <a:stretch>
                <a:fillRect l="0" t="-241314" r="0" b="-227573"/>
              </a:stretch>
            </a:blipFill>
          </p:spPr>
          <p:txBody>
            <a:bodyPr/>
            <a:p/>
          </p:txBody>
        </p:sp>
        <p:sp>
          <p:nvSpPr>
            <p:cNvPr name="TextBox 40" id="40"/>
            <p:cNvSpPr txBox="true"/>
            <p:nvPr/>
          </p:nvSpPr>
          <p:spPr>
            <a:xfrm>
              <a:off x="0" y="-9525"/>
              <a:ext cx="6468466"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Marché mondial du skincare en 2025</a:t>
              </a:r>
            </a:p>
          </p:txBody>
        </p:sp>
      </p:grpSp>
      <p:grpSp>
        <p:nvGrpSpPr>
          <p:cNvPr name="Group 41" id="41"/>
          <p:cNvGrpSpPr/>
          <p:nvPr/>
        </p:nvGrpSpPr>
        <p:grpSpPr>
          <a:xfrm rot="0">
            <a:off x="1385316" y="6958127"/>
            <a:ext cx="4238244" cy="13716"/>
            <a:chOff x="0" y="0"/>
            <a:chExt cx="5650992" cy="18288"/>
          </a:xfrm>
        </p:grpSpPr>
        <p:sp>
          <p:nvSpPr>
            <p:cNvPr name="Freeform 42" id="42" descr="preencoded.png"/>
            <p:cNvSpPr/>
            <p:nvPr/>
          </p:nvSpPr>
          <p:spPr>
            <a:xfrm flipH="false" flipV="false" rot="0">
              <a:off x="0" y="0"/>
              <a:ext cx="5650992" cy="18288"/>
            </a:xfrm>
            <a:custGeom>
              <a:avLst/>
              <a:gdLst/>
              <a:ahLst/>
              <a:cxnLst/>
              <a:rect r="r" b="b" t="t" l="l"/>
              <a:pathLst>
                <a:path h="18288" w="5650992">
                  <a:moveTo>
                    <a:pt x="0" y="0"/>
                  </a:moveTo>
                  <a:lnTo>
                    <a:pt x="5650992" y="0"/>
                  </a:lnTo>
                  <a:lnTo>
                    <a:pt x="5650992" y="18288"/>
                  </a:lnTo>
                  <a:lnTo>
                    <a:pt x="0" y="18288"/>
                  </a:lnTo>
                  <a:lnTo>
                    <a:pt x="0" y="0"/>
                  </a:lnTo>
                  <a:close/>
                </a:path>
              </a:pathLst>
            </a:custGeom>
            <a:blipFill>
              <a:blip r:embed="rId7"/>
              <a:stretch>
                <a:fillRect l="1995" t="0" r="1995" b="0"/>
              </a:stretch>
            </a:blipFill>
          </p:spPr>
          <p:txBody>
            <a:bodyPr/>
            <a:p/>
          </p:txBody>
        </p:sp>
      </p:grpSp>
      <p:grpSp>
        <p:nvGrpSpPr>
          <p:cNvPr name="Group 43" id="43"/>
          <p:cNvGrpSpPr/>
          <p:nvPr/>
        </p:nvGrpSpPr>
        <p:grpSpPr>
          <a:xfrm rot="0">
            <a:off x="1385316" y="7314743"/>
            <a:ext cx="200254" cy="229057"/>
            <a:chOff x="0" y="0"/>
            <a:chExt cx="267005" cy="305410"/>
          </a:xfrm>
        </p:grpSpPr>
        <p:sp>
          <p:nvSpPr>
            <p:cNvPr name="Freeform 44" id="44" descr="preencoded.png"/>
            <p:cNvSpPr/>
            <p:nvPr/>
          </p:nvSpPr>
          <p:spPr>
            <a:xfrm flipH="false" flipV="false" rot="0">
              <a:off x="0" y="0"/>
              <a:ext cx="266954" cy="305435"/>
            </a:xfrm>
            <a:custGeom>
              <a:avLst/>
              <a:gdLst/>
              <a:ahLst/>
              <a:cxnLst/>
              <a:rect r="r" b="b" t="t" l="l"/>
              <a:pathLst>
                <a:path h="305435" w="266954">
                  <a:moveTo>
                    <a:pt x="0" y="0"/>
                  </a:moveTo>
                  <a:lnTo>
                    <a:pt x="266954" y="0"/>
                  </a:lnTo>
                  <a:lnTo>
                    <a:pt x="266954" y="305435"/>
                  </a:lnTo>
                  <a:lnTo>
                    <a:pt x="0" y="305435"/>
                  </a:lnTo>
                  <a:lnTo>
                    <a:pt x="0" y="0"/>
                  </a:lnTo>
                  <a:close/>
                </a:path>
              </a:pathLst>
            </a:custGeom>
            <a:blipFill>
              <a:blip r:embed="rId8"/>
              <a:stretch>
                <a:fillRect l="0" t="41" r="-589" b="54"/>
              </a:stretch>
            </a:blipFill>
          </p:spPr>
          <p:txBody>
            <a:bodyPr/>
            <a:p/>
          </p:txBody>
        </p:sp>
      </p:grpSp>
      <p:grpSp>
        <p:nvGrpSpPr>
          <p:cNvPr name="Group 45" id="45"/>
          <p:cNvGrpSpPr/>
          <p:nvPr/>
        </p:nvGrpSpPr>
        <p:grpSpPr>
          <a:xfrm rot="0">
            <a:off x="1757020" y="7258507"/>
            <a:ext cx="2671877" cy="596284"/>
            <a:chOff x="0" y="0"/>
            <a:chExt cx="3562502" cy="795045"/>
          </a:xfrm>
        </p:grpSpPr>
        <p:sp>
          <p:nvSpPr>
            <p:cNvPr name="Freeform 46" id="46"/>
            <p:cNvSpPr/>
            <p:nvPr/>
          </p:nvSpPr>
          <p:spPr>
            <a:xfrm flipH="false" flipV="false" rot="0">
              <a:off x="0" y="0"/>
              <a:ext cx="3562502" cy="795046"/>
            </a:xfrm>
            <a:custGeom>
              <a:avLst/>
              <a:gdLst/>
              <a:ahLst/>
              <a:cxnLst/>
              <a:rect r="r" b="b" t="t" l="l"/>
              <a:pathLst>
                <a:path h="795046" w="3562502">
                  <a:moveTo>
                    <a:pt x="0" y="0"/>
                  </a:moveTo>
                  <a:lnTo>
                    <a:pt x="3562502" y="0"/>
                  </a:lnTo>
                  <a:lnTo>
                    <a:pt x="3562502" y="795046"/>
                  </a:lnTo>
                  <a:lnTo>
                    <a:pt x="0" y="795046"/>
                  </a:lnTo>
                  <a:close/>
                </a:path>
              </a:pathLst>
            </a:custGeom>
            <a:blipFill>
              <a:blip r:embed="rId5">
                <a:alphaModFix amt="0"/>
              </a:blip>
              <a:stretch>
                <a:fillRect l="0" t="-48895" r="0" b="-25724"/>
              </a:stretch>
            </a:blipFill>
          </p:spPr>
          <p:txBody>
            <a:bodyPr/>
            <a:p/>
          </p:txBody>
        </p:sp>
        <p:sp>
          <p:nvSpPr>
            <p:cNvPr name="TextBox 47" id="47"/>
            <p:cNvSpPr txBox="true"/>
            <p:nvPr/>
          </p:nvSpPr>
          <p:spPr>
            <a:xfrm>
              <a:off x="0" y="0"/>
              <a:ext cx="3562502" cy="795045"/>
            </a:xfrm>
            <a:prstGeom prst="rect">
              <a:avLst/>
            </a:prstGeom>
          </p:spPr>
          <p:txBody>
            <a:bodyPr anchor="ctr" rtlCol="false" tIns="0" lIns="0" bIns="0" rIns="0"/>
            <a:lstStyle/>
            <a:p>
              <a:pPr algn="l">
                <a:lnSpc>
                  <a:spcPts val="3240"/>
                </a:lnSpc>
              </a:pPr>
              <a:r>
                <a:rPr lang="en-US" sz="2700" b="true">
                  <a:solidFill>
                    <a:srgbClr val="FFFFFF"/>
                  </a:solidFill>
                  <a:latin typeface="Manrope Bold"/>
                  <a:ea typeface="Manrope Bold"/>
                  <a:cs typeface="Manrope Bold"/>
                  <a:sym typeface="Manrope Bold"/>
                </a:rPr>
                <a:t>207 Md$</a:t>
              </a:r>
            </a:p>
          </p:txBody>
        </p:sp>
      </p:grpSp>
      <p:grpSp>
        <p:nvGrpSpPr>
          <p:cNvPr name="Group 48" id="48"/>
          <p:cNvGrpSpPr/>
          <p:nvPr/>
        </p:nvGrpSpPr>
        <p:grpSpPr>
          <a:xfrm rot="0">
            <a:off x="1757020" y="7715250"/>
            <a:ext cx="3043580" cy="293380"/>
            <a:chOff x="0" y="0"/>
            <a:chExt cx="4058107" cy="391173"/>
          </a:xfrm>
        </p:grpSpPr>
        <p:sp>
          <p:nvSpPr>
            <p:cNvPr name="Freeform 49" id="49"/>
            <p:cNvSpPr/>
            <p:nvPr/>
          </p:nvSpPr>
          <p:spPr>
            <a:xfrm flipH="false" flipV="false" rot="0">
              <a:off x="0" y="0"/>
              <a:ext cx="4058108" cy="391173"/>
            </a:xfrm>
            <a:custGeom>
              <a:avLst/>
              <a:gdLst/>
              <a:ahLst/>
              <a:cxnLst/>
              <a:rect r="r" b="b" t="t" l="l"/>
              <a:pathLst>
                <a:path h="391173" w="4058108">
                  <a:moveTo>
                    <a:pt x="0" y="0"/>
                  </a:moveTo>
                  <a:lnTo>
                    <a:pt x="4058108" y="0"/>
                  </a:lnTo>
                  <a:lnTo>
                    <a:pt x="4058108" y="391173"/>
                  </a:lnTo>
                  <a:lnTo>
                    <a:pt x="0" y="391173"/>
                  </a:lnTo>
                  <a:close/>
                </a:path>
              </a:pathLst>
            </a:custGeom>
            <a:blipFill>
              <a:blip r:embed="rId5">
                <a:alphaModFix amt="0"/>
              </a:blip>
              <a:stretch>
                <a:fillRect l="0" t="-163103" r="0" b="-141179"/>
              </a:stretch>
            </a:blipFill>
          </p:spPr>
          <p:txBody>
            <a:bodyPr/>
            <a:p/>
          </p:txBody>
        </p:sp>
        <p:sp>
          <p:nvSpPr>
            <p:cNvPr name="TextBox 50" id="50"/>
            <p:cNvSpPr txBox="true"/>
            <p:nvPr/>
          </p:nvSpPr>
          <p:spPr>
            <a:xfrm>
              <a:off x="0" y="0"/>
              <a:ext cx="4058107" cy="391173"/>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La projection mondiale pour 2030</a:t>
              </a:r>
            </a:p>
          </p:txBody>
        </p:sp>
      </p:grpSp>
      <p:grpSp>
        <p:nvGrpSpPr>
          <p:cNvPr name="Group 51" id="51"/>
          <p:cNvGrpSpPr/>
          <p:nvPr/>
        </p:nvGrpSpPr>
        <p:grpSpPr>
          <a:xfrm rot="0">
            <a:off x="6543980" y="2747391"/>
            <a:ext cx="5205070" cy="5676900"/>
            <a:chOff x="0" y="0"/>
            <a:chExt cx="6940093" cy="7569200"/>
          </a:xfrm>
        </p:grpSpPr>
        <p:sp>
          <p:nvSpPr>
            <p:cNvPr name="Freeform 52" id="52"/>
            <p:cNvSpPr/>
            <p:nvPr/>
          </p:nvSpPr>
          <p:spPr>
            <a:xfrm flipH="false" flipV="false" rot="0">
              <a:off x="12700" y="12700"/>
              <a:ext cx="6914642" cy="7543800"/>
            </a:xfrm>
            <a:custGeom>
              <a:avLst/>
              <a:gdLst/>
              <a:ahLst/>
              <a:cxnLst/>
              <a:rect r="r" b="b" t="t" l="l"/>
              <a:pathLst>
                <a:path h="7543800" w="6914642">
                  <a:moveTo>
                    <a:pt x="0" y="0"/>
                  </a:moveTo>
                  <a:lnTo>
                    <a:pt x="6914642" y="0"/>
                  </a:lnTo>
                  <a:lnTo>
                    <a:pt x="6914642" y="7543800"/>
                  </a:lnTo>
                  <a:lnTo>
                    <a:pt x="0" y="7543800"/>
                  </a:lnTo>
                  <a:close/>
                </a:path>
              </a:pathLst>
            </a:custGeom>
            <a:solidFill>
              <a:srgbClr val="1E1E24">
                <a:alpha val="15686"/>
              </a:srgbClr>
            </a:solidFill>
          </p:spPr>
          <p:txBody>
            <a:bodyPr/>
            <a:p/>
          </p:txBody>
        </p:sp>
        <p:sp>
          <p:nvSpPr>
            <p:cNvPr name="Freeform 53" id="53"/>
            <p:cNvSpPr/>
            <p:nvPr/>
          </p:nvSpPr>
          <p:spPr>
            <a:xfrm flipH="false" flipV="false" rot="0">
              <a:off x="0" y="0"/>
              <a:ext cx="6940042" cy="7569200"/>
            </a:xfrm>
            <a:custGeom>
              <a:avLst/>
              <a:gdLst/>
              <a:ahLst/>
              <a:cxnLst/>
              <a:rect r="r" b="b" t="t" l="l"/>
              <a:pathLst>
                <a:path h="7569200" w="6940042">
                  <a:moveTo>
                    <a:pt x="12700" y="0"/>
                  </a:moveTo>
                  <a:lnTo>
                    <a:pt x="6927342" y="0"/>
                  </a:lnTo>
                  <a:cubicBezTo>
                    <a:pt x="6934327" y="0"/>
                    <a:pt x="6940042" y="5715"/>
                    <a:pt x="6940042" y="12700"/>
                  </a:cubicBezTo>
                  <a:lnTo>
                    <a:pt x="6940042" y="7556500"/>
                  </a:lnTo>
                  <a:cubicBezTo>
                    <a:pt x="6940042" y="7563485"/>
                    <a:pt x="6934327" y="7569200"/>
                    <a:pt x="6927342" y="7569200"/>
                  </a:cubicBezTo>
                  <a:lnTo>
                    <a:pt x="12700" y="7569200"/>
                  </a:lnTo>
                  <a:cubicBezTo>
                    <a:pt x="5715" y="7569200"/>
                    <a:pt x="0" y="7563485"/>
                    <a:pt x="0" y="7556500"/>
                  </a:cubicBezTo>
                  <a:lnTo>
                    <a:pt x="0" y="12700"/>
                  </a:lnTo>
                  <a:cubicBezTo>
                    <a:pt x="0" y="5715"/>
                    <a:pt x="5715" y="0"/>
                    <a:pt x="12700" y="0"/>
                  </a:cubicBezTo>
                  <a:moveTo>
                    <a:pt x="12700" y="25400"/>
                  </a:moveTo>
                  <a:lnTo>
                    <a:pt x="12700" y="12700"/>
                  </a:lnTo>
                  <a:lnTo>
                    <a:pt x="25400" y="12700"/>
                  </a:lnTo>
                  <a:lnTo>
                    <a:pt x="25400" y="7556500"/>
                  </a:lnTo>
                  <a:lnTo>
                    <a:pt x="12700" y="7556500"/>
                  </a:lnTo>
                  <a:lnTo>
                    <a:pt x="12700" y="7543800"/>
                  </a:lnTo>
                  <a:lnTo>
                    <a:pt x="6927342" y="7543800"/>
                  </a:lnTo>
                  <a:lnTo>
                    <a:pt x="6927342" y="7556500"/>
                  </a:lnTo>
                  <a:lnTo>
                    <a:pt x="6914642" y="7556500"/>
                  </a:lnTo>
                  <a:lnTo>
                    <a:pt x="6914642" y="12700"/>
                  </a:lnTo>
                  <a:lnTo>
                    <a:pt x="6927342" y="12700"/>
                  </a:lnTo>
                  <a:lnTo>
                    <a:pt x="6927342" y="25400"/>
                  </a:lnTo>
                  <a:lnTo>
                    <a:pt x="12700" y="25400"/>
                  </a:lnTo>
                  <a:close/>
                </a:path>
              </a:pathLst>
            </a:custGeom>
            <a:solidFill>
              <a:srgbClr val="40424D"/>
            </a:solidFill>
          </p:spPr>
          <p:txBody>
            <a:bodyPr/>
            <a:p/>
          </p:txBody>
        </p:sp>
      </p:grpSp>
      <p:grpSp>
        <p:nvGrpSpPr>
          <p:cNvPr name="Group 54" id="54"/>
          <p:cNvGrpSpPr/>
          <p:nvPr/>
        </p:nvGrpSpPr>
        <p:grpSpPr>
          <a:xfrm rot="0">
            <a:off x="6543980" y="2747391"/>
            <a:ext cx="5172151" cy="47854"/>
            <a:chOff x="0" y="0"/>
            <a:chExt cx="6896202" cy="63805"/>
          </a:xfrm>
        </p:grpSpPr>
        <p:sp>
          <p:nvSpPr>
            <p:cNvPr name="Freeform 55" id="55"/>
            <p:cNvSpPr/>
            <p:nvPr/>
          </p:nvSpPr>
          <p:spPr>
            <a:xfrm flipH="false" flipV="false" rot="0">
              <a:off x="12700" y="12700"/>
              <a:ext cx="6870827" cy="38354"/>
            </a:xfrm>
            <a:custGeom>
              <a:avLst/>
              <a:gdLst/>
              <a:ahLst/>
              <a:cxnLst/>
              <a:rect r="r" b="b" t="t" l="l"/>
              <a:pathLst>
                <a:path h="38354" w="6870827">
                  <a:moveTo>
                    <a:pt x="0" y="0"/>
                  </a:moveTo>
                  <a:lnTo>
                    <a:pt x="6870827" y="0"/>
                  </a:lnTo>
                  <a:lnTo>
                    <a:pt x="6870827" y="38354"/>
                  </a:lnTo>
                  <a:lnTo>
                    <a:pt x="0" y="38354"/>
                  </a:lnTo>
                  <a:close/>
                </a:path>
              </a:pathLst>
            </a:custGeom>
            <a:solidFill>
              <a:srgbClr val="40424D"/>
            </a:solidFill>
          </p:spPr>
          <p:txBody>
            <a:bodyPr/>
            <a:p/>
          </p:txBody>
        </p:sp>
      </p:grpSp>
      <p:grpSp>
        <p:nvGrpSpPr>
          <p:cNvPr name="Group 56" id="56"/>
          <p:cNvGrpSpPr/>
          <p:nvPr/>
        </p:nvGrpSpPr>
        <p:grpSpPr>
          <a:xfrm rot="0">
            <a:off x="10197922" y="3219221"/>
            <a:ext cx="1162964" cy="377037"/>
            <a:chOff x="0" y="0"/>
            <a:chExt cx="1550619" cy="502716"/>
          </a:xfrm>
        </p:grpSpPr>
        <p:sp>
          <p:nvSpPr>
            <p:cNvPr name="Freeform 57" id="57"/>
            <p:cNvSpPr/>
            <p:nvPr/>
          </p:nvSpPr>
          <p:spPr>
            <a:xfrm flipH="false" flipV="false" rot="0">
              <a:off x="0" y="0"/>
              <a:ext cx="1550670" cy="502665"/>
            </a:xfrm>
            <a:custGeom>
              <a:avLst/>
              <a:gdLst/>
              <a:ahLst/>
              <a:cxnLst/>
              <a:rect r="r" b="b" t="t" l="l"/>
              <a:pathLst>
                <a:path h="502665" w="1550670">
                  <a:moveTo>
                    <a:pt x="12700" y="0"/>
                  </a:moveTo>
                  <a:lnTo>
                    <a:pt x="1537970" y="0"/>
                  </a:lnTo>
                  <a:cubicBezTo>
                    <a:pt x="1544955" y="0"/>
                    <a:pt x="1550670" y="5715"/>
                    <a:pt x="1550670" y="12700"/>
                  </a:cubicBezTo>
                  <a:lnTo>
                    <a:pt x="1550670" y="489965"/>
                  </a:lnTo>
                  <a:cubicBezTo>
                    <a:pt x="1550670" y="496950"/>
                    <a:pt x="1544955" y="502665"/>
                    <a:pt x="1537970"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1537970" y="477265"/>
                  </a:lnTo>
                  <a:lnTo>
                    <a:pt x="1537970" y="489965"/>
                  </a:lnTo>
                  <a:lnTo>
                    <a:pt x="1525270" y="489965"/>
                  </a:lnTo>
                  <a:lnTo>
                    <a:pt x="1525270" y="12700"/>
                  </a:lnTo>
                  <a:lnTo>
                    <a:pt x="1537970" y="12700"/>
                  </a:lnTo>
                  <a:lnTo>
                    <a:pt x="1537970" y="25400"/>
                  </a:lnTo>
                  <a:lnTo>
                    <a:pt x="12700" y="25400"/>
                  </a:lnTo>
                  <a:close/>
                </a:path>
              </a:pathLst>
            </a:custGeom>
            <a:solidFill>
              <a:srgbClr val="4B5563"/>
            </a:solidFill>
          </p:spPr>
          <p:txBody>
            <a:bodyPr/>
            <a:p/>
          </p:txBody>
        </p:sp>
        <p:sp>
          <p:nvSpPr>
            <p:cNvPr name="TextBox 58" id="58"/>
            <p:cNvSpPr txBox="true"/>
            <p:nvPr/>
          </p:nvSpPr>
          <p:spPr>
            <a:xfrm>
              <a:off x="0" y="0"/>
              <a:ext cx="1550619" cy="502716"/>
            </a:xfrm>
            <a:prstGeom prst="rect">
              <a:avLst/>
            </a:prstGeom>
          </p:spPr>
          <p:txBody>
            <a:bodyPr anchor="ctr" rtlCol="false" tIns="50800" lIns="50800" bIns="50800" rIns="50800"/>
            <a:lstStyle/>
            <a:p>
              <a:pPr algn="l">
                <a:lnSpc>
                  <a:spcPts val="1439"/>
                </a:lnSpc>
              </a:pPr>
              <a:r>
                <a:rPr lang="en-US" sz="1200">
                  <a:solidFill>
                    <a:srgbClr val="9CA3AF"/>
                  </a:solidFill>
                  <a:latin typeface="Manrope"/>
                  <a:ea typeface="Manrope"/>
                  <a:cs typeface="Manrope"/>
                  <a:sym typeface="Manrope"/>
                </a:rPr>
                <a:t>Large</a:t>
              </a:r>
            </a:p>
          </p:txBody>
        </p:sp>
      </p:grpSp>
      <p:grpSp>
        <p:nvGrpSpPr>
          <p:cNvPr name="Group 59" id="59"/>
          <p:cNvGrpSpPr/>
          <p:nvPr/>
        </p:nvGrpSpPr>
        <p:grpSpPr>
          <a:xfrm rot="0">
            <a:off x="7023964" y="3929634"/>
            <a:ext cx="4413809" cy="332327"/>
            <a:chOff x="0" y="0"/>
            <a:chExt cx="5885078" cy="443103"/>
          </a:xfrm>
        </p:grpSpPr>
        <p:sp>
          <p:nvSpPr>
            <p:cNvPr name="Freeform 60" id="60"/>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3596" r="0" b="-203983"/>
              </a:stretch>
            </a:blipFill>
          </p:spPr>
          <p:txBody>
            <a:bodyPr/>
            <a:p/>
          </p:txBody>
        </p:sp>
        <p:sp>
          <p:nvSpPr>
            <p:cNvPr name="TextBox 61" id="61"/>
            <p:cNvSpPr txBox="true"/>
            <p:nvPr/>
          </p:nvSpPr>
          <p:spPr>
            <a:xfrm>
              <a:off x="0" y="-9525"/>
              <a:ext cx="5885078"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L'Anti-Âge Global</a:t>
              </a:r>
            </a:p>
          </p:txBody>
        </p:sp>
      </p:grpSp>
      <p:grpSp>
        <p:nvGrpSpPr>
          <p:cNvPr name="Group 62" id="62"/>
          <p:cNvGrpSpPr/>
          <p:nvPr/>
        </p:nvGrpSpPr>
        <p:grpSpPr>
          <a:xfrm rot="0">
            <a:off x="7023964" y="4571543"/>
            <a:ext cx="4530395" cy="1388154"/>
            <a:chOff x="0" y="0"/>
            <a:chExt cx="6040526" cy="1850873"/>
          </a:xfrm>
        </p:grpSpPr>
        <p:sp>
          <p:nvSpPr>
            <p:cNvPr name="Freeform 63" id="63"/>
            <p:cNvSpPr/>
            <p:nvPr/>
          </p:nvSpPr>
          <p:spPr>
            <a:xfrm flipH="false" flipV="false" rot="0">
              <a:off x="0" y="0"/>
              <a:ext cx="6040526" cy="1850873"/>
            </a:xfrm>
            <a:custGeom>
              <a:avLst/>
              <a:gdLst/>
              <a:ahLst/>
              <a:cxnLst/>
              <a:rect r="r" b="b" t="t" l="l"/>
              <a:pathLst>
                <a:path h="1850873" w="6040526">
                  <a:moveTo>
                    <a:pt x="0" y="0"/>
                  </a:moveTo>
                  <a:lnTo>
                    <a:pt x="6040526" y="0"/>
                  </a:lnTo>
                  <a:lnTo>
                    <a:pt x="6040526" y="1850873"/>
                  </a:lnTo>
                  <a:lnTo>
                    <a:pt x="0" y="1850873"/>
                  </a:lnTo>
                  <a:close/>
                </a:path>
              </a:pathLst>
            </a:custGeom>
            <a:blipFill>
              <a:blip r:embed="rId5">
                <a:alphaModFix amt="0"/>
              </a:blip>
              <a:stretch>
                <a:fillRect l="0" t="-34739" r="0" b="7556"/>
              </a:stretch>
            </a:blipFill>
          </p:spPr>
          <p:txBody>
            <a:bodyPr/>
            <a:p/>
          </p:txBody>
        </p:sp>
        <p:sp>
          <p:nvSpPr>
            <p:cNvPr name="TextBox 64" id="64"/>
            <p:cNvSpPr txBox="true"/>
            <p:nvPr/>
          </p:nvSpPr>
          <p:spPr>
            <a:xfrm>
              <a:off x="0" y="0"/>
              <a:ext cx="6040526" cy="1850873"/>
            </a:xfrm>
            <a:prstGeom prst="rect">
              <a:avLst/>
            </a:prstGeom>
          </p:spPr>
          <p:txBody>
            <a:bodyPr anchor="ctr" rtlCol="false" tIns="0" lIns="0" bIns="0" rIns="0"/>
            <a:lstStyle/>
            <a:p>
              <a:pPr algn="l">
                <a:lnSpc>
                  <a:spcPts val="7559"/>
                </a:lnSpc>
              </a:pPr>
              <a:r>
                <a:rPr lang="en-US" b="true" sz="6300" spc="-225">
                  <a:solidFill>
                    <a:srgbClr val="FFFFFF"/>
                  </a:solidFill>
                  <a:latin typeface="Manrope Bold"/>
                  <a:ea typeface="Manrope Bold"/>
                  <a:cs typeface="Manrope Bold"/>
                  <a:sym typeface="Manrope Bold"/>
                </a:rPr>
                <a:t>80 Md$</a:t>
              </a:r>
            </a:p>
          </p:txBody>
        </p:sp>
      </p:grpSp>
      <p:grpSp>
        <p:nvGrpSpPr>
          <p:cNvPr name="Group 65" id="65"/>
          <p:cNvGrpSpPr/>
          <p:nvPr/>
        </p:nvGrpSpPr>
        <p:grpSpPr>
          <a:xfrm rot="0">
            <a:off x="7023964" y="5606396"/>
            <a:ext cx="4611319" cy="332327"/>
            <a:chOff x="0" y="0"/>
            <a:chExt cx="6148426" cy="443103"/>
          </a:xfrm>
        </p:grpSpPr>
        <p:sp>
          <p:nvSpPr>
            <p:cNvPr name="Freeform 66" id="66"/>
            <p:cNvSpPr/>
            <p:nvPr/>
          </p:nvSpPr>
          <p:spPr>
            <a:xfrm flipH="false" flipV="false" rot="0">
              <a:off x="0" y="0"/>
              <a:ext cx="6148426" cy="443104"/>
            </a:xfrm>
            <a:custGeom>
              <a:avLst/>
              <a:gdLst/>
              <a:ahLst/>
              <a:cxnLst/>
              <a:rect r="r" b="b" t="t" l="l"/>
              <a:pathLst>
                <a:path h="443104" w="6148426">
                  <a:moveTo>
                    <a:pt x="0" y="0"/>
                  </a:moveTo>
                  <a:lnTo>
                    <a:pt x="6148426" y="0"/>
                  </a:lnTo>
                  <a:lnTo>
                    <a:pt x="6148426" y="443104"/>
                  </a:lnTo>
                  <a:lnTo>
                    <a:pt x="0" y="443104"/>
                  </a:lnTo>
                  <a:close/>
                </a:path>
              </a:pathLst>
            </a:custGeom>
            <a:blipFill>
              <a:blip r:embed="rId5">
                <a:alphaModFix amt="0"/>
              </a:blip>
              <a:stretch>
                <a:fillRect l="0" t="-227240" r="0" b="-213500"/>
              </a:stretch>
            </a:blipFill>
          </p:spPr>
          <p:txBody>
            <a:bodyPr/>
            <a:p/>
          </p:txBody>
        </p:sp>
        <p:sp>
          <p:nvSpPr>
            <p:cNvPr name="TextBox 67" id="67"/>
            <p:cNvSpPr txBox="true"/>
            <p:nvPr/>
          </p:nvSpPr>
          <p:spPr>
            <a:xfrm>
              <a:off x="0" y="-9525"/>
              <a:ext cx="6148426"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84 Md$ attendus en 2026</a:t>
              </a:r>
            </a:p>
          </p:txBody>
        </p:sp>
      </p:grpSp>
      <p:grpSp>
        <p:nvGrpSpPr>
          <p:cNvPr name="Group 68" id="68"/>
          <p:cNvGrpSpPr/>
          <p:nvPr/>
        </p:nvGrpSpPr>
        <p:grpSpPr>
          <a:xfrm rot="0">
            <a:off x="7023964" y="6414973"/>
            <a:ext cx="4238244" cy="13716"/>
            <a:chOff x="0" y="0"/>
            <a:chExt cx="5650992" cy="18288"/>
          </a:xfrm>
        </p:grpSpPr>
        <p:sp>
          <p:nvSpPr>
            <p:cNvPr name="Freeform 69" id="69" descr="preencoded.png"/>
            <p:cNvSpPr/>
            <p:nvPr/>
          </p:nvSpPr>
          <p:spPr>
            <a:xfrm flipH="false" flipV="false" rot="0">
              <a:off x="0" y="0"/>
              <a:ext cx="5650992" cy="18288"/>
            </a:xfrm>
            <a:custGeom>
              <a:avLst/>
              <a:gdLst/>
              <a:ahLst/>
              <a:cxnLst/>
              <a:rect r="r" b="b" t="t" l="l"/>
              <a:pathLst>
                <a:path h="18288" w="5650992">
                  <a:moveTo>
                    <a:pt x="0" y="0"/>
                  </a:moveTo>
                  <a:lnTo>
                    <a:pt x="5650992" y="0"/>
                  </a:lnTo>
                  <a:lnTo>
                    <a:pt x="5650992" y="18288"/>
                  </a:lnTo>
                  <a:lnTo>
                    <a:pt x="0" y="18288"/>
                  </a:lnTo>
                  <a:lnTo>
                    <a:pt x="0" y="0"/>
                  </a:lnTo>
                  <a:close/>
                </a:path>
              </a:pathLst>
            </a:custGeom>
            <a:blipFill>
              <a:blip r:embed="rId7"/>
              <a:stretch>
                <a:fillRect l="1995" t="0" r="1995" b="0"/>
              </a:stretch>
            </a:blipFill>
          </p:spPr>
          <p:txBody>
            <a:bodyPr/>
            <a:p/>
          </p:txBody>
        </p:sp>
      </p:grpSp>
      <p:grpSp>
        <p:nvGrpSpPr>
          <p:cNvPr name="Group 70" id="70"/>
          <p:cNvGrpSpPr/>
          <p:nvPr/>
        </p:nvGrpSpPr>
        <p:grpSpPr>
          <a:xfrm rot="0">
            <a:off x="7014439" y="6705829"/>
            <a:ext cx="4262780" cy="1248004"/>
            <a:chOff x="0" y="0"/>
            <a:chExt cx="5683707" cy="1664005"/>
          </a:xfrm>
        </p:grpSpPr>
        <p:sp>
          <p:nvSpPr>
            <p:cNvPr name="Freeform 71" id="71"/>
            <p:cNvSpPr/>
            <p:nvPr/>
          </p:nvSpPr>
          <p:spPr>
            <a:xfrm flipH="false" flipV="false" rot="0">
              <a:off x="0" y="0"/>
              <a:ext cx="5683631" cy="1664081"/>
            </a:xfrm>
            <a:custGeom>
              <a:avLst/>
              <a:gdLst/>
              <a:ahLst/>
              <a:cxnLst/>
              <a:rect r="r" b="b" t="t" l="l"/>
              <a:pathLst>
                <a:path h="1664081" w="5683631">
                  <a:moveTo>
                    <a:pt x="0" y="182880"/>
                  </a:moveTo>
                  <a:cubicBezTo>
                    <a:pt x="0" y="81661"/>
                    <a:pt x="82804" y="0"/>
                    <a:pt x="184658" y="0"/>
                  </a:cubicBezTo>
                  <a:lnTo>
                    <a:pt x="5498973" y="0"/>
                  </a:lnTo>
                  <a:lnTo>
                    <a:pt x="5498973" y="12700"/>
                  </a:lnTo>
                  <a:lnTo>
                    <a:pt x="5498973" y="0"/>
                  </a:lnTo>
                  <a:cubicBezTo>
                    <a:pt x="5600827" y="0"/>
                    <a:pt x="5683631" y="81661"/>
                    <a:pt x="5683631" y="182880"/>
                  </a:cubicBezTo>
                  <a:lnTo>
                    <a:pt x="5670931" y="182880"/>
                  </a:lnTo>
                  <a:lnTo>
                    <a:pt x="5683631" y="182880"/>
                  </a:lnTo>
                  <a:lnTo>
                    <a:pt x="5683631" y="1481201"/>
                  </a:lnTo>
                  <a:lnTo>
                    <a:pt x="5670931" y="1481201"/>
                  </a:lnTo>
                  <a:lnTo>
                    <a:pt x="5683631" y="1481201"/>
                  </a:lnTo>
                  <a:cubicBezTo>
                    <a:pt x="5683631" y="1582293"/>
                    <a:pt x="5600827" y="1664081"/>
                    <a:pt x="5498973" y="1664081"/>
                  </a:cubicBezTo>
                  <a:lnTo>
                    <a:pt x="5498973" y="1651381"/>
                  </a:lnTo>
                  <a:lnTo>
                    <a:pt x="5498973" y="1664081"/>
                  </a:lnTo>
                  <a:lnTo>
                    <a:pt x="184658" y="1664081"/>
                  </a:lnTo>
                  <a:lnTo>
                    <a:pt x="184658" y="1651381"/>
                  </a:lnTo>
                  <a:lnTo>
                    <a:pt x="184658" y="1664081"/>
                  </a:lnTo>
                  <a:cubicBezTo>
                    <a:pt x="82804" y="1663954"/>
                    <a:pt x="0" y="1582293"/>
                    <a:pt x="0" y="1481201"/>
                  </a:cubicBezTo>
                  <a:lnTo>
                    <a:pt x="0" y="182880"/>
                  </a:lnTo>
                  <a:lnTo>
                    <a:pt x="12700" y="182880"/>
                  </a:lnTo>
                  <a:lnTo>
                    <a:pt x="0" y="182880"/>
                  </a:lnTo>
                  <a:moveTo>
                    <a:pt x="25400" y="182880"/>
                  </a:moveTo>
                  <a:lnTo>
                    <a:pt x="25400" y="1481201"/>
                  </a:lnTo>
                  <a:lnTo>
                    <a:pt x="12700" y="1481201"/>
                  </a:lnTo>
                  <a:lnTo>
                    <a:pt x="25400" y="1481201"/>
                  </a:lnTo>
                  <a:cubicBezTo>
                    <a:pt x="25400" y="1568069"/>
                    <a:pt x="96520" y="1638681"/>
                    <a:pt x="184658" y="1638681"/>
                  </a:cubicBezTo>
                  <a:lnTo>
                    <a:pt x="5498973" y="1638681"/>
                  </a:lnTo>
                  <a:cubicBezTo>
                    <a:pt x="5587111" y="1638681"/>
                    <a:pt x="5658231" y="1568069"/>
                    <a:pt x="5658231" y="1481201"/>
                  </a:cubicBezTo>
                  <a:lnTo>
                    <a:pt x="5658231" y="182880"/>
                  </a:lnTo>
                  <a:cubicBezTo>
                    <a:pt x="5658231" y="96012"/>
                    <a:pt x="5587111" y="25400"/>
                    <a:pt x="5498973" y="25400"/>
                  </a:cubicBezTo>
                  <a:lnTo>
                    <a:pt x="184658" y="25400"/>
                  </a:lnTo>
                  <a:lnTo>
                    <a:pt x="184658" y="12700"/>
                  </a:lnTo>
                  <a:lnTo>
                    <a:pt x="184658" y="25400"/>
                  </a:lnTo>
                  <a:cubicBezTo>
                    <a:pt x="96520" y="25400"/>
                    <a:pt x="25400" y="96012"/>
                    <a:pt x="25400" y="182880"/>
                  </a:cubicBezTo>
                  <a:close/>
                </a:path>
              </a:pathLst>
            </a:custGeom>
            <a:solidFill>
              <a:srgbClr val="E5E7EB"/>
            </a:solidFill>
          </p:spPr>
          <p:txBody>
            <a:bodyPr/>
            <a:p/>
          </p:txBody>
        </p:sp>
      </p:grpSp>
      <p:grpSp>
        <p:nvGrpSpPr>
          <p:cNvPr name="Group 72" id="72"/>
          <p:cNvGrpSpPr/>
          <p:nvPr/>
        </p:nvGrpSpPr>
        <p:grpSpPr>
          <a:xfrm rot="0">
            <a:off x="7473848" y="6900520"/>
            <a:ext cx="3763670" cy="293380"/>
            <a:chOff x="0" y="0"/>
            <a:chExt cx="5018227" cy="391173"/>
          </a:xfrm>
        </p:grpSpPr>
        <p:sp>
          <p:nvSpPr>
            <p:cNvPr name="Freeform 73" id="73"/>
            <p:cNvSpPr/>
            <p:nvPr/>
          </p:nvSpPr>
          <p:spPr>
            <a:xfrm flipH="false" flipV="false" rot="0">
              <a:off x="0" y="0"/>
              <a:ext cx="5018228" cy="391173"/>
            </a:xfrm>
            <a:custGeom>
              <a:avLst/>
              <a:gdLst/>
              <a:ahLst/>
              <a:cxnLst/>
              <a:rect r="r" b="b" t="t" l="l"/>
              <a:pathLst>
                <a:path h="391173" w="5018228">
                  <a:moveTo>
                    <a:pt x="0" y="0"/>
                  </a:moveTo>
                  <a:lnTo>
                    <a:pt x="5018228" y="0"/>
                  </a:lnTo>
                  <a:lnTo>
                    <a:pt x="5018228" y="391173"/>
                  </a:lnTo>
                  <a:lnTo>
                    <a:pt x="0" y="391173"/>
                  </a:lnTo>
                  <a:close/>
                </a:path>
              </a:pathLst>
            </a:custGeom>
            <a:blipFill>
              <a:blip r:embed="rId5">
                <a:alphaModFix amt="0"/>
              </a:blip>
              <a:stretch>
                <a:fillRect l="0" t="-210929" r="0" b="-189004"/>
              </a:stretch>
            </a:blipFill>
          </p:spPr>
          <p:txBody>
            <a:bodyPr/>
            <a:p/>
          </p:txBody>
        </p:sp>
        <p:sp>
          <p:nvSpPr>
            <p:cNvPr name="TextBox 74" id="74"/>
            <p:cNvSpPr txBox="true"/>
            <p:nvPr/>
          </p:nvSpPr>
          <p:spPr>
            <a:xfrm>
              <a:off x="0" y="0"/>
              <a:ext cx="5018227" cy="391173"/>
            </a:xfrm>
            <a:prstGeom prst="rect">
              <a:avLst/>
            </a:prstGeom>
          </p:spPr>
          <p:txBody>
            <a:bodyPr anchor="ctr" rtlCol="false" tIns="0" lIns="0" bIns="0" rIns="0"/>
            <a:lstStyle/>
            <a:p>
              <a:pPr algn="l">
                <a:lnSpc>
                  <a:spcPts val="1620"/>
                </a:lnSpc>
              </a:pPr>
              <a:r>
                <a:rPr lang="en-US" sz="1350" b="true">
                  <a:solidFill>
                    <a:srgbClr val="F87171"/>
                  </a:solidFill>
                  <a:latin typeface="Manrope Bold"/>
                  <a:ea typeface="Manrope Bold"/>
                  <a:cs typeface="Manrope Bold"/>
                  <a:sym typeface="Manrope Bold"/>
                </a:rPr>
                <a:t> Le Basculement</a:t>
              </a:r>
            </a:p>
          </p:txBody>
        </p:sp>
      </p:grpSp>
      <p:grpSp>
        <p:nvGrpSpPr>
          <p:cNvPr name="Group 75" id="75"/>
          <p:cNvGrpSpPr/>
          <p:nvPr/>
        </p:nvGrpSpPr>
        <p:grpSpPr>
          <a:xfrm rot="0">
            <a:off x="7210501" y="6922465"/>
            <a:ext cx="171450" cy="171450"/>
            <a:chOff x="0" y="0"/>
            <a:chExt cx="228600" cy="228600"/>
          </a:xfrm>
        </p:grpSpPr>
        <p:sp>
          <p:nvSpPr>
            <p:cNvPr name="Freeform 76" id="76" descr="preencoded.png"/>
            <p:cNvSpPr/>
            <p:nvPr/>
          </p:nvSpPr>
          <p:spPr>
            <a:xfrm flipH="false" flipV="false" rot="0">
              <a:off x="0" y="0"/>
              <a:ext cx="228600" cy="228600"/>
            </a:xfrm>
            <a:custGeom>
              <a:avLst/>
              <a:gdLst/>
              <a:ahLst/>
              <a:cxnLst/>
              <a:rect r="r" b="b" t="t" l="l"/>
              <a:pathLst>
                <a:path h="228600" w="228600">
                  <a:moveTo>
                    <a:pt x="0" y="0"/>
                  </a:moveTo>
                  <a:lnTo>
                    <a:pt x="228600" y="0"/>
                  </a:lnTo>
                  <a:lnTo>
                    <a:pt x="228600" y="228600"/>
                  </a:lnTo>
                  <a:lnTo>
                    <a:pt x="0" y="228600"/>
                  </a:lnTo>
                  <a:lnTo>
                    <a:pt x="0" y="0"/>
                  </a:lnTo>
                  <a:close/>
                </a:path>
              </a:pathLst>
            </a:custGeom>
            <a:blipFill>
              <a:blip r:embed="rId9"/>
              <a:stretch>
                <a:fillRect l="0" t="0" r="0" b="0"/>
              </a:stretch>
            </a:blipFill>
          </p:spPr>
          <p:txBody>
            <a:bodyPr/>
            <a:p/>
          </p:txBody>
        </p:sp>
      </p:grpSp>
      <p:grpSp>
        <p:nvGrpSpPr>
          <p:cNvPr name="Group 77" id="77"/>
          <p:cNvGrpSpPr/>
          <p:nvPr/>
        </p:nvGrpSpPr>
        <p:grpSpPr>
          <a:xfrm rot="0">
            <a:off x="7210501" y="7187184"/>
            <a:ext cx="3987241" cy="571958"/>
            <a:chOff x="0" y="0"/>
            <a:chExt cx="5316322" cy="762610"/>
          </a:xfrm>
        </p:grpSpPr>
        <p:sp>
          <p:nvSpPr>
            <p:cNvPr name="Freeform 78" id="78"/>
            <p:cNvSpPr/>
            <p:nvPr/>
          </p:nvSpPr>
          <p:spPr>
            <a:xfrm flipH="false" flipV="false" rot="0">
              <a:off x="0" y="0"/>
              <a:ext cx="5316322" cy="762610"/>
            </a:xfrm>
            <a:custGeom>
              <a:avLst/>
              <a:gdLst/>
              <a:ahLst/>
              <a:cxnLst/>
              <a:rect r="r" b="b" t="t" l="l"/>
              <a:pathLst>
                <a:path h="762610" w="5316322">
                  <a:moveTo>
                    <a:pt x="0" y="0"/>
                  </a:moveTo>
                  <a:lnTo>
                    <a:pt x="5316322" y="0"/>
                  </a:lnTo>
                  <a:lnTo>
                    <a:pt x="5316322" y="762610"/>
                  </a:lnTo>
                  <a:lnTo>
                    <a:pt x="0" y="762610"/>
                  </a:lnTo>
                  <a:close/>
                </a:path>
              </a:pathLst>
            </a:custGeom>
            <a:blipFill>
              <a:blip r:embed="rId5">
                <a:alphaModFix amt="0"/>
              </a:blip>
              <a:stretch>
                <a:fillRect l="0" t="-85834" r="0" b="-85834"/>
              </a:stretch>
            </a:blipFill>
          </p:spPr>
          <p:txBody>
            <a:bodyPr/>
            <a:p/>
          </p:txBody>
        </p:sp>
        <p:sp>
          <p:nvSpPr>
            <p:cNvPr name="TextBox 79" id="79"/>
            <p:cNvSpPr txBox="true"/>
            <p:nvPr/>
          </p:nvSpPr>
          <p:spPr>
            <a:xfrm>
              <a:off x="0" y="-9525"/>
              <a:ext cx="5316322" cy="772135"/>
            </a:xfrm>
            <a:prstGeom prst="rect">
              <a:avLst/>
            </a:prstGeom>
          </p:spPr>
          <p:txBody>
            <a:bodyPr anchor="ctr" rtlCol="false" tIns="0" lIns="0" bIns="0" rIns="0"/>
            <a:lstStyle/>
            <a:p>
              <a:pPr algn="l">
                <a:lnSpc>
                  <a:spcPts val="1800"/>
                </a:lnSpc>
              </a:pPr>
              <a:r>
                <a:rPr lang="en-US" sz="1500">
                  <a:solidFill>
                    <a:srgbClr val="D1D5DB"/>
                  </a:solidFill>
                  <a:latin typeface="Manrope"/>
                  <a:ea typeface="Manrope"/>
                  <a:cs typeface="Manrope"/>
                  <a:sym typeface="Manrope"/>
                </a:rPr>
                <a:t>Estée Lauder s'associe à Serpin Pharma : la frontière entre cosmétique et biologie a déjà bougé.</a:t>
              </a:r>
            </a:p>
          </p:txBody>
        </p:sp>
      </p:grpSp>
      <p:grpSp>
        <p:nvGrpSpPr>
          <p:cNvPr name="Group 80" id="80"/>
          <p:cNvGrpSpPr/>
          <p:nvPr/>
        </p:nvGrpSpPr>
        <p:grpSpPr>
          <a:xfrm rot="0">
            <a:off x="12182627" y="2747391"/>
            <a:ext cx="5205070" cy="5676900"/>
            <a:chOff x="0" y="0"/>
            <a:chExt cx="6940093" cy="7569200"/>
          </a:xfrm>
        </p:grpSpPr>
        <p:sp>
          <p:nvSpPr>
            <p:cNvPr name="Freeform 81" id="81"/>
            <p:cNvSpPr/>
            <p:nvPr/>
          </p:nvSpPr>
          <p:spPr>
            <a:xfrm flipH="false" flipV="false" rot="0">
              <a:off x="12700" y="12700"/>
              <a:ext cx="6914642" cy="7543800"/>
            </a:xfrm>
            <a:custGeom>
              <a:avLst/>
              <a:gdLst/>
              <a:ahLst/>
              <a:cxnLst/>
              <a:rect r="r" b="b" t="t" l="l"/>
              <a:pathLst>
                <a:path h="7543800" w="6914642">
                  <a:moveTo>
                    <a:pt x="0" y="0"/>
                  </a:moveTo>
                  <a:lnTo>
                    <a:pt x="6914642" y="0"/>
                  </a:lnTo>
                  <a:lnTo>
                    <a:pt x="6914642" y="7543800"/>
                  </a:lnTo>
                  <a:lnTo>
                    <a:pt x="0" y="7543800"/>
                  </a:lnTo>
                  <a:close/>
                </a:path>
              </a:pathLst>
            </a:custGeom>
            <a:solidFill>
              <a:srgbClr val="1E1E24">
                <a:alpha val="15686"/>
              </a:srgbClr>
            </a:solidFill>
          </p:spPr>
          <p:txBody>
            <a:bodyPr/>
            <a:p/>
          </p:txBody>
        </p:sp>
        <p:sp>
          <p:nvSpPr>
            <p:cNvPr name="Freeform 82" id="82"/>
            <p:cNvSpPr/>
            <p:nvPr/>
          </p:nvSpPr>
          <p:spPr>
            <a:xfrm flipH="false" flipV="false" rot="0">
              <a:off x="0" y="0"/>
              <a:ext cx="6940042" cy="7569200"/>
            </a:xfrm>
            <a:custGeom>
              <a:avLst/>
              <a:gdLst/>
              <a:ahLst/>
              <a:cxnLst/>
              <a:rect r="r" b="b" t="t" l="l"/>
              <a:pathLst>
                <a:path h="7569200" w="6940042">
                  <a:moveTo>
                    <a:pt x="12700" y="0"/>
                  </a:moveTo>
                  <a:lnTo>
                    <a:pt x="6927342" y="0"/>
                  </a:lnTo>
                  <a:cubicBezTo>
                    <a:pt x="6934327" y="0"/>
                    <a:pt x="6940042" y="5715"/>
                    <a:pt x="6940042" y="12700"/>
                  </a:cubicBezTo>
                  <a:lnTo>
                    <a:pt x="6940042" y="7556500"/>
                  </a:lnTo>
                  <a:cubicBezTo>
                    <a:pt x="6940042" y="7563485"/>
                    <a:pt x="6934327" y="7569200"/>
                    <a:pt x="6927342" y="7569200"/>
                  </a:cubicBezTo>
                  <a:lnTo>
                    <a:pt x="12700" y="7569200"/>
                  </a:lnTo>
                  <a:cubicBezTo>
                    <a:pt x="5715" y="7569200"/>
                    <a:pt x="0" y="7563485"/>
                    <a:pt x="0" y="7556500"/>
                  </a:cubicBezTo>
                  <a:lnTo>
                    <a:pt x="0" y="12700"/>
                  </a:lnTo>
                  <a:cubicBezTo>
                    <a:pt x="0" y="5715"/>
                    <a:pt x="5715" y="0"/>
                    <a:pt x="12700" y="0"/>
                  </a:cubicBezTo>
                  <a:moveTo>
                    <a:pt x="12700" y="25400"/>
                  </a:moveTo>
                  <a:lnTo>
                    <a:pt x="12700" y="12700"/>
                  </a:lnTo>
                  <a:lnTo>
                    <a:pt x="25400" y="12700"/>
                  </a:lnTo>
                  <a:lnTo>
                    <a:pt x="25400" y="7556500"/>
                  </a:lnTo>
                  <a:lnTo>
                    <a:pt x="12700" y="7556500"/>
                  </a:lnTo>
                  <a:lnTo>
                    <a:pt x="12700" y="7543800"/>
                  </a:lnTo>
                  <a:lnTo>
                    <a:pt x="6927342" y="7543800"/>
                  </a:lnTo>
                  <a:lnTo>
                    <a:pt x="6927342" y="7556500"/>
                  </a:lnTo>
                  <a:lnTo>
                    <a:pt x="6914642" y="7556500"/>
                  </a:lnTo>
                  <a:lnTo>
                    <a:pt x="6914642" y="12700"/>
                  </a:lnTo>
                  <a:lnTo>
                    <a:pt x="6927342" y="12700"/>
                  </a:lnTo>
                  <a:lnTo>
                    <a:pt x="6927342" y="25400"/>
                  </a:lnTo>
                  <a:lnTo>
                    <a:pt x="12700" y="25400"/>
                  </a:lnTo>
                  <a:close/>
                </a:path>
              </a:pathLst>
            </a:custGeom>
            <a:solidFill>
              <a:srgbClr val="40424D"/>
            </a:solidFill>
          </p:spPr>
          <p:txBody>
            <a:bodyPr/>
            <a:p/>
          </p:txBody>
        </p:sp>
      </p:grpSp>
      <p:grpSp>
        <p:nvGrpSpPr>
          <p:cNvPr name="Group 83" id="83"/>
          <p:cNvGrpSpPr/>
          <p:nvPr/>
        </p:nvGrpSpPr>
        <p:grpSpPr>
          <a:xfrm rot="0">
            <a:off x="12182627" y="2747391"/>
            <a:ext cx="5172151" cy="47854"/>
            <a:chOff x="0" y="0"/>
            <a:chExt cx="6896202" cy="63805"/>
          </a:xfrm>
        </p:grpSpPr>
        <p:sp>
          <p:nvSpPr>
            <p:cNvPr name="Freeform 84" id="84"/>
            <p:cNvSpPr/>
            <p:nvPr/>
          </p:nvSpPr>
          <p:spPr>
            <a:xfrm flipH="false" flipV="false" rot="0">
              <a:off x="12700" y="12700"/>
              <a:ext cx="6870827" cy="38354"/>
            </a:xfrm>
            <a:custGeom>
              <a:avLst/>
              <a:gdLst/>
              <a:ahLst/>
              <a:cxnLst/>
              <a:rect r="r" b="b" t="t" l="l"/>
              <a:pathLst>
                <a:path h="38354" w="6870827">
                  <a:moveTo>
                    <a:pt x="0" y="0"/>
                  </a:moveTo>
                  <a:lnTo>
                    <a:pt x="6870827" y="0"/>
                  </a:lnTo>
                  <a:lnTo>
                    <a:pt x="6870827" y="38354"/>
                  </a:lnTo>
                  <a:lnTo>
                    <a:pt x="0" y="38354"/>
                  </a:lnTo>
                  <a:close/>
                </a:path>
              </a:pathLst>
            </a:custGeom>
            <a:solidFill>
              <a:srgbClr val="40424D"/>
            </a:solidFill>
          </p:spPr>
          <p:txBody>
            <a:bodyPr/>
            <a:p/>
          </p:txBody>
        </p:sp>
      </p:grpSp>
      <p:grpSp>
        <p:nvGrpSpPr>
          <p:cNvPr name="Group 85" id="85"/>
          <p:cNvGrpSpPr/>
          <p:nvPr/>
        </p:nvGrpSpPr>
        <p:grpSpPr>
          <a:xfrm rot="0">
            <a:off x="12663983" y="3228746"/>
            <a:ext cx="429311" cy="456743"/>
            <a:chOff x="0" y="0"/>
            <a:chExt cx="572414" cy="608990"/>
          </a:xfrm>
        </p:grpSpPr>
        <p:sp>
          <p:nvSpPr>
            <p:cNvPr name="Freeform 86" id="86" descr="preencoded.png"/>
            <p:cNvSpPr/>
            <p:nvPr/>
          </p:nvSpPr>
          <p:spPr>
            <a:xfrm flipH="false" flipV="false" rot="0">
              <a:off x="0" y="0"/>
              <a:ext cx="572389" cy="608965"/>
            </a:xfrm>
            <a:custGeom>
              <a:avLst/>
              <a:gdLst/>
              <a:ahLst/>
              <a:cxnLst/>
              <a:rect r="r" b="b" t="t" l="l"/>
              <a:pathLst>
                <a:path h="608965" w="572389">
                  <a:moveTo>
                    <a:pt x="0" y="0"/>
                  </a:moveTo>
                  <a:lnTo>
                    <a:pt x="572389" y="0"/>
                  </a:lnTo>
                  <a:lnTo>
                    <a:pt x="572389" y="608965"/>
                  </a:lnTo>
                  <a:lnTo>
                    <a:pt x="0" y="608965"/>
                  </a:lnTo>
                  <a:lnTo>
                    <a:pt x="0" y="0"/>
                  </a:lnTo>
                  <a:close/>
                </a:path>
              </a:pathLst>
            </a:custGeom>
            <a:blipFill>
              <a:blip r:embed="rId10"/>
              <a:stretch>
                <a:fillRect l="0" t="12402" r="-4" b="12398"/>
              </a:stretch>
            </a:blipFill>
          </p:spPr>
          <p:txBody>
            <a:bodyPr/>
            <a:p/>
          </p:txBody>
        </p:sp>
      </p:grpSp>
      <p:grpSp>
        <p:nvGrpSpPr>
          <p:cNvPr name="Group 87" id="87"/>
          <p:cNvGrpSpPr/>
          <p:nvPr/>
        </p:nvGrpSpPr>
        <p:grpSpPr>
          <a:xfrm rot="0">
            <a:off x="16360521" y="3269971"/>
            <a:ext cx="648614" cy="377037"/>
            <a:chOff x="0" y="0"/>
            <a:chExt cx="864819" cy="502716"/>
          </a:xfrm>
        </p:grpSpPr>
        <p:sp>
          <p:nvSpPr>
            <p:cNvPr name="Freeform 88" id="88"/>
            <p:cNvSpPr/>
            <p:nvPr/>
          </p:nvSpPr>
          <p:spPr>
            <a:xfrm flipH="false" flipV="false" rot="0">
              <a:off x="0" y="0"/>
              <a:ext cx="864870" cy="502665"/>
            </a:xfrm>
            <a:custGeom>
              <a:avLst/>
              <a:gdLst/>
              <a:ahLst/>
              <a:cxnLst/>
              <a:rect r="r" b="b" t="t" l="l"/>
              <a:pathLst>
                <a:path h="502665" w="864870">
                  <a:moveTo>
                    <a:pt x="12700" y="0"/>
                  </a:moveTo>
                  <a:lnTo>
                    <a:pt x="852170" y="0"/>
                  </a:lnTo>
                  <a:cubicBezTo>
                    <a:pt x="859155" y="0"/>
                    <a:pt x="864870" y="5715"/>
                    <a:pt x="864870" y="12700"/>
                  </a:cubicBezTo>
                  <a:lnTo>
                    <a:pt x="864870" y="489965"/>
                  </a:lnTo>
                  <a:cubicBezTo>
                    <a:pt x="864870" y="496950"/>
                    <a:pt x="859155" y="502665"/>
                    <a:pt x="852170" y="502665"/>
                  </a:cubicBezTo>
                  <a:lnTo>
                    <a:pt x="12700" y="502665"/>
                  </a:lnTo>
                  <a:cubicBezTo>
                    <a:pt x="5715" y="502665"/>
                    <a:pt x="0" y="496950"/>
                    <a:pt x="0" y="489965"/>
                  </a:cubicBezTo>
                  <a:lnTo>
                    <a:pt x="0" y="12700"/>
                  </a:lnTo>
                  <a:cubicBezTo>
                    <a:pt x="0" y="5715"/>
                    <a:pt x="5715" y="0"/>
                    <a:pt x="12700" y="0"/>
                  </a:cubicBezTo>
                  <a:moveTo>
                    <a:pt x="12700" y="25400"/>
                  </a:moveTo>
                  <a:lnTo>
                    <a:pt x="12700" y="12700"/>
                  </a:lnTo>
                  <a:lnTo>
                    <a:pt x="25400" y="12700"/>
                  </a:lnTo>
                  <a:lnTo>
                    <a:pt x="25400" y="489965"/>
                  </a:lnTo>
                  <a:lnTo>
                    <a:pt x="12700" y="489965"/>
                  </a:lnTo>
                  <a:lnTo>
                    <a:pt x="12700" y="477265"/>
                  </a:lnTo>
                  <a:lnTo>
                    <a:pt x="852170" y="477265"/>
                  </a:lnTo>
                  <a:lnTo>
                    <a:pt x="852170" y="489965"/>
                  </a:lnTo>
                  <a:lnTo>
                    <a:pt x="839470" y="489965"/>
                  </a:lnTo>
                  <a:lnTo>
                    <a:pt x="839470" y="12700"/>
                  </a:lnTo>
                  <a:lnTo>
                    <a:pt x="852170" y="12700"/>
                  </a:lnTo>
                  <a:lnTo>
                    <a:pt x="852170" y="25400"/>
                  </a:lnTo>
                  <a:lnTo>
                    <a:pt x="12700" y="25400"/>
                  </a:lnTo>
                  <a:close/>
                </a:path>
              </a:pathLst>
            </a:custGeom>
            <a:solidFill>
              <a:srgbClr val="4B5563"/>
            </a:solidFill>
          </p:spPr>
          <p:txBody>
            <a:bodyPr/>
            <a:p/>
          </p:txBody>
        </p:sp>
        <p:sp>
          <p:nvSpPr>
            <p:cNvPr name="TextBox 89" id="89"/>
            <p:cNvSpPr txBox="true"/>
            <p:nvPr/>
          </p:nvSpPr>
          <p:spPr>
            <a:xfrm>
              <a:off x="0" y="0"/>
              <a:ext cx="864819" cy="502716"/>
            </a:xfrm>
            <a:prstGeom prst="rect">
              <a:avLst/>
            </a:prstGeom>
          </p:spPr>
          <p:txBody>
            <a:bodyPr anchor="ctr" rtlCol="false" tIns="50800" lIns="50800" bIns="50800" rIns="50800"/>
            <a:lstStyle/>
            <a:p>
              <a:pPr algn="l">
                <a:lnSpc>
                  <a:spcPts val="1439"/>
                </a:lnSpc>
              </a:pPr>
              <a:r>
                <a:rPr lang="en-US" sz="1200">
                  <a:solidFill>
                    <a:srgbClr val="9CA3AF"/>
                  </a:solidFill>
                  <a:latin typeface="Manrope"/>
                  <a:ea typeface="Manrope"/>
                  <a:cs typeface="Manrope"/>
                  <a:sym typeface="Manrope"/>
                </a:rPr>
                <a:t>Strict</a:t>
              </a:r>
            </a:p>
          </p:txBody>
        </p:sp>
      </p:grpSp>
      <p:grpSp>
        <p:nvGrpSpPr>
          <p:cNvPr name="Group 90" id="90"/>
          <p:cNvGrpSpPr/>
          <p:nvPr/>
        </p:nvGrpSpPr>
        <p:grpSpPr>
          <a:xfrm rot="0">
            <a:off x="12663983" y="4029761"/>
            <a:ext cx="4413809" cy="332327"/>
            <a:chOff x="0" y="0"/>
            <a:chExt cx="5885078" cy="443103"/>
          </a:xfrm>
        </p:grpSpPr>
        <p:sp>
          <p:nvSpPr>
            <p:cNvPr name="Freeform 91" id="91"/>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3596" r="0" b="-203983"/>
              </a:stretch>
            </a:blipFill>
          </p:spPr>
          <p:txBody>
            <a:bodyPr/>
            <a:p/>
          </p:txBody>
        </p:sp>
        <p:sp>
          <p:nvSpPr>
            <p:cNvPr name="TextBox 92" id="92"/>
            <p:cNvSpPr txBox="true"/>
            <p:nvPr/>
          </p:nvSpPr>
          <p:spPr>
            <a:xfrm>
              <a:off x="0" y="-9525"/>
              <a:ext cx="5885078" cy="452628"/>
            </a:xfrm>
            <a:prstGeom prst="rect">
              <a:avLst/>
            </a:prstGeom>
          </p:spPr>
          <p:txBody>
            <a:bodyPr anchor="ctr" rtlCol="false" tIns="0" lIns="0" bIns="0" rIns="0"/>
            <a:lstStyle/>
            <a:p>
              <a:pPr algn="l">
                <a:lnSpc>
                  <a:spcPts val="1800"/>
                </a:lnSpc>
              </a:pPr>
              <a:r>
                <a:rPr lang="en-US" sz="1500" spc="225">
                  <a:solidFill>
                    <a:srgbClr val="9DA2B3"/>
                  </a:solidFill>
                  <a:latin typeface="Manrope"/>
                  <a:ea typeface="Manrope"/>
                  <a:cs typeface="Manrope"/>
                  <a:sym typeface="Manrope"/>
                </a:rPr>
                <a:t>Les Produits Anti-Âge</a:t>
              </a:r>
            </a:p>
          </p:txBody>
        </p:sp>
      </p:grpSp>
      <p:grpSp>
        <p:nvGrpSpPr>
          <p:cNvPr name="Group 93" id="93"/>
          <p:cNvGrpSpPr/>
          <p:nvPr/>
        </p:nvGrpSpPr>
        <p:grpSpPr>
          <a:xfrm rot="0">
            <a:off x="12663983" y="4671670"/>
            <a:ext cx="4530395" cy="1388154"/>
            <a:chOff x="0" y="0"/>
            <a:chExt cx="6040526" cy="1850873"/>
          </a:xfrm>
        </p:grpSpPr>
        <p:sp>
          <p:nvSpPr>
            <p:cNvPr name="Freeform 94" id="94"/>
            <p:cNvSpPr/>
            <p:nvPr/>
          </p:nvSpPr>
          <p:spPr>
            <a:xfrm flipH="false" flipV="false" rot="0">
              <a:off x="0" y="0"/>
              <a:ext cx="6040526" cy="1850873"/>
            </a:xfrm>
            <a:custGeom>
              <a:avLst/>
              <a:gdLst/>
              <a:ahLst/>
              <a:cxnLst/>
              <a:rect r="r" b="b" t="t" l="l"/>
              <a:pathLst>
                <a:path h="1850873" w="6040526">
                  <a:moveTo>
                    <a:pt x="0" y="0"/>
                  </a:moveTo>
                  <a:lnTo>
                    <a:pt x="6040526" y="0"/>
                  </a:lnTo>
                  <a:lnTo>
                    <a:pt x="6040526" y="1850873"/>
                  </a:lnTo>
                  <a:lnTo>
                    <a:pt x="0" y="1850873"/>
                  </a:lnTo>
                  <a:close/>
                </a:path>
              </a:pathLst>
            </a:custGeom>
            <a:blipFill>
              <a:blip r:embed="rId5">
                <a:alphaModFix amt="0"/>
              </a:blip>
              <a:stretch>
                <a:fillRect l="0" t="-34739" r="0" b="7556"/>
              </a:stretch>
            </a:blipFill>
          </p:spPr>
          <p:txBody>
            <a:bodyPr/>
            <a:p/>
          </p:txBody>
        </p:sp>
        <p:sp>
          <p:nvSpPr>
            <p:cNvPr name="TextBox 95" id="95"/>
            <p:cNvSpPr txBox="true"/>
            <p:nvPr/>
          </p:nvSpPr>
          <p:spPr>
            <a:xfrm>
              <a:off x="0" y="0"/>
              <a:ext cx="6040526" cy="1850873"/>
            </a:xfrm>
            <a:prstGeom prst="rect">
              <a:avLst/>
            </a:prstGeom>
          </p:spPr>
          <p:txBody>
            <a:bodyPr anchor="ctr" rtlCol="false" tIns="0" lIns="0" bIns="0" rIns="0"/>
            <a:lstStyle/>
            <a:p>
              <a:pPr algn="l">
                <a:lnSpc>
                  <a:spcPts val="7559"/>
                </a:lnSpc>
              </a:pPr>
              <a:r>
                <a:rPr lang="en-US" b="true" sz="6300" spc="-225">
                  <a:solidFill>
                    <a:srgbClr val="FFFFFF"/>
                  </a:solidFill>
                  <a:latin typeface="Manrope Bold"/>
                  <a:ea typeface="Manrope Bold"/>
                  <a:cs typeface="Manrope Bold"/>
                  <a:sym typeface="Manrope Bold"/>
                </a:rPr>
                <a:t>56 Md$</a:t>
              </a:r>
            </a:p>
          </p:txBody>
        </p:sp>
      </p:grpSp>
      <p:grpSp>
        <p:nvGrpSpPr>
          <p:cNvPr name="Group 96" id="96"/>
          <p:cNvGrpSpPr/>
          <p:nvPr/>
        </p:nvGrpSpPr>
        <p:grpSpPr>
          <a:xfrm rot="0">
            <a:off x="12663983" y="5586527"/>
            <a:ext cx="4413809" cy="332327"/>
            <a:chOff x="0" y="0"/>
            <a:chExt cx="5885078" cy="443103"/>
          </a:xfrm>
        </p:grpSpPr>
        <p:sp>
          <p:nvSpPr>
            <p:cNvPr name="Freeform 97" id="97"/>
            <p:cNvSpPr/>
            <p:nvPr/>
          </p:nvSpPr>
          <p:spPr>
            <a:xfrm flipH="false" flipV="false" rot="0">
              <a:off x="0" y="0"/>
              <a:ext cx="5885078" cy="443104"/>
            </a:xfrm>
            <a:custGeom>
              <a:avLst/>
              <a:gdLst/>
              <a:ahLst/>
              <a:cxnLst/>
              <a:rect r="r" b="b" t="t" l="l"/>
              <a:pathLst>
                <a:path h="443104" w="5885078">
                  <a:moveTo>
                    <a:pt x="0" y="0"/>
                  </a:moveTo>
                  <a:lnTo>
                    <a:pt x="5885078" y="0"/>
                  </a:lnTo>
                  <a:lnTo>
                    <a:pt x="5885078" y="443104"/>
                  </a:lnTo>
                  <a:lnTo>
                    <a:pt x="0" y="443104"/>
                  </a:lnTo>
                  <a:close/>
                </a:path>
              </a:pathLst>
            </a:custGeom>
            <a:blipFill>
              <a:blip r:embed="rId5">
                <a:alphaModFix amt="0"/>
              </a:blip>
              <a:stretch>
                <a:fillRect l="0" t="-215660" r="0" b="-201920"/>
              </a:stretch>
            </a:blipFill>
          </p:spPr>
          <p:txBody>
            <a:bodyPr/>
            <a:p/>
          </p:txBody>
        </p:sp>
        <p:sp>
          <p:nvSpPr>
            <p:cNvPr name="TextBox 98" id="98"/>
            <p:cNvSpPr txBox="true"/>
            <p:nvPr/>
          </p:nvSpPr>
          <p:spPr>
            <a:xfrm>
              <a:off x="0" y="-9525"/>
              <a:ext cx="5885078" cy="452628"/>
            </a:xfrm>
            <a:prstGeom prst="rect">
              <a:avLst/>
            </a:prstGeom>
          </p:spPr>
          <p:txBody>
            <a:bodyPr anchor="ctr" rtlCol="false" tIns="0" lIns="0" bIns="0" rIns="0"/>
            <a:lstStyle/>
            <a:p>
              <a:pPr algn="l">
                <a:lnSpc>
                  <a:spcPts val="1800"/>
                </a:lnSpc>
              </a:pPr>
              <a:r>
                <a:rPr lang="en-US" sz="1500">
                  <a:solidFill>
                    <a:srgbClr val="9CA3AF"/>
                  </a:solidFill>
                  <a:latin typeface="Manrope"/>
                  <a:ea typeface="Manrope"/>
                  <a:cs typeface="Manrope"/>
                  <a:sym typeface="Manrope"/>
                </a:rPr>
                <a:t>59 Md$ attendus en 2026</a:t>
              </a:r>
            </a:p>
          </p:txBody>
        </p:sp>
      </p:grpSp>
      <p:grpSp>
        <p:nvGrpSpPr>
          <p:cNvPr name="Group 99" id="99"/>
          <p:cNvGrpSpPr/>
          <p:nvPr/>
        </p:nvGrpSpPr>
        <p:grpSpPr>
          <a:xfrm rot="0">
            <a:off x="12663983" y="6414973"/>
            <a:ext cx="2585466" cy="293380"/>
            <a:chOff x="0" y="0"/>
            <a:chExt cx="3447288" cy="391173"/>
          </a:xfrm>
        </p:grpSpPr>
        <p:sp>
          <p:nvSpPr>
            <p:cNvPr name="Freeform 100" id="100"/>
            <p:cNvSpPr/>
            <p:nvPr/>
          </p:nvSpPr>
          <p:spPr>
            <a:xfrm flipH="false" flipV="false" rot="0">
              <a:off x="0" y="0"/>
              <a:ext cx="3447288" cy="391173"/>
            </a:xfrm>
            <a:custGeom>
              <a:avLst/>
              <a:gdLst/>
              <a:ahLst/>
              <a:cxnLst/>
              <a:rect r="r" b="b" t="t" l="l"/>
              <a:pathLst>
                <a:path h="391173" w="3447288">
                  <a:moveTo>
                    <a:pt x="0" y="0"/>
                  </a:moveTo>
                  <a:lnTo>
                    <a:pt x="3447288" y="0"/>
                  </a:lnTo>
                  <a:lnTo>
                    <a:pt x="3447288" y="391173"/>
                  </a:lnTo>
                  <a:lnTo>
                    <a:pt x="0" y="391173"/>
                  </a:lnTo>
                  <a:close/>
                </a:path>
              </a:pathLst>
            </a:custGeom>
            <a:blipFill>
              <a:blip r:embed="rId5">
                <a:alphaModFix amt="0"/>
              </a:blip>
              <a:stretch>
                <a:fillRect l="0" t="-132677" r="0" b="-110753"/>
              </a:stretch>
            </a:blipFill>
          </p:spPr>
          <p:txBody>
            <a:bodyPr/>
            <a:p/>
          </p:txBody>
        </p:sp>
        <p:sp>
          <p:nvSpPr>
            <p:cNvPr name="TextBox 101" id="101"/>
            <p:cNvSpPr txBox="true"/>
            <p:nvPr/>
          </p:nvSpPr>
          <p:spPr>
            <a:xfrm>
              <a:off x="0" y="0"/>
              <a:ext cx="3447288" cy="391173"/>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Corriger les signes (hier)</a:t>
              </a:r>
            </a:p>
          </p:txBody>
        </p:sp>
      </p:grpSp>
      <p:grpSp>
        <p:nvGrpSpPr>
          <p:cNvPr name="Group 102" id="102"/>
          <p:cNvGrpSpPr/>
          <p:nvPr/>
        </p:nvGrpSpPr>
        <p:grpSpPr>
          <a:xfrm rot="0">
            <a:off x="12663983" y="6757873"/>
            <a:ext cx="4238244" cy="171450"/>
            <a:chOff x="0" y="0"/>
            <a:chExt cx="5650992" cy="228600"/>
          </a:xfrm>
        </p:grpSpPr>
        <p:sp>
          <p:nvSpPr>
            <p:cNvPr name="Freeform 103" id="103" descr="preencoded.png"/>
            <p:cNvSpPr/>
            <p:nvPr/>
          </p:nvSpPr>
          <p:spPr>
            <a:xfrm flipH="false" flipV="false" rot="0">
              <a:off x="0" y="0"/>
              <a:ext cx="5650992" cy="228600"/>
            </a:xfrm>
            <a:custGeom>
              <a:avLst/>
              <a:gdLst/>
              <a:ahLst/>
              <a:cxnLst/>
              <a:rect r="r" b="b" t="t" l="l"/>
              <a:pathLst>
                <a:path h="228600" w="5650992">
                  <a:moveTo>
                    <a:pt x="0" y="0"/>
                  </a:moveTo>
                  <a:lnTo>
                    <a:pt x="5650992" y="0"/>
                  </a:lnTo>
                  <a:lnTo>
                    <a:pt x="5650992" y="228600"/>
                  </a:lnTo>
                  <a:lnTo>
                    <a:pt x="0" y="228600"/>
                  </a:lnTo>
                  <a:lnTo>
                    <a:pt x="0" y="0"/>
                  </a:lnTo>
                  <a:close/>
                </a:path>
              </a:pathLst>
            </a:custGeom>
            <a:blipFill>
              <a:blip r:embed="rId11"/>
              <a:stretch>
                <a:fillRect l="0" t="3" r="-2" b="2"/>
              </a:stretch>
            </a:blipFill>
          </p:spPr>
          <p:txBody>
            <a:bodyPr/>
            <a:p/>
          </p:txBody>
        </p:sp>
      </p:grpSp>
      <p:grpSp>
        <p:nvGrpSpPr>
          <p:cNvPr name="Group 104" id="104"/>
          <p:cNvGrpSpPr/>
          <p:nvPr/>
        </p:nvGrpSpPr>
        <p:grpSpPr>
          <a:xfrm rot="0">
            <a:off x="12663983" y="6757873"/>
            <a:ext cx="4238244" cy="171450"/>
            <a:chOff x="0" y="0"/>
            <a:chExt cx="5650992" cy="228600"/>
          </a:xfrm>
        </p:grpSpPr>
        <p:sp>
          <p:nvSpPr>
            <p:cNvPr name="Freeform 105" id="105" descr="preencoded.png"/>
            <p:cNvSpPr/>
            <p:nvPr/>
          </p:nvSpPr>
          <p:spPr>
            <a:xfrm flipH="false" flipV="false" rot="0">
              <a:off x="0" y="0"/>
              <a:ext cx="5650992" cy="228600"/>
            </a:xfrm>
            <a:custGeom>
              <a:avLst/>
              <a:gdLst/>
              <a:ahLst/>
              <a:cxnLst/>
              <a:rect r="r" b="b" t="t" l="l"/>
              <a:pathLst>
                <a:path h="228600" w="5650992">
                  <a:moveTo>
                    <a:pt x="0" y="0"/>
                  </a:moveTo>
                  <a:lnTo>
                    <a:pt x="5650992" y="0"/>
                  </a:lnTo>
                  <a:lnTo>
                    <a:pt x="5650992" y="228600"/>
                  </a:lnTo>
                  <a:lnTo>
                    <a:pt x="0" y="228600"/>
                  </a:lnTo>
                  <a:lnTo>
                    <a:pt x="0" y="0"/>
                  </a:lnTo>
                  <a:close/>
                </a:path>
              </a:pathLst>
            </a:custGeom>
            <a:blipFill>
              <a:blip r:embed="rId12"/>
              <a:stretch>
                <a:fillRect l="0" t="3" r="-2" b="2"/>
              </a:stretch>
            </a:blipFill>
          </p:spPr>
          <p:txBody>
            <a:bodyPr/>
            <a:p/>
          </p:txBody>
        </p:sp>
      </p:grpSp>
      <p:grpSp>
        <p:nvGrpSpPr>
          <p:cNvPr name="Group 106" id="106"/>
          <p:cNvGrpSpPr/>
          <p:nvPr/>
        </p:nvGrpSpPr>
        <p:grpSpPr>
          <a:xfrm rot="0">
            <a:off x="12663983" y="7100773"/>
            <a:ext cx="2211019" cy="293380"/>
            <a:chOff x="0" y="0"/>
            <a:chExt cx="2948026" cy="391173"/>
          </a:xfrm>
        </p:grpSpPr>
        <p:sp>
          <p:nvSpPr>
            <p:cNvPr name="Freeform 107" id="107"/>
            <p:cNvSpPr/>
            <p:nvPr/>
          </p:nvSpPr>
          <p:spPr>
            <a:xfrm flipH="false" flipV="false" rot="0">
              <a:off x="0" y="0"/>
              <a:ext cx="2948026" cy="391173"/>
            </a:xfrm>
            <a:custGeom>
              <a:avLst/>
              <a:gdLst/>
              <a:ahLst/>
              <a:cxnLst/>
              <a:rect r="r" b="b" t="t" l="l"/>
              <a:pathLst>
                <a:path h="391173" w="2948026">
                  <a:moveTo>
                    <a:pt x="0" y="0"/>
                  </a:moveTo>
                  <a:lnTo>
                    <a:pt x="2948026" y="0"/>
                  </a:lnTo>
                  <a:lnTo>
                    <a:pt x="2948026" y="391173"/>
                  </a:lnTo>
                  <a:lnTo>
                    <a:pt x="0" y="391173"/>
                  </a:lnTo>
                  <a:close/>
                </a:path>
              </a:pathLst>
            </a:custGeom>
            <a:blipFill>
              <a:blip r:embed="rId5">
                <a:alphaModFix amt="0"/>
              </a:blip>
              <a:stretch>
                <a:fillRect l="0" t="-107808" r="0" b="-85884"/>
              </a:stretch>
            </a:blipFill>
          </p:spPr>
          <p:txBody>
            <a:bodyPr/>
            <a:p/>
          </p:txBody>
        </p:sp>
        <p:sp>
          <p:nvSpPr>
            <p:cNvPr name="TextBox 108" id="108"/>
            <p:cNvSpPr txBox="true"/>
            <p:nvPr/>
          </p:nvSpPr>
          <p:spPr>
            <a:xfrm>
              <a:off x="0" y="0"/>
              <a:ext cx="2948026" cy="391173"/>
            </a:xfrm>
            <a:prstGeom prst="rect">
              <a:avLst/>
            </a:prstGeom>
          </p:spPr>
          <p:txBody>
            <a:bodyPr anchor="ctr" rtlCol="false" tIns="0" lIns="0" bIns="0" rIns="0"/>
            <a:lstStyle/>
            <a:p>
              <a:pPr algn="l">
                <a:lnSpc>
                  <a:spcPts val="1620"/>
                </a:lnSpc>
              </a:pPr>
              <a:r>
                <a:rPr lang="en-US" sz="1350">
                  <a:solidFill>
                    <a:srgbClr val="9CA3AF"/>
                  </a:solidFill>
                  <a:latin typeface="Manrope"/>
                  <a:ea typeface="Manrope"/>
                  <a:cs typeface="Manrope"/>
                  <a:sym typeface="Manrope"/>
                </a:rPr>
                <a:t>Soutenir la biologie (demain)</a:t>
              </a:r>
            </a:p>
          </p:txBody>
        </p:sp>
      </p:grpSp>
      <p:grpSp>
        <p:nvGrpSpPr>
          <p:cNvPr name="Group 109" id="109"/>
          <p:cNvGrpSpPr/>
          <p:nvPr/>
        </p:nvGrpSpPr>
        <p:grpSpPr>
          <a:xfrm rot="0">
            <a:off x="12663983" y="7443673"/>
            <a:ext cx="4238244" cy="171450"/>
            <a:chOff x="0" y="0"/>
            <a:chExt cx="5650992" cy="228600"/>
          </a:xfrm>
        </p:grpSpPr>
        <p:sp>
          <p:nvSpPr>
            <p:cNvPr name="Freeform 110" id="110" descr="preencoded.png"/>
            <p:cNvSpPr/>
            <p:nvPr/>
          </p:nvSpPr>
          <p:spPr>
            <a:xfrm flipH="false" flipV="false" rot="0">
              <a:off x="0" y="0"/>
              <a:ext cx="5650992" cy="228600"/>
            </a:xfrm>
            <a:custGeom>
              <a:avLst/>
              <a:gdLst/>
              <a:ahLst/>
              <a:cxnLst/>
              <a:rect r="r" b="b" t="t" l="l"/>
              <a:pathLst>
                <a:path h="228600" w="5650992">
                  <a:moveTo>
                    <a:pt x="0" y="0"/>
                  </a:moveTo>
                  <a:lnTo>
                    <a:pt x="5650992" y="0"/>
                  </a:lnTo>
                  <a:lnTo>
                    <a:pt x="5650992" y="228600"/>
                  </a:lnTo>
                  <a:lnTo>
                    <a:pt x="0" y="228600"/>
                  </a:lnTo>
                  <a:lnTo>
                    <a:pt x="0" y="0"/>
                  </a:lnTo>
                  <a:close/>
                </a:path>
              </a:pathLst>
            </a:custGeom>
            <a:blipFill>
              <a:blip r:embed="rId11"/>
              <a:stretch>
                <a:fillRect l="0" t="3" r="-2" b="2"/>
              </a:stretch>
            </a:blipFill>
          </p:spPr>
          <p:txBody>
            <a:bodyPr/>
            <a:p/>
          </p:txBody>
        </p:sp>
      </p:grpSp>
      <p:grpSp>
        <p:nvGrpSpPr>
          <p:cNvPr name="Group 111" id="111"/>
          <p:cNvGrpSpPr/>
          <p:nvPr/>
        </p:nvGrpSpPr>
        <p:grpSpPr>
          <a:xfrm rot="0">
            <a:off x="12663983" y="7443673"/>
            <a:ext cx="3433115" cy="171450"/>
            <a:chOff x="0" y="0"/>
            <a:chExt cx="4577486" cy="228600"/>
          </a:xfrm>
        </p:grpSpPr>
        <p:sp>
          <p:nvSpPr>
            <p:cNvPr name="Freeform 112" id="112" descr="preencoded.png"/>
            <p:cNvSpPr/>
            <p:nvPr/>
          </p:nvSpPr>
          <p:spPr>
            <a:xfrm flipH="false" flipV="false" rot="0">
              <a:off x="0" y="0"/>
              <a:ext cx="4577461" cy="228600"/>
            </a:xfrm>
            <a:custGeom>
              <a:avLst/>
              <a:gdLst/>
              <a:ahLst/>
              <a:cxnLst/>
              <a:rect r="r" b="b" t="t" l="l"/>
              <a:pathLst>
                <a:path h="228600" w="4577461">
                  <a:moveTo>
                    <a:pt x="0" y="0"/>
                  </a:moveTo>
                  <a:lnTo>
                    <a:pt x="4577461" y="0"/>
                  </a:lnTo>
                  <a:lnTo>
                    <a:pt x="4577461" y="228600"/>
                  </a:lnTo>
                  <a:lnTo>
                    <a:pt x="0" y="228600"/>
                  </a:lnTo>
                  <a:lnTo>
                    <a:pt x="0" y="0"/>
                  </a:lnTo>
                  <a:close/>
                </a:path>
              </a:pathLst>
            </a:custGeom>
            <a:blipFill>
              <a:blip r:embed="rId13"/>
              <a:stretch>
                <a:fillRect l="1" t="0" r="-20" b="0"/>
              </a:stretch>
            </a:blipFill>
          </p:spPr>
          <p:txBody>
            <a:bodyPr/>
            <a:p/>
          </p:txBody>
        </p:sp>
      </p:grpSp>
      <p:grpSp>
        <p:nvGrpSpPr>
          <p:cNvPr name="Group 113" id="113"/>
          <p:cNvGrpSpPr/>
          <p:nvPr/>
        </p:nvGrpSpPr>
        <p:grpSpPr>
          <a:xfrm rot="0">
            <a:off x="12493904" y="7728966"/>
            <a:ext cx="4413809" cy="263957"/>
            <a:chOff x="0" y="0"/>
            <a:chExt cx="5885078" cy="351942"/>
          </a:xfrm>
        </p:grpSpPr>
        <p:sp>
          <p:nvSpPr>
            <p:cNvPr name="Freeform 114" id="114"/>
            <p:cNvSpPr/>
            <p:nvPr/>
          </p:nvSpPr>
          <p:spPr>
            <a:xfrm flipH="false" flipV="false" rot="0">
              <a:off x="0" y="0"/>
              <a:ext cx="5885078" cy="351943"/>
            </a:xfrm>
            <a:custGeom>
              <a:avLst/>
              <a:gdLst/>
              <a:ahLst/>
              <a:cxnLst/>
              <a:rect r="r" b="b" t="t" l="l"/>
              <a:pathLst>
                <a:path h="351943" w="5885078">
                  <a:moveTo>
                    <a:pt x="0" y="0"/>
                  </a:moveTo>
                  <a:lnTo>
                    <a:pt x="5885078" y="0"/>
                  </a:lnTo>
                  <a:lnTo>
                    <a:pt x="5885078" y="351943"/>
                  </a:lnTo>
                  <a:lnTo>
                    <a:pt x="0" y="351943"/>
                  </a:lnTo>
                  <a:close/>
                </a:path>
              </a:pathLst>
            </a:custGeom>
            <a:blipFill>
              <a:blip r:embed="rId5">
                <a:alphaModFix amt="0"/>
              </a:blip>
              <a:stretch>
                <a:fillRect l="0" t="-285031" r="0" b="-266613"/>
              </a:stretch>
            </a:blipFill>
          </p:spPr>
          <p:txBody>
            <a:bodyPr/>
            <a:p/>
          </p:txBody>
        </p:sp>
        <p:sp>
          <p:nvSpPr>
            <p:cNvPr name="TextBox 115" id="115"/>
            <p:cNvSpPr txBox="true"/>
            <p:nvPr/>
          </p:nvSpPr>
          <p:spPr>
            <a:xfrm>
              <a:off x="0" y="0"/>
              <a:ext cx="5885078" cy="351942"/>
            </a:xfrm>
            <a:prstGeom prst="rect">
              <a:avLst/>
            </a:prstGeom>
          </p:spPr>
          <p:txBody>
            <a:bodyPr anchor="ctr" rtlCol="false" tIns="0" lIns="0" bIns="0" rIns="0"/>
            <a:lstStyle/>
            <a:p>
              <a:pPr algn="r">
                <a:lnSpc>
                  <a:spcPts val="1439"/>
                </a:lnSpc>
              </a:pPr>
              <a:r>
                <a:rPr lang="en-US" sz="1200" i="true">
                  <a:solidFill>
                    <a:srgbClr val="6B7280"/>
                  </a:solidFill>
                  <a:latin typeface="Manrope"/>
                  <a:ea typeface="Manrope"/>
                  <a:cs typeface="Manrope"/>
                  <a:sym typeface="Manrope"/>
                </a:rPr>
                <a:t>Correction vs Résilience</a:t>
              </a:r>
            </a:p>
          </p:txBody>
        </p:sp>
      </p:grpSp>
      <p:grpSp>
        <p:nvGrpSpPr>
          <p:cNvPr name="Group 116" id="116"/>
          <p:cNvGrpSpPr/>
          <p:nvPr/>
        </p:nvGrpSpPr>
        <p:grpSpPr>
          <a:xfrm rot="0">
            <a:off x="905332" y="8634298"/>
            <a:ext cx="16478250" cy="1404366"/>
            <a:chOff x="0" y="0"/>
            <a:chExt cx="21971000" cy="1872488"/>
          </a:xfrm>
        </p:grpSpPr>
        <p:sp>
          <p:nvSpPr>
            <p:cNvPr name="Freeform 117" id="117"/>
            <p:cNvSpPr/>
            <p:nvPr/>
          </p:nvSpPr>
          <p:spPr>
            <a:xfrm flipH="false" flipV="false" rot="0">
              <a:off x="12700" y="12700"/>
              <a:ext cx="21945600" cy="1847088"/>
            </a:xfrm>
            <a:custGeom>
              <a:avLst/>
              <a:gdLst/>
              <a:ahLst/>
              <a:cxnLst/>
              <a:rect r="r" b="b" t="t" l="l"/>
              <a:pathLst>
                <a:path h="1847088" w="21945600">
                  <a:moveTo>
                    <a:pt x="0" y="75438"/>
                  </a:moveTo>
                  <a:cubicBezTo>
                    <a:pt x="0" y="33782"/>
                    <a:pt x="34163" y="0"/>
                    <a:pt x="76327" y="0"/>
                  </a:cubicBezTo>
                  <a:lnTo>
                    <a:pt x="21869273" y="0"/>
                  </a:lnTo>
                  <a:cubicBezTo>
                    <a:pt x="21911438" y="0"/>
                    <a:pt x="21945600" y="33782"/>
                    <a:pt x="21945600" y="75438"/>
                  </a:cubicBezTo>
                  <a:lnTo>
                    <a:pt x="21945600" y="1771650"/>
                  </a:lnTo>
                  <a:cubicBezTo>
                    <a:pt x="21945600" y="1813306"/>
                    <a:pt x="21911438" y="1847088"/>
                    <a:pt x="21869273" y="1847088"/>
                  </a:cubicBezTo>
                  <a:lnTo>
                    <a:pt x="76327" y="1847088"/>
                  </a:lnTo>
                  <a:cubicBezTo>
                    <a:pt x="34163" y="1847088"/>
                    <a:pt x="0" y="1813306"/>
                    <a:pt x="0" y="1771650"/>
                  </a:cubicBezTo>
                  <a:close/>
                </a:path>
              </a:pathLst>
            </a:custGeom>
            <a:solidFill>
              <a:srgbClr val="FFFFFF">
                <a:alpha val="0"/>
              </a:srgbClr>
            </a:solidFill>
          </p:spPr>
          <p:txBody>
            <a:bodyPr/>
            <a:p/>
          </p:txBody>
        </p:sp>
        <p:sp>
          <p:nvSpPr>
            <p:cNvPr name="Freeform 118" id="118"/>
            <p:cNvSpPr/>
            <p:nvPr/>
          </p:nvSpPr>
          <p:spPr>
            <a:xfrm flipH="false" flipV="false" rot="0">
              <a:off x="0" y="0"/>
              <a:ext cx="21971000" cy="1872488"/>
            </a:xfrm>
            <a:custGeom>
              <a:avLst/>
              <a:gdLst/>
              <a:ahLst/>
              <a:cxnLst/>
              <a:rect r="r" b="b" t="t" l="l"/>
              <a:pathLst>
                <a:path h="1872488" w="21971000">
                  <a:moveTo>
                    <a:pt x="0" y="88138"/>
                  </a:moveTo>
                  <a:cubicBezTo>
                    <a:pt x="0" y="39243"/>
                    <a:pt x="40005" y="0"/>
                    <a:pt x="89027" y="0"/>
                  </a:cubicBezTo>
                  <a:lnTo>
                    <a:pt x="21881973" y="0"/>
                  </a:lnTo>
                  <a:lnTo>
                    <a:pt x="21881973" y="12700"/>
                  </a:lnTo>
                  <a:lnTo>
                    <a:pt x="21881973" y="0"/>
                  </a:lnTo>
                  <a:cubicBezTo>
                    <a:pt x="21930995" y="0"/>
                    <a:pt x="21971000" y="39243"/>
                    <a:pt x="21971000" y="88138"/>
                  </a:cubicBezTo>
                  <a:lnTo>
                    <a:pt x="21958300" y="88138"/>
                  </a:lnTo>
                  <a:lnTo>
                    <a:pt x="21971000" y="88138"/>
                  </a:lnTo>
                  <a:lnTo>
                    <a:pt x="21971000" y="1784350"/>
                  </a:lnTo>
                  <a:lnTo>
                    <a:pt x="21958300" y="1784350"/>
                  </a:lnTo>
                  <a:lnTo>
                    <a:pt x="21971000" y="1784350"/>
                  </a:lnTo>
                  <a:cubicBezTo>
                    <a:pt x="21971000" y="1833118"/>
                    <a:pt x="21930995" y="1872488"/>
                    <a:pt x="21881973" y="1872488"/>
                  </a:cubicBezTo>
                  <a:lnTo>
                    <a:pt x="21881973" y="1859788"/>
                  </a:lnTo>
                  <a:lnTo>
                    <a:pt x="21881973" y="1872488"/>
                  </a:lnTo>
                  <a:lnTo>
                    <a:pt x="89027" y="1872488"/>
                  </a:lnTo>
                  <a:lnTo>
                    <a:pt x="89027" y="1859788"/>
                  </a:lnTo>
                  <a:lnTo>
                    <a:pt x="89027" y="1872488"/>
                  </a:lnTo>
                  <a:cubicBezTo>
                    <a:pt x="40005" y="1872488"/>
                    <a:pt x="0" y="1833245"/>
                    <a:pt x="0" y="1784350"/>
                  </a:cubicBezTo>
                  <a:lnTo>
                    <a:pt x="0" y="88138"/>
                  </a:lnTo>
                  <a:lnTo>
                    <a:pt x="12700" y="88138"/>
                  </a:lnTo>
                  <a:lnTo>
                    <a:pt x="0" y="88138"/>
                  </a:lnTo>
                  <a:moveTo>
                    <a:pt x="25400" y="88138"/>
                  </a:moveTo>
                  <a:lnTo>
                    <a:pt x="25400" y="1784350"/>
                  </a:lnTo>
                  <a:lnTo>
                    <a:pt x="12700" y="1784350"/>
                  </a:lnTo>
                  <a:lnTo>
                    <a:pt x="25400" y="1784350"/>
                  </a:lnTo>
                  <a:cubicBezTo>
                    <a:pt x="25400" y="1818894"/>
                    <a:pt x="53721" y="1847088"/>
                    <a:pt x="89027" y="1847088"/>
                  </a:cubicBezTo>
                  <a:lnTo>
                    <a:pt x="21881973" y="1847088"/>
                  </a:lnTo>
                  <a:cubicBezTo>
                    <a:pt x="21917279" y="1847088"/>
                    <a:pt x="21945600" y="1818894"/>
                    <a:pt x="21945600" y="1784350"/>
                  </a:cubicBezTo>
                  <a:lnTo>
                    <a:pt x="21945600" y="88138"/>
                  </a:lnTo>
                  <a:cubicBezTo>
                    <a:pt x="21945600" y="53594"/>
                    <a:pt x="21917279" y="25400"/>
                    <a:pt x="21881973" y="25400"/>
                  </a:cubicBezTo>
                  <a:lnTo>
                    <a:pt x="89027" y="25400"/>
                  </a:lnTo>
                  <a:lnTo>
                    <a:pt x="89027" y="12700"/>
                  </a:lnTo>
                  <a:lnTo>
                    <a:pt x="89027" y="25400"/>
                  </a:lnTo>
                  <a:cubicBezTo>
                    <a:pt x="53721" y="25400"/>
                    <a:pt x="25400" y="53594"/>
                    <a:pt x="25400" y="88138"/>
                  </a:cubicBezTo>
                  <a:close/>
                </a:path>
              </a:pathLst>
            </a:custGeom>
            <a:solidFill>
              <a:srgbClr val="FFFFFF">
                <a:alpha val="3922"/>
              </a:srgbClr>
            </a:solidFill>
          </p:spPr>
          <p:txBody>
            <a:bodyPr/>
            <a:p/>
          </p:txBody>
        </p:sp>
      </p:grpSp>
      <p:grpSp>
        <p:nvGrpSpPr>
          <p:cNvPr name="Group 119" id="119"/>
          <p:cNvGrpSpPr/>
          <p:nvPr/>
        </p:nvGrpSpPr>
        <p:grpSpPr>
          <a:xfrm rot="0">
            <a:off x="1261948" y="9041663"/>
            <a:ext cx="591007" cy="591007"/>
            <a:chOff x="0" y="0"/>
            <a:chExt cx="788010" cy="788010"/>
          </a:xfrm>
        </p:grpSpPr>
        <p:sp>
          <p:nvSpPr>
            <p:cNvPr name="Freeform 120" id="120"/>
            <p:cNvSpPr/>
            <p:nvPr/>
          </p:nvSpPr>
          <p:spPr>
            <a:xfrm flipH="false" flipV="false" rot="0">
              <a:off x="12700" y="12700"/>
              <a:ext cx="762635" cy="762635"/>
            </a:xfrm>
            <a:custGeom>
              <a:avLst/>
              <a:gdLst/>
              <a:ahLst/>
              <a:cxnLst/>
              <a:rect r="r" b="b" t="t" l="l"/>
              <a:pathLst>
                <a:path h="762635" w="762635">
                  <a:moveTo>
                    <a:pt x="0" y="381254"/>
                  </a:moveTo>
                  <a:cubicBezTo>
                    <a:pt x="0" y="170688"/>
                    <a:pt x="170688" y="0"/>
                    <a:pt x="381254" y="0"/>
                  </a:cubicBezTo>
                  <a:cubicBezTo>
                    <a:pt x="591820" y="0"/>
                    <a:pt x="762635" y="170688"/>
                    <a:pt x="762635" y="381254"/>
                  </a:cubicBezTo>
                  <a:cubicBezTo>
                    <a:pt x="762635" y="591820"/>
                    <a:pt x="591947" y="762635"/>
                    <a:pt x="381254" y="762635"/>
                  </a:cubicBezTo>
                  <a:cubicBezTo>
                    <a:pt x="170561" y="762635"/>
                    <a:pt x="0" y="591947"/>
                    <a:pt x="0" y="381254"/>
                  </a:cubicBezTo>
                  <a:close/>
                </a:path>
              </a:pathLst>
            </a:custGeom>
            <a:solidFill>
              <a:srgbClr val="FFFFFF"/>
            </a:solidFill>
          </p:spPr>
          <p:txBody>
            <a:bodyPr/>
            <a:p/>
          </p:txBody>
        </p:sp>
      </p:grpSp>
      <p:grpSp>
        <p:nvGrpSpPr>
          <p:cNvPr name="Group 121" id="121"/>
          <p:cNvGrpSpPr/>
          <p:nvPr/>
        </p:nvGrpSpPr>
        <p:grpSpPr>
          <a:xfrm rot="0">
            <a:off x="1429207" y="9136228"/>
            <a:ext cx="257861" cy="400507"/>
            <a:chOff x="0" y="0"/>
            <a:chExt cx="343814" cy="534010"/>
          </a:xfrm>
        </p:grpSpPr>
        <p:sp>
          <p:nvSpPr>
            <p:cNvPr name="Freeform 122" id="122" descr="preencoded.png"/>
            <p:cNvSpPr/>
            <p:nvPr/>
          </p:nvSpPr>
          <p:spPr>
            <a:xfrm flipH="false" flipV="false" rot="0">
              <a:off x="0" y="0"/>
              <a:ext cx="343789" cy="534035"/>
            </a:xfrm>
            <a:custGeom>
              <a:avLst/>
              <a:gdLst/>
              <a:ahLst/>
              <a:cxnLst/>
              <a:rect r="r" b="b" t="t" l="l"/>
              <a:pathLst>
                <a:path h="534035" w="343789">
                  <a:moveTo>
                    <a:pt x="0" y="0"/>
                  </a:moveTo>
                  <a:lnTo>
                    <a:pt x="343789" y="0"/>
                  </a:lnTo>
                  <a:lnTo>
                    <a:pt x="343789" y="534035"/>
                  </a:lnTo>
                  <a:lnTo>
                    <a:pt x="0" y="534035"/>
                  </a:lnTo>
                  <a:lnTo>
                    <a:pt x="0" y="0"/>
                  </a:lnTo>
                  <a:close/>
                </a:path>
              </a:pathLst>
            </a:custGeom>
            <a:blipFill>
              <a:blip r:embed="rId14"/>
              <a:stretch>
                <a:fillRect l="0" t="17807" r="-7" b="17812"/>
              </a:stretch>
            </a:blipFill>
          </p:spPr>
          <p:txBody>
            <a:bodyPr/>
            <a:p/>
          </p:txBody>
        </p:sp>
      </p:grpSp>
      <p:grpSp>
        <p:nvGrpSpPr>
          <p:cNvPr name="Group 123" id="123"/>
          <p:cNvGrpSpPr/>
          <p:nvPr/>
        </p:nvGrpSpPr>
        <p:grpSpPr>
          <a:xfrm rot="0">
            <a:off x="2071116" y="9022385"/>
            <a:ext cx="8658911" cy="293380"/>
            <a:chOff x="0" y="0"/>
            <a:chExt cx="11545214" cy="391173"/>
          </a:xfrm>
        </p:grpSpPr>
        <p:sp>
          <p:nvSpPr>
            <p:cNvPr name="Freeform 124" id="124"/>
            <p:cNvSpPr/>
            <p:nvPr/>
          </p:nvSpPr>
          <p:spPr>
            <a:xfrm flipH="false" flipV="false" rot="0">
              <a:off x="0" y="0"/>
              <a:ext cx="11545214" cy="391173"/>
            </a:xfrm>
            <a:custGeom>
              <a:avLst/>
              <a:gdLst/>
              <a:ahLst/>
              <a:cxnLst/>
              <a:rect r="r" b="b" t="t" l="l"/>
              <a:pathLst>
                <a:path h="391173" w="11545214">
                  <a:moveTo>
                    <a:pt x="0" y="0"/>
                  </a:moveTo>
                  <a:lnTo>
                    <a:pt x="11545214" y="0"/>
                  </a:lnTo>
                  <a:lnTo>
                    <a:pt x="11545214" y="391173"/>
                  </a:lnTo>
                  <a:lnTo>
                    <a:pt x="0" y="391173"/>
                  </a:lnTo>
                  <a:close/>
                </a:path>
              </a:pathLst>
            </a:custGeom>
            <a:blipFill>
              <a:blip r:embed="rId5">
                <a:alphaModFix amt="0"/>
              </a:blip>
              <a:stretch>
                <a:fillRect l="0" t="-536050" r="0" b="-514125"/>
              </a:stretch>
            </a:blipFill>
          </p:spPr>
          <p:txBody>
            <a:bodyPr/>
            <a:p/>
          </p:txBody>
        </p:sp>
        <p:sp>
          <p:nvSpPr>
            <p:cNvPr name="TextBox 125" id="125"/>
            <p:cNvSpPr txBox="true"/>
            <p:nvPr/>
          </p:nvSpPr>
          <p:spPr>
            <a:xfrm>
              <a:off x="0" y="0"/>
              <a:ext cx="11545214" cy="391173"/>
            </a:xfrm>
            <a:prstGeom prst="rect">
              <a:avLst/>
            </a:prstGeom>
          </p:spPr>
          <p:txBody>
            <a:bodyPr anchor="ctr" rtlCol="false" tIns="0" lIns="0" bIns="0" rIns="0"/>
            <a:lstStyle/>
            <a:p>
              <a:pPr algn="l">
                <a:lnSpc>
                  <a:spcPts val="1620"/>
                </a:lnSpc>
              </a:pPr>
              <a:r>
                <a:rPr lang="en-US" b="true" sz="1350" spc="135">
                  <a:solidFill>
                    <a:srgbClr val="9CA3AF"/>
                  </a:solidFill>
                  <a:latin typeface="Manrope Bold"/>
                  <a:ea typeface="Manrope Bold"/>
                  <a:cs typeface="Manrope Bold"/>
                  <a:sym typeface="Manrope Bold"/>
                </a:rPr>
                <a:t>LE DÉPLACEMENT</a:t>
              </a:r>
            </a:p>
          </p:txBody>
        </p:sp>
      </p:grpSp>
      <p:grpSp>
        <p:nvGrpSpPr>
          <p:cNvPr name="Group 126" id="126"/>
          <p:cNvGrpSpPr/>
          <p:nvPr/>
        </p:nvGrpSpPr>
        <p:grpSpPr>
          <a:xfrm rot="0">
            <a:off x="2071116" y="9251442"/>
            <a:ext cx="9516161" cy="498491"/>
            <a:chOff x="0" y="0"/>
            <a:chExt cx="12688214" cy="664654"/>
          </a:xfrm>
        </p:grpSpPr>
        <p:sp>
          <p:nvSpPr>
            <p:cNvPr name="Freeform 127" id="127"/>
            <p:cNvSpPr/>
            <p:nvPr/>
          </p:nvSpPr>
          <p:spPr>
            <a:xfrm flipH="false" flipV="false" rot="0">
              <a:off x="0" y="0"/>
              <a:ext cx="12688214" cy="664655"/>
            </a:xfrm>
            <a:custGeom>
              <a:avLst/>
              <a:gdLst/>
              <a:ahLst/>
              <a:cxnLst/>
              <a:rect r="r" b="b" t="t" l="l"/>
              <a:pathLst>
                <a:path h="664655" w="12688214">
                  <a:moveTo>
                    <a:pt x="0" y="0"/>
                  </a:moveTo>
                  <a:lnTo>
                    <a:pt x="12688214" y="0"/>
                  </a:lnTo>
                  <a:lnTo>
                    <a:pt x="12688214" y="664655"/>
                  </a:lnTo>
                  <a:lnTo>
                    <a:pt x="0" y="664655"/>
                  </a:lnTo>
                  <a:close/>
                </a:path>
              </a:pathLst>
            </a:custGeom>
            <a:blipFill>
              <a:blip r:embed="rId5">
                <a:alphaModFix amt="0"/>
              </a:blip>
              <a:stretch>
                <a:fillRect l="0" t="-331796" r="0" b="-312139"/>
              </a:stretch>
            </a:blipFill>
          </p:spPr>
          <p:txBody>
            <a:bodyPr/>
            <a:p/>
          </p:txBody>
        </p:sp>
        <p:sp>
          <p:nvSpPr>
            <p:cNvPr name="TextBox 128" id="128"/>
            <p:cNvSpPr txBox="true"/>
            <p:nvPr/>
          </p:nvSpPr>
          <p:spPr>
            <a:xfrm>
              <a:off x="0" y="-9525"/>
              <a:ext cx="12688214" cy="674179"/>
            </a:xfrm>
            <a:prstGeom prst="rect">
              <a:avLst/>
            </a:prstGeom>
          </p:spPr>
          <p:txBody>
            <a:bodyPr anchor="ctr" rtlCol="false" tIns="0" lIns="0" bIns="0" rIns="0"/>
            <a:lstStyle/>
            <a:p>
              <a:pPr algn="l">
                <a:lnSpc>
                  <a:spcPts val="2700"/>
                </a:lnSpc>
              </a:pPr>
              <a:r>
                <a:rPr lang="en-US" sz="2250">
                  <a:solidFill>
                    <a:srgbClr val="FFFFFF"/>
                  </a:solidFill>
                  <a:latin typeface="Manrope"/>
                  <a:ea typeface="Manrope"/>
                  <a:cs typeface="Manrope"/>
                  <a:sym typeface="Manrope"/>
                </a:rPr>
                <a:t>Le même chemin que la médecine : du curatif vers la prévention.</a:t>
              </a:r>
            </a:p>
          </p:txBody>
        </p:sp>
      </p:grpSp>
      <p:grpSp>
        <p:nvGrpSpPr>
          <p:cNvPr name="Group 129" id="129"/>
          <p:cNvGrpSpPr/>
          <p:nvPr/>
        </p:nvGrpSpPr>
        <p:grpSpPr>
          <a:xfrm rot="0">
            <a:off x="11878056" y="9051188"/>
            <a:ext cx="13716" cy="571957"/>
            <a:chOff x="0" y="0"/>
            <a:chExt cx="18288" cy="762610"/>
          </a:xfrm>
        </p:grpSpPr>
        <p:sp>
          <p:nvSpPr>
            <p:cNvPr name="Freeform 130" id="130" descr="preencoded.png"/>
            <p:cNvSpPr/>
            <p:nvPr/>
          </p:nvSpPr>
          <p:spPr>
            <a:xfrm flipH="false" flipV="false" rot="0">
              <a:off x="0" y="0"/>
              <a:ext cx="18288" cy="762635"/>
            </a:xfrm>
            <a:custGeom>
              <a:avLst/>
              <a:gdLst/>
              <a:ahLst/>
              <a:cxnLst/>
              <a:rect r="r" b="b" t="t" l="l"/>
              <a:pathLst>
                <a:path h="762635" w="18288">
                  <a:moveTo>
                    <a:pt x="0" y="0"/>
                  </a:moveTo>
                  <a:lnTo>
                    <a:pt x="18288" y="0"/>
                  </a:lnTo>
                  <a:lnTo>
                    <a:pt x="18288" y="762635"/>
                  </a:lnTo>
                  <a:lnTo>
                    <a:pt x="0" y="762635"/>
                  </a:lnTo>
                  <a:lnTo>
                    <a:pt x="0" y="0"/>
                  </a:lnTo>
                  <a:close/>
                </a:path>
              </a:pathLst>
            </a:custGeom>
            <a:blipFill>
              <a:blip r:embed="rId15"/>
              <a:stretch>
                <a:fillRect l="0" t="2039" r="0" b="2039"/>
              </a:stretch>
            </a:blipFill>
          </p:spPr>
          <p:txBody>
            <a:bodyPr/>
            <a:p/>
          </p:txBody>
        </p:sp>
      </p:grpSp>
      <p:grpSp>
        <p:nvGrpSpPr>
          <p:cNvPr name="Group 131" id="131"/>
          <p:cNvGrpSpPr/>
          <p:nvPr/>
        </p:nvGrpSpPr>
        <p:grpSpPr>
          <a:xfrm rot="0">
            <a:off x="13089179" y="9001811"/>
            <a:ext cx="2204161" cy="596284"/>
            <a:chOff x="0" y="0"/>
            <a:chExt cx="2938882" cy="795045"/>
          </a:xfrm>
        </p:grpSpPr>
        <p:sp>
          <p:nvSpPr>
            <p:cNvPr name="Freeform 132" id="132"/>
            <p:cNvSpPr/>
            <p:nvPr/>
          </p:nvSpPr>
          <p:spPr>
            <a:xfrm flipH="false" flipV="false" rot="0">
              <a:off x="0" y="0"/>
              <a:ext cx="2938882" cy="795046"/>
            </a:xfrm>
            <a:custGeom>
              <a:avLst/>
              <a:gdLst/>
              <a:ahLst/>
              <a:cxnLst/>
              <a:rect r="r" b="b" t="t" l="l"/>
              <a:pathLst>
                <a:path h="795046" w="2938882">
                  <a:moveTo>
                    <a:pt x="0" y="0"/>
                  </a:moveTo>
                  <a:lnTo>
                    <a:pt x="2938882" y="0"/>
                  </a:lnTo>
                  <a:lnTo>
                    <a:pt x="2938882" y="795046"/>
                  </a:lnTo>
                  <a:lnTo>
                    <a:pt x="0" y="795046"/>
                  </a:lnTo>
                  <a:close/>
                </a:path>
              </a:pathLst>
            </a:custGeom>
            <a:blipFill>
              <a:blip r:embed="rId5">
                <a:alphaModFix amt="0"/>
              </a:blip>
              <a:stretch>
                <a:fillRect l="0" t="-33612" r="0" b="-10440"/>
              </a:stretch>
            </a:blipFill>
          </p:spPr>
          <p:txBody>
            <a:bodyPr/>
            <a:p/>
          </p:txBody>
        </p:sp>
        <p:sp>
          <p:nvSpPr>
            <p:cNvPr name="TextBox 133" id="133"/>
            <p:cNvSpPr txBox="true"/>
            <p:nvPr/>
          </p:nvSpPr>
          <p:spPr>
            <a:xfrm>
              <a:off x="0" y="0"/>
              <a:ext cx="2938882" cy="795045"/>
            </a:xfrm>
            <a:prstGeom prst="rect">
              <a:avLst/>
            </a:prstGeom>
          </p:spPr>
          <p:txBody>
            <a:bodyPr anchor="ctr" rtlCol="false" tIns="0" lIns="0" bIns="0" rIns="0"/>
            <a:lstStyle/>
            <a:p>
              <a:pPr algn="ctr">
                <a:lnSpc>
                  <a:spcPts val="3240"/>
                </a:lnSpc>
              </a:pPr>
              <a:r>
                <a:rPr lang="en-US" sz="2700" b="true">
                  <a:solidFill>
                    <a:srgbClr val="FFFFFF"/>
                  </a:solidFill>
                  <a:latin typeface="Manrope Bold"/>
                  <a:ea typeface="Manrope Bold"/>
                  <a:cs typeface="Manrope Bold"/>
                  <a:sym typeface="Manrope Bold"/>
                </a:rPr>
                <a:t>Résilience</a:t>
              </a:r>
            </a:p>
          </p:txBody>
        </p:sp>
      </p:grpSp>
      <p:grpSp>
        <p:nvGrpSpPr>
          <p:cNvPr name="Group 134" id="134"/>
          <p:cNvGrpSpPr/>
          <p:nvPr/>
        </p:nvGrpSpPr>
        <p:grpSpPr>
          <a:xfrm rot="0">
            <a:off x="13168732" y="9458554"/>
            <a:ext cx="2043684" cy="263957"/>
            <a:chOff x="0" y="0"/>
            <a:chExt cx="2724912" cy="351942"/>
          </a:xfrm>
        </p:grpSpPr>
        <p:sp>
          <p:nvSpPr>
            <p:cNvPr name="Freeform 135" id="135"/>
            <p:cNvSpPr/>
            <p:nvPr/>
          </p:nvSpPr>
          <p:spPr>
            <a:xfrm flipH="false" flipV="false" rot="0">
              <a:off x="0" y="0"/>
              <a:ext cx="2724912" cy="351943"/>
            </a:xfrm>
            <a:custGeom>
              <a:avLst/>
              <a:gdLst/>
              <a:ahLst/>
              <a:cxnLst/>
              <a:rect r="r" b="b" t="t" l="l"/>
              <a:pathLst>
                <a:path h="351943" w="2724912">
                  <a:moveTo>
                    <a:pt x="0" y="0"/>
                  </a:moveTo>
                  <a:lnTo>
                    <a:pt x="2724912" y="0"/>
                  </a:lnTo>
                  <a:lnTo>
                    <a:pt x="2724912" y="351943"/>
                  </a:lnTo>
                  <a:lnTo>
                    <a:pt x="0" y="351943"/>
                  </a:lnTo>
                  <a:close/>
                </a:path>
              </a:pathLst>
            </a:custGeom>
            <a:blipFill>
              <a:blip r:embed="rId5">
                <a:alphaModFix amt="0"/>
              </a:blip>
              <a:stretch>
                <a:fillRect l="0" t="-110071" r="0" b="-91653"/>
              </a:stretch>
            </a:blipFill>
          </p:spPr>
          <p:txBody>
            <a:bodyPr/>
            <a:p/>
          </p:txBody>
        </p:sp>
        <p:sp>
          <p:nvSpPr>
            <p:cNvPr name="TextBox 136" id="136"/>
            <p:cNvSpPr txBox="true"/>
            <p:nvPr/>
          </p:nvSpPr>
          <p:spPr>
            <a:xfrm>
              <a:off x="0" y="0"/>
              <a:ext cx="2724912" cy="351942"/>
            </a:xfrm>
            <a:prstGeom prst="rect">
              <a:avLst/>
            </a:prstGeom>
          </p:spPr>
          <p:txBody>
            <a:bodyPr anchor="ctr" rtlCol="false" tIns="0" lIns="0" bIns="0" rIns="0"/>
            <a:lstStyle/>
            <a:p>
              <a:pPr algn="ctr">
                <a:lnSpc>
                  <a:spcPts val="1439"/>
                </a:lnSpc>
              </a:pPr>
              <a:r>
                <a:rPr lang="en-US" sz="1200">
                  <a:solidFill>
                    <a:srgbClr val="6B7280"/>
                  </a:solidFill>
                  <a:latin typeface="Manrope"/>
                  <a:ea typeface="Manrope"/>
                  <a:cs typeface="Manrope"/>
                  <a:sym typeface="Manrope"/>
                </a:rPr>
                <a:t>Soutenir</a:t>
              </a:r>
            </a:p>
          </p:txBody>
        </p:sp>
      </p:grpSp>
      <p:grpSp>
        <p:nvGrpSpPr>
          <p:cNvPr name="Group 137" id="137"/>
          <p:cNvGrpSpPr/>
          <p:nvPr/>
        </p:nvGrpSpPr>
        <p:grpSpPr>
          <a:xfrm rot="0">
            <a:off x="15463418" y="9001811"/>
            <a:ext cx="1700784" cy="596284"/>
            <a:chOff x="0" y="0"/>
            <a:chExt cx="2267712" cy="795045"/>
          </a:xfrm>
        </p:grpSpPr>
        <p:sp>
          <p:nvSpPr>
            <p:cNvPr name="Freeform 138" id="138"/>
            <p:cNvSpPr/>
            <p:nvPr/>
          </p:nvSpPr>
          <p:spPr>
            <a:xfrm flipH="false" flipV="false" rot="0">
              <a:off x="0" y="0"/>
              <a:ext cx="2267712" cy="795046"/>
            </a:xfrm>
            <a:custGeom>
              <a:avLst/>
              <a:gdLst/>
              <a:ahLst/>
              <a:cxnLst/>
              <a:rect r="r" b="b" t="t" l="l"/>
              <a:pathLst>
                <a:path h="795046" w="2267712">
                  <a:moveTo>
                    <a:pt x="0" y="0"/>
                  </a:moveTo>
                  <a:lnTo>
                    <a:pt x="2267712" y="0"/>
                  </a:lnTo>
                  <a:lnTo>
                    <a:pt x="2267712" y="795046"/>
                  </a:lnTo>
                  <a:lnTo>
                    <a:pt x="0" y="795046"/>
                  </a:lnTo>
                  <a:close/>
                </a:path>
              </a:pathLst>
            </a:custGeom>
            <a:blipFill>
              <a:blip r:embed="rId5">
                <a:alphaModFix amt="0"/>
              </a:blip>
              <a:stretch>
                <a:fillRect l="0" t="-17163" r="0" b="6008"/>
              </a:stretch>
            </a:blipFill>
          </p:spPr>
          <p:txBody>
            <a:bodyPr/>
            <a:p/>
          </p:txBody>
        </p:sp>
        <p:sp>
          <p:nvSpPr>
            <p:cNvPr name="TextBox 139" id="139"/>
            <p:cNvSpPr txBox="true"/>
            <p:nvPr/>
          </p:nvSpPr>
          <p:spPr>
            <a:xfrm>
              <a:off x="0" y="0"/>
              <a:ext cx="2267712" cy="795045"/>
            </a:xfrm>
            <a:prstGeom prst="rect">
              <a:avLst/>
            </a:prstGeom>
          </p:spPr>
          <p:txBody>
            <a:bodyPr anchor="ctr" rtlCol="false" tIns="0" lIns="0" bIns="0" rIns="0"/>
            <a:lstStyle/>
            <a:p>
              <a:pPr algn="ctr">
                <a:lnSpc>
                  <a:spcPts val="3240"/>
                </a:lnSpc>
              </a:pPr>
              <a:r>
                <a:rPr lang="en-US" sz="2700" b="true">
                  <a:solidFill>
                    <a:srgbClr val="6B7280"/>
                  </a:solidFill>
                  <a:latin typeface="Manrope Bold"/>
                  <a:ea typeface="Manrope Bold"/>
                  <a:cs typeface="Manrope Bold"/>
                  <a:sym typeface="Manrope Bold"/>
                </a:rPr>
                <a:t>Signes</a:t>
              </a:r>
            </a:p>
          </p:txBody>
        </p:sp>
      </p:grpSp>
      <p:grpSp>
        <p:nvGrpSpPr>
          <p:cNvPr name="Group 140" id="140"/>
          <p:cNvGrpSpPr/>
          <p:nvPr/>
        </p:nvGrpSpPr>
        <p:grpSpPr>
          <a:xfrm rot="0">
            <a:off x="15542285" y="9444842"/>
            <a:ext cx="1543050" cy="291379"/>
            <a:chOff x="0" y="0"/>
            <a:chExt cx="2057400" cy="388506"/>
          </a:xfrm>
        </p:grpSpPr>
        <p:sp>
          <p:nvSpPr>
            <p:cNvPr name="Freeform 141" id="141"/>
            <p:cNvSpPr/>
            <p:nvPr/>
          </p:nvSpPr>
          <p:spPr>
            <a:xfrm flipH="false" flipV="false" rot="0">
              <a:off x="0" y="0"/>
              <a:ext cx="2057400" cy="388506"/>
            </a:xfrm>
            <a:custGeom>
              <a:avLst/>
              <a:gdLst/>
              <a:ahLst/>
              <a:cxnLst/>
              <a:rect r="r" b="b" t="t" l="l"/>
              <a:pathLst>
                <a:path h="388506" w="2057400">
                  <a:moveTo>
                    <a:pt x="0" y="0"/>
                  </a:moveTo>
                  <a:lnTo>
                    <a:pt x="2057400" y="0"/>
                  </a:lnTo>
                  <a:lnTo>
                    <a:pt x="2057400" y="388506"/>
                  </a:lnTo>
                  <a:lnTo>
                    <a:pt x="0" y="388506"/>
                  </a:lnTo>
                  <a:close/>
                </a:path>
              </a:pathLst>
            </a:custGeom>
            <a:blipFill>
              <a:blip r:embed="rId5">
                <a:alphaModFix amt="0"/>
              </a:blip>
              <a:stretch>
                <a:fillRect l="0" t="-66234" r="0" b="-40138"/>
              </a:stretch>
            </a:blipFill>
          </p:spPr>
          <p:txBody>
            <a:bodyPr/>
            <a:p/>
          </p:txBody>
        </p:sp>
        <p:sp>
          <p:nvSpPr>
            <p:cNvPr name="TextBox 142" id="142"/>
            <p:cNvSpPr txBox="true"/>
            <p:nvPr/>
          </p:nvSpPr>
          <p:spPr>
            <a:xfrm>
              <a:off x="0" y="0"/>
              <a:ext cx="2057400" cy="388506"/>
            </a:xfrm>
            <a:prstGeom prst="rect">
              <a:avLst/>
            </a:prstGeom>
          </p:spPr>
          <p:txBody>
            <a:bodyPr anchor="ctr" rtlCol="false" tIns="0" lIns="0" bIns="0" rIns="0"/>
            <a:lstStyle/>
            <a:p>
              <a:pPr algn="ctr">
                <a:lnSpc>
                  <a:spcPts val="1439"/>
                </a:lnSpc>
              </a:pPr>
              <a:r>
                <a:rPr lang="en-US" sz="1200">
                  <a:solidFill>
                    <a:srgbClr val="6B7280"/>
                  </a:solidFill>
                  <a:latin typeface="Manrope"/>
                  <a:ea typeface="Manrope"/>
                  <a:cs typeface="Manrope"/>
                  <a:sym typeface="Manrope"/>
                </a:rPr>
                <a:t>Corriger</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15481249" y="2081441"/>
            <a:ext cx="2072488" cy="257861"/>
            <a:chOff x="0" y="0"/>
            <a:chExt cx="2763317" cy="343814"/>
          </a:xfrm>
        </p:grpSpPr>
        <p:sp>
          <p:nvSpPr>
            <p:cNvPr name="Freeform 9" id="9"/>
            <p:cNvSpPr/>
            <p:nvPr/>
          </p:nvSpPr>
          <p:spPr>
            <a:xfrm flipH="false" flipV="false" rot="0">
              <a:off x="0" y="0"/>
              <a:ext cx="2763316" cy="343814"/>
            </a:xfrm>
            <a:custGeom>
              <a:avLst/>
              <a:gdLst/>
              <a:ahLst/>
              <a:cxnLst/>
              <a:rect r="r" b="b" t="t" l="l"/>
              <a:pathLst>
                <a:path h="343814" w="2763316">
                  <a:moveTo>
                    <a:pt x="0" y="0"/>
                  </a:moveTo>
                  <a:lnTo>
                    <a:pt x="2763316" y="0"/>
                  </a:lnTo>
                  <a:lnTo>
                    <a:pt x="2763316" y="343814"/>
                  </a:lnTo>
                  <a:lnTo>
                    <a:pt x="0" y="343814"/>
                  </a:lnTo>
                  <a:close/>
                </a:path>
              </a:pathLst>
            </a:custGeom>
            <a:blipFill>
              <a:blip r:embed="rId4">
                <a:alphaModFix amt="0"/>
              </a:blip>
              <a:stretch>
                <a:fillRect l="0" t="-106605" r="0" b="-106606"/>
              </a:stretch>
            </a:blipFill>
          </p:spPr>
          <p:txBody>
            <a:bodyPr/>
            <a:p/>
          </p:txBody>
        </p:sp>
        <p:sp>
          <p:nvSpPr>
            <p:cNvPr name="TextBox 10" id="10"/>
            <p:cNvSpPr txBox="true"/>
            <p:nvPr/>
          </p:nvSpPr>
          <p:spPr>
            <a:xfrm>
              <a:off x="0" y="-9525"/>
              <a:ext cx="2763317"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Dr. Addor Protocol™</a:t>
              </a:r>
            </a:p>
          </p:txBody>
        </p:sp>
      </p:grpSp>
      <p:grpSp>
        <p:nvGrpSpPr>
          <p:cNvPr name="Group 11" id="11"/>
          <p:cNvGrpSpPr/>
          <p:nvPr/>
        </p:nvGrpSpPr>
        <p:grpSpPr>
          <a:xfrm rot="0">
            <a:off x="16710203" y="9672523"/>
            <a:ext cx="843534" cy="257861"/>
            <a:chOff x="0" y="0"/>
            <a:chExt cx="1124712" cy="343814"/>
          </a:xfrm>
        </p:grpSpPr>
        <p:sp>
          <p:nvSpPr>
            <p:cNvPr name="Freeform 12" id="12"/>
            <p:cNvSpPr/>
            <p:nvPr/>
          </p:nvSpPr>
          <p:spPr>
            <a:xfrm flipH="false" flipV="false" rot="0">
              <a:off x="0" y="0"/>
              <a:ext cx="1124712" cy="343814"/>
            </a:xfrm>
            <a:custGeom>
              <a:avLst/>
              <a:gdLst/>
              <a:ahLst/>
              <a:cxnLst/>
              <a:rect r="r" b="b" t="t" l="l"/>
              <a:pathLst>
                <a:path h="343814" w="1124712">
                  <a:moveTo>
                    <a:pt x="0" y="0"/>
                  </a:moveTo>
                  <a:lnTo>
                    <a:pt x="1124712" y="0"/>
                  </a:lnTo>
                  <a:lnTo>
                    <a:pt x="1124712" y="343814"/>
                  </a:lnTo>
                  <a:lnTo>
                    <a:pt x="0" y="343814"/>
                  </a:lnTo>
                  <a:close/>
                </a:path>
              </a:pathLst>
            </a:custGeom>
            <a:blipFill>
              <a:blip r:embed="rId4">
                <a:alphaModFix amt="0"/>
              </a:blip>
              <a:stretch>
                <a:fillRect l="0" t="-13740" r="0" b="-13741"/>
              </a:stretch>
            </a:blipFill>
          </p:spPr>
          <p:txBody>
            <a:bodyPr/>
            <a:p/>
          </p:txBody>
        </p:sp>
        <p:sp>
          <p:nvSpPr>
            <p:cNvPr name="TextBox 13" id="13"/>
            <p:cNvSpPr txBox="true"/>
            <p:nvPr/>
          </p:nvSpPr>
          <p:spPr>
            <a:xfrm>
              <a:off x="0" y="-9525"/>
              <a:ext cx="11247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13 / 14</a:t>
              </a:r>
            </a:p>
          </p:txBody>
        </p:sp>
      </p:grpSp>
      <p:grpSp>
        <p:nvGrpSpPr>
          <p:cNvPr name="Group 14" id="14"/>
          <p:cNvGrpSpPr/>
          <p:nvPr/>
        </p:nvGrpSpPr>
        <p:grpSpPr>
          <a:xfrm rot="0">
            <a:off x="857250" y="714604"/>
            <a:ext cx="456743" cy="13716"/>
            <a:chOff x="0" y="0"/>
            <a:chExt cx="608990" cy="18288"/>
          </a:xfrm>
        </p:grpSpPr>
        <p:sp>
          <p:nvSpPr>
            <p:cNvPr name="Freeform 15" id="15"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5"/>
              <a:stretch>
                <a:fillRect l="1949" t="0" r="1945" b="0"/>
              </a:stretch>
            </a:blipFill>
          </p:spPr>
          <p:txBody>
            <a:bodyPr/>
            <a:p/>
          </p:txBody>
        </p:sp>
      </p:grpSp>
      <p:grpSp>
        <p:nvGrpSpPr>
          <p:cNvPr name="Group 16" id="16"/>
          <p:cNvGrpSpPr/>
          <p:nvPr/>
        </p:nvGrpSpPr>
        <p:grpSpPr>
          <a:xfrm rot="0">
            <a:off x="1485443" y="571957"/>
            <a:ext cx="3455060" cy="332327"/>
            <a:chOff x="0" y="0"/>
            <a:chExt cx="4606747" cy="443103"/>
          </a:xfrm>
        </p:grpSpPr>
        <p:sp>
          <p:nvSpPr>
            <p:cNvPr name="Freeform 17" id="17"/>
            <p:cNvSpPr/>
            <p:nvPr/>
          </p:nvSpPr>
          <p:spPr>
            <a:xfrm flipH="false" flipV="false" rot="0">
              <a:off x="0" y="0"/>
              <a:ext cx="4606748" cy="443104"/>
            </a:xfrm>
            <a:custGeom>
              <a:avLst/>
              <a:gdLst/>
              <a:ahLst/>
              <a:cxnLst/>
              <a:rect r="r" b="b" t="t" l="l"/>
              <a:pathLst>
                <a:path h="443104" w="4606748">
                  <a:moveTo>
                    <a:pt x="0" y="0"/>
                  </a:moveTo>
                  <a:lnTo>
                    <a:pt x="4606748" y="0"/>
                  </a:lnTo>
                  <a:lnTo>
                    <a:pt x="4606748" y="443104"/>
                  </a:lnTo>
                  <a:lnTo>
                    <a:pt x="0" y="443104"/>
                  </a:lnTo>
                  <a:close/>
                </a:path>
              </a:pathLst>
            </a:custGeom>
            <a:blipFill>
              <a:blip r:embed="rId4">
                <a:alphaModFix amt="0"/>
              </a:blip>
              <a:stretch>
                <a:fillRect l="0" t="-157383" r="0" b="-147770"/>
              </a:stretch>
            </a:blipFill>
          </p:spPr>
          <p:txBody>
            <a:bodyPr/>
            <a:p/>
          </p:txBody>
        </p:sp>
        <p:sp>
          <p:nvSpPr>
            <p:cNvPr name="TextBox 18" id="18"/>
            <p:cNvSpPr txBox="true"/>
            <p:nvPr/>
          </p:nvSpPr>
          <p:spPr>
            <a:xfrm>
              <a:off x="0" y="-9525"/>
              <a:ext cx="4606747" cy="452628"/>
            </a:xfrm>
            <a:prstGeom prst="rect">
              <a:avLst/>
            </a:prstGeom>
          </p:spPr>
          <p:txBody>
            <a:bodyPr anchor="ctr" rtlCol="false" tIns="0" lIns="0" bIns="0" rIns="0"/>
            <a:lstStyle/>
            <a:p>
              <a:pPr algn="l">
                <a:lnSpc>
                  <a:spcPts val="1800"/>
                </a:lnSpc>
              </a:pPr>
              <a:r>
                <a:rPr lang="en-US" b="true" sz="1500" spc="225">
                  <a:solidFill>
                    <a:srgbClr val="BCBFCC"/>
                  </a:solidFill>
                  <a:latin typeface="Manrope Bold"/>
                  <a:ea typeface="Manrope Bold"/>
                  <a:cs typeface="Manrope Bold"/>
                  <a:sym typeface="Manrope Bold"/>
                </a:rPr>
                <a:t>Cosméceutique</a:t>
              </a:r>
            </a:p>
          </p:txBody>
        </p:sp>
      </p:grpSp>
      <p:grpSp>
        <p:nvGrpSpPr>
          <p:cNvPr name="Group 19" id="19"/>
          <p:cNvGrpSpPr/>
          <p:nvPr/>
        </p:nvGrpSpPr>
        <p:grpSpPr>
          <a:xfrm rot="0">
            <a:off x="857250" y="986180"/>
            <a:ext cx="6358738" cy="1192568"/>
            <a:chOff x="0" y="0"/>
            <a:chExt cx="8478317" cy="1590091"/>
          </a:xfrm>
        </p:grpSpPr>
        <p:sp>
          <p:nvSpPr>
            <p:cNvPr name="Freeform 20" id="20"/>
            <p:cNvSpPr/>
            <p:nvPr/>
          </p:nvSpPr>
          <p:spPr>
            <a:xfrm flipH="false" flipV="false" rot="0">
              <a:off x="0" y="0"/>
              <a:ext cx="8478316" cy="1590091"/>
            </a:xfrm>
            <a:custGeom>
              <a:avLst/>
              <a:gdLst/>
              <a:ahLst/>
              <a:cxnLst/>
              <a:rect r="r" b="b" t="t" l="l"/>
              <a:pathLst>
                <a:path h="1590091" w="8478316">
                  <a:moveTo>
                    <a:pt x="0" y="0"/>
                  </a:moveTo>
                  <a:lnTo>
                    <a:pt x="8478316" y="0"/>
                  </a:lnTo>
                  <a:lnTo>
                    <a:pt x="8478316" y="1590091"/>
                  </a:lnTo>
                  <a:lnTo>
                    <a:pt x="0" y="1590091"/>
                  </a:lnTo>
                  <a:close/>
                </a:path>
              </a:pathLst>
            </a:custGeom>
            <a:blipFill>
              <a:blip r:embed="rId4">
                <a:alphaModFix amt="0"/>
              </a:blip>
              <a:stretch>
                <a:fillRect l="0" t="-75140" r="0" b="-32646"/>
              </a:stretch>
            </a:blipFill>
          </p:spPr>
          <p:txBody>
            <a:bodyPr/>
            <a:p/>
          </p:txBody>
        </p:sp>
        <p:sp>
          <p:nvSpPr>
            <p:cNvPr name="TextBox 21" id="21"/>
            <p:cNvSpPr txBox="true"/>
            <p:nvPr/>
          </p:nvSpPr>
          <p:spPr>
            <a:xfrm>
              <a:off x="0" y="9525"/>
              <a:ext cx="8478317" cy="1580566"/>
            </a:xfrm>
            <a:prstGeom prst="rect">
              <a:avLst/>
            </a:prstGeom>
          </p:spPr>
          <p:txBody>
            <a:bodyPr anchor="ctr" rtlCol="false" tIns="0" lIns="0" bIns="0" rIns="0"/>
            <a:lstStyle/>
            <a:p>
              <a:pPr algn="l">
                <a:lnSpc>
                  <a:spcPts val="6480"/>
                </a:lnSpc>
              </a:pPr>
              <a:r>
                <a:rPr lang="en-US" sz="5400" spc="-112">
                  <a:solidFill>
                    <a:srgbClr val="FFFFFF"/>
                  </a:solidFill>
                  <a:latin typeface="Manrope"/>
                  <a:ea typeface="Manrope"/>
                  <a:cs typeface="Manrope"/>
                  <a:sym typeface="Manrope"/>
                </a:rPr>
                <a:t>CE QUI VIENT</a:t>
              </a:r>
            </a:p>
          </p:txBody>
        </p:sp>
      </p:grpSp>
      <p:grpSp>
        <p:nvGrpSpPr>
          <p:cNvPr name="Group 22" id="22"/>
          <p:cNvGrpSpPr/>
          <p:nvPr/>
        </p:nvGrpSpPr>
        <p:grpSpPr>
          <a:xfrm rot="0">
            <a:off x="857250" y="1939500"/>
            <a:ext cx="6704381" cy="332327"/>
            <a:chOff x="0" y="0"/>
            <a:chExt cx="8939174" cy="443103"/>
          </a:xfrm>
        </p:grpSpPr>
        <p:sp>
          <p:nvSpPr>
            <p:cNvPr name="Freeform 23" id="23"/>
            <p:cNvSpPr/>
            <p:nvPr/>
          </p:nvSpPr>
          <p:spPr>
            <a:xfrm flipH="false" flipV="false" rot="0">
              <a:off x="0" y="0"/>
              <a:ext cx="8939174" cy="443104"/>
            </a:xfrm>
            <a:custGeom>
              <a:avLst/>
              <a:gdLst/>
              <a:ahLst/>
              <a:cxnLst/>
              <a:rect r="r" b="b" t="t" l="l"/>
              <a:pathLst>
                <a:path h="443104" w="8939174">
                  <a:moveTo>
                    <a:pt x="0" y="0"/>
                  </a:moveTo>
                  <a:lnTo>
                    <a:pt x="8939174" y="0"/>
                  </a:lnTo>
                  <a:lnTo>
                    <a:pt x="8939174" y="443104"/>
                  </a:lnTo>
                  <a:lnTo>
                    <a:pt x="0" y="443104"/>
                  </a:lnTo>
                  <a:close/>
                </a:path>
              </a:pathLst>
            </a:custGeom>
            <a:blipFill>
              <a:blip r:embed="rId4">
                <a:alphaModFix amt="0"/>
              </a:blip>
              <a:stretch>
                <a:fillRect l="0" t="-349961" r="0" b="-336220"/>
              </a:stretch>
            </a:blipFill>
          </p:spPr>
          <p:txBody>
            <a:bodyPr/>
            <a:p/>
          </p:txBody>
        </p:sp>
        <p:sp>
          <p:nvSpPr>
            <p:cNvPr name="TextBox 24" id="24"/>
            <p:cNvSpPr txBox="true"/>
            <p:nvPr/>
          </p:nvSpPr>
          <p:spPr>
            <a:xfrm>
              <a:off x="0" y="-9525"/>
              <a:ext cx="8939174" cy="452628"/>
            </a:xfrm>
            <a:prstGeom prst="rect">
              <a:avLst/>
            </a:prstGeom>
          </p:spPr>
          <p:txBody>
            <a:bodyPr anchor="ctr" rtlCol="false" tIns="0" lIns="0" bIns="0" rIns="0"/>
            <a:lstStyle/>
            <a:p>
              <a:pPr algn="l">
                <a:lnSpc>
                  <a:spcPts val="1800"/>
                </a:lnSpc>
              </a:pPr>
              <a:r>
                <a:rPr lang="en-US" b="true" sz="1500" spc="225">
                  <a:solidFill>
                    <a:srgbClr val="BCBFCC"/>
                  </a:solidFill>
                  <a:latin typeface="Manrope Bold"/>
                  <a:ea typeface="Manrope Bold"/>
                  <a:cs typeface="Manrope Bold"/>
                  <a:sym typeface="Manrope Bold"/>
                </a:rPr>
                <a:t>Cinq frontières, du validé en clinique à la recherche.</a:t>
              </a:r>
            </a:p>
          </p:txBody>
        </p:sp>
      </p:grpSp>
      <p:grpSp>
        <p:nvGrpSpPr>
          <p:cNvPr name="Group 25" id="25"/>
          <p:cNvGrpSpPr/>
          <p:nvPr/>
        </p:nvGrpSpPr>
        <p:grpSpPr>
          <a:xfrm rot="0">
            <a:off x="16788384" y="1357884"/>
            <a:ext cx="643280" cy="571957"/>
            <a:chOff x="0" y="0"/>
            <a:chExt cx="857707" cy="762610"/>
          </a:xfrm>
        </p:grpSpPr>
        <p:sp>
          <p:nvSpPr>
            <p:cNvPr name="Freeform 26" id="26" descr="preencoded.png"/>
            <p:cNvSpPr/>
            <p:nvPr/>
          </p:nvSpPr>
          <p:spPr>
            <a:xfrm flipH="false" flipV="false" rot="0">
              <a:off x="0" y="0"/>
              <a:ext cx="857758" cy="762635"/>
            </a:xfrm>
            <a:custGeom>
              <a:avLst/>
              <a:gdLst/>
              <a:ahLst/>
              <a:cxnLst/>
              <a:rect r="r" b="b" t="t" l="l"/>
              <a:pathLst>
                <a:path h="762635" w="857758">
                  <a:moveTo>
                    <a:pt x="0" y="0"/>
                  </a:moveTo>
                  <a:lnTo>
                    <a:pt x="857758" y="0"/>
                  </a:lnTo>
                  <a:lnTo>
                    <a:pt x="857758" y="762635"/>
                  </a:lnTo>
                  <a:lnTo>
                    <a:pt x="0" y="762635"/>
                  </a:lnTo>
                  <a:lnTo>
                    <a:pt x="0" y="0"/>
                  </a:lnTo>
                  <a:close/>
                </a:path>
              </a:pathLst>
            </a:custGeom>
            <a:blipFill>
              <a:blip r:embed="rId6">
                <a:alphaModFix amt="50000"/>
              </a:blip>
              <a:stretch>
                <a:fillRect l="0" t="13" r="-262" b="16"/>
              </a:stretch>
            </a:blipFill>
          </p:spPr>
          <p:txBody>
            <a:bodyPr/>
            <a:p/>
          </p:txBody>
        </p:sp>
      </p:grpSp>
      <p:grpSp>
        <p:nvGrpSpPr>
          <p:cNvPr name="Group 27" id="27"/>
          <p:cNvGrpSpPr/>
          <p:nvPr/>
        </p:nvGrpSpPr>
        <p:grpSpPr>
          <a:xfrm rot="0">
            <a:off x="862813" y="2490902"/>
            <a:ext cx="5347716" cy="3490570"/>
            <a:chOff x="0" y="0"/>
            <a:chExt cx="7130288" cy="4654093"/>
          </a:xfrm>
        </p:grpSpPr>
        <p:sp>
          <p:nvSpPr>
            <p:cNvPr name="Freeform 28" id="28"/>
            <p:cNvSpPr/>
            <p:nvPr/>
          </p:nvSpPr>
          <p:spPr>
            <a:xfrm flipH="false" flipV="false" rot="0">
              <a:off x="12700" y="12700"/>
              <a:ext cx="7104888" cy="4628642"/>
            </a:xfrm>
            <a:custGeom>
              <a:avLst/>
              <a:gdLst/>
              <a:ahLst/>
              <a:cxnLst/>
              <a:rect r="r" b="b" t="t" l="l"/>
              <a:pathLst>
                <a:path h="4628642" w="7104888">
                  <a:moveTo>
                    <a:pt x="0" y="0"/>
                  </a:moveTo>
                  <a:lnTo>
                    <a:pt x="7104888" y="0"/>
                  </a:lnTo>
                  <a:lnTo>
                    <a:pt x="7104888" y="4628642"/>
                  </a:lnTo>
                  <a:lnTo>
                    <a:pt x="0" y="4628642"/>
                  </a:lnTo>
                  <a:close/>
                </a:path>
              </a:pathLst>
            </a:custGeom>
            <a:solidFill>
              <a:srgbClr val="141419"/>
            </a:solidFill>
          </p:spPr>
          <p:txBody>
            <a:bodyPr/>
            <a:p/>
          </p:txBody>
        </p:sp>
        <p:sp>
          <p:nvSpPr>
            <p:cNvPr name="Freeform 29" id="29"/>
            <p:cNvSpPr/>
            <p:nvPr/>
          </p:nvSpPr>
          <p:spPr>
            <a:xfrm flipH="false" flipV="false" rot="0">
              <a:off x="0" y="0"/>
              <a:ext cx="7130288" cy="4654042"/>
            </a:xfrm>
            <a:custGeom>
              <a:avLst/>
              <a:gdLst/>
              <a:ahLst/>
              <a:cxnLst/>
              <a:rect r="r" b="b" t="t" l="l"/>
              <a:pathLst>
                <a:path h="4654042" w="7130288">
                  <a:moveTo>
                    <a:pt x="12700" y="0"/>
                  </a:moveTo>
                  <a:lnTo>
                    <a:pt x="7117588" y="0"/>
                  </a:lnTo>
                  <a:cubicBezTo>
                    <a:pt x="7124573" y="0"/>
                    <a:pt x="7130288" y="5715"/>
                    <a:pt x="7130288" y="12700"/>
                  </a:cubicBezTo>
                  <a:lnTo>
                    <a:pt x="7130288" y="4641342"/>
                  </a:lnTo>
                  <a:cubicBezTo>
                    <a:pt x="7130288" y="4648327"/>
                    <a:pt x="7124573" y="4654042"/>
                    <a:pt x="7117588"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7117588" y="4628642"/>
                  </a:lnTo>
                  <a:lnTo>
                    <a:pt x="7117588" y="4641342"/>
                  </a:lnTo>
                  <a:lnTo>
                    <a:pt x="7104888" y="4641342"/>
                  </a:lnTo>
                  <a:lnTo>
                    <a:pt x="7104888" y="12700"/>
                  </a:lnTo>
                  <a:lnTo>
                    <a:pt x="7117588" y="12700"/>
                  </a:lnTo>
                  <a:lnTo>
                    <a:pt x="7117588" y="25400"/>
                  </a:lnTo>
                  <a:lnTo>
                    <a:pt x="12700" y="25400"/>
                  </a:lnTo>
                  <a:close/>
                </a:path>
              </a:pathLst>
            </a:custGeom>
            <a:solidFill>
              <a:srgbClr val="40424D"/>
            </a:solidFill>
          </p:spPr>
          <p:txBody>
            <a:bodyPr/>
            <a:p/>
          </p:txBody>
        </p:sp>
      </p:grpSp>
      <p:grpSp>
        <p:nvGrpSpPr>
          <p:cNvPr name="Group 30" id="30"/>
          <p:cNvGrpSpPr/>
          <p:nvPr/>
        </p:nvGrpSpPr>
        <p:grpSpPr>
          <a:xfrm rot="0">
            <a:off x="1219429" y="2847518"/>
            <a:ext cx="704850" cy="704850"/>
            <a:chOff x="0" y="0"/>
            <a:chExt cx="939800" cy="939800"/>
          </a:xfrm>
        </p:grpSpPr>
        <p:sp>
          <p:nvSpPr>
            <p:cNvPr name="Freeform 31" id="31"/>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32" id="32"/>
          <p:cNvGrpSpPr/>
          <p:nvPr/>
        </p:nvGrpSpPr>
        <p:grpSpPr>
          <a:xfrm rot="0">
            <a:off x="1436065" y="3043580"/>
            <a:ext cx="271577" cy="314096"/>
            <a:chOff x="0" y="0"/>
            <a:chExt cx="362102" cy="418795"/>
          </a:xfrm>
        </p:grpSpPr>
        <p:sp>
          <p:nvSpPr>
            <p:cNvPr name="Freeform 33" id="33" descr="preencoded.png"/>
            <p:cNvSpPr/>
            <p:nvPr/>
          </p:nvSpPr>
          <p:spPr>
            <a:xfrm flipH="false" flipV="false" rot="0">
              <a:off x="0" y="0"/>
              <a:ext cx="362077" cy="418846"/>
            </a:xfrm>
            <a:custGeom>
              <a:avLst/>
              <a:gdLst/>
              <a:ahLst/>
              <a:cxnLst/>
              <a:rect r="r" b="b" t="t" l="l"/>
              <a:pathLst>
                <a:path h="418846" w="362077">
                  <a:moveTo>
                    <a:pt x="0" y="0"/>
                  </a:moveTo>
                  <a:lnTo>
                    <a:pt x="362077" y="0"/>
                  </a:lnTo>
                  <a:lnTo>
                    <a:pt x="362077" y="418846"/>
                  </a:lnTo>
                  <a:lnTo>
                    <a:pt x="0" y="418846"/>
                  </a:lnTo>
                  <a:lnTo>
                    <a:pt x="0" y="0"/>
                  </a:lnTo>
                  <a:close/>
                </a:path>
              </a:pathLst>
            </a:custGeom>
            <a:blipFill>
              <a:blip r:embed="rId7"/>
              <a:stretch>
                <a:fillRect l="0" t="597" r="-7" b="-18"/>
              </a:stretch>
            </a:blipFill>
          </p:spPr>
          <p:txBody>
            <a:bodyPr/>
            <a:p/>
          </p:txBody>
        </p:sp>
      </p:grpSp>
      <p:grpSp>
        <p:nvGrpSpPr>
          <p:cNvPr name="Group 34" id="34"/>
          <p:cNvGrpSpPr/>
          <p:nvPr/>
        </p:nvGrpSpPr>
        <p:grpSpPr>
          <a:xfrm rot="0">
            <a:off x="5633161" y="2857043"/>
            <a:ext cx="329184" cy="257861"/>
            <a:chOff x="0" y="0"/>
            <a:chExt cx="438912" cy="343814"/>
          </a:xfrm>
        </p:grpSpPr>
        <p:sp>
          <p:nvSpPr>
            <p:cNvPr name="Freeform 35" id="35"/>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36" id="36"/>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01</a:t>
              </a:r>
            </a:p>
          </p:txBody>
        </p:sp>
      </p:grpSp>
      <p:grpSp>
        <p:nvGrpSpPr>
          <p:cNvPr name="Group 37" id="37"/>
          <p:cNvGrpSpPr/>
          <p:nvPr/>
        </p:nvGrpSpPr>
        <p:grpSpPr>
          <a:xfrm rot="0">
            <a:off x="1228954" y="3771900"/>
            <a:ext cx="4786884" cy="430120"/>
            <a:chOff x="0" y="0"/>
            <a:chExt cx="6382512" cy="573494"/>
          </a:xfrm>
        </p:grpSpPr>
        <p:sp>
          <p:nvSpPr>
            <p:cNvPr name="Freeform 38" id="38"/>
            <p:cNvSpPr/>
            <p:nvPr/>
          </p:nvSpPr>
          <p:spPr>
            <a:xfrm flipH="false" flipV="false" rot="0">
              <a:off x="0" y="0"/>
              <a:ext cx="6382512" cy="573494"/>
            </a:xfrm>
            <a:custGeom>
              <a:avLst/>
              <a:gdLst/>
              <a:ahLst/>
              <a:cxnLst/>
              <a:rect r="r" b="b" t="t" l="l"/>
              <a:pathLst>
                <a:path h="573494" w="6382512">
                  <a:moveTo>
                    <a:pt x="0" y="0"/>
                  </a:moveTo>
                  <a:lnTo>
                    <a:pt x="6382512" y="0"/>
                  </a:lnTo>
                  <a:lnTo>
                    <a:pt x="6382512" y="573494"/>
                  </a:lnTo>
                  <a:lnTo>
                    <a:pt x="0" y="573494"/>
                  </a:lnTo>
                  <a:close/>
                </a:path>
              </a:pathLst>
            </a:custGeom>
            <a:blipFill>
              <a:blip r:embed="rId4">
                <a:alphaModFix amt="0"/>
              </a:blip>
              <a:stretch>
                <a:fillRect l="0" t="-171889" r="0" b="-161815"/>
              </a:stretch>
            </a:blipFill>
          </p:spPr>
          <p:txBody>
            <a:bodyPr/>
            <a:p/>
          </p:txBody>
        </p:sp>
        <p:sp>
          <p:nvSpPr>
            <p:cNvPr name="TextBox 39" id="39"/>
            <p:cNvSpPr txBox="true"/>
            <p:nvPr/>
          </p:nvSpPr>
          <p:spPr>
            <a:xfrm>
              <a:off x="0" y="-9525"/>
              <a:ext cx="6382512"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Mitochondrie Topique</a:t>
              </a:r>
            </a:p>
          </p:txBody>
        </p:sp>
      </p:grpSp>
      <p:grpSp>
        <p:nvGrpSpPr>
          <p:cNvPr name="Group 40" id="40"/>
          <p:cNvGrpSpPr/>
          <p:nvPr/>
        </p:nvGrpSpPr>
        <p:grpSpPr>
          <a:xfrm rot="0">
            <a:off x="1228954" y="4328770"/>
            <a:ext cx="4786884" cy="293380"/>
            <a:chOff x="0" y="0"/>
            <a:chExt cx="6382512" cy="391173"/>
          </a:xfrm>
        </p:grpSpPr>
        <p:sp>
          <p:nvSpPr>
            <p:cNvPr name="Freeform 41" id="41"/>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42" id="42"/>
            <p:cNvSpPr txBox="true"/>
            <p:nvPr/>
          </p:nvSpPr>
          <p:spPr>
            <a:xfrm>
              <a:off x="0" y="0"/>
              <a:ext cx="6382512"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Urolithine A</a:t>
              </a:r>
              <a:r>
                <a:rPr lang="en-US" sz="1350">
                  <a:solidFill>
                    <a:srgbClr val="BCBFCC"/>
                  </a:solidFill>
                  <a:latin typeface="Manrope"/>
                  <a:ea typeface="Manrope"/>
                  <a:cs typeface="Manrope"/>
                  <a:sym typeface="Manrope"/>
                </a:rPr>
                <a:t> (essai clinique randomisé)</a:t>
              </a:r>
            </a:p>
          </p:txBody>
        </p:sp>
      </p:grpSp>
      <p:grpSp>
        <p:nvGrpSpPr>
          <p:cNvPr name="Group 43" id="43"/>
          <p:cNvGrpSpPr/>
          <p:nvPr/>
        </p:nvGrpSpPr>
        <p:grpSpPr>
          <a:xfrm rot="0">
            <a:off x="1228954" y="4703216"/>
            <a:ext cx="4786884" cy="293380"/>
            <a:chOff x="0" y="0"/>
            <a:chExt cx="6382512" cy="391173"/>
          </a:xfrm>
        </p:grpSpPr>
        <p:sp>
          <p:nvSpPr>
            <p:cNvPr name="Freeform 44" id="44"/>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45" id="45"/>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Mitophagie stimulée, testée à </a:t>
              </a:r>
              <a:r>
                <a:rPr lang="en-US" sz="1350" b="true">
                  <a:solidFill>
                    <a:srgbClr val="FFFFFF"/>
                  </a:solidFill>
                  <a:latin typeface="Manrope Bold"/>
                  <a:ea typeface="Manrope Bold"/>
                  <a:cs typeface="Manrope Bold"/>
                  <a:sym typeface="Manrope Bold"/>
                </a:rPr>
                <a:t>0,5 et 1 %</a:t>
              </a:r>
            </a:p>
          </p:txBody>
        </p:sp>
      </p:grpSp>
      <p:grpSp>
        <p:nvGrpSpPr>
          <p:cNvPr name="Group 46" id="46"/>
          <p:cNvGrpSpPr/>
          <p:nvPr/>
        </p:nvGrpSpPr>
        <p:grpSpPr>
          <a:xfrm rot="0">
            <a:off x="1228954" y="5077663"/>
            <a:ext cx="5074920" cy="293380"/>
            <a:chOff x="0" y="0"/>
            <a:chExt cx="6766560" cy="391173"/>
          </a:xfrm>
        </p:grpSpPr>
        <p:sp>
          <p:nvSpPr>
            <p:cNvPr name="Freeform 47" id="47"/>
            <p:cNvSpPr/>
            <p:nvPr/>
          </p:nvSpPr>
          <p:spPr>
            <a:xfrm flipH="false" flipV="false" rot="0">
              <a:off x="0" y="0"/>
              <a:ext cx="6766560" cy="391172"/>
            </a:xfrm>
            <a:custGeom>
              <a:avLst/>
              <a:gdLst/>
              <a:ahLst/>
              <a:cxnLst/>
              <a:rect r="r" b="b" t="t" l="l"/>
              <a:pathLst>
                <a:path h="391172" w="6766560">
                  <a:moveTo>
                    <a:pt x="0" y="0"/>
                  </a:moveTo>
                  <a:lnTo>
                    <a:pt x="6766560" y="0"/>
                  </a:lnTo>
                  <a:lnTo>
                    <a:pt x="6766560" y="391172"/>
                  </a:lnTo>
                  <a:lnTo>
                    <a:pt x="0" y="391172"/>
                  </a:lnTo>
                  <a:close/>
                </a:path>
              </a:pathLst>
            </a:custGeom>
            <a:blipFill>
              <a:blip r:embed="rId4">
                <a:alphaModFix amt="0"/>
              </a:blip>
              <a:stretch>
                <a:fillRect l="0" t="-290771" r="0" b="-283339"/>
              </a:stretch>
            </a:blipFill>
          </p:spPr>
          <p:txBody>
            <a:bodyPr/>
            <a:p/>
          </p:txBody>
        </p:sp>
        <p:sp>
          <p:nvSpPr>
            <p:cNvPr name="TextBox 48" id="48"/>
            <p:cNvSpPr txBox="true"/>
            <p:nvPr/>
          </p:nvSpPr>
          <p:spPr>
            <a:xfrm>
              <a:off x="0" y="0"/>
              <a:ext cx="676656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Née dans l'intestin, appliquée sur la peau</a:t>
              </a:r>
            </a:p>
          </p:txBody>
        </p:sp>
      </p:grpSp>
      <p:grpSp>
        <p:nvGrpSpPr>
          <p:cNvPr name="Group 49" id="49"/>
          <p:cNvGrpSpPr/>
          <p:nvPr/>
        </p:nvGrpSpPr>
        <p:grpSpPr>
          <a:xfrm rot="0">
            <a:off x="6472657" y="2490902"/>
            <a:ext cx="5347716" cy="3490570"/>
            <a:chOff x="0" y="0"/>
            <a:chExt cx="7130288" cy="4654093"/>
          </a:xfrm>
        </p:grpSpPr>
        <p:sp>
          <p:nvSpPr>
            <p:cNvPr name="Freeform 50" id="50"/>
            <p:cNvSpPr/>
            <p:nvPr/>
          </p:nvSpPr>
          <p:spPr>
            <a:xfrm flipH="false" flipV="false" rot="0">
              <a:off x="12700" y="12700"/>
              <a:ext cx="7104888" cy="4628642"/>
            </a:xfrm>
            <a:custGeom>
              <a:avLst/>
              <a:gdLst/>
              <a:ahLst/>
              <a:cxnLst/>
              <a:rect r="r" b="b" t="t" l="l"/>
              <a:pathLst>
                <a:path h="4628642" w="7104888">
                  <a:moveTo>
                    <a:pt x="0" y="0"/>
                  </a:moveTo>
                  <a:lnTo>
                    <a:pt x="7104888" y="0"/>
                  </a:lnTo>
                  <a:lnTo>
                    <a:pt x="7104888" y="4628642"/>
                  </a:lnTo>
                  <a:lnTo>
                    <a:pt x="0" y="4628642"/>
                  </a:lnTo>
                  <a:close/>
                </a:path>
              </a:pathLst>
            </a:custGeom>
            <a:solidFill>
              <a:srgbClr val="141419"/>
            </a:solidFill>
          </p:spPr>
          <p:txBody>
            <a:bodyPr/>
            <a:p/>
          </p:txBody>
        </p:sp>
        <p:sp>
          <p:nvSpPr>
            <p:cNvPr name="Freeform 51" id="51"/>
            <p:cNvSpPr/>
            <p:nvPr/>
          </p:nvSpPr>
          <p:spPr>
            <a:xfrm flipH="false" flipV="false" rot="0">
              <a:off x="0" y="0"/>
              <a:ext cx="7130288" cy="4654042"/>
            </a:xfrm>
            <a:custGeom>
              <a:avLst/>
              <a:gdLst/>
              <a:ahLst/>
              <a:cxnLst/>
              <a:rect r="r" b="b" t="t" l="l"/>
              <a:pathLst>
                <a:path h="4654042" w="7130288">
                  <a:moveTo>
                    <a:pt x="12700" y="0"/>
                  </a:moveTo>
                  <a:lnTo>
                    <a:pt x="7117588" y="0"/>
                  </a:lnTo>
                  <a:cubicBezTo>
                    <a:pt x="7124573" y="0"/>
                    <a:pt x="7130288" y="5715"/>
                    <a:pt x="7130288" y="12700"/>
                  </a:cubicBezTo>
                  <a:lnTo>
                    <a:pt x="7130288" y="4641342"/>
                  </a:lnTo>
                  <a:cubicBezTo>
                    <a:pt x="7130288" y="4648327"/>
                    <a:pt x="7124573" y="4654042"/>
                    <a:pt x="7117588"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7117588" y="4628642"/>
                  </a:lnTo>
                  <a:lnTo>
                    <a:pt x="7117588" y="4641342"/>
                  </a:lnTo>
                  <a:lnTo>
                    <a:pt x="7104888" y="4641342"/>
                  </a:lnTo>
                  <a:lnTo>
                    <a:pt x="7104888" y="12700"/>
                  </a:lnTo>
                  <a:lnTo>
                    <a:pt x="7117588" y="12700"/>
                  </a:lnTo>
                  <a:lnTo>
                    <a:pt x="7117588" y="25400"/>
                  </a:lnTo>
                  <a:lnTo>
                    <a:pt x="12700" y="25400"/>
                  </a:lnTo>
                  <a:close/>
                </a:path>
              </a:pathLst>
            </a:custGeom>
            <a:solidFill>
              <a:srgbClr val="40424D"/>
            </a:solidFill>
          </p:spPr>
          <p:txBody>
            <a:bodyPr/>
            <a:p/>
          </p:txBody>
        </p:sp>
      </p:grpSp>
      <p:grpSp>
        <p:nvGrpSpPr>
          <p:cNvPr name="Group 52" id="52"/>
          <p:cNvGrpSpPr/>
          <p:nvPr/>
        </p:nvGrpSpPr>
        <p:grpSpPr>
          <a:xfrm rot="0">
            <a:off x="6829273" y="2847518"/>
            <a:ext cx="704850" cy="704850"/>
            <a:chOff x="0" y="0"/>
            <a:chExt cx="939800" cy="939800"/>
          </a:xfrm>
        </p:grpSpPr>
        <p:sp>
          <p:nvSpPr>
            <p:cNvPr name="Freeform 53" id="53"/>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54" id="54"/>
          <p:cNvGrpSpPr/>
          <p:nvPr/>
        </p:nvGrpSpPr>
        <p:grpSpPr>
          <a:xfrm rot="0">
            <a:off x="7045909" y="3043580"/>
            <a:ext cx="271577" cy="314096"/>
            <a:chOff x="0" y="0"/>
            <a:chExt cx="362102" cy="418795"/>
          </a:xfrm>
        </p:grpSpPr>
        <p:sp>
          <p:nvSpPr>
            <p:cNvPr name="Freeform 55" id="55" descr="preencoded.png"/>
            <p:cNvSpPr/>
            <p:nvPr/>
          </p:nvSpPr>
          <p:spPr>
            <a:xfrm flipH="false" flipV="false" rot="0">
              <a:off x="0" y="0"/>
              <a:ext cx="362077" cy="418846"/>
            </a:xfrm>
            <a:custGeom>
              <a:avLst/>
              <a:gdLst/>
              <a:ahLst/>
              <a:cxnLst/>
              <a:rect r="r" b="b" t="t" l="l"/>
              <a:pathLst>
                <a:path h="418846" w="362077">
                  <a:moveTo>
                    <a:pt x="0" y="0"/>
                  </a:moveTo>
                  <a:lnTo>
                    <a:pt x="362077" y="0"/>
                  </a:lnTo>
                  <a:lnTo>
                    <a:pt x="362077" y="418846"/>
                  </a:lnTo>
                  <a:lnTo>
                    <a:pt x="0" y="418846"/>
                  </a:lnTo>
                  <a:lnTo>
                    <a:pt x="0" y="0"/>
                  </a:lnTo>
                  <a:close/>
                </a:path>
              </a:pathLst>
            </a:custGeom>
            <a:blipFill>
              <a:blip r:embed="rId8"/>
              <a:stretch>
                <a:fillRect l="0" t="597" r="-7" b="-18"/>
              </a:stretch>
            </a:blipFill>
          </p:spPr>
          <p:txBody>
            <a:bodyPr/>
            <a:p/>
          </p:txBody>
        </p:sp>
      </p:grpSp>
      <p:grpSp>
        <p:nvGrpSpPr>
          <p:cNvPr name="Group 56" id="56"/>
          <p:cNvGrpSpPr/>
          <p:nvPr/>
        </p:nvGrpSpPr>
        <p:grpSpPr>
          <a:xfrm rot="0">
            <a:off x="11243005" y="2857043"/>
            <a:ext cx="329184" cy="257861"/>
            <a:chOff x="0" y="0"/>
            <a:chExt cx="438912" cy="343814"/>
          </a:xfrm>
        </p:grpSpPr>
        <p:sp>
          <p:nvSpPr>
            <p:cNvPr name="Freeform 57" id="57"/>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58" id="58"/>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02</a:t>
              </a:r>
            </a:p>
          </p:txBody>
        </p:sp>
      </p:grpSp>
      <p:grpSp>
        <p:nvGrpSpPr>
          <p:cNvPr name="Group 59" id="59"/>
          <p:cNvGrpSpPr/>
          <p:nvPr/>
        </p:nvGrpSpPr>
        <p:grpSpPr>
          <a:xfrm rot="0">
            <a:off x="6838798" y="3771900"/>
            <a:ext cx="4786884" cy="430120"/>
            <a:chOff x="0" y="0"/>
            <a:chExt cx="6382512" cy="573494"/>
          </a:xfrm>
        </p:grpSpPr>
        <p:sp>
          <p:nvSpPr>
            <p:cNvPr name="Freeform 60" id="60"/>
            <p:cNvSpPr/>
            <p:nvPr/>
          </p:nvSpPr>
          <p:spPr>
            <a:xfrm flipH="false" flipV="false" rot="0">
              <a:off x="0" y="0"/>
              <a:ext cx="6382512" cy="573494"/>
            </a:xfrm>
            <a:custGeom>
              <a:avLst/>
              <a:gdLst/>
              <a:ahLst/>
              <a:cxnLst/>
              <a:rect r="r" b="b" t="t" l="l"/>
              <a:pathLst>
                <a:path h="573494" w="6382512">
                  <a:moveTo>
                    <a:pt x="0" y="0"/>
                  </a:moveTo>
                  <a:lnTo>
                    <a:pt x="6382512" y="0"/>
                  </a:lnTo>
                  <a:lnTo>
                    <a:pt x="6382512" y="573494"/>
                  </a:lnTo>
                  <a:lnTo>
                    <a:pt x="0" y="573494"/>
                  </a:lnTo>
                  <a:close/>
                </a:path>
              </a:pathLst>
            </a:custGeom>
            <a:blipFill>
              <a:blip r:embed="rId4">
                <a:alphaModFix amt="0"/>
              </a:blip>
              <a:stretch>
                <a:fillRect l="0" t="-171889" r="0" b="-161815"/>
              </a:stretch>
            </a:blipFill>
          </p:spPr>
          <p:txBody>
            <a:bodyPr/>
            <a:p/>
          </p:txBody>
        </p:sp>
        <p:sp>
          <p:nvSpPr>
            <p:cNvPr name="TextBox 61" id="61"/>
            <p:cNvSpPr txBox="true"/>
            <p:nvPr/>
          </p:nvSpPr>
          <p:spPr>
            <a:xfrm>
              <a:off x="0" y="-9525"/>
              <a:ext cx="6382512"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Exosomes</a:t>
              </a:r>
            </a:p>
          </p:txBody>
        </p:sp>
      </p:grpSp>
      <p:grpSp>
        <p:nvGrpSpPr>
          <p:cNvPr name="Group 62" id="62"/>
          <p:cNvGrpSpPr/>
          <p:nvPr/>
        </p:nvGrpSpPr>
        <p:grpSpPr>
          <a:xfrm rot="0">
            <a:off x="6838798" y="4328770"/>
            <a:ext cx="4786884" cy="293380"/>
            <a:chOff x="0" y="0"/>
            <a:chExt cx="6382512" cy="391173"/>
          </a:xfrm>
        </p:grpSpPr>
        <p:sp>
          <p:nvSpPr>
            <p:cNvPr name="Freeform 63" id="63"/>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64" id="64"/>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Végétaux et </a:t>
              </a:r>
              <a:r>
                <a:rPr lang="en-US" sz="1350" b="true">
                  <a:solidFill>
                    <a:srgbClr val="FFFFFF"/>
                  </a:solidFill>
                  <a:latin typeface="Manrope Bold"/>
                  <a:ea typeface="Manrope Bold"/>
                  <a:cs typeface="Manrope Bold"/>
                  <a:sym typeface="Manrope Bold"/>
                </a:rPr>
                <a:t>humains</a:t>
              </a:r>
              <a:r>
                <a:rPr lang="en-US" sz="1350">
                  <a:solidFill>
                    <a:srgbClr val="BCBFCC"/>
                  </a:solidFill>
                  <a:latin typeface="Manrope"/>
                  <a:ea typeface="Manrope"/>
                  <a:cs typeface="Manrope"/>
                  <a:sym typeface="Manrope"/>
                </a:rPr>
                <a:t> (en développement)</a:t>
              </a:r>
            </a:p>
          </p:txBody>
        </p:sp>
      </p:grpSp>
      <p:grpSp>
        <p:nvGrpSpPr>
          <p:cNvPr name="Group 65" id="65"/>
          <p:cNvGrpSpPr/>
          <p:nvPr/>
        </p:nvGrpSpPr>
        <p:grpSpPr>
          <a:xfrm rot="0">
            <a:off x="6838798" y="4703216"/>
            <a:ext cx="5187391" cy="293380"/>
            <a:chOff x="0" y="0"/>
            <a:chExt cx="6916522" cy="391173"/>
          </a:xfrm>
        </p:grpSpPr>
        <p:sp>
          <p:nvSpPr>
            <p:cNvPr name="Freeform 66" id="66"/>
            <p:cNvSpPr/>
            <p:nvPr/>
          </p:nvSpPr>
          <p:spPr>
            <a:xfrm flipH="false" flipV="false" rot="0">
              <a:off x="0" y="0"/>
              <a:ext cx="6916522" cy="391172"/>
            </a:xfrm>
            <a:custGeom>
              <a:avLst/>
              <a:gdLst/>
              <a:ahLst/>
              <a:cxnLst/>
              <a:rect r="r" b="b" t="t" l="l"/>
              <a:pathLst>
                <a:path h="391172" w="6916522">
                  <a:moveTo>
                    <a:pt x="0" y="0"/>
                  </a:moveTo>
                  <a:lnTo>
                    <a:pt x="6916522" y="0"/>
                  </a:lnTo>
                  <a:lnTo>
                    <a:pt x="6916522" y="391172"/>
                  </a:lnTo>
                  <a:lnTo>
                    <a:pt x="0" y="391172"/>
                  </a:lnTo>
                  <a:close/>
                </a:path>
              </a:pathLst>
            </a:custGeom>
            <a:blipFill>
              <a:blip r:embed="rId4">
                <a:alphaModFix amt="0"/>
              </a:blip>
              <a:stretch>
                <a:fillRect l="0" t="-298240" r="0" b="-290809"/>
              </a:stretch>
            </a:blipFill>
          </p:spPr>
          <p:txBody>
            <a:bodyPr/>
            <a:p/>
          </p:txBody>
        </p:sp>
        <p:sp>
          <p:nvSpPr>
            <p:cNvPr name="TextBox 67" id="67"/>
            <p:cNvSpPr txBox="true"/>
            <p:nvPr/>
          </p:nvSpPr>
          <p:spPr>
            <a:xfrm>
              <a:off x="0" y="0"/>
              <a:ext cx="691652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Transport de protéines, lipides et ARN</a:t>
              </a:r>
            </a:p>
          </p:txBody>
        </p:sp>
      </p:grpSp>
      <p:grpSp>
        <p:nvGrpSpPr>
          <p:cNvPr name="Group 68" id="68"/>
          <p:cNvGrpSpPr/>
          <p:nvPr/>
        </p:nvGrpSpPr>
        <p:grpSpPr>
          <a:xfrm rot="0">
            <a:off x="6838798" y="5077663"/>
            <a:ext cx="4786884" cy="293380"/>
            <a:chOff x="0" y="0"/>
            <a:chExt cx="6382512" cy="391173"/>
          </a:xfrm>
        </p:grpSpPr>
        <p:sp>
          <p:nvSpPr>
            <p:cNvPr name="Freeform 69" id="69"/>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70" id="70"/>
            <p:cNvSpPr txBox="true"/>
            <p:nvPr/>
          </p:nvSpPr>
          <p:spPr>
            <a:xfrm>
              <a:off x="0" y="0"/>
              <a:ext cx="6382512"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Peptides transportés</a:t>
              </a:r>
              <a:r>
                <a:rPr lang="en-US" sz="1350">
                  <a:solidFill>
                    <a:srgbClr val="BCBFCC"/>
                  </a:solidFill>
                  <a:latin typeface="Manrope"/>
                  <a:ea typeface="Manrope"/>
                  <a:cs typeface="Manrope"/>
                  <a:sym typeface="Manrope"/>
                </a:rPr>
                <a:t> à travers une barrière intacte</a:t>
              </a:r>
            </a:p>
          </p:txBody>
        </p:sp>
      </p:grpSp>
      <p:grpSp>
        <p:nvGrpSpPr>
          <p:cNvPr name="Group 71" id="71"/>
          <p:cNvGrpSpPr/>
          <p:nvPr/>
        </p:nvGrpSpPr>
        <p:grpSpPr>
          <a:xfrm rot="0">
            <a:off x="12082501" y="2490902"/>
            <a:ext cx="5347716" cy="3490570"/>
            <a:chOff x="0" y="0"/>
            <a:chExt cx="7130288" cy="4654093"/>
          </a:xfrm>
        </p:grpSpPr>
        <p:sp>
          <p:nvSpPr>
            <p:cNvPr name="Freeform 72" id="72"/>
            <p:cNvSpPr/>
            <p:nvPr/>
          </p:nvSpPr>
          <p:spPr>
            <a:xfrm flipH="false" flipV="false" rot="0">
              <a:off x="12700" y="12700"/>
              <a:ext cx="7104888" cy="4628642"/>
            </a:xfrm>
            <a:custGeom>
              <a:avLst/>
              <a:gdLst/>
              <a:ahLst/>
              <a:cxnLst/>
              <a:rect r="r" b="b" t="t" l="l"/>
              <a:pathLst>
                <a:path h="4628642" w="7104888">
                  <a:moveTo>
                    <a:pt x="0" y="0"/>
                  </a:moveTo>
                  <a:lnTo>
                    <a:pt x="7104888" y="0"/>
                  </a:lnTo>
                  <a:lnTo>
                    <a:pt x="7104888" y="4628642"/>
                  </a:lnTo>
                  <a:lnTo>
                    <a:pt x="0" y="4628642"/>
                  </a:lnTo>
                  <a:close/>
                </a:path>
              </a:pathLst>
            </a:custGeom>
            <a:solidFill>
              <a:srgbClr val="141419"/>
            </a:solidFill>
          </p:spPr>
          <p:txBody>
            <a:bodyPr/>
            <a:p/>
          </p:txBody>
        </p:sp>
        <p:sp>
          <p:nvSpPr>
            <p:cNvPr name="Freeform 73" id="73"/>
            <p:cNvSpPr/>
            <p:nvPr/>
          </p:nvSpPr>
          <p:spPr>
            <a:xfrm flipH="false" flipV="false" rot="0">
              <a:off x="0" y="0"/>
              <a:ext cx="7130288" cy="4654042"/>
            </a:xfrm>
            <a:custGeom>
              <a:avLst/>
              <a:gdLst/>
              <a:ahLst/>
              <a:cxnLst/>
              <a:rect r="r" b="b" t="t" l="l"/>
              <a:pathLst>
                <a:path h="4654042" w="7130288">
                  <a:moveTo>
                    <a:pt x="12700" y="0"/>
                  </a:moveTo>
                  <a:lnTo>
                    <a:pt x="7117588" y="0"/>
                  </a:lnTo>
                  <a:cubicBezTo>
                    <a:pt x="7124573" y="0"/>
                    <a:pt x="7130288" y="5715"/>
                    <a:pt x="7130288" y="12700"/>
                  </a:cubicBezTo>
                  <a:lnTo>
                    <a:pt x="7130288" y="4641342"/>
                  </a:lnTo>
                  <a:cubicBezTo>
                    <a:pt x="7130288" y="4648327"/>
                    <a:pt x="7124573" y="4654042"/>
                    <a:pt x="7117588"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7117588" y="4628642"/>
                  </a:lnTo>
                  <a:lnTo>
                    <a:pt x="7117588" y="4641342"/>
                  </a:lnTo>
                  <a:lnTo>
                    <a:pt x="7104888" y="4641342"/>
                  </a:lnTo>
                  <a:lnTo>
                    <a:pt x="7104888" y="12700"/>
                  </a:lnTo>
                  <a:lnTo>
                    <a:pt x="7117588" y="12700"/>
                  </a:lnTo>
                  <a:lnTo>
                    <a:pt x="7117588" y="25400"/>
                  </a:lnTo>
                  <a:lnTo>
                    <a:pt x="12700" y="25400"/>
                  </a:lnTo>
                  <a:close/>
                </a:path>
              </a:pathLst>
            </a:custGeom>
            <a:solidFill>
              <a:srgbClr val="40424D"/>
            </a:solidFill>
          </p:spPr>
          <p:txBody>
            <a:bodyPr/>
            <a:p/>
          </p:txBody>
        </p:sp>
      </p:grpSp>
      <p:grpSp>
        <p:nvGrpSpPr>
          <p:cNvPr name="Group 74" id="74"/>
          <p:cNvGrpSpPr/>
          <p:nvPr/>
        </p:nvGrpSpPr>
        <p:grpSpPr>
          <a:xfrm rot="0">
            <a:off x="12439117" y="2847518"/>
            <a:ext cx="704850" cy="704850"/>
            <a:chOff x="0" y="0"/>
            <a:chExt cx="939800" cy="939800"/>
          </a:xfrm>
        </p:grpSpPr>
        <p:sp>
          <p:nvSpPr>
            <p:cNvPr name="Freeform 75" id="75"/>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76" id="76"/>
          <p:cNvGrpSpPr/>
          <p:nvPr/>
        </p:nvGrpSpPr>
        <p:grpSpPr>
          <a:xfrm rot="0">
            <a:off x="12635179" y="3043580"/>
            <a:ext cx="314096" cy="314096"/>
            <a:chOff x="0" y="0"/>
            <a:chExt cx="418795" cy="418795"/>
          </a:xfrm>
        </p:grpSpPr>
        <p:sp>
          <p:nvSpPr>
            <p:cNvPr name="Freeform 77" id="77" descr="preencoded.png"/>
            <p:cNvSpPr/>
            <p:nvPr/>
          </p:nvSpPr>
          <p:spPr>
            <a:xfrm flipH="false" flipV="false" rot="0">
              <a:off x="0" y="0"/>
              <a:ext cx="418846" cy="418846"/>
            </a:xfrm>
            <a:custGeom>
              <a:avLst/>
              <a:gdLst/>
              <a:ahLst/>
              <a:cxnLst/>
              <a:rect r="r" b="b" t="t" l="l"/>
              <a:pathLst>
                <a:path h="418846" w="418846">
                  <a:moveTo>
                    <a:pt x="0" y="0"/>
                  </a:moveTo>
                  <a:lnTo>
                    <a:pt x="418846" y="0"/>
                  </a:lnTo>
                  <a:lnTo>
                    <a:pt x="418846" y="418846"/>
                  </a:lnTo>
                  <a:lnTo>
                    <a:pt x="0" y="418846"/>
                  </a:lnTo>
                  <a:lnTo>
                    <a:pt x="0" y="0"/>
                  </a:lnTo>
                  <a:close/>
                </a:path>
              </a:pathLst>
            </a:custGeom>
            <a:blipFill>
              <a:blip r:embed="rId9"/>
              <a:stretch>
                <a:fillRect l="0" t="0" r="12" b="12"/>
              </a:stretch>
            </a:blipFill>
          </p:spPr>
          <p:txBody>
            <a:bodyPr/>
            <a:p/>
          </p:txBody>
        </p:sp>
      </p:grpSp>
      <p:grpSp>
        <p:nvGrpSpPr>
          <p:cNvPr name="Group 78" id="78"/>
          <p:cNvGrpSpPr/>
          <p:nvPr/>
        </p:nvGrpSpPr>
        <p:grpSpPr>
          <a:xfrm rot="0">
            <a:off x="16852849" y="2857043"/>
            <a:ext cx="329184" cy="257861"/>
            <a:chOff x="0" y="0"/>
            <a:chExt cx="438912" cy="343814"/>
          </a:xfrm>
        </p:grpSpPr>
        <p:sp>
          <p:nvSpPr>
            <p:cNvPr name="Freeform 79" id="79"/>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80" id="80"/>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03</a:t>
              </a:r>
            </a:p>
          </p:txBody>
        </p:sp>
      </p:grpSp>
      <p:grpSp>
        <p:nvGrpSpPr>
          <p:cNvPr name="Group 81" id="81"/>
          <p:cNvGrpSpPr/>
          <p:nvPr/>
        </p:nvGrpSpPr>
        <p:grpSpPr>
          <a:xfrm rot="0">
            <a:off x="12448642" y="3771900"/>
            <a:ext cx="4786884" cy="430120"/>
            <a:chOff x="0" y="0"/>
            <a:chExt cx="6382512" cy="573494"/>
          </a:xfrm>
        </p:grpSpPr>
        <p:sp>
          <p:nvSpPr>
            <p:cNvPr name="Freeform 82" id="82"/>
            <p:cNvSpPr/>
            <p:nvPr/>
          </p:nvSpPr>
          <p:spPr>
            <a:xfrm flipH="false" flipV="false" rot="0">
              <a:off x="0" y="0"/>
              <a:ext cx="6382512" cy="573494"/>
            </a:xfrm>
            <a:custGeom>
              <a:avLst/>
              <a:gdLst/>
              <a:ahLst/>
              <a:cxnLst/>
              <a:rect r="r" b="b" t="t" l="l"/>
              <a:pathLst>
                <a:path h="573494" w="6382512">
                  <a:moveTo>
                    <a:pt x="0" y="0"/>
                  </a:moveTo>
                  <a:lnTo>
                    <a:pt x="6382512" y="0"/>
                  </a:lnTo>
                  <a:lnTo>
                    <a:pt x="6382512" y="573494"/>
                  </a:lnTo>
                  <a:lnTo>
                    <a:pt x="0" y="573494"/>
                  </a:lnTo>
                  <a:close/>
                </a:path>
              </a:pathLst>
            </a:custGeom>
            <a:blipFill>
              <a:blip r:embed="rId4">
                <a:alphaModFix amt="0"/>
              </a:blip>
              <a:stretch>
                <a:fillRect l="0" t="-171889" r="0" b="-161815"/>
              </a:stretch>
            </a:blipFill>
          </p:spPr>
          <p:txBody>
            <a:bodyPr/>
            <a:p/>
          </p:txBody>
        </p:sp>
        <p:sp>
          <p:nvSpPr>
            <p:cNvPr name="TextBox 83" id="83"/>
            <p:cNvSpPr txBox="true"/>
            <p:nvPr/>
          </p:nvSpPr>
          <p:spPr>
            <a:xfrm>
              <a:off x="0" y="-9525"/>
              <a:ext cx="6382512"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Peptides</a:t>
              </a:r>
            </a:p>
          </p:txBody>
        </p:sp>
      </p:grpSp>
      <p:grpSp>
        <p:nvGrpSpPr>
          <p:cNvPr name="Group 84" id="84"/>
          <p:cNvGrpSpPr/>
          <p:nvPr/>
        </p:nvGrpSpPr>
        <p:grpSpPr>
          <a:xfrm rot="0">
            <a:off x="12448642" y="4328770"/>
            <a:ext cx="4786884" cy="293380"/>
            <a:chOff x="0" y="0"/>
            <a:chExt cx="6382512" cy="391173"/>
          </a:xfrm>
        </p:grpSpPr>
        <p:sp>
          <p:nvSpPr>
            <p:cNvPr name="Freeform 85" id="85"/>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86" id="86"/>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Déjà en formulation (</a:t>
              </a:r>
              <a:r>
                <a:rPr lang="en-US" sz="1350" b="true">
                  <a:solidFill>
                    <a:srgbClr val="FFFFFF"/>
                  </a:solidFill>
                  <a:latin typeface="Manrope Bold"/>
                  <a:ea typeface="Manrope Bold"/>
                  <a:cs typeface="Manrope Bold"/>
                  <a:sym typeface="Manrope Bold"/>
                </a:rPr>
                <a:t>des milliers à découvrir</a:t>
              </a:r>
              <a:r>
                <a:rPr lang="en-US" sz="1350">
                  <a:solidFill>
                    <a:srgbClr val="BCBFCC"/>
                  </a:solidFill>
                  <a:latin typeface="Manrope"/>
                  <a:ea typeface="Manrope"/>
                  <a:cs typeface="Manrope"/>
                  <a:sym typeface="Manrope"/>
                </a:rPr>
                <a:t>)</a:t>
              </a:r>
            </a:p>
          </p:txBody>
        </p:sp>
      </p:grpSp>
      <p:grpSp>
        <p:nvGrpSpPr>
          <p:cNvPr name="Group 87" id="87"/>
          <p:cNvGrpSpPr/>
          <p:nvPr/>
        </p:nvGrpSpPr>
        <p:grpSpPr>
          <a:xfrm rot="0">
            <a:off x="12448642" y="4703216"/>
            <a:ext cx="4786884" cy="293380"/>
            <a:chOff x="0" y="0"/>
            <a:chExt cx="6382512" cy="391173"/>
          </a:xfrm>
        </p:grpSpPr>
        <p:sp>
          <p:nvSpPr>
            <p:cNvPr name="Freeform 88" id="88"/>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89" id="89"/>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Associés aux exosomes et facteurs de croissance</a:t>
              </a:r>
            </a:p>
          </p:txBody>
        </p:sp>
      </p:grpSp>
      <p:grpSp>
        <p:nvGrpSpPr>
          <p:cNvPr name="Group 90" id="90"/>
          <p:cNvGrpSpPr/>
          <p:nvPr/>
        </p:nvGrpSpPr>
        <p:grpSpPr>
          <a:xfrm rot="0">
            <a:off x="12448642" y="5077663"/>
            <a:ext cx="4786884" cy="293380"/>
            <a:chOff x="0" y="0"/>
            <a:chExt cx="6382512" cy="391173"/>
          </a:xfrm>
        </p:grpSpPr>
        <p:sp>
          <p:nvSpPr>
            <p:cNvPr name="Freeform 91" id="91"/>
            <p:cNvSpPr/>
            <p:nvPr/>
          </p:nvSpPr>
          <p:spPr>
            <a:xfrm flipH="false" flipV="false" rot="0">
              <a:off x="0" y="0"/>
              <a:ext cx="6382512" cy="391172"/>
            </a:xfrm>
            <a:custGeom>
              <a:avLst/>
              <a:gdLst/>
              <a:ahLst/>
              <a:cxnLst/>
              <a:rect r="r" b="b" t="t" l="l"/>
              <a:pathLst>
                <a:path h="391172" w="6382512">
                  <a:moveTo>
                    <a:pt x="0" y="0"/>
                  </a:moveTo>
                  <a:lnTo>
                    <a:pt x="6382512" y="0"/>
                  </a:lnTo>
                  <a:lnTo>
                    <a:pt x="6382512" y="391172"/>
                  </a:lnTo>
                  <a:lnTo>
                    <a:pt x="0" y="391172"/>
                  </a:lnTo>
                  <a:close/>
                </a:path>
              </a:pathLst>
            </a:custGeom>
            <a:blipFill>
              <a:blip r:embed="rId4">
                <a:alphaModFix amt="0"/>
              </a:blip>
              <a:stretch>
                <a:fillRect l="0" t="-271640" r="0" b="-264209"/>
              </a:stretch>
            </a:blipFill>
          </p:spPr>
          <p:txBody>
            <a:bodyPr/>
            <a:p/>
          </p:txBody>
        </p:sp>
        <p:sp>
          <p:nvSpPr>
            <p:cNvPr name="TextBox 92" id="92"/>
            <p:cNvSpPr txBox="true"/>
            <p:nvPr/>
          </p:nvSpPr>
          <p:spPr>
            <a:xfrm>
              <a:off x="0" y="0"/>
              <a:ext cx="6382512"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L'avenir des actifs de </a:t>
              </a:r>
              <a:r>
                <a:rPr lang="en-US" sz="1350" b="true">
                  <a:solidFill>
                    <a:srgbClr val="FFFFFF"/>
                  </a:solidFill>
                  <a:latin typeface="Manrope Bold"/>
                  <a:ea typeface="Manrope Bold"/>
                  <a:cs typeface="Manrope Bold"/>
                  <a:sym typeface="Manrope Bold"/>
                </a:rPr>
                <a:t>longévité</a:t>
              </a:r>
            </a:p>
          </p:txBody>
        </p:sp>
      </p:grpSp>
      <p:grpSp>
        <p:nvGrpSpPr>
          <p:cNvPr name="Group 93" id="93"/>
          <p:cNvGrpSpPr/>
          <p:nvPr/>
        </p:nvGrpSpPr>
        <p:grpSpPr>
          <a:xfrm rot="0">
            <a:off x="847725" y="6240856"/>
            <a:ext cx="8163611" cy="3490570"/>
            <a:chOff x="0" y="0"/>
            <a:chExt cx="10884814" cy="4654093"/>
          </a:xfrm>
        </p:grpSpPr>
        <p:sp>
          <p:nvSpPr>
            <p:cNvPr name="Freeform 94" id="94"/>
            <p:cNvSpPr/>
            <p:nvPr/>
          </p:nvSpPr>
          <p:spPr>
            <a:xfrm flipH="false" flipV="false" rot="0">
              <a:off x="12700" y="12700"/>
              <a:ext cx="10859389" cy="4628642"/>
            </a:xfrm>
            <a:custGeom>
              <a:avLst/>
              <a:gdLst/>
              <a:ahLst/>
              <a:cxnLst/>
              <a:rect r="r" b="b" t="t" l="l"/>
              <a:pathLst>
                <a:path h="4628642" w="10859389">
                  <a:moveTo>
                    <a:pt x="0" y="0"/>
                  </a:moveTo>
                  <a:lnTo>
                    <a:pt x="10859389" y="0"/>
                  </a:lnTo>
                  <a:lnTo>
                    <a:pt x="10859389" y="4628642"/>
                  </a:lnTo>
                  <a:lnTo>
                    <a:pt x="0" y="4628642"/>
                  </a:lnTo>
                  <a:close/>
                </a:path>
              </a:pathLst>
            </a:custGeom>
            <a:solidFill>
              <a:srgbClr val="141419"/>
            </a:solidFill>
          </p:spPr>
          <p:txBody>
            <a:bodyPr/>
            <a:p/>
          </p:txBody>
        </p:sp>
        <p:sp>
          <p:nvSpPr>
            <p:cNvPr name="Freeform 95" id="95"/>
            <p:cNvSpPr/>
            <p:nvPr/>
          </p:nvSpPr>
          <p:spPr>
            <a:xfrm flipH="false" flipV="false" rot="0">
              <a:off x="0" y="0"/>
              <a:ext cx="10884789" cy="4654042"/>
            </a:xfrm>
            <a:custGeom>
              <a:avLst/>
              <a:gdLst/>
              <a:ahLst/>
              <a:cxnLst/>
              <a:rect r="r" b="b" t="t" l="l"/>
              <a:pathLst>
                <a:path h="4654042" w="10884789">
                  <a:moveTo>
                    <a:pt x="12700" y="0"/>
                  </a:moveTo>
                  <a:lnTo>
                    <a:pt x="10872089" y="0"/>
                  </a:lnTo>
                  <a:cubicBezTo>
                    <a:pt x="10879074" y="0"/>
                    <a:pt x="10884789" y="5715"/>
                    <a:pt x="10884789" y="12700"/>
                  </a:cubicBezTo>
                  <a:lnTo>
                    <a:pt x="10884789" y="4641342"/>
                  </a:lnTo>
                  <a:cubicBezTo>
                    <a:pt x="10884789" y="4648327"/>
                    <a:pt x="10879074" y="4654042"/>
                    <a:pt x="10872089"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10872089" y="4628642"/>
                  </a:lnTo>
                  <a:lnTo>
                    <a:pt x="10872089" y="4641342"/>
                  </a:lnTo>
                  <a:lnTo>
                    <a:pt x="10859389" y="4641342"/>
                  </a:lnTo>
                  <a:lnTo>
                    <a:pt x="10859389" y="12700"/>
                  </a:lnTo>
                  <a:lnTo>
                    <a:pt x="10872089" y="12700"/>
                  </a:lnTo>
                  <a:lnTo>
                    <a:pt x="10872089" y="25400"/>
                  </a:lnTo>
                  <a:lnTo>
                    <a:pt x="12700" y="25400"/>
                  </a:lnTo>
                  <a:close/>
                </a:path>
              </a:pathLst>
            </a:custGeom>
            <a:solidFill>
              <a:srgbClr val="40424D"/>
            </a:solidFill>
          </p:spPr>
          <p:txBody>
            <a:bodyPr/>
            <a:p/>
          </p:txBody>
        </p:sp>
      </p:grpSp>
      <p:grpSp>
        <p:nvGrpSpPr>
          <p:cNvPr name="Group 96" id="96"/>
          <p:cNvGrpSpPr/>
          <p:nvPr/>
        </p:nvGrpSpPr>
        <p:grpSpPr>
          <a:xfrm rot="0">
            <a:off x="1204341" y="6598844"/>
            <a:ext cx="704850" cy="704850"/>
            <a:chOff x="0" y="0"/>
            <a:chExt cx="939800" cy="939800"/>
          </a:xfrm>
        </p:grpSpPr>
        <p:sp>
          <p:nvSpPr>
            <p:cNvPr name="Freeform 97" id="97"/>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98" id="98"/>
          <p:cNvGrpSpPr/>
          <p:nvPr/>
        </p:nvGrpSpPr>
        <p:grpSpPr>
          <a:xfrm rot="0">
            <a:off x="1378458" y="6793535"/>
            <a:ext cx="356616" cy="314096"/>
            <a:chOff x="0" y="0"/>
            <a:chExt cx="475488" cy="418795"/>
          </a:xfrm>
        </p:grpSpPr>
        <p:sp>
          <p:nvSpPr>
            <p:cNvPr name="Freeform 99" id="99" descr="preencoded.png"/>
            <p:cNvSpPr/>
            <p:nvPr/>
          </p:nvSpPr>
          <p:spPr>
            <a:xfrm flipH="false" flipV="false" rot="0">
              <a:off x="0" y="0"/>
              <a:ext cx="475488" cy="418846"/>
            </a:xfrm>
            <a:custGeom>
              <a:avLst/>
              <a:gdLst/>
              <a:ahLst/>
              <a:cxnLst/>
              <a:rect r="r" b="b" t="t" l="l"/>
              <a:pathLst>
                <a:path h="418846" w="475488">
                  <a:moveTo>
                    <a:pt x="0" y="0"/>
                  </a:moveTo>
                  <a:lnTo>
                    <a:pt x="475488" y="0"/>
                  </a:lnTo>
                  <a:lnTo>
                    <a:pt x="475488" y="418846"/>
                  </a:lnTo>
                  <a:lnTo>
                    <a:pt x="0" y="418846"/>
                  </a:lnTo>
                  <a:lnTo>
                    <a:pt x="0" y="0"/>
                  </a:lnTo>
                  <a:close/>
                </a:path>
              </a:pathLst>
            </a:custGeom>
            <a:blipFill>
              <a:blip r:embed="rId10"/>
              <a:stretch>
                <a:fillRect l="459" t="0" r="-24" b="12"/>
              </a:stretch>
            </a:blipFill>
          </p:spPr>
          <p:txBody>
            <a:bodyPr/>
            <a:p/>
          </p:txBody>
        </p:sp>
      </p:grpSp>
      <p:grpSp>
        <p:nvGrpSpPr>
          <p:cNvPr name="Group 100" id="100"/>
          <p:cNvGrpSpPr/>
          <p:nvPr/>
        </p:nvGrpSpPr>
        <p:grpSpPr>
          <a:xfrm rot="0">
            <a:off x="8438083" y="6608369"/>
            <a:ext cx="329184" cy="257861"/>
            <a:chOff x="0" y="0"/>
            <a:chExt cx="438912" cy="343814"/>
          </a:xfrm>
        </p:grpSpPr>
        <p:sp>
          <p:nvSpPr>
            <p:cNvPr name="Freeform 101" id="101"/>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02" id="102"/>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04</a:t>
              </a:r>
            </a:p>
          </p:txBody>
        </p:sp>
      </p:grpSp>
      <p:grpSp>
        <p:nvGrpSpPr>
          <p:cNvPr name="Group 103" id="103"/>
          <p:cNvGrpSpPr/>
          <p:nvPr/>
        </p:nvGrpSpPr>
        <p:grpSpPr>
          <a:xfrm rot="0">
            <a:off x="1213866" y="7521854"/>
            <a:ext cx="7601407" cy="430120"/>
            <a:chOff x="0" y="0"/>
            <a:chExt cx="10135210" cy="573494"/>
          </a:xfrm>
        </p:grpSpPr>
        <p:sp>
          <p:nvSpPr>
            <p:cNvPr name="Freeform 104" id="104"/>
            <p:cNvSpPr/>
            <p:nvPr/>
          </p:nvSpPr>
          <p:spPr>
            <a:xfrm flipH="false" flipV="false" rot="0">
              <a:off x="0" y="0"/>
              <a:ext cx="10135210" cy="573494"/>
            </a:xfrm>
            <a:custGeom>
              <a:avLst/>
              <a:gdLst/>
              <a:ahLst/>
              <a:cxnLst/>
              <a:rect r="r" b="b" t="t" l="l"/>
              <a:pathLst>
                <a:path h="573494" w="10135210">
                  <a:moveTo>
                    <a:pt x="0" y="0"/>
                  </a:moveTo>
                  <a:lnTo>
                    <a:pt x="10135210" y="0"/>
                  </a:lnTo>
                  <a:lnTo>
                    <a:pt x="10135210" y="573494"/>
                  </a:lnTo>
                  <a:lnTo>
                    <a:pt x="0" y="573494"/>
                  </a:lnTo>
                  <a:close/>
                </a:path>
              </a:pathLst>
            </a:custGeom>
            <a:blipFill>
              <a:blip r:embed="rId4">
                <a:alphaModFix amt="0"/>
              </a:blip>
              <a:stretch>
                <a:fillRect l="0" t="-299390" r="0" b="-289316"/>
              </a:stretch>
            </a:blipFill>
          </p:spPr>
          <p:txBody>
            <a:bodyPr/>
            <a:p/>
          </p:txBody>
        </p:sp>
        <p:sp>
          <p:nvSpPr>
            <p:cNvPr name="TextBox 105" id="105"/>
            <p:cNvSpPr txBox="true"/>
            <p:nvPr/>
          </p:nvSpPr>
          <p:spPr>
            <a:xfrm>
              <a:off x="0" y="-9525"/>
              <a:ext cx="1013521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Pénétration</a:t>
              </a:r>
            </a:p>
          </p:txBody>
        </p:sp>
      </p:grpSp>
      <p:grpSp>
        <p:nvGrpSpPr>
          <p:cNvPr name="Group 106" id="106"/>
          <p:cNvGrpSpPr/>
          <p:nvPr/>
        </p:nvGrpSpPr>
        <p:grpSpPr>
          <a:xfrm rot="0">
            <a:off x="1213866" y="8080096"/>
            <a:ext cx="7601407" cy="293380"/>
            <a:chOff x="0" y="0"/>
            <a:chExt cx="10135210" cy="391173"/>
          </a:xfrm>
        </p:grpSpPr>
        <p:sp>
          <p:nvSpPr>
            <p:cNvPr name="Freeform 107" id="107"/>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08" id="108"/>
            <p:cNvSpPr txBox="true"/>
            <p:nvPr/>
          </p:nvSpPr>
          <p:spPr>
            <a:xfrm>
              <a:off x="0" y="0"/>
              <a:ext cx="1013521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Faire arriver l'actif là où il agit</a:t>
              </a:r>
            </a:p>
          </p:txBody>
        </p:sp>
      </p:grpSp>
      <p:grpSp>
        <p:nvGrpSpPr>
          <p:cNvPr name="Group 109" id="109"/>
          <p:cNvGrpSpPr/>
          <p:nvPr/>
        </p:nvGrpSpPr>
        <p:grpSpPr>
          <a:xfrm rot="0">
            <a:off x="1213866" y="8454542"/>
            <a:ext cx="7601407" cy="293380"/>
            <a:chOff x="0" y="0"/>
            <a:chExt cx="10135210" cy="391173"/>
          </a:xfrm>
        </p:grpSpPr>
        <p:sp>
          <p:nvSpPr>
            <p:cNvPr name="Freeform 110" id="110"/>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11" id="111"/>
            <p:cNvSpPr txBox="true"/>
            <p:nvPr/>
          </p:nvSpPr>
          <p:spPr>
            <a:xfrm>
              <a:off x="0" y="0"/>
              <a:ext cx="1013521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Champ ouvert</a:t>
              </a:r>
              <a:r>
                <a:rPr lang="en-US" sz="1350">
                  <a:solidFill>
                    <a:srgbClr val="BCBFCC"/>
                  </a:solidFill>
                  <a:latin typeface="Manrope"/>
                  <a:ea typeface="Manrope"/>
                  <a:cs typeface="Manrope"/>
                  <a:sym typeface="Manrope"/>
                </a:rPr>
                <a:t> : formulation et vectorisation</a:t>
              </a:r>
            </a:p>
          </p:txBody>
        </p:sp>
      </p:grpSp>
      <p:grpSp>
        <p:nvGrpSpPr>
          <p:cNvPr name="Group 112" id="112"/>
          <p:cNvGrpSpPr/>
          <p:nvPr/>
        </p:nvGrpSpPr>
        <p:grpSpPr>
          <a:xfrm rot="0">
            <a:off x="1213866" y="8828989"/>
            <a:ext cx="7601407" cy="293380"/>
            <a:chOff x="0" y="0"/>
            <a:chExt cx="10135210" cy="391173"/>
          </a:xfrm>
        </p:grpSpPr>
        <p:sp>
          <p:nvSpPr>
            <p:cNvPr name="Freeform 113" id="113"/>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14" id="114"/>
            <p:cNvSpPr txBox="true"/>
            <p:nvPr/>
          </p:nvSpPr>
          <p:spPr>
            <a:xfrm>
              <a:off x="0" y="0"/>
              <a:ext cx="1013521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Le défi n'est plus la molécule, c'est la livraison</a:t>
              </a:r>
            </a:p>
          </p:txBody>
        </p:sp>
      </p:grpSp>
      <p:grpSp>
        <p:nvGrpSpPr>
          <p:cNvPr name="Group 115" id="115"/>
          <p:cNvGrpSpPr/>
          <p:nvPr/>
        </p:nvGrpSpPr>
        <p:grpSpPr>
          <a:xfrm rot="0">
            <a:off x="9277579" y="6240856"/>
            <a:ext cx="8163611" cy="3490570"/>
            <a:chOff x="0" y="0"/>
            <a:chExt cx="10884814" cy="4654093"/>
          </a:xfrm>
        </p:grpSpPr>
        <p:sp>
          <p:nvSpPr>
            <p:cNvPr name="Freeform 116" id="116"/>
            <p:cNvSpPr/>
            <p:nvPr/>
          </p:nvSpPr>
          <p:spPr>
            <a:xfrm flipH="false" flipV="false" rot="0">
              <a:off x="12700" y="12700"/>
              <a:ext cx="10859389" cy="4628642"/>
            </a:xfrm>
            <a:custGeom>
              <a:avLst/>
              <a:gdLst/>
              <a:ahLst/>
              <a:cxnLst/>
              <a:rect r="r" b="b" t="t" l="l"/>
              <a:pathLst>
                <a:path h="4628642" w="10859389">
                  <a:moveTo>
                    <a:pt x="0" y="0"/>
                  </a:moveTo>
                  <a:lnTo>
                    <a:pt x="10859389" y="0"/>
                  </a:lnTo>
                  <a:lnTo>
                    <a:pt x="10859389" y="4628642"/>
                  </a:lnTo>
                  <a:lnTo>
                    <a:pt x="0" y="4628642"/>
                  </a:lnTo>
                  <a:close/>
                </a:path>
              </a:pathLst>
            </a:custGeom>
            <a:solidFill>
              <a:srgbClr val="141419"/>
            </a:solidFill>
          </p:spPr>
          <p:txBody>
            <a:bodyPr/>
            <a:p/>
          </p:txBody>
        </p:sp>
        <p:sp>
          <p:nvSpPr>
            <p:cNvPr name="Freeform 117" id="117"/>
            <p:cNvSpPr/>
            <p:nvPr/>
          </p:nvSpPr>
          <p:spPr>
            <a:xfrm flipH="false" flipV="false" rot="0">
              <a:off x="0" y="0"/>
              <a:ext cx="10884789" cy="4654042"/>
            </a:xfrm>
            <a:custGeom>
              <a:avLst/>
              <a:gdLst/>
              <a:ahLst/>
              <a:cxnLst/>
              <a:rect r="r" b="b" t="t" l="l"/>
              <a:pathLst>
                <a:path h="4654042" w="10884789">
                  <a:moveTo>
                    <a:pt x="12700" y="0"/>
                  </a:moveTo>
                  <a:lnTo>
                    <a:pt x="10872089" y="0"/>
                  </a:lnTo>
                  <a:cubicBezTo>
                    <a:pt x="10879074" y="0"/>
                    <a:pt x="10884789" y="5715"/>
                    <a:pt x="10884789" y="12700"/>
                  </a:cubicBezTo>
                  <a:lnTo>
                    <a:pt x="10884789" y="4641342"/>
                  </a:lnTo>
                  <a:cubicBezTo>
                    <a:pt x="10884789" y="4648327"/>
                    <a:pt x="10879074" y="4654042"/>
                    <a:pt x="10872089" y="4654042"/>
                  </a:cubicBezTo>
                  <a:lnTo>
                    <a:pt x="12700" y="4654042"/>
                  </a:lnTo>
                  <a:cubicBezTo>
                    <a:pt x="5715" y="4654042"/>
                    <a:pt x="0" y="4648327"/>
                    <a:pt x="0" y="4641342"/>
                  </a:cubicBezTo>
                  <a:lnTo>
                    <a:pt x="0" y="12700"/>
                  </a:lnTo>
                  <a:cubicBezTo>
                    <a:pt x="0" y="5715"/>
                    <a:pt x="5715" y="0"/>
                    <a:pt x="12700" y="0"/>
                  </a:cubicBezTo>
                  <a:moveTo>
                    <a:pt x="12700" y="25400"/>
                  </a:moveTo>
                  <a:lnTo>
                    <a:pt x="12700" y="12700"/>
                  </a:lnTo>
                  <a:lnTo>
                    <a:pt x="25400" y="12700"/>
                  </a:lnTo>
                  <a:lnTo>
                    <a:pt x="25400" y="4641342"/>
                  </a:lnTo>
                  <a:lnTo>
                    <a:pt x="12700" y="4641342"/>
                  </a:lnTo>
                  <a:lnTo>
                    <a:pt x="12700" y="4628642"/>
                  </a:lnTo>
                  <a:lnTo>
                    <a:pt x="10872089" y="4628642"/>
                  </a:lnTo>
                  <a:lnTo>
                    <a:pt x="10872089" y="4641342"/>
                  </a:lnTo>
                  <a:lnTo>
                    <a:pt x="10859389" y="4641342"/>
                  </a:lnTo>
                  <a:lnTo>
                    <a:pt x="10859389" y="12700"/>
                  </a:lnTo>
                  <a:lnTo>
                    <a:pt x="10872089" y="12700"/>
                  </a:lnTo>
                  <a:lnTo>
                    <a:pt x="10872089" y="25400"/>
                  </a:lnTo>
                  <a:lnTo>
                    <a:pt x="12700" y="25400"/>
                  </a:lnTo>
                  <a:close/>
                </a:path>
              </a:pathLst>
            </a:custGeom>
            <a:solidFill>
              <a:srgbClr val="40424D"/>
            </a:solidFill>
          </p:spPr>
          <p:txBody>
            <a:bodyPr/>
            <a:p/>
          </p:txBody>
        </p:sp>
      </p:grpSp>
      <p:grpSp>
        <p:nvGrpSpPr>
          <p:cNvPr name="Group 118" id="118"/>
          <p:cNvGrpSpPr/>
          <p:nvPr/>
        </p:nvGrpSpPr>
        <p:grpSpPr>
          <a:xfrm rot="0">
            <a:off x="9634195" y="6598844"/>
            <a:ext cx="704850" cy="704850"/>
            <a:chOff x="0" y="0"/>
            <a:chExt cx="939800" cy="939800"/>
          </a:xfrm>
        </p:grpSpPr>
        <p:sp>
          <p:nvSpPr>
            <p:cNvPr name="Freeform 119" id="119"/>
            <p:cNvSpPr/>
            <p:nvPr/>
          </p:nvSpPr>
          <p:spPr>
            <a:xfrm flipH="false" flipV="false" rot="0">
              <a:off x="12700" y="12700"/>
              <a:ext cx="914400" cy="914400"/>
            </a:xfrm>
            <a:custGeom>
              <a:avLst/>
              <a:gdLst/>
              <a:ahLst/>
              <a:cxnLst/>
              <a:rect r="r" b="b" t="t" l="l"/>
              <a:pathLst>
                <a:path h="914400" w="914400">
                  <a:moveTo>
                    <a:pt x="0" y="304800"/>
                  </a:moveTo>
                  <a:cubicBezTo>
                    <a:pt x="0" y="136525"/>
                    <a:pt x="136525" y="0"/>
                    <a:pt x="304800" y="0"/>
                  </a:cubicBezTo>
                  <a:lnTo>
                    <a:pt x="609600" y="0"/>
                  </a:lnTo>
                  <a:cubicBezTo>
                    <a:pt x="777875" y="0"/>
                    <a:pt x="914400" y="136525"/>
                    <a:pt x="914400" y="304800"/>
                  </a:cubicBezTo>
                  <a:lnTo>
                    <a:pt x="914400" y="609600"/>
                  </a:lnTo>
                  <a:cubicBezTo>
                    <a:pt x="914400" y="777875"/>
                    <a:pt x="777875" y="914400"/>
                    <a:pt x="609600" y="914400"/>
                  </a:cubicBezTo>
                  <a:lnTo>
                    <a:pt x="304800" y="914400"/>
                  </a:lnTo>
                  <a:cubicBezTo>
                    <a:pt x="136525" y="914400"/>
                    <a:pt x="0" y="777875"/>
                    <a:pt x="0" y="609600"/>
                  </a:cubicBezTo>
                  <a:close/>
                </a:path>
              </a:pathLst>
            </a:custGeom>
            <a:solidFill>
              <a:srgbClr val="FFFFFF">
                <a:alpha val="0"/>
              </a:srgbClr>
            </a:solidFill>
          </p:spPr>
          <p:txBody>
            <a:bodyPr/>
            <a:p/>
          </p:txBody>
        </p:sp>
      </p:grpSp>
      <p:grpSp>
        <p:nvGrpSpPr>
          <p:cNvPr name="Group 120" id="120"/>
          <p:cNvGrpSpPr/>
          <p:nvPr/>
        </p:nvGrpSpPr>
        <p:grpSpPr>
          <a:xfrm rot="0">
            <a:off x="9786366" y="6793535"/>
            <a:ext cx="400507" cy="314096"/>
            <a:chOff x="0" y="0"/>
            <a:chExt cx="534010" cy="418795"/>
          </a:xfrm>
        </p:grpSpPr>
        <p:sp>
          <p:nvSpPr>
            <p:cNvPr name="Freeform 121" id="121" descr="preencoded.png"/>
            <p:cNvSpPr/>
            <p:nvPr/>
          </p:nvSpPr>
          <p:spPr>
            <a:xfrm flipH="false" flipV="false" rot="0">
              <a:off x="0" y="0"/>
              <a:ext cx="534035" cy="418846"/>
            </a:xfrm>
            <a:custGeom>
              <a:avLst/>
              <a:gdLst/>
              <a:ahLst/>
              <a:cxnLst/>
              <a:rect r="r" b="b" t="t" l="l"/>
              <a:pathLst>
                <a:path h="418846" w="534035">
                  <a:moveTo>
                    <a:pt x="0" y="0"/>
                  </a:moveTo>
                  <a:lnTo>
                    <a:pt x="534035" y="0"/>
                  </a:lnTo>
                  <a:lnTo>
                    <a:pt x="534035" y="418846"/>
                  </a:lnTo>
                  <a:lnTo>
                    <a:pt x="0" y="418846"/>
                  </a:lnTo>
                  <a:lnTo>
                    <a:pt x="0" y="0"/>
                  </a:lnTo>
                  <a:close/>
                </a:path>
              </a:pathLst>
            </a:custGeom>
            <a:blipFill>
              <a:blip r:embed="rId11"/>
              <a:stretch>
                <a:fillRect l="989" t="0" r="423" b="12"/>
              </a:stretch>
            </a:blipFill>
          </p:spPr>
          <p:txBody>
            <a:bodyPr/>
            <a:p/>
          </p:txBody>
        </p:sp>
      </p:grpSp>
      <p:grpSp>
        <p:nvGrpSpPr>
          <p:cNvPr name="Group 122" id="122"/>
          <p:cNvGrpSpPr/>
          <p:nvPr/>
        </p:nvGrpSpPr>
        <p:grpSpPr>
          <a:xfrm rot="0">
            <a:off x="16867937" y="6608369"/>
            <a:ext cx="329184" cy="257861"/>
            <a:chOff x="0" y="0"/>
            <a:chExt cx="438912" cy="343814"/>
          </a:xfrm>
        </p:grpSpPr>
        <p:sp>
          <p:nvSpPr>
            <p:cNvPr name="Freeform 123" id="123"/>
            <p:cNvSpPr/>
            <p:nvPr/>
          </p:nvSpPr>
          <p:spPr>
            <a:xfrm flipH="false" flipV="false" rot="0">
              <a:off x="0" y="0"/>
              <a:ext cx="438912" cy="343814"/>
            </a:xfrm>
            <a:custGeom>
              <a:avLst/>
              <a:gdLst/>
              <a:ahLst/>
              <a:cxnLst/>
              <a:rect r="r" b="b" t="t" l="l"/>
              <a:pathLst>
                <a:path h="343814" w="438912">
                  <a:moveTo>
                    <a:pt x="0" y="0"/>
                  </a:moveTo>
                  <a:lnTo>
                    <a:pt x="438912" y="0"/>
                  </a:lnTo>
                  <a:lnTo>
                    <a:pt x="438912" y="343814"/>
                  </a:lnTo>
                  <a:lnTo>
                    <a:pt x="0" y="343814"/>
                  </a:lnTo>
                  <a:close/>
                </a:path>
              </a:pathLst>
            </a:custGeom>
            <a:blipFill>
              <a:blip r:embed="rId4">
                <a:alphaModFix amt="0"/>
              </a:blip>
              <a:stretch>
                <a:fillRect l="-50504" t="0" r="-50504" b="0"/>
              </a:stretch>
            </a:blipFill>
          </p:spPr>
          <p:txBody>
            <a:bodyPr/>
            <a:p/>
          </p:txBody>
        </p:sp>
        <p:sp>
          <p:nvSpPr>
            <p:cNvPr name="TextBox 124" id="124"/>
            <p:cNvSpPr txBox="true"/>
            <p:nvPr/>
          </p:nvSpPr>
          <p:spPr>
            <a:xfrm>
              <a:off x="0" y="-9525"/>
              <a:ext cx="438912" cy="353339"/>
            </a:xfrm>
            <a:prstGeom prst="rect">
              <a:avLst/>
            </a:prstGeom>
          </p:spPr>
          <p:txBody>
            <a:bodyPr anchor="ctr" rtlCol="false" tIns="0" lIns="0" bIns="0" rIns="0"/>
            <a:lstStyle/>
            <a:p>
              <a:pPr algn="l">
                <a:lnSpc>
                  <a:spcPts val="1620"/>
                </a:lnSpc>
              </a:pPr>
              <a:r>
                <a:rPr lang="en-US" sz="1350">
                  <a:solidFill>
                    <a:srgbClr val="40424D"/>
                  </a:solidFill>
                  <a:latin typeface="Courier New"/>
                  <a:ea typeface="Courier New"/>
                  <a:cs typeface="Courier New"/>
                  <a:sym typeface="Courier New"/>
                </a:rPr>
                <a:t>05</a:t>
              </a:r>
            </a:p>
          </p:txBody>
        </p:sp>
      </p:grpSp>
      <p:grpSp>
        <p:nvGrpSpPr>
          <p:cNvPr name="Group 125" id="125"/>
          <p:cNvGrpSpPr/>
          <p:nvPr/>
        </p:nvGrpSpPr>
        <p:grpSpPr>
          <a:xfrm rot="0">
            <a:off x="9643720" y="7521854"/>
            <a:ext cx="7601407" cy="430120"/>
            <a:chOff x="0" y="0"/>
            <a:chExt cx="10135210" cy="573494"/>
          </a:xfrm>
        </p:grpSpPr>
        <p:sp>
          <p:nvSpPr>
            <p:cNvPr name="Freeform 126" id="126"/>
            <p:cNvSpPr/>
            <p:nvPr/>
          </p:nvSpPr>
          <p:spPr>
            <a:xfrm flipH="false" flipV="false" rot="0">
              <a:off x="0" y="0"/>
              <a:ext cx="10135210" cy="573494"/>
            </a:xfrm>
            <a:custGeom>
              <a:avLst/>
              <a:gdLst/>
              <a:ahLst/>
              <a:cxnLst/>
              <a:rect r="r" b="b" t="t" l="l"/>
              <a:pathLst>
                <a:path h="573494" w="10135210">
                  <a:moveTo>
                    <a:pt x="0" y="0"/>
                  </a:moveTo>
                  <a:lnTo>
                    <a:pt x="10135210" y="0"/>
                  </a:lnTo>
                  <a:lnTo>
                    <a:pt x="10135210" y="573494"/>
                  </a:lnTo>
                  <a:lnTo>
                    <a:pt x="0" y="573494"/>
                  </a:lnTo>
                  <a:close/>
                </a:path>
              </a:pathLst>
            </a:custGeom>
            <a:blipFill>
              <a:blip r:embed="rId4">
                <a:alphaModFix amt="0"/>
              </a:blip>
              <a:stretch>
                <a:fillRect l="0" t="-299390" r="0" b="-289316"/>
              </a:stretch>
            </a:blipFill>
          </p:spPr>
          <p:txBody>
            <a:bodyPr/>
            <a:p/>
          </p:txBody>
        </p:sp>
        <p:sp>
          <p:nvSpPr>
            <p:cNvPr name="TextBox 127" id="127"/>
            <p:cNvSpPr txBox="true"/>
            <p:nvPr/>
          </p:nvSpPr>
          <p:spPr>
            <a:xfrm>
              <a:off x="0" y="-9525"/>
              <a:ext cx="10135210" cy="583019"/>
            </a:xfrm>
            <a:prstGeom prst="rect">
              <a:avLst/>
            </a:prstGeom>
          </p:spPr>
          <p:txBody>
            <a:bodyPr anchor="ctr" rtlCol="false" tIns="0" lIns="0" bIns="0" rIns="0"/>
            <a:lstStyle/>
            <a:p>
              <a:pPr algn="l">
                <a:lnSpc>
                  <a:spcPts val="2340"/>
                </a:lnSpc>
              </a:pPr>
              <a:r>
                <a:rPr lang="en-US" b="true" sz="1950" spc="57">
                  <a:solidFill>
                    <a:srgbClr val="FFFFFF"/>
                  </a:solidFill>
                  <a:latin typeface="Manrope Bold"/>
                  <a:ea typeface="Manrope Bold"/>
                  <a:cs typeface="Manrope Bold"/>
                  <a:sym typeface="Manrope Bold"/>
                </a:rPr>
                <a:t>Cellules Souches</a:t>
              </a:r>
            </a:p>
          </p:txBody>
        </p:sp>
      </p:grpSp>
      <p:grpSp>
        <p:nvGrpSpPr>
          <p:cNvPr name="Group 128" id="128"/>
          <p:cNvGrpSpPr/>
          <p:nvPr/>
        </p:nvGrpSpPr>
        <p:grpSpPr>
          <a:xfrm rot="0">
            <a:off x="9643720" y="8080096"/>
            <a:ext cx="7601407" cy="293380"/>
            <a:chOff x="0" y="0"/>
            <a:chExt cx="10135210" cy="391173"/>
          </a:xfrm>
        </p:grpSpPr>
        <p:sp>
          <p:nvSpPr>
            <p:cNvPr name="Freeform 129" id="129"/>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30" id="130"/>
            <p:cNvSpPr txBox="true"/>
            <p:nvPr/>
          </p:nvSpPr>
          <p:spPr>
            <a:xfrm>
              <a:off x="0" y="0"/>
              <a:ext cx="1013521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Recherche</a:t>
              </a:r>
              <a:r>
                <a:rPr lang="en-US" sz="1350">
                  <a:solidFill>
                    <a:srgbClr val="BCBFCC"/>
                  </a:solidFill>
                  <a:latin typeface="Manrope"/>
                  <a:ea typeface="Manrope"/>
                  <a:cs typeface="Manrope"/>
                  <a:sym typeface="Manrope"/>
                </a:rPr>
                <a:t> (pas une offre disponible)</a:t>
              </a:r>
            </a:p>
          </p:txBody>
        </p:sp>
      </p:grpSp>
      <p:grpSp>
        <p:nvGrpSpPr>
          <p:cNvPr name="Group 131" id="131"/>
          <p:cNvGrpSpPr/>
          <p:nvPr/>
        </p:nvGrpSpPr>
        <p:grpSpPr>
          <a:xfrm rot="0">
            <a:off x="9643720" y="8454542"/>
            <a:ext cx="7601407" cy="293380"/>
            <a:chOff x="0" y="0"/>
            <a:chExt cx="10135210" cy="391173"/>
          </a:xfrm>
        </p:grpSpPr>
        <p:sp>
          <p:nvSpPr>
            <p:cNvPr name="Freeform 132" id="132"/>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33" id="133"/>
            <p:cNvSpPr txBox="true"/>
            <p:nvPr/>
          </p:nvSpPr>
          <p:spPr>
            <a:xfrm>
              <a:off x="0" y="0"/>
              <a:ext cx="10135210" cy="391173"/>
            </a:xfrm>
            <a:prstGeom prst="rect">
              <a:avLst/>
            </a:prstGeom>
          </p:spPr>
          <p:txBody>
            <a:bodyPr anchor="ctr" rtlCol="false" tIns="0" lIns="0" bIns="0" rIns="0"/>
            <a:lstStyle/>
            <a:p>
              <a:pPr algn="l">
                <a:lnSpc>
                  <a:spcPts val="1620"/>
                </a:lnSpc>
              </a:pPr>
              <a:r>
                <a:rPr lang="en-US" sz="1350" b="true">
                  <a:solidFill>
                    <a:srgbClr val="FFFFFF"/>
                  </a:solidFill>
                  <a:latin typeface="Manrope Bold"/>
                  <a:ea typeface="Manrope Bold"/>
                  <a:cs typeface="Manrope Bold"/>
                  <a:sym typeface="Manrope Bold"/>
                </a:rPr>
                <a:t>12 hallmarks</a:t>
              </a:r>
              <a:r>
                <a:rPr lang="en-US" sz="1350">
                  <a:solidFill>
                    <a:srgbClr val="BCBFCC"/>
                  </a:solidFill>
                  <a:latin typeface="Manrope"/>
                  <a:ea typeface="Manrope"/>
                  <a:cs typeface="Manrope"/>
                  <a:sym typeface="Manrope"/>
                </a:rPr>
                <a:t> du vieillissement, ciblés dans la peau</a:t>
              </a:r>
            </a:p>
          </p:txBody>
        </p:sp>
      </p:grpSp>
      <p:grpSp>
        <p:nvGrpSpPr>
          <p:cNvPr name="Group 134" id="134"/>
          <p:cNvGrpSpPr/>
          <p:nvPr/>
        </p:nvGrpSpPr>
        <p:grpSpPr>
          <a:xfrm rot="0">
            <a:off x="9643720" y="8828989"/>
            <a:ext cx="7601407" cy="293380"/>
            <a:chOff x="0" y="0"/>
            <a:chExt cx="10135210" cy="391173"/>
          </a:xfrm>
        </p:grpSpPr>
        <p:sp>
          <p:nvSpPr>
            <p:cNvPr name="Freeform 135" id="135"/>
            <p:cNvSpPr/>
            <p:nvPr/>
          </p:nvSpPr>
          <p:spPr>
            <a:xfrm flipH="false" flipV="false" rot="0">
              <a:off x="0" y="0"/>
              <a:ext cx="10135210" cy="391172"/>
            </a:xfrm>
            <a:custGeom>
              <a:avLst/>
              <a:gdLst/>
              <a:ahLst/>
              <a:cxnLst/>
              <a:rect r="r" b="b" t="t" l="l"/>
              <a:pathLst>
                <a:path h="391172" w="10135210">
                  <a:moveTo>
                    <a:pt x="0" y="0"/>
                  </a:moveTo>
                  <a:lnTo>
                    <a:pt x="10135210" y="0"/>
                  </a:lnTo>
                  <a:lnTo>
                    <a:pt x="10135210" y="391172"/>
                  </a:lnTo>
                  <a:lnTo>
                    <a:pt x="0" y="391172"/>
                  </a:lnTo>
                  <a:close/>
                </a:path>
              </a:pathLst>
            </a:custGeom>
            <a:blipFill>
              <a:blip r:embed="rId4">
                <a:alphaModFix amt="0"/>
              </a:blip>
              <a:stretch>
                <a:fillRect l="0" t="-458569" r="0" b="-451138"/>
              </a:stretch>
            </a:blipFill>
          </p:spPr>
          <p:txBody>
            <a:bodyPr/>
            <a:p/>
          </p:txBody>
        </p:sp>
        <p:sp>
          <p:nvSpPr>
            <p:cNvPr name="TextBox 136" id="136"/>
            <p:cNvSpPr txBox="true"/>
            <p:nvPr/>
          </p:nvSpPr>
          <p:spPr>
            <a:xfrm>
              <a:off x="0" y="0"/>
              <a:ext cx="10135210" cy="391173"/>
            </a:xfrm>
            <a:prstGeom prst="rect">
              <a:avLst/>
            </a:prstGeom>
          </p:spPr>
          <p:txBody>
            <a:bodyPr anchor="ctr" rtlCol="false" tIns="0" lIns="0" bIns="0" rIns="0"/>
            <a:lstStyle/>
            <a:p>
              <a:pPr algn="l">
                <a:lnSpc>
                  <a:spcPts val="1620"/>
                </a:lnSpc>
              </a:pPr>
              <a:r>
                <a:rPr lang="en-US" sz="1350">
                  <a:solidFill>
                    <a:srgbClr val="BCBFCC"/>
                  </a:solidFill>
                  <a:latin typeface="Manrope"/>
                  <a:ea typeface="Manrope"/>
                  <a:cs typeface="Manrope"/>
                  <a:sym typeface="Manrope"/>
                </a:rPr>
                <a:t>Le terrain le plus prometteur et le plus exposé</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sp>
        <p:nvSpPr>
          <p:cNvPr name="Freeform 6" id="6" descr="preencoded.png"/>
          <p:cNvSpPr/>
          <p:nvPr/>
        </p:nvSpPr>
        <p:spPr>
          <a:xfrm flipH="false" flipV="false" rot="0">
            <a:off x="0" y="0"/>
            <a:ext cx="18287543" cy="10287000"/>
          </a:xfrm>
          <a:custGeom>
            <a:avLst/>
            <a:gdLst/>
            <a:ahLst/>
            <a:cxnLst/>
            <a:rect r="r" b="b" t="t" l="l"/>
            <a:pathLst>
              <a:path h="10287000" w="18287543">
                <a:moveTo>
                  <a:pt x="0" y="0"/>
                </a:moveTo>
                <a:lnTo>
                  <a:pt x="18287543" y="0"/>
                </a:lnTo>
                <a:lnTo>
                  <a:pt x="18287543"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38886" r="0" b="-38887"/>
            </a:stretch>
          </a:blipFill>
        </p:spPr>
        <p:txBody>
          <a:bodyPr/>
          <a:p/>
        </p:txBody>
      </p:sp>
      <p:grpSp>
        <p:nvGrpSpPr>
          <p:cNvPr name="Group 7" id="7"/>
          <p:cNvGrpSpPr/>
          <p:nvPr/>
        </p:nvGrpSpPr>
        <p:grpSpPr>
          <a:xfrm rot="0">
            <a:off x="571957" y="9601200"/>
            <a:ext cx="2644445" cy="293380"/>
            <a:chOff x="0" y="0"/>
            <a:chExt cx="3525926" cy="391173"/>
          </a:xfrm>
        </p:grpSpPr>
        <p:sp>
          <p:nvSpPr>
            <p:cNvPr name="Freeform 8" id="8"/>
            <p:cNvSpPr/>
            <p:nvPr/>
          </p:nvSpPr>
          <p:spPr>
            <a:xfrm flipH="false" flipV="false" rot="0">
              <a:off x="0" y="0"/>
              <a:ext cx="3525926" cy="391173"/>
            </a:xfrm>
            <a:custGeom>
              <a:avLst/>
              <a:gdLst/>
              <a:ahLst/>
              <a:cxnLst/>
              <a:rect r="r" b="b" t="t" l="l"/>
              <a:pathLst>
                <a:path h="391173" w="3525926">
                  <a:moveTo>
                    <a:pt x="0" y="0"/>
                  </a:moveTo>
                  <a:lnTo>
                    <a:pt x="3525926" y="0"/>
                  </a:lnTo>
                  <a:lnTo>
                    <a:pt x="3525926" y="391173"/>
                  </a:lnTo>
                  <a:lnTo>
                    <a:pt x="0" y="391173"/>
                  </a:lnTo>
                  <a:close/>
                </a:path>
              </a:pathLst>
            </a:custGeom>
            <a:blipFill>
              <a:blip r:embed="rId5">
                <a:alphaModFix amt="0"/>
              </a:blip>
              <a:stretch>
                <a:fillRect l="0" t="-136595" r="0" b="-114670"/>
              </a:stretch>
            </a:blipFill>
          </p:spPr>
          <p:txBody>
            <a:bodyPr/>
            <a:p/>
          </p:txBody>
        </p:sp>
        <p:sp>
          <p:nvSpPr>
            <p:cNvPr name="TextBox 9" id="9"/>
            <p:cNvSpPr txBox="true"/>
            <p:nvPr/>
          </p:nvSpPr>
          <p:spPr>
            <a:xfrm>
              <a:off x="0" y="0"/>
              <a:ext cx="3525926" cy="391173"/>
            </a:xfrm>
            <a:prstGeom prst="rect">
              <a:avLst/>
            </a:prstGeom>
          </p:spPr>
          <p:txBody>
            <a:bodyPr anchor="ctr" rtlCol="false" tIns="0" lIns="0" bIns="0" rIns="0"/>
            <a:lstStyle/>
            <a:p>
              <a:pPr algn="l">
                <a:lnSpc>
                  <a:spcPts val="1620"/>
                </a:lnSpc>
              </a:pPr>
              <a:r>
                <a:rPr lang="en-US" sz="1350" spc="135">
                  <a:solidFill>
                    <a:srgbClr val="FFFFFF"/>
                  </a:solidFill>
                  <a:latin typeface="Manrope"/>
                  <a:ea typeface="Manrope"/>
                  <a:cs typeface="Manrope"/>
                  <a:sym typeface="Manrope"/>
                </a:rPr>
                <a:t>DR. ADDOR — STRATÉGIE</a:t>
              </a:r>
            </a:p>
          </p:txBody>
        </p:sp>
      </p:grpSp>
      <p:grpSp>
        <p:nvGrpSpPr>
          <p:cNvPr name="Group 10" id="10"/>
          <p:cNvGrpSpPr/>
          <p:nvPr/>
        </p:nvGrpSpPr>
        <p:grpSpPr>
          <a:xfrm rot="0">
            <a:off x="17476927" y="9601200"/>
            <a:ext cx="357988" cy="293380"/>
            <a:chOff x="0" y="0"/>
            <a:chExt cx="477317" cy="391173"/>
          </a:xfrm>
        </p:grpSpPr>
        <p:sp>
          <p:nvSpPr>
            <p:cNvPr name="Freeform 11" id="11"/>
            <p:cNvSpPr/>
            <p:nvPr/>
          </p:nvSpPr>
          <p:spPr>
            <a:xfrm flipH="false" flipV="false" rot="0">
              <a:off x="0" y="0"/>
              <a:ext cx="477316" cy="391173"/>
            </a:xfrm>
            <a:custGeom>
              <a:avLst/>
              <a:gdLst/>
              <a:ahLst/>
              <a:cxnLst/>
              <a:rect r="r" b="b" t="t" l="l"/>
              <a:pathLst>
                <a:path h="391173" w="477316">
                  <a:moveTo>
                    <a:pt x="0" y="0"/>
                  </a:moveTo>
                  <a:lnTo>
                    <a:pt x="477316" y="0"/>
                  </a:lnTo>
                  <a:lnTo>
                    <a:pt x="477316" y="391173"/>
                  </a:lnTo>
                  <a:lnTo>
                    <a:pt x="0" y="391173"/>
                  </a:lnTo>
                  <a:close/>
                </a:path>
              </a:pathLst>
            </a:custGeom>
            <a:blipFill>
              <a:blip r:embed="rId5">
                <a:alphaModFix amt="0"/>
              </a:blip>
              <a:stretch>
                <a:fillRect l="-32094" t="0" r="-32094" b="21924"/>
              </a:stretch>
            </a:blipFill>
          </p:spPr>
          <p:txBody>
            <a:bodyPr/>
            <a:p/>
          </p:txBody>
        </p:sp>
        <p:sp>
          <p:nvSpPr>
            <p:cNvPr name="TextBox 12" id="12"/>
            <p:cNvSpPr txBox="true"/>
            <p:nvPr/>
          </p:nvSpPr>
          <p:spPr>
            <a:xfrm>
              <a:off x="0" y="0"/>
              <a:ext cx="477317" cy="391173"/>
            </a:xfrm>
            <a:prstGeom prst="rect">
              <a:avLst/>
            </a:prstGeom>
          </p:spPr>
          <p:txBody>
            <a:bodyPr anchor="ctr" rtlCol="false" tIns="0" lIns="0" bIns="0" rIns="0"/>
            <a:lstStyle/>
            <a:p>
              <a:pPr algn="l">
                <a:lnSpc>
                  <a:spcPts val="1620"/>
                </a:lnSpc>
              </a:pPr>
              <a:r>
                <a:rPr lang="en-US" sz="1350" spc="135">
                  <a:solidFill>
                    <a:srgbClr val="FFFFFF"/>
                  </a:solidFill>
                  <a:latin typeface="Manrope"/>
                  <a:ea typeface="Manrope"/>
                  <a:cs typeface="Manrope"/>
                  <a:sym typeface="Manrope"/>
                </a:rPr>
                <a:t>19</a:t>
              </a:r>
            </a:p>
          </p:txBody>
        </p:sp>
      </p:grpSp>
      <p:grpSp>
        <p:nvGrpSpPr>
          <p:cNvPr name="Group 13" id="13"/>
          <p:cNvGrpSpPr/>
          <p:nvPr/>
        </p:nvGrpSpPr>
        <p:grpSpPr>
          <a:xfrm rot="0">
            <a:off x="857250" y="821588"/>
            <a:ext cx="456743" cy="13716"/>
            <a:chOff x="0" y="0"/>
            <a:chExt cx="608990" cy="18288"/>
          </a:xfrm>
        </p:grpSpPr>
        <p:sp>
          <p:nvSpPr>
            <p:cNvPr name="Freeform 14" id="14" descr="preencoded.png"/>
            <p:cNvSpPr/>
            <p:nvPr/>
          </p:nvSpPr>
          <p:spPr>
            <a:xfrm flipH="false" flipV="false" rot="0">
              <a:off x="0" y="0"/>
              <a:ext cx="608965" cy="18288"/>
            </a:xfrm>
            <a:custGeom>
              <a:avLst/>
              <a:gdLst/>
              <a:ahLst/>
              <a:cxnLst/>
              <a:rect r="r" b="b" t="t" l="l"/>
              <a:pathLst>
                <a:path h="18288" w="608965">
                  <a:moveTo>
                    <a:pt x="0" y="0"/>
                  </a:moveTo>
                  <a:lnTo>
                    <a:pt x="608965" y="0"/>
                  </a:lnTo>
                  <a:lnTo>
                    <a:pt x="608965" y="18288"/>
                  </a:lnTo>
                  <a:lnTo>
                    <a:pt x="0" y="18288"/>
                  </a:lnTo>
                  <a:lnTo>
                    <a:pt x="0" y="0"/>
                  </a:lnTo>
                  <a:close/>
                </a:path>
              </a:pathLst>
            </a:custGeom>
            <a:blipFill>
              <a:blip r:embed="rId6"/>
              <a:stretch>
                <a:fillRect l="1949" t="0" r="1945" b="0"/>
              </a:stretch>
            </a:blipFill>
          </p:spPr>
          <p:txBody>
            <a:bodyPr/>
            <a:p/>
          </p:txBody>
        </p:sp>
      </p:grpSp>
      <p:grpSp>
        <p:nvGrpSpPr>
          <p:cNvPr name="Group 15" id="15"/>
          <p:cNvGrpSpPr/>
          <p:nvPr/>
        </p:nvGrpSpPr>
        <p:grpSpPr>
          <a:xfrm rot="0">
            <a:off x="1485443" y="714604"/>
            <a:ext cx="1872234" cy="293380"/>
            <a:chOff x="0" y="0"/>
            <a:chExt cx="2496312" cy="391173"/>
          </a:xfrm>
        </p:grpSpPr>
        <p:sp>
          <p:nvSpPr>
            <p:cNvPr name="Freeform 16" id="16"/>
            <p:cNvSpPr/>
            <p:nvPr/>
          </p:nvSpPr>
          <p:spPr>
            <a:xfrm flipH="false" flipV="false" rot="0">
              <a:off x="0" y="0"/>
              <a:ext cx="2496312" cy="391173"/>
            </a:xfrm>
            <a:custGeom>
              <a:avLst/>
              <a:gdLst/>
              <a:ahLst/>
              <a:cxnLst/>
              <a:rect r="r" b="b" t="t" l="l"/>
              <a:pathLst>
                <a:path h="391173" w="2496312">
                  <a:moveTo>
                    <a:pt x="0" y="0"/>
                  </a:moveTo>
                  <a:lnTo>
                    <a:pt x="2496312" y="0"/>
                  </a:lnTo>
                  <a:lnTo>
                    <a:pt x="2496312" y="391173"/>
                  </a:lnTo>
                  <a:lnTo>
                    <a:pt x="0" y="391173"/>
                  </a:lnTo>
                  <a:close/>
                </a:path>
              </a:pathLst>
            </a:custGeom>
            <a:blipFill>
              <a:blip r:embed="rId5">
                <a:alphaModFix amt="0"/>
              </a:blip>
              <a:stretch>
                <a:fillRect l="0" t="-85308" r="0" b="-63383"/>
              </a:stretch>
            </a:blipFill>
          </p:spPr>
          <p:txBody>
            <a:bodyPr/>
            <a:p/>
          </p:txBody>
        </p:sp>
        <p:sp>
          <p:nvSpPr>
            <p:cNvPr name="TextBox 17" id="17"/>
            <p:cNvSpPr txBox="true"/>
            <p:nvPr/>
          </p:nvSpPr>
          <p:spPr>
            <a:xfrm>
              <a:off x="0" y="0"/>
              <a:ext cx="2496312" cy="391173"/>
            </a:xfrm>
            <a:prstGeom prst="rect">
              <a:avLst/>
            </a:prstGeom>
          </p:spPr>
          <p:txBody>
            <a:bodyPr anchor="ctr" rtlCol="false" tIns="0" lIns="0" bIns="0" rIns="0"/>
            <a:lstStyle/>
            <a:p>
              <a:pPr algn="l">
                <a:lnSpc>
                  <a:spcPts val="1620"/>
                </a:lnSpc>
              </a:pPr>
              <a:r>
                <a:rPr lang="en-US" b="true" sz="1350" spc="270">
                  <a:solidFill>
                    <a:srgbClr val="FFFFFF"/>
                  </a:solidFill>
                  <a:latin typeface="Manrope Bold"/>
                  <a:ea typeface="Manrope Bold"/>
                  <a:cs typeface="Manrope Bold"/>
                  <a:sym typeface="Manrope Bold"/>
                </a:rPr>
                <a:t>MÉTHODOLOGIE</a:t>
              </a:r>
            </a:p>
          </p:txBody>
        </p:sp>
      </p:grpSp>
      <p:grpSp>
        <p:nvGrpSpPr>
          <p:cNvPr name="Group 18" id="18"/>
          <p:cNvGrpSpPr/>
          <p:nvPr/>
        </p:nvGrpSpPr>
        <p:grpSpPr>
          <a:xfrm rot="0">
            <a:off x="857250" y="1115111"/>
            <a:ext cx="16859707" cy="889664"/>
            <a:chOff x="0" y="0"/>
            <a:chExt cx="22479610" cy="1186218"/>
          </a:xfrm>
        </p:grpSpPr>
        <p:sp>
          <p:nvSpPr>
            <p:cNvPr name="Freeform 19" id="19"/>
            <p:cNvSpPr/>
            <p:nvPr/>
          </p:nvSpPr>
          <p:spPr>
            <a:xfrm flipH="false" flipV="false" rot="0">
              <a:off x="0" y="0"/>
              <a:ext cx="22479611" cy="1186218"/>
            </a:xfrm>
            <a:custGeom>
              <a:avLst/>
              <a:gdLst/>
              <a:ahLst/>
              <a:cxnLst/>
              <a:rect r="r" b="b" t="t" l="l"/>
              <a:pathLst>
                <a:path h="1186218" w="22479611">
                  <a:moveTo>
                    <a:pt x="0" y="0"/>
                  </a:moveTo>
                  <a:lnTo>
                    <a:pt x="22479611" y="0"/>
                  </a:lnTo>
                  <a:lnTo>
                    <a:pt x="22479611" y="1186218"/>
                  </a:lnTo>
                  <a:lnTo>
                    <a:pt x="0" y="1186218"/>
                  </a:lnTo>
                  <a:close/>
                </a:path>
              </a:pathLst>
            </a:custGeom>
            <a:blipFill>
              <a:blip r:embed="rId5">
                <a:alphaModFix amt="0"/>
              </a:blip>
              <a:stretch>
                <a:fillRect l="0" t="-337109" r="0" b="-301398"/>
              </a:stretch>
            </a:blipFill>
          </p:spPr>
          <p:txBody>
            <a:bodyPr/>
            <a:p/>
          </p:txBody>
        </p:sp>
        <p:sp>
          <p:nvSpPr>
            <p:cNvPr name="TextBox 20" id="20"/>
            <p:cNvSpPr txBox="true"/>
            <p:nvPr/>
          </p:nvSpPr>
          <p:spPr>
            <a:xfrm>
              <a:off x="0" y="9525"/>
              <a:ext cx="22479610" cy="1176693"/>
            </a:xfrm>
            <a:prstGeom prst="rect">
              <a:avLst/>
            </a:prstGeom>
          </p:spPr>
          <p:txBody>
            <a:bodyPr anchor="ctr" rtlCol="false" tIns="0" lIns="0" bIns="0" rIns="0"/>
            <a:lstStyle/>
            <a:p>
              <a:pPr algn="l">
                <a:lnSpc>
                  <a:spcPts val="4860"/>
                </a:lnSpc>
              </a:pPr>
              <a:r>
                <a:rPr lang="en-US" sz="4050" b="true">
                  <a:solidFill>
                    <a:srgbClr val="FFFFFF"/>
                  </a:solidFill>
                  <a:latin typeface="Manrope Bold"/>
                  <a:ea typeface="Manrope Bold"/>
                  <a:cs typeface="Manrope Bold"/>
                  <a:sym typeface="Manrope Bold"/>
                </a:rPr>
                <a:t>Stratégie d'implémentation</a:t>
              </a:r>
            </a:p>
          </p:txBody>
        </p:sp>
      </p:grpSp>
      <p:grpSp>
        <p:nvGrpSpPr>
          <p:cNvPr name="Group 21" id="21"/>
          <p:cNvGrpSpPr/>
          <p:nvPr/>
        </p:nvGrpSpPr>
        <p:grpSpPr>
          <a:xfrm rot="0">
            <a:off x="857250" y="1999212"/>
            <a:ext cx="12001500" cy="430120"/>
            <a:chOff x="0" y="0"/>
            <a:chExt cx="16002000" cy="573494"/>
          </a:xfrm>
        </p:grpSpPr>
        <p:sp>
          <p:nvSpPr>
            <p:cNvPr name="Freeform 22" id="22"/>
            <p:cNvSpPr/>
            <p:nvPr/>
          </p:nvSpPr>
          <p:spPr>
            <a:xfrm flipH="false" flipV="false" rot="0">
              <a:off x="0" y="0"/>
              <a:ext cx="16002000" cy="573494"/>
            </a:xfrm>
            <a:custGeom>
              <a:avLst/>
              <a:gdLst/>
              <a:ahLst/>
              <a:cxnLst/>
              <a:rect r="r" b="b" t="t" l="l"/>
              <a:pathLst>
                <a:path h="573494" w="16002000">
                  <a:moveTo>
                    <a:pt x="0" y="0"/>
                  </a:moveTo>
                  <a:lnTo>
                    <a:pt x="16002000" y="0"/>
                  </a:lnTo>
                  <a:lnTo>
                    <a:pt x="16002000" y="573494"/>
                  </a:lnTo>
                  <a:lnTo>
                    <a:pt x="0" y="573494"/>
                  </a:lnTo>
                  <a:close/>
                </a:path>
              </a:pathLst>
            </a:custGeom>
            <a:blipFill>
              <a:blip r:embed="rId5">
                <a:alphaModFix amt="0"/>
              </a:blip>
              <a:stretch>
                <a:fillRect l="0" t="-497126" r="0" b="-490241"/>
              </a:stretch>
            </a:blipFill>
          </p:spPr>
          <p:txBody>
            <a:bodyPr/>
            <a:p/>
          </p:txBody>
        </p:sp>
        <p:sp>
          <p:nvSpPr>
            <p:cNvPr name="TextBox 23" id="23"/>
            <p:cNvSpPr txBox="true"/>
            <p:nvPr/>
          </p:nvSpPr>
          <p:spPr>
            <a:xfrm>
              <a:off x="0" y="-9525"/>
              <a:ext cx="16002000" cy="583019"/>
            </a:xfrm>
            <a:prstGeom prst="rect">
              <a:avLst/>
            </a:prstGeom>
          </p:spPr>
          <p:txBody>
            <a:bodyPr anchor="ctr" rtlCol="false" tIns="0" lIns="0" bIns="0" rIns="0"/>
            <a:lstStyle/>
            <a:p>
              <a:pPr algn="l">
                <a:lnSpc>
                  <a:spcPts val="2340"/>
                </a:lnSpc>
              </a:pPr>
              <a:r>
                <a:rPr lang="en-US" sz="1950">
                  <a:solidFill>
                    <a:srgbClr val="FFFFFF"/>
                  </a:solidFill>
                  <a:latin typeface="Manrope"/>
                  <a:ea typeface="Manrope"/>
                  <a:cs typeface="Manrope"/>
                  <a:sym typeface="Manrope"/>
                </a:rPr>
                <a:t>La Règle des 3 P : Un système durable pour transformer l'intention en action biologique.</a:t>
              </a:r>
            </a:p>
          </p:txBody>
        </p:sp>
      </p:grpSp>
      <p:grpSp>
        <p:nvGrpSpPr>
          <p:cNvPr name="Group 24" id="24"/>
          <p:cNvGrpSpPr/>
          <p:nvPr/>
        </p:nvGrpSpPr>
        <p:grpSpPr>
          <a:xfrm rot="0">
            <a:off x="847725" y="2619832"/>
            <a:ext cx="5248961" cy="6819443"/>
            <a:chOff x="0" y="0"/>
            <a:chExt cx="6998614" cy="9092590"/>
          </a:xfrm>
        </p:grpSpPr>
        <p:sp>
          <p:nvSpPr>
            <p:cNvPr name="Freeform 25" id="25"/>
            <p:cNvSpPr/>
            <p:nvPr/>
          </p:nvSpPr>
          <p:spPr>
            <a:xfrm flipH="false" flipV="false" rot="0">
              <a:off x="12700" y="12700"/>
              <a:ext cx="6973316" cy="9067165"/>
            </a:xfrm>
            <a:custGeom>
              <a:avLst/>
              <a:gdLst/>
              <a:ahLst/>
              <a:cxnLst/>
              <a:rect r="r" b="b" t="t" l="l"/>
              <a:pathLst>
                <a:path h="9067165" w="6973316">
                  <a:moveTo>
                    <a:pt x="0" y="40005"/>
                  </a:moveTo>
                  <a:cubicBezTo>
                    <a:pt x="0" y="17907"/>
                    <a:pt x="17907" y="0"/>
                    <a:pt x="40005" y="0"/>
                  </a:cubicBezTo>
                  <a:lnTo>
                    <a:pt x="6933311" y="0"/>
                  </a:lnTo>
                  <a:cubicBezTo>
                    <a:pt x="6955409" y="0"/>
                    <a:pt x="6973316" y="17907"/>
                    <a:pt x="6973316" y="40005"/>
                  </a:cubicBezTo>
                  <a:lnTo>
                    <a:pt x="6973316" y="9027160"/>
                  </a:lnTo>
                  <a:cubicBezTo>
                    <a:pt x="6973316" y="9049258"/>
                    <a:pt x="6955409" y="9067165"/>
                    <a:pt x="6933311" y="9067165"/>
                  </a:cubicBezTo>
                  <a:lnTo>
                    <a:pt x="40005" y="9067165"/>
                  </a:lnTo>
                  <a:cubicBezTo>
                    <a:pt x="17907" y="9067165"/>
                    <a:pt x="0" y="9049258"/>
                    <a:pt x="0" y="9027160"/>
                  </a:cubicBezTo>
                  <a:close/>
                </a:path>
              </a:pathLst>
            </a:custGeom>
            <a:solidFill>
              <a:srgbClr val="1E1E24">
                <a:alpha val="15686"/>
              </a:srgbClr>
            </a:solidFill>
          </p:spPr>
          <p:txBody>
            <a:bodyPr/>
            <a:p/>
          </p:txBody>
        </p:sp>
        <p:sp>
          <p:nvSpPr>
            <p:cNvPr name="Freeform 26" id="26"/>
            <p:cNvSpPr/>
            <p:nvPr/>
          </p:nvSpPr>
          <p:spPr>
            <a:xfrm flipH="false" flipV="false" rot="0">
              <a:off x="0" y="0"/>
              <a:ext cx="6998716" cy="9092565"/>
            </a:xfrm>
            <a:custGeom>
              <a:avLst/>
              <a:gdLst/>
              <a:ahLst/>
              <a:cxnLst/>
              <a:rect r="r" b="b" t="t" l="l"/>
              <a:pathLst>
                <a:path h="9092565" w="6998716">
                  <a:moveTo>
                    <a:pt x="0" y="52705"/>
                  </a:moveTo>
                  <a:cubicBezTo>
                    <a:pt x="0" y="23622"/>
                    <a:pt x="23622" y="0"/>
                    <a:pt x="52705" y="0"/>
                  </a:cubicBezTo>
                  <a:lnTo>
                    <a:pt x="6946011" y="0"/>
                  </a:lnTo>
                  <a:lnTo>
                    <a:pt x="6946011" y="12700"/>
                  </a:lnTo>
                  <a:lnTo>
                    <a:pt x="6946011" y="0"/>
                  </a:lnTo>
                  <a:cubicBezTo>
                    <a:pt x="6975094" y="0"/>
                    <a:pt x="6998716" y="23622"/>
                    <a:pt x="6998716" y="52705"/>
                  </a:cubicBezTo>
                  <a:lnTo>
                    <a:pt x="6986016" y="52705"/>
                  </a:lnTo>
                  <a:lnTo>
                    <a:pt x="6998716" y="52705"/>
                  </a:lnTo>
                  <a:lnTo>
                    <a:pt x="6998716" y="9039860"/>
                  </a:lnTo>
                  <a:lnTo>
                    <a:pt x="6986016" y="9039860"/>
                  </a:lnTo>
                  <a:lnTo>
                    <a:pt x="6998716" y="9039860"/>
                  </a:lnTo>
                  <a:cubicBezTo>
                    <a:pt x="6998716" y="9068943"/>
                    <a:pt x="6975094" y="9092565"/>
                    <a:pt x="6946011" y="9092565"/>
                  </a:cubicBezTo>
                  <a:lnTo>
                    <a:pt x="6946011" y="9079865"/>
                  </a:lnTo>
                  <a:lnTo>
                    <a:pt x="6946011" y="9092565"/>
                  </a:lnTo>
                  <a:lnTo>
                    <a:pt x="52705" y="9092565"/>
                  </a:lnTo>
                  <a:lnTo>
                    <a:pt x="52705" y="9079865"/>
                  </a:lnTo>
                  <a:lnTo>
                    <a:pt x="52705" y="9092565"/>
                  </a:lnTo>
                  <a:cubicBezTo>
                    <a:pt x="23622" y="9092565"/>
                    <a:pt x="0" y="9068943"/>
                    <a:pt x="0" y="9039860"/>
                  </a:cubicBezTo>
                  <a:lnTo>
                    <a:pt x="0" y="52705"/>
                  </a:lnTo>
                  <a:lnTo>
                    <a:pt x="12700" y="52705"/>
                  </a:lnTo>
                  <a:lnTo>
                    <a:pt x="0" y="52705"/>
                  </a:lnTo>
                  <a:moveTo>
                    <a:pt x="25400" y="52705"/>
                  </a:moveTo>
                  <a:lnTo>
                    <a:pt x="25400" y="9039860"/>
                  </a:lnTo>
                  <a:lnTo>
                    <a:pt x="12700" y="9039860"/>
                  </a:lnTo>
                  <a:lnTo>
                    <a:pt x="25400" y="9039860"/>
                  </a:lnTo>
                  <a:cubicBezTo>
                    <a:pt x="25400" y="9054973"/>
                    <a:pt x="37592" y="9067165"/>
                    <a:pt x="52705" y="9067165"/>
                  </a:cubicBezTo>
                  <a:lnTo>
                    <a:pt x="6946011" y="9067165"/>
                  </a:lnTo>
                  <a:cubicBezTo>
                    <a:pt x="6960997" y="9067165"/>
                    <a:pt x="6973316" y="9054973"/>
                    <a:pt x="6973316" y="9039860"/>
                  </a:cubicBezTo>
                  <a:lnTo>
                    <a:pt x="6973316" y="52705"/>
                  </a:lnTo>
                  <a:cubicBezTo>
                    <a:pt x="6973316" y="37592"/>
                    <a:pt x="6961124" y="25400"/>
                    <a:pt x="6946011" y="25400"/>
                  </a:cubicBezTo>
                  <a:lnTo>
                    <a:pt x="52705" y="25400"/>
                  </a:lnTo>
                  <a:lnTo>
                    <a:pt x="52705" y="12700"/>
                  </a:lnTo>
                  <a:lnTo>
                    <a:pt x="52705" y="25400"/>
                  </a:lnTo>
                  <a:cubicBezTo>
                    <a:pt x="37592" y="25400"/>
                    <a:pt x="25400" y="37592"/>
                    <a:pt x="25400" y="52705"/>
                  </a:cubicBezTo>
                  <a:close/>
                </a:path>
              </a:pathLst>
            </a:custGeom>
            <a:solidFill>
              <a:srgbClr val="40424D"/>
            </a:solidFill>
          </p:spPr>
          <p:txBody>
            <a:bodyPr/>
            <a:p/>
          </p:txBody>
        </p:sp>
      </p:grpSp>
      <p:grpSp>
        <p:nvGrpSpPr>
          <p:cNvPr name="Group 27" id="27"/>
          <p:cNvGrpSpPr/>
          <p:nvPr/>
        </p:nvGrpSpPr>
        <p:grpSpPr>
          <a:xfrm rot="0">
            <a:off x="847725" y="2619832"/>
            <a:ext cx="76657" cy="6792011"/>
            <a:chOff x="0" y="0"/>
            <a:chExt cx="102210" cy="9056014"/>
          </a:xfrm>
        </p:grpSpPr>
        <p:sp>
          <p:nvSpPr>
            <p:cNvPr name="Freeform 28" id="28"/>
            <p:cNvSpPr/>
            <p:nvPr/>
          </p:nvSpPr>
          <p:spPr>
            <a:xfrm flipH="false" flipV="false" rot="0">
              <a:off x="12700" y="12700"/>
              <a:ext cx="76835" cy="9030589"/>
            </a:xfrm>
            <a:custGeom>
              <a:avLst/>
              <a:gdLst/>
              <a:ahLst/>
              <a:cxnLst/>
              <a:rect r="r" b="b" t="t" l="l"/>
              <a:pathLst>
                <a:path h="9030589" w="76835">
                  <a:moveTo>
                    <a:pt x="0" y="0"/>
                  </a:moveTo>
                  <a:lnTo>
                    <a:pt x="76835" y="0"/>
                  </a:lnTo>
                  <a:lnTo>
                    <a:pt x="76835" y="9030589"/>
                  </a:lnTo>
                  <a:lnTo>
                    <a:pt x="0" y="9030589"/>
                  </a:lnTo>
                  <a:close/>
                </a:path>
              </a:pathLst>
            </a:custGeom>
            <a:solidFill>
              <a:srgbClr val="40424D"/>
            </a:solidFill>
          </p:spPr>
          <p:txBody>
            <a:bodyPr/>
            <a:p/>
          </p:txBody>
        </p:sp>
      </p:grpSp>
      <p:grpSp>
        <p:nvGrpSpPr>
          <p:cNvPr name="Group 29" id="29"/>
          <p:cNvGrpSpPr/>
          <p:nvPr/>
        </p:nvGrpSpPr>
        <p:grpSpPr>
          <a:xfrm rot="0">
            <a:off x="4574286" y="3099816"/>
            <a:ext cx="1217981" cy="1593266"/>
            <a:chOff x="0" y="0"/>
            <a:chExt cx="1623974" cy="2124354"/>
          </a:xfrm>
        </p:grpSpPr>
        <p:sp>
          <p:nvSpPr>
            <p:cNvPr name="Freeform 30" id="30"/>
            <p:cNvSpPr/>
            <p:nvPr/>
          </p:nvSpPr>
          <p:spPr>
            <a:xfrm flipH="false" flipV="false" rot="0">
              <a:off x="0" y="0"/>
              <a:ext cx="1623974" cy="2124355"/>
            </a:xfrm>
            <a:custGeom>
              <a:avLst/>
              <a:gdLst/>
              <a:ahLst/>
              <a:cxnLst/>
              <a:rect r="r" b="b" t="t" l="l"/>
              <a:pathLst>
                <a:path h="2124355" w="1623974">
                  <a:moveTo>
                    <a:pt x="0" y="0"/>
                  </a:moveTo>
                  <a:lnTo>
                    <a:pt x="1623974" y="0"/>
                  </a:lnTo>
                  <a:lnTo>
                    <a:pt x="1623974" y="2124355"/>
                  </a:lnTo>
                  <a:lnTo>
                    <a:pt x="0" y="2124355"/>
                  </a:lnTo>
                  <a:close/>
                </a:path>
              </a:pathLst>
            </a:custGeom>
            <a:blipFill>
              <a:blip r:embed="rId5">
                <a:alphaModFix amt="0"/>
              </a:blip>
              <a:stretch>
                <a:fillRect l="-46372" t="0" r="-46372" b="42579"/>
              </a:stretch>
            </a:blipFill>
          </p:spPr>
          <p:txBody>
            <a:bodyPr/>
            <a:p/>
          </p:txBody>
        </p:sp>
        <p:sp>
          <p:nvSpPr>
            <p:cNvPr name="TextBox 31" id="31"/>
            <p:cNvSpPr txBox="true"/>
            <p:nvPr/>
          </p:nvSpPr>
          <p:spPr>
            <a:xfrm>
              <a:off x="0" y="0"/>
              <a:ext cx="1623974" cy="2124354"/>
            </a:xfrm>
            <a:prstGeom prst="rect">
              <a:avLst/>
            </a:prstGeom>
          </p:spPr>
          <p:txBody>
            <a:bodyPr anchor="ctr" rtlCol="false" tIns="0" lIns="0" bIns="0" rIns="0"/>
            <a:lstStyle/>
            <a:p>
              <a:pPr algn="l">
                <a:lnSpc>
                  <a:spcPts val="8640"/>
                </a:lnSpc>
              </a:pPr>
              <a:r>
                <a:rPr lang="en-US" sz="7200" b="true">
                  <a:solidFill>
                    <a:srgbClr val="FFFFFF"/>
                  </a:solidFill>
                  <a:latin typeface="Manrope Bold"/>
                  <a:ea typeface="Manrope Bold"/>
                  <a:cs typeface="Manrope Bold"/>
                  <a:sym typeface="Manrope Bold"/>
                </a:rPr>
                <a:t>01</a:t>
              </a:r>
            </a:p>
          </p:txBody>
        </p:sp>
      </p:grpSp>
      <p:grpSp>
        <p:nvGrpSpPr>
          <p:cNvPr name="Group 32" id="32"/>
          <p:cNvGrpSpPr/>
          <p:nvPr/>
        </p:nvGrpSpPr>
        <p:grpSpPr>
          <a:xfrm rot="0">
            <a:off x="1319555" y="3205505"/>
            <a:ext cx="933907" cy="933907"/>
            <a:chOff x="0" y="0"/>
            <a:chExt cx="1245210" cy="1245210"/>
          </a:xfrm>
        </p:grpSpPr>
        <p:sp>
          <p:nvSpPr>
            <p:cNvPr name="Freeform 33" id="33"/>
            <p:cNvSpPr/>
            <p:nvPr/>
          </p:nvSpPr>
          <p:spPr>
            <a:xfrm flipH="false" flipV="false" rot="0">
              <a:off x="12700" y="12700"/>
              <a:ext cx="1219835" cy="1219835"/>
            </a:xfrm>
            <a:custGeom>
              <a:avLst/>
              <a:gdLst/>
              <a:ahLst/>
              <a:cxnLst/>
              <a:rect r="r" b="b" t="t" l="l"/>
              <a:pathLst>
                <a:path h="1219835" w="1219835">
                  <a:moveTo>
                    <a:pt x="0" y="228600"/>
                  </a:moveTo>
                  <a:cubicBezTo>
                    <a:pt x="0" y="102362"/>
                    <a:pt x="102362" y="0"/>
                    <a:pt x="228600" y="0"/>
                  </a:cubicBezTo>
                  <a:lnTo>
                    <a:pt x="991235" y="0"/>
                  </a:lnTo>
                  <a:cubicBezTo>
                    <a:pt x="1117473" y="0"/>
                    <a:pt x="1219835" y="102362"/>
                    <a:pt x="1219835" y="228600"/>
                  </a:cubicBezTo>
                  <a:lnTo>
                    <a:pt x="1219835" y="991235"/>
                  </a:lnTo>
                  <a:cubicBezTo>
                    <a:pt x="1219835" y="1117473"/>
                    <a:pt x="1117473" y="1219835"/>
                    <a:pt x="991235" y="1219835"/>
                  </a:cubicBezTo>
                  <a:lnTo>
                    <a:pt x="228600" y="1219835"/>
                  </a:lnTo>
                  <a:cubicBezTo>
                    <a:pt x="102362" y="1219835"/>
                    <a:pt x="0" y="1117473"/>
                    <a:pt x="0" y="991235"/>
                  </a:cubicBezTo>
                  <a:close/>
                </a:path>
              </a:pathLst>
            </a:custGeom>
            <a:solidFill>
              <a:srgbClr val="1E1E24"/>
            </a:solidFill>
          </p:spPr>
          <p:txBody>
            <a:bodyPr/>
            <a:p/>
          </p:txBody>
        </p:sp>
        <p:sp>
          <p:nvSpPr>
            <p:cNvPr name="Freeform 34" id="34"/>
            <p:cNvSpPr/>
            <p:nvPr/>
          </p:nvSpPr>
          <p:spPr>
            <a:xfrm flipH="false" flipV="false" rot="0">
              <a:off x="0" y="0"/>
              <a:ext cx="1245235" cy="1245235"/>
            </a:xfrm>
            <a:custGeom>
              <a:avLst/>
              <a:gdLst/>
              <a:ahLst/>
              <a:cxnLst/>
              <a:rect r="r" b="b" t="t" l="l"/>
              <a:pathLst>
                <a:path h="1245235" w="1245235">
                  <a:moveTo>
                    <a:pt x="0" y="241300"/>
                  </a:moveTo>
                  <a:cubicBezTo>
                    <a:pt x="0" y="108077"/>
                    <a:pt x="108077" y="0"/>
                    <a:pt x="241300" y="0"/>
                  </a:cubicBezTo>
                  <a:lnTo>
                    <a:pt x="1003935" y="0"/>
                  </a:lnTo>
                  <a:lnTo>
                    <a:pt x="1003935" y="12700"/>
                  </a:lnTo>
                  <a:lnTo>
                    <a:pt x="1003935" y="0"/>
                  </a:lnTo>
                  <a:cubicBezTo>
                    <a:pt x="1137158" y="0"/>
                    <a:pt x="1245235" y="108077"/>
                    <a:pt x="1245235" y="241300"/>
                  </a:cubicBezTo>
                  <a:lnTo>
                    <a:pt x="1232535" y="241300"/>
                  </a:lnTo>
                  <a:lnTo>
                    <a:pt x="1245235" y="241300"/>
                  </a:lnTo>
                  <a:lnTo>
                    <a:pt x="1245235" y="1003935"/>
                  </a:lnTo>
                  <a:lnTo>
                    <a:pt x="1232535" y="1003935"/>
                  </a:lnTo>
                  <a:lnTo>
                    <a:pt x="1245235" y="1003935"/>
                  </a:lnTo>
                  <a:cubicBezTo>
                    <a:pt x="1245235" y="1137158"/>
                    <a:pt x="1137158" y="1245235"/>
                    <a:pt x="1003935" y="1245235"/>
                  </a:cubicBezTo>
                  <a:lnTo>
                    <a:pt x="1003935" y="1232535"/>
                  </a:lnTo>
                  <a:lnTo>
                    <a:pt x="1003935" y="1245235"/>
                  </a:lnTo>
                  <a:lnTo>
                    <a:pt x="241300" y="1245235"/>
                  </a:lnTo>
                  <a:lnTo>
                    <a:pt x="241300" y="1232535"/>
                  </a:lnTo>
                  <a:lnTo>
                    <a:pt x="241300" y="1245235"/>
                  </a:lnTo>
                  <a:cubicBezTo>
                    <a:pt x="108077" y="1245235"/>
                    <a:pt x="0" y="1137158"/>
                    <a:pt x="0" y="1003935"/>
                  </a:cubicBezTo>
                  <a:lnTo>
                    <a:pt x="0" y="241300"/>
                  </a:lnTo>
                  <a:lnTo>
                    <a:pt x="12700" y="241300"/>
                  </a:lnTo>
                  <a:lnTo>
                    <a:pt x="0" y="241300"/>
                  </a:lnTo>
                  <a:moveTo>
                    <a:pt x="25400" y="241300"/>
                  </a:moveTo>
                  <a:lnTo>
                    <a:pt x="25400" y="1003935"/>
                  </a:lnTo>
                  <a:lnTo>
                    <a:pt x="12700" y="1003935"/>
                  </a:lnTo>
                  <a:lnTo>
                    <a:pt x="25400" y="1003935"/>
                  </a:lnTo>
                  <a:cubicBezTo>
                    <a:pt x="25400" y="1123188"/>
                    <a:pt x="122047" y="1219835"/>
                    <a:pt x="241300" y="1219835"/>
                  </a:cubicBezTo>
                  <a:lnTo>
                    <a:pt x="1003935" y="1219835"/>
                  </a:lnTo>
                  <a:cubicBezTo>
                    <a:pt x="1123188" y="1219835"/>
                    <a:pt x="1219835" y="1123188"/>
                    <a:pt x="1219835" y="1003935"/>
                  </a:cubicBezTo>
                  <a:lnTo>
                    <a:pt x="1219835" y="241300"/>
                  </a:lnTo>
                  <a:cubicBezTo>
                    <a:pt x="1219835" y="122047"/>
                    <a:pt x="1123188" y="25400"/>
                    <a:pt x="1003935" y="25400"/>
                  </a:cubicBezTo>
                  <a:lnTo>
                    <a:pt x="241300" y="25400"/>
                  </a:lnTo>
                  <a:lnTo>
                    <a:pt x="241300" y="12700"/>
                  </a:lnTo>
                  <a:lnTo>
                    <a:pt x="241300" y="25400"/>
                  </a:lnTo>
                  <a:cubicBezTo>
                    <a:pt x="122047" y="25400"/>
                    <a:pt x="25400" y="122047"/>
                    <a:pt x="25400" y="241300"/>
                  </a:cubicBezTo>
                  <a:close/>
                </a:path>
              </a:pathLst>
            </a:custGeom>
            <a:solidFill>
              <a:srgbClr val="40424D"/>
            </a:solidFill>
          </p:spPr>
          <p:txBody>
            <a:bodyPr/>
            <a:p/>
          </p:txBody>
        </p:sp>
      </p:grpSp>
      <p:grpSp>
        <p:nvGrpSpPr>
          <p:cNvPr name="Group 35" id="35"/>
          <p:cNvGrpSpPr/>
          <p:nvPr/>
        </p:nvGrpSpPr>
        <p:grpSpPr>
          <a:xfrm rot="0">
            <a:off x="1656893" y="3442716"/>
            <a:ext cx="257861" cy="456743"/>
            <a:chOff x="0" y="0"/>
            <a:chExt cx="343814" cy="608990"/>
          </a:xfrm>
        </p:grpSpPr>
        <p:sp>
          <p:nvSpPr>
            <p:cNvPr name="Freeform 36" id="36" descr="preencoded.png"/>
            <p:cNvSpPr/>
            <p:nvPr/>
          </p:nvSpPr>
          <p:spPr>
            <a:xfrm flipH="false" flipV="false" rot="0">
              <a:off x="0" y="0"/>
              <a:ext cx="343789" cy="608965"/>
            </a:xfrm>
            <a:custGeom>
              <a:avLst/>
              <a:gdLst/>
              <a:ahLst/>
              <a:cxnLst/>
              <a:rect r="r" b="b" t="t" l="l"/>
              <a:pathLst>
                <a:path h="608965" w="343789">
                  <a:moveTo>
                    <a:pt x="0" y="0"/>
                  </a:moveTo>
                  <a:lnTo>
                    <a:pt x="343789" y="0"/>
                  </a:lnTo>
                  <a:lnTo>
                    <a:pt x="343789" y="608965"/>
                  </a:lnTo>
                  <a:lnTo>
                    <a:pt x="0" y="608965"/>
                  </a:lnTo>
                  <a:lnTo>
                    <a:pt x="0" y="0"/>
                  </a:lnTo>
                  <a:close/>
                </a:path>
              </a:pathLst>
            </a:custGeom>
            <a:blipFill>
              <a:blip r:embed="rId7"/>
              <a:stretch>
                <a:fillRect l="0" t="12362" r="-7" b="12358"/>
              </a:stretch>
            </a:blipFill>
          </p:spPr>
          <p:txBody>
            <a:bodyPr/>
            <a:p/>
          </p:txBody>
        </p:sp>
      </p:grpSp>
      <p:grpSp>
        <p:nvGrpSpPr>
          <p:cNvPr name="Group 37" id="37"/>
          <p:cNvGrpSpPr/>
          <p:nvPr/>
        </p:nvGrpSpPr>
        <p:grpSpPr>
          <a:xfrm rot="0">
            <a:off x="1329080" y="4471416"/>
            <a:ext cx="4457700" cy="596284"/>
            <a:chOff x="0" y="0"/>
            <a:chExt cx="5943600" cy="795045"/>
          </a:xfrm>
        </p:grpSpPr>
        <p:sp>
          <p:nvSpPr>
            <p:cNvPr name="Freeform 38" id="38"/>
            <p:cNvSpPr/>
            <p:nvPr/>
          </p:nvSpPr>
          <p:spPr>
            <a:xfrm flipH="false" flipV="false" rot="0">
              <a:off x="0" y="0"/>
              <a:ext cx="5943600" cy="795046"/>
            </a:xfrm>
            <a:custGeom>
              <a:avLst/>
              <a:gdLst/>
              <a:ahLst/>
              <a:cxnLst/>
              <a:rect r="r" b="b" t="t" l="l"/>
              <a:pathLst>
                <a:path h="795046" w="5943600">
                  <a:moveTo>
                    <a:pt x="0" y="0"/>
                  </a:moveTo>
                  <a:lnTo>
                    <a:pt x="5943600" y="0"/>
                  </a:lnTo>
                  <a:lnTo>
                    <a:pt x="5943600" y="795046"/>
                  </a:lnTo>
                  <a:lnTo>
                    <a:pt x="0" y="795046"/>
                  </a:lnTo>
                  <a:close/>
                </a:path>
              </a:pathLst>
            </a:custGeom>
            <a:blipFill>
              <a:blip r:embed="rId5">
                <a:alphaModFix amt="0"/>
              </a:blip>
              <a:stretch>
                <a:fillRect l="0" t="-107252" r="0" b="-84080"/>
              </a:stretch>
            </a:blipFill>
          </p:spPr>
          <p:txBody>
            <a:bodyPr/>
            <a:p/>
          </p:txBody>
        </p:sp>
        <p:sp>
          <p:nvSpPr>
            <p:cNvPr name="TextBox 39" id="39"/>
            <p:cNvSpPr txBox="true"/>
            <p:nvPr/>
          </p:nvSpPr>
          <p:spPr>
            <a:xfrm>
              <a:off x="0" y="0"/>
              <a:ext cx="5943600" cy="795045"/>
            </a:xfrm>
            <a:prstGeom prst="rect">
              <a:avLst/>
            </a:prstGeom>
          </p:spPr>
          <p:txBody>
            <a:bodyPr anchor="ctr" rtlCol="false" tIns="0" lIns="0" bIns="0" rIns="0"/>
            <a:lstStyle/>
            <a:p>
              <a:pPr algn="l">
                <a:lnSpc>
                  <a:spcPts val="3240"/>
                </a:lnSpc>
              </a:pPr>
              <a:r>
                <a:rPr lang="en-US" b="true" sz="2700" spc="67">
                  <a:solidFill>
                    <a:srgbClr val="FFFFFF"/>
                  </a:solidFill>
                  <a:latin typeface="Manrope Bold"/>
                  <a:ea typeface="Manrope Bold"/>
                  <a:cs typeface="Manrope Bold"/>
                  <a:sym typeface="Manrope Bold"/>
                </a:rPr>
                <a:t>PATIENCE</a:t>
              </a:r>
            </a:p>
          </p:txBody>
        </p:sp>
      </p:grpSp>
      <p:grpSp>
        <p:nvGrpSpPr>
          <p:cNvPr name="Group 40" id="40"/>
          <p:cNvGrpSpPr/>
          <p:nvPr/>
        </p:nvGrpSpPr>
        <p:grpSpPr>
          <a:xfrm rot="0">
            <a:off x="1329080" y="5157216"/>
            <a:ext cx="4401464" cy="1486815"/>
            <a:chOff x="0" y="0"/>
            <a:chExt cx="5868619" cy="1982420"/>
          </a:xfrm>
        </p:grpSpPr>
        <p:sp>
          <p:nvSpPr>
            <p:cNvPr name="Freeform 41" id="41"/>
            <p:cNvSpPr/>
            <p:nvPr/>
          </p:nvSpPr>
          <p:spPr>
            <a:xfrm flipH="false" flipV="false" rot="0">
              <a:off x="0" y="0"/>
              <a:ext cx="5868620" cy="1982421"/>
            </a:xfrm>
            <a:custGeom>
              <a:avLst/>
              <a:gdLst/>
              <a:ahLst/>
              <a:cxnLst/>
              <a:rect r="r" b="b" t="t" l="l"/>
              <a:pathLst>
                <a:path h="1982421" w="5868620">
                  <a:moveTo>
                    <a:pt x="0" y="0"/>
                  </a:moveTo>
                  <a:lnTo>
                    <a:pt x="5868620" y="0"/>
                  </a:lnTo>
                  <a:lnTo>
                    <a:pt x="5868620" y="1982421"/>
                  </a:lnTo>
                  <a:lnTo>
                    <a:pt x="0" y="1982421"/>
                  </a:lnTo>
                  <a:close/>
                </a:path>
              </a:pathLst>
            </a:custGeom>
            <a:blipFill>
              <a:blip r:embed="rId5">
                <a:alphaModFix amt="0"/>
              </a:blip>
              <a:stretch>
                <a:fillRect l="0" t="-7682" r="0" b="-7682"/>
              </a:stretch>
            </a:blipFill>
          </p:spPr>
          <p:txBody>
            <a:bodyPr/>
            <a:p/>
          </p:txBody>
        </p:sp>
        <p:sp>
          <p:nvSpPr>
            <p:cNvPr name="TextBox 42" id="42"/>
            <p:cNvSpPr txBox="true"/>
            <p:nvPr/>
          </p:nvSpPr>
          <p:spPr>
            <a:xfrm>
              <a:off x="0" y="9525"/>
              <a:ext cx="5868619" cy="1972895"/>
            </a:xfrm>
            <a:prstGeom prst="rect">
              <a:avLst/>
            </a:prstGeom>
          </p:spPr>
          <p:txBody>
            <a:bodyPr anchor="ctr" rtlCol="false" tIns="0" lIns="0" bIns="0" rIns="0"/>
            <a:lstStyle/>
            <a:p>
              <a:pPr algn="l">
                <a:lnSpc>
                  <a:spcPts val="2160"/>
                </a:lnSpc>
              </a:pPr>
              <a:r>
                <a:rPr lang="en-US" sz="1800">
                  <a:solidFill>
                    <a:srgbClr val="9CA3AF"/>
                  </a:solidFill>
                  <a:latin typeface="Manrope"/>
                  <a:ea typeface="Manrope"/>
                  <a:cs typeface="Manrope"/>
                  <a:sym typeface="Manrope"/>
                </a:rPr>
                <a:t>La biologie aime le temps. Nous fonctionnons par cycles de 90 jours pour permettre une adaptation cellulaire réelle et une progression mesurable.</a:t>
              </a:r>
            </a:p>
          </p:txBody>
        </p:sp>
      </p:grpSp>
      <p:grpSp>
        <p:nvGrpSpPr>
          <p:cNvPr name="Group 43" id="43"/>
          <p:cNvGrpSpPr/>
          <p:nvPr/>
        </p:nvGrpSpPr>
        <p:grpSpPr>
          <a:xfrm rot="0">
            <a:off x="6524777" y="2619832"/>
            <a:ext cx="5248961" cy="6819443"/>
            <a:chOff x="0" y="0"/>
            <a:chExt cx="6998614" cy="9092590"/>
          </a:xfrm>
        </p:grpSpPr>
        <p:sp>
          <p:nvSpPr>
            <p:cNvPr name="Freeform 44" id="44"/>
            <p:cNvSpPr/>
            <p:nvPr/>
          </p:nvSpPr>
          <p:spPr>
            <a:xfrm flipH="false" flipV="false" rot="0">
              <a:off x="12700" y="12700"/>
              <a:ext cx="6973316" cy="9067165"/>
            </a:xfrm>
            <a:custGeom>
              <a:avLst/>
              <a:gdLst/>
              <a:ahLst/>
              <a:cxnLst/>
              <a:rect r="r" b="b" t="t" l="l"/>
              <a:pathLst>
                <a:path h="9067165" w="6973316">
                  <a:moveTo>
                    <a:pt x="0" y="40005"/>
                  </a:moveTo>
                  <a:cubicBezTo>
                    <a:pt x="0" y="17907"/>
                    <a:pt x="17907" y="0"/>
                    <a:pt x="40005" y="0"/>
                  </a:cubicBezTo>
                  <a:lnTo>
                    <a:pt x="6933311" y="0"/>
                  </a:lnTo>
                  <a:cubicBezTo>
                    <a:pt x="6955409" y="0"/>
                    <a:pt x="6973316" y="17907"/>
                    <a:pt x="6973316" y="40005"/>
                  </a:cubicBezTo>
                  <a:lnTo>
                    <a:pt x="6973316" y="9027160"/>
                  </a:lnTo>
                  <a:cubicBezTo>
                    <a:pt x="6973316" y="9049258"/>
                    <a:pt x="6955409" y="9067165"/>
                    <a:pt x="6933311" y="9067165"/>
                  </a:cubicBezTo>
                  <a:lnTo>
                    <a:pt x="40005" y="9067165"/>
                  </a:lnTo>
                  <a:cubicBezTo>
                    <a:pt x="17907" y="9067165"/>
                    <a:pt x="0" y="9049258"/>
                    <a:pt x="0" y="9027160"/>
                  </a:cubicBezTo>
                  <a:close/>
                </a:path>
              </a:pathLst>
            </a:custGeom>
            <a:solidFill>
              <a:srgbClr val="1E1E24">
                <a:alpha val="15686"/>
              </a:srgbClr>
            </a:solidFill>
          </p:spPr>
          <p:txBody>
            <a:bodyPr/>
            <a:p/>
          </p:txBody>
        </p:sp>
        <p:sp>
          <p:nvSpPr>
            <p:cNvPr name="Freeform 45" id="45"/>
            <p:cNvSpPr/>
            <p:nvPr/>
          </p:nvSpPr>
          <p:spPr>
            <a:xfrm flipH="false" flipV="false" rot="0">
              <a:off x="0" y="0"/>
              <a:ext cx="6998716" cy="9092565"/>
            </a:xfrm>
            <a:custGeom>
              <a:avLst/>
              <a:gdLst/>
              <a:ahLst/>
              <a:cxnLst/>
              <a:rect r="r" b="b" t="t" l="l"/>
              <a:pathLst>
                <a:path h="9092565" w="6998716">
                  <a:moveTo>
                    <a:pt x="0" y="52705"/>
                  </a:moveTo>
                  <a:cubicBezTo>
                    <a:pt x="0" y="23622"/>
                    <a:pt x="23622" y="0"/>
                    <a:pt x="52705" y="0"/>
                  </a:cubicBezTo>
                  <a:lnTo>
                    <a:pt x="6946011" y="0"/>
                  </a:lnTo>
                  <a:lnTo>
                    <a:pt x="6946011" y="12700"/>
                  </a:lnTo>
                  <a:lnTo>
                    <a:pt x="6946011" y="0"/>
                  </a:lnTo>
                  <a:cubicBezTo>
                    <a:pt x="6975094" y="0"/>
                    <a:pt x="6998716" y="23622"/>
                    <a:pt x="6998716" y="52705"/>
                  </a:cubicBezTo>
                  <a:lnTo>
                    <a:pt x="6986016" y="52705"/>
                  </a:lnTo>
                  <a:lnTo>
                    <a:pt x="6998716" y="52705"/>
                  </a:lnTo>
                  <a:lnTo>
                    <a:pt x="6998716" y="9039860"/>
                  </a:lnTo>
                  <a:lnTo>
                    <a:pt x="6986016" y="9039860"/>
                  </a:lnTo>
                  <a:lnTo>
                    <a:pt x="6998716" y="9039860"/>
                  </a:lnTo>
                  <a:cubicBezTo>
                    <a:pt x="6998716" y="9068943"/>
                    <a:pt x="6975094" y="9092565"/>
                    <a:pt x="6946011" y="9092565"/>
                  </a:cubicBezTo>
                  <a:lnTo>
                    <a:pt x="6946011" y="9079865"/>
                  </a:lnTo>
                  <a:lnTo>
                    <a:pt x="6946011" y="9092565"/>
                  </a:lnTo>
                  <a:lnTo>
                    <a:pt x="52705" y="9092565"/>
                  </a:lnTo>
                  <a:lnTo>
                    <a:pt x="52705" y="9079865"/>
                  </a:lnTo>
                  <a:lnTo>
                    <a:pt x="52705" y="9092565"/>
                  </a:lnTo>
                  <a:cubicBezTo>
                    <a:pt x="23622" y="9092565"/>
                    <a:pt x="0" y="9068943"/>
                    <a:pt x="0" y="9039860"/>
                  </a:cubicBezTo>
                  <a:lnTo>
                    <a:pt x="0" y="52705"/>
                  </a:lnTo>
                  <a:lnTo>
                    <a:pt x="12700" y="52705"/>
                  </a:lnTo>
                  <a:lnTo>
                    <a:pt x="0" y="52705"/>
                  </a:lnTo>
                  <a:moveTo>
                    <a:pt x="25400" y="52705"/>
                  </a:moveTo>
                  <a:lnTo>
                    <a:pt x="25400" y="9039860"/>
                  </a:lnTo>
                  <a:lnTo>
                    <a:pt x="12700" y="9039860"/>
                  </a:lnTo>
                  <a:lnTo>
                    <a:pt x="25400" y="9039860"/>
                  </a:lnTo>
                  <a:cubicBezTo>
                    <a:pt x="25400" y="9054973"/>
                    <a:pt x="37592" y="9067165"/>
                    <a:pt x="52705" y="9067165"/>
                  </a:cubicBezTo>
                  <a:lnTo>
                    <a:pt x="6946011" y="9067165"/>
                  </a:lnTo>
                  <a:cubicBezTo>
                    <a:pt x="6960997" y="9067165"/>
                    <a:pt x="6973316" y="9054973"/>
                    <a:pt x="6973316" y="9039860"/>
                  </a:cubicBezTo>
                  <a:lnTo>
                    <a:pt x="6973316" y="52705"/>
                  </a:lnTo>
                  <a:cubicBezTo>
                    <a:pt x="6973316" y="37592"/>
                    <a:pt x="6961124" y="25400"/>
                    <a:pt x="6946011" y="25400"/>
                  </a:cubicBezTo>
                  <a:lnTo>
                    <a:pt x="52705" y="25400"/>
                  </a:lnTo>
                  <a:lnTo>
                    <a:pt x="52705" y="12700"/>
                  </a:lnTo>
                  <a:lnTo>
                    <a:pt x="52705" y="25400"/>
                  </a:lnTo>
                  <a:cubicBezTo>
                    <a:pt x="37592" y="25400"/>
                    <a:pt x="25400" y="37592"/>
                    <a:pt x="25400" y="52705"/>
                  </a:cubicBezTo>
                  <a:close/>
                </a:path>
              </a:pathLst>
            </a:custGeom>
            <a:solidFill>
              <a:srgbClr val="40424D"/>
            </a:solidFill>
          </p:spPr>
          <p:txBody>
            <a:bodyPr/>
            <a:p/>
          </p:txBody>
        </p:sp>
      </p:grpSp>
      <p:grpSp>
        <p:nvGrpSpPr>
          <p:cNvPr name="Group 46" id="46"/>
          <p:cNvGrpSpPr/>
          <p:nvPr/>
        </p:nvGrpSpPr>
        <p:grpSpPr>
          <a:xfrm rot="0">
            <a:off x="6524777" y="2619832"/>
            <a:ext cx="76657" cy="6792011"/>
            <a:chOff x="0" y="0"/>
            <a:chExt cx="102210" cy="9056014"/>
          </a:xfrm>
        </p:grpSpPr>
        <p:sp>
          <p:nvSpPr>
            <p:cNvPr name="Freeform 47" id="47"/>
            <p:cNvSpPr/>
            <p:nvPr/>
          </p:nvSpPr>
          <p:spPr>
            <a:xfrm flipH="false" flipV="false" rot="0">
              <a:off x="12700" y="12700"/>
              <a:ext cx="76835" cy="9030589"/>
            </a:xfrm>
            <a:custGeom>
              <a:avLst/>
              <a:gdLst/>
              <a:ahLst/>
              <a:cxnLst/>
              <a:rect r="r" b="b" t="t" l="l"/>
              <a:pathLst>
                <a:path h="9030589" w="76835">
                  <a:moveTo>
                    <a:pt x="0" y="0"/>
                  </a:moveTo>
                  <a:lnTo>
                    <a:pt x="76835" y="0"/>
                  </a:lnTo>
                  <a:lnTo>
                    <a:pt x="76835" y="9030589"/>
                  </a:lnTo>
                  <a:lnTo>
                    <a:pt x="0" y="9030589"/>
                  </a:lnTo>
                  <a:close/>
                </a:path>
              </a:pathLst>
            </a:custGeom>
            <a:solidFill>
              <a:srgbClr val="40424D"/>
            </a:solidFill>
          </p:spPr>
          <p:txBody>
            <a:bodyPr/>
            <a:p/>
          </p:txBody>
        </p:sp>
      </p:grpSp>
      <p:grpSp>
        <p:nvGrpSpPr>
          <p:cNvPr name="Group 48" id="48"/>
          <p:cNvGrpSpPr/>
          <p:nvPr/>
        </p:nvGrpSpPr>
        <p:grpSpPr>
          <a:xfrm rot="0">
            <a:off x="10114178" y="3099816"/>
            <a:ext cx="1286561" cy="1593266"/>
            <a:chOff x="0" y="0"/>
            <a:chExt cx="1715414" cy="2124354"/>
          </a:xfrm>
        </p:grpSpPr>
        <p:sp>
          <p:nvSpPr>
            <p:cNvPr name="Freeform 49" id="49"/>
            <p:cNvSpPr/>
            <p:nvPr/>
          </p:nvSpPr>
          <p:spPr>
            <a:xfrm flipH="false" flipV="false" rot="0">
              <a:off x="0" y="0"/>
              <a:ext cx="1715414" cy="2124355"/>
            </a:xfrm>
            <a:custGeom>
              <a:avLst/>
              <a:gdLst/>
              <a:ahLst/>
              <a:cxnLst/>
              <a:rect r="r" b="b" t="t" l="l"/>
              <a:pathLst>
                <a:path h="2124355" w="1715414">
                  <a:moveTo>
                    <a:pt x="0" y="0"/>
                  </a:moveTo>
                  <a:lnTo>
                    <a:pt x="1715414" y="0"/>
                  </a:lnTo>
                  <a:lnTo>
                    <a:pt x="1715414" y="2124355"/>
                  </a:lnTo>
                  <a:lnTo>
                    <a:pt x="0" y="2124355"/>
                  </a:lnTo>
                  <a:close/>
                </a:path>
              </a:pathLst>
            </a:custGeom>
            <a:blipFill>
              <a:blip r:embed="rId5">
                <a:alphaModFix amt="0"/>
              </a:blip>
              <a:stretch>
                <a:fillRect l="-41235" t="0" r="-41235" b="42579"/>
              </a:stretch>
            </a:blipFill>
          </p:spPr>
          <p:txBody>
            <a:bodyPr/>
            <a:p/>
          </p:txBody>
        </p:sp>
        <p:sp>
          <p:nvSpPr>
            <p:cNvPr name="TextBox 50" id="50"/>
            <p:cNvSpPr txBox="true"/>
            <p:nvPr/>
          </p:nvSpPr>
          <p:spPr>
            <a:xfrm>
              <a:off x="0" y="0"/>
              <a:ext cx="1715414" cy="2124354"/>
            </a:xfrm>
            <a:prstGeom prst="rect">
              <a:avLst/>
            </a:prstGeom>
          </p:spPr>
          <p:txBody>
            <a:bodyPr anchor="ctr" rtlCol="false" tIns="0" lIns="0" bIns="0" rIns="0"/>
            <a:lstStyle/>
            <a:p>
              <a:pPr algn="l">
                <a:lnSpc>
                  <a:spcPts val="8640"/>
                </a:lnSpc>
              </a:pPr>
              <a:r>
                <a:rPr lang="en-US" sz="7200" b="true">
                  <a:solidFill>
                    <a:srgbClr val="FFFFFF"/>
                  </a:solidFill>
                  <a:latin typeface="Manrope Bold"/>
                  <a:ea typeface="Manrope Bold"/>
                  <a:cs typeface="Manrope Bold"/>
                  <a:sym typeface="Manrope Bold"/>
                </a:rPr>
                <a:t>02</a:t>
              </a:r>
            </a:p>
          </p:txBody>
        </p:sp>
      </p:grpSp>
      <p:grpSp>
        <p:nvGrpSpPr>
          <p:cNvPr name="Group 51" id="51"/>
          <p:cNvGrpSpPr/>
          <p:nvPr/>
        </p:nvGrpSpPr>
        <p:grpSpPr>
          <a:xfrm rot="0">
            <a:off x="6996608" y="3205505"/>
            <a:ext cx="933907" cy="933907"/>
            <a:chOff x="0" y="0"/>
            <a:chExt cx="1245210" cy="1245210"/>
          </a:xfrm>
        </p:grpSpPr>
        <p:sp>
          <p:nvSpPr>
            <p:cNvPr name="Freeform 52" id="52"/>
            <p:cNvSpPr/>
            <p:nvPr/>
          </p:nvSpPr>
          <p:spPr>
            <a:xfrm flipH="false" flipV="false" rot="0">
              <a:off x="12700" y="12700"/>
              <a:ext cx="1219835" cy="1219835"/>
            </a:xfrm>
            <a:custGeom>
              <a:avLst/>
              <a:gdLst/>
              <a:ahLst/>
              <a:cxnLst/>
              <a:rect r="r" b="b" t="t" l="l"/>
              <a:pathLst>
                <a:path h="1219835" w="1219835">
                  <a:moveTo>
                    <a:pt x="0" y="228600"/>
                  </a:moveTo>
                  <a:cubicBezTo>
                    <a:pt x="0" y="102362"/>
                    <a:pt x="102362" y="0"/>
                    <a:pt x="228600" y="0"/>
                  </a:cubicBezTo>
                  <a:lnTo>
                    <a:pt x="991235" y="0"/>
                  </a:lnTo>
                  <a:cubicBezTo>
                    <a:pt x="1117473" y="0"/>
                    <a:pt x="1219835" y="102362"/>
                    <a:pt x="1219835" y="228600"/>
                  </a:cubicBezTo>
                  <a:lnTo>
                    <a:pt x="1219835" y="991235"/>
                  </a:lnTo>
                  <a:cubicBezTo>
                    <a:pt x="1219835" y="1117473"/>
                    <a:pt x="1117473" y="1219835"/>
                    <a:pt x="991235" y="1219835"/>
                  </a:cubicBezTo>
                  <a:lnTo>
                    <a:pt x="228600" y="1219835"/>
                  </a:lnTo>
                  <a:cubicBezTo>
                    <a:pt x="102362" y="1219835"/>
                    <a:pt x="0" y="1117473"/>
                    <a:pt x="0" y="991235"/>
                  </a:cubicBezTo>
                  <a:close/>
                </a:path>
              </a:pathLst>
            </a:custGeom>
            <a:solidFill>
              <a:srgbClr val="1E1E24"/>
            </a:solidFill>
          </p:spPr>
          <p:txBody>
            <a:bodyPr/>
            <a:p/>
          </p:txBody>
        </p:sp>
        <p:sp>
          <p:nvSpPr>
            <p:cNvPr name="Freeform 53" id="53"/>
            <p:cNvSpPr/>
            <p:nvPr/>
          </p:nvSpPr>
          <p:spPr>
            <a:xfrm flipH="false" flipV="false" rot="0">
              <a:off x="0" y="0"/>
              <a:ext cx="1245235" cy="1245235"/>
            </a:xfrm>
            <a:custGeom>
              <a:avLst/>
              <a:gdLst/>
              <a:ahLst/>
              <a:cxnLst/>
              <a:rect r="r" b="b" t="t" l="l"/>
              <a:pathLst>
                <a:path h="1245235" w="1245235">
                  <a:moveTo>
                    <a:pt x="0" y="241300"/>
                  </a:moveTo>
                  <a:cubicBezTo>
                    <a:pt x="0" y="108077"/>
                    <a:pt x="108077" y="0"/>
                    <a:pt x="241300" y="0"/>
                  </a:cubicBezTo>
                  <a:lnTo>
                    <a:pt x="1003935" y="0"/>
                  </a:lnTo>
                  <a:lnTo>
                    <a:pt x="1003935" y="12700"/>
                  </a:lnTo>
                  <a:lnTo>
                    <a:pt x="1003935" y="0"/>
                  </a:lnTo>
                  <a:cubicBezTo>
                    <a:pt x="1137158" y="0"/>
                    <a:pt x="1245235" y="108077"/>
                    <a:pt x="1245235" y="241300"/>
                  </a:cubicBezTo>
                  <a:lnTo>
                    <a:pt x="1232535" y="241300"/>
                  </a:lnTo>
                  <a:lnTo>
                    <a:pt x="1245235" y="241300"/>
                  </a:lnTo>
                  <a:lnTo>
                    <a:pt x="1245235" y="1003935"/>
                  </a:lnTo>
                  <a:lnTo>
                    <a:pt x="1232535" y="1003935"/>
                  </a:lnTo>
                  <a:lnTo>
                    <a:pt x="1245235" y="1003935"/>
                  </a:lnTo>
                  <a:cubicBezTo>
                    <a:pt x="1245235" y="1137158"/>
                    <a:pt x="1137158" y="1245235"/>
                    <a:pt x="1003935" y="1245235"/>
                  </a:cubicBezTo>
                  <a:lnTo>
                    <a:pt x="1003935" y="1232535"/>
                  </a:lnTo>
                  <a:lnTo>
                    <a:pt x="1003935" y="1245235"/>
                  </a:lnTo>
                  <a:lnTo>
                    <a:pt x="241300" y="1245235"/>
                  </a:lnTo>
                  <a:lnTo>
                    <a:pt x="241300" y="1232535"/>
                  </a:lnTo>
                  <a:lnTo>
                    <a:pt x="241300" y="1245235"/>
                  </a:lnTo>
                  <a:cubicBezTo>
                    <a:pt x="108077" y="1245235"/>
                    <a:pt x="0" y="1137158"/>
                    <a:pt x="0" y="1003935"/>
                  </a:cubicBezTo>
                  <a:lnTo>
                    <a:pt x="0" y="241300"/>
                  </a:lnTo>
                  <a:lnTo>
                    <a:pt x="12700" y="241300"/>
                  </a:lnTo>
                  <a:lnTo>
                    <a:pt x="0" y="241300"/>
                  </a:lnTo>
                  <a:moveTo>
                    <a:pt x="25400" y="241300"/>
                  </a:moveTo>
                  <a:lnTo>
                    <a:pt x="25400" y="1003935"/>
                  </a:lnTo>
                  <a:lnTo>
                    <a:pt x="12700" y="1003935"/>
                  </a:lnTo>
                  <a:lnTo>
                    <a:pt x="25400" y="1003935"/>
                  </a:lnTo>
                  <a:cubicBezTo>
                    <a:pt x="25400" y="1123188"/>
                    <a:pt x="122047" y="1219835"/>
                    <a:pt x="241300" y="1219835"/>
                  </a:cubicBezTo>
                  <a:lnTo>
                    <a:pt x="1003935" y="1219835"/>
                  </a:lnTo>
                  <a:cubicBezTo>
                    <a:pt x="1123188" y="1219835"/>
                    <a:pt x="1219835" y="1123188"/>
                    <a:pt x="1219835" y="1003935"/>
                  </a:cubicBezTo>
                  <a:lnTo>
                    <a:pt x="1219835" y="241300"/>
                  </a:lnTo>
                  <a:cubicBezTo>
                    <a:pt x="1219835" y="122047"/>
                    <a:pt x="1123188" y="25400"/>
                    <a:pt x="1003935" y="25400"/>
                  </a:cubicBezTo>
                  <a:lnTo>
                    <a:pt x="241300" y="25400"/>
                  </a:lnTo>
                  <a:lnTo>
                    <a:pt x="241300" y="12700"/>
                  </a:lnTo>
                  <a:lnTo>
                    <a:pt x="241300" y="25400"/>
                  </a:lnTo>
                  <a:cubicBezTo>
                    <a:pt x="122047" y="25400"/>
                    <a:pt x="25400" y="122047"/>
                    <a:pt x="25400" y="241300"/>
                  </a:cubicBezTo>
                  <a:close/>
                </a:path>
              </a:pathLst>
            </a:custGeom>
            <a:solidFill>
              <a:srgbClr val="40424D"/>
            </a:solidFill>
          </p:spPr>
          <p:txBody>
            <a:bodyPr/>
            <a:p/>
          </p:txBody>
        </p:sp>
      </p:grpSp>
      <p:grpSp>
        <p:nvGrpSpPr>
          <p:cNvPr name="Group 54" id="54"/>
          <p:cNvGrpSpPr/>
          <p:nvPr/>
        </p:nvGrpSpPr>
        <p:grpSpPr>
          <a:xfrm rot="0">
            <a:off x="7291426" y="3442716"/>
            <a:ext cx="342900" cy="456743"/>
            <a:chOff x="0" y="0"/>
            <a:chExt cx="457200" cy="608990"/>
          </a:xfrm>
        </p:grpSpPr>
        <p:sp>
          <p:nvSpPr>
            <p:cNvPr name="Freeform 55" id="55" descr="preencoded.png"/>
            <p:cNvSpPr/>
            <p:nvPr/>
          </p:nvSpPr>
          <p:spPr>
            <a:xfrm flipH="false" flipV="false" rot="0">
              <a:off x="0" y="0"/>
              <a:ext cx="457200" cy="608965"/>
            </a:xfrm>
            <a:custGeom>
              <a:avLst/>
              <a:gdLst/>
              <a:ahLst/>
              <a:cxnLst/>
              <a:rect r="r" b="b" t="t" l="l"/>
              <a:pathLst>
                <a:path h="608965" w="457200">
                  <a:moveTo>
                    <a:pt x="0" y="0"/>
                  </a:moveTo>
                  <a:lnTo>
                    <a:pt x="457200" y="0"/>
                  </a:lnTo>
                  <a:lnTo>
                    <a:pt x="457200" y="608965"/>
                  </a:lnTo>
                  <a:lnTo>
                    <a:pt x="0" y="608965"/>
                  </a:lnTo>
                  <a:lnTo>
                    <a:pt x="0" y="0"/>
                  </a:lnTo>
                  <a:close/>
                </a:path>
              </a:pathLst>
            </a:custGeom>
            <a:blipFill>
              <a:blip r:embed="rId8"/>
              <a:stretch>
                <a:fillRect l="0" t="12462" r="0" b="12458"/>
              </a:stretch>
            </a:blipFill>
          </p:spPr>
          <p:txBody>
            <a:bodyPr/>
            <a:p/>
          </p:txBody>
        </p:sp>
      </p:grpSp>
      <p:grpSp>
        <p:nvGrpSpPr>
          <p:cNvPr name="Group 56" id="56"/>
          <p:cNvGrpSpPr/>
          <p:nvPr/>
        </p:nvGrpSpPr>
        <p:grpSpPr>
          <a:xfrm rot="0">
            <a:off x="7006133" y="4471416"/>
            <a:ext cx="4457700" cy="596284"/>
            <a:chOff x="0" y="0"/>
            <a:chExt cx="5943600" cy="795045"/>
          </a:xfrm>
        </p:grpSpPr>
        <p:sp>
          <p:nvSpPr>
            <p:cNvPr name="Freeform 57" id="57"/>
            <p:cNvSpPr/>
            <p:nvPr/>
          </p:nvSpPr>
          <p:spPr>
            <a:xfrm flipH="false" flipV="false" rot="0">
              <a:off x="0" y="0"/>
              <a:ext cx="5943600" cy="795046"/>
            </a:xfrm>
            <a:custGeom>
              <a:avLst/>
              <a:gdLst/>
              <a:ahLst/>
              <a:cxnLst/>
              <a:rect r="r" b="b" t="t" l="l"/>
              <a:pathLst>
                <a:path h="795046" w="5943600">
                  <a:moveTo>
                    <a:pt x="0" y="0"/>
                  </a:moveTo>
                  <a:lnTo>
                    <a:pt x="5943600" y="0"/>
                  </a:lnTo>
                  <a:lnTo>
                    <a:pt x="5943600" y="795046"/>
                  </a:lnTo>
                  <a:lnTo>
                    <a:pt x="0" y="795046"/>
                  </a:lnTo>
                  <a:close/>
                </a:path>
              </a:pathLst>
            </a:custGeom>
            <a:blipFill>
              <a:blip r:embed="rId5">
                <a:alphaModFix amt="0"/>
              </a:blip>
              <a:stretch>
                <a:fillRect l="0" t="-107252" r="0" b="-84080"/>
              </a:stretch>
            </a:blipFill>
          </p:spPr>
          <p:txBody>
            <a:bodyPr/>
            <a:p/>
          </p:txBody>
        </p:sp>
        <p:sp>
          <p:nvSpPr>
            <p:cNvPr name="TextBox 58" id="58"/>
            <p:cNvSpPr txBox="true"/>
            <p:nvPr/>
          </p:nvSpPr>
          <p:spPr>
            <a:xfrm>
              <a:off x="0" y="0"/>
              <a:ext cx="5943600" cy="795045"/>
            </a:xfrm>
            <a:prstGeom prst="rect">
              <a:avLst/>
            </a:prstGeom>
          </p:spPr>
          <p:txBody>
            <a:bodyPr anchor="ctr" rtlCol="false" tIns="0" lIns="0" bIns="0" rIns="0"/>
            <a:lstStyle/>
            <a:p>
              <a:pPr algn="l">
                <a:lnSpc>
                  <a:spcPts val="3240"/>
                </a:lnSpc>
              </a:pPr>
              <a:r>
                <a:rPr lang="en-US" b="true" sz="2700" spc="67">
                  <a:solidFill>
                    <a:srgbClr val="FFFFFF"/>
                  </a:solidFill>
                  <a:latin typeface="Manrope Bold"/>
                  <a:ea typeface="Manrope Bold"/>
                  <a:cs typeface="Manrope Bold"/>
                  <a:sym typeface="Manrope Bold"/>
                </a:rPr>
                <a:t>PERSÉVÉRANCE</a:t>
              </a:r>
            </a:p>
          </p:txBody>
        </p:sp>
      </p:grpSp>
      <p:grpSp>
        <p:nvGrpSpPr>
          <p:cNvPr name="Group 59" id="59"/>
          <p:cNvGrpSpPr/>
          <p:nvPr/>
        </p:nvGrpSpPr>
        <p:grpSpPr>
          <a:xfrm rot="0">
            <a:off x="7006133" y="5157216"/>
            <a:ext cx="4401464" cy="1486815"/>
            <a:chOff x="0" y="0"/>
            <a:chExt cx="5868619" cy="1982420"/>
          </a:xfrm>
        </p:grpSpPr>
        <p:sp>
          <p:nvSpPr>
            <p:cNvPr name="Freeform 60" id="60"/>
            <p:cNvSpPr/>
            <p:nvPr/>
          </p:nvSpPr>
          <p:spPr>
            <a:xfrm flipH="false" flipV="false" rot="0">
              <a:off x="0" y="0"/>
              <a:ext cx="5868620" cy="1982421"/>
            </a:xfrm>
            <a:custGeom>
              <a:avLst/>
              <a:gdLst/>
              <a:ahLst/>
              <a:cxnLst/>
              <a:rect r="r" b="b" t="t" l="l"/>
              <a:pathLst>
                <a:path h="1982421" w="5868620">
                  <a:moveTo>
                    <a:pt x="0" y="0"/>
                  </a:moveTo>
                  <a:lnTo>
                    <a:pt x="5868620" y="0"/>
                  </a:lnTo>
                  <a:lnTo>
                    <a:pt x="5868620" y="1982421"/>
                  </a:lnTo>
                  <a:lnTo>
                    <a:pt x="0" y="1982421"/>
                  </a:lnTo>
                  <a:close/>
                </a:path>
              </a:pathLst>
            </a:custGeom>
            <a:blipFill>
              <a:blip r:embed="rId5">
                <a:alphaModFix amt="0"/>
              </a:blip>
              <a:stretch>
                <a:fillRect l="0" t="-7682" r="0" b="-7682"/>
              </a:stretch>
            </a:blipFill>
          </p:spPr>
          <p:txBody>
            <a:bodyPr/>
            <a:p/>
          </p:txBody>
        </p:sp>
        <p:sp>
          <p:nvSpPr>
            <p:cNvPr name="TextBox 61" id="61"/>
            <p:cNvSpPr txBox="true"/>
            <p:nvPr/>
          </p:nvSpPr>
          <p:spPr>
            <a:xfrm>
              <a:off x="0" y="9525"/>
              <a:ext cx="5868619" cy="1972895"/>
            </a:xfrm>
            <a:prstGeom prst="rect">
              <a:avLst/>
            </a:prstGeom>
          </p:spPr>
          <p:txBody>
            <a:bodyPr anchor="ctr" rtlCol="false" tIns="0" lIns="0" bIns="0" rIns="0"/>
            <a:lstStyle/>
            <a:p>
              <a:pPr algn="l">
                <a:lnSpc>
                  <a:spcPts val="2160"/>
                </a:lnSpc>
              </a:pPr>
              <a:r>
                <a:rPr lang="en-US" sz="1800">
                  <a:solidFill>
                    <a:srgbClr val="9CA3AF"/>
                  </a:solidFill>
                  <a:latin typeface="Manrope"/>
                  <a:ea typeface="Manrope"/>
                  <a:cs typeface="Manrope"/>
                  <a:sym typeface="Manrope"/>
                </a:rPr>
                <a:t>Les systèmes gagnent toujours sur la motivation. Mise en place de routines, suivi hebdomadaire et boucles de feedback constantes.</a:t>
              </a:r>
            </a:p>
          </p:txBody>
        </p:sp>
      </p:grpSp>
      <p:grpSp>
        <p:nvGrpSpPr>
          <p:cNvPr name="Group 62" id="62"/>
          <p:cNvGrpSpPr/>
          <p:nvPr/>
        </p:nvGrpSpPr>
        <p:grpSpPr>
          <a:xfrm rot="0">
            <a:off x="12201830" y="2619832"/>
            <a:ext cx="5248961" cy="6819443"/>
            <a:chOff x="0" y="0"/>
            <a:chExt cx="6998614" cy="9092590"/>
          </a:xfrm>
        </p:grpSpPr>
        <p:sp>
          <p:nvSpPr>
            <p:cNvPr name="Freeform 63" id="63"/>
            <p:cNvSpPr/>
            <p:nvPr/>
          </p:nvSpPr>
          <p:spPr>
            <a:xfrm flipH="false" flipV="false" rot="0">
              <a:off x="12700" y="12700"/>
              <a:ext cx="6973316" cy="9067165"/>
            </a:xfrm>
            <a:custGeom>
              <a:avLst/>
              <a:gdLst/>
              <a:ahLst/>
              <a:cxnLst/>
              <a:rect r="r" b="b" t="t" l="l"/>
              <a:pathLst>
                <a:path h="9067165" w="6973316">
                  <a:moveTo>
                    <a:pt x="0" y="40005"/>
                  </a:moveTo>
                  <a:cubicBezTo>
                    <a:pt x="0" y="17907"/>
                    <a:pt x="17907" y="0"/>
                    <a:pt x="40005" y="0"/>
                  </a:cubicBezTo>
                  <a:lnTo>
                    <a:pt x="6933311" y="0"/>
                  </a:lnTo>
                  <a:cubicBezTo>
                    <a:pt x="6955409" y="0"/>
                    <a:pt x="6973316" y="17907"/>
                    <a:pt x="6973316" y="40005"/>
                  </a:cubicBezTo>
                  <a:lnTo>
                    <a:pt x="6973316" y="9027160"/>
                  </a:lnTo>
                  <a:cubicBezTo>
                    <a:pt x="6973316" y="9049258"/>
                    <a:pt x="6955409" y="9067165"/>
                    <a:pt x="6933311" y="9067165"/>
                  </a:cubicBezTo>
                  <a:lnTo>
                    <a:pt x="40005" y="9067165"/>
                  </a:lnTo>
                  <a:cubicBezTo>
                    <a:pt x="17907" y="9067165"/>
                    <a:pt x="0" y="9049258"/>
                    <a:pt x="0" y="9027160"/>
                  </a:cubicBezTo>
                  <a:close/>
                </a:path>
              </a:pathLst>
            </a:custGeom>
            <a:solidFill>
              <a:srgbClr val="1E1E24">
                <a:alpha val="15686"/>
              </a:srgbClr>
            </a:solidFill>
          </p:spPr>
          <p:txBody>
            <a:bodyPr/>
            <a:p/>
          </p:txBody>
        </p:sp>
        <p:sp>
          <p:nvSpPr>
            <p:cNvPr name="Freeform 64" id="64"/>
            <p:cNvSpPr/>
            <p:nvPr/>
          </p:nvSpPr>
          <p:spPr>
            <a:xfrm flipH="false" flipV="false" rot="0">
              <a:off x="0" y="0"/>
              <a:ext cx="6998716" cy="9092565"/>
            </a:xfrm>
            <a:custGeom>
              <a:avLst/>
              <a:gdLst/>
              <a:ahLst/>
              <a:cxnLst/>
              <a:rect r="r" b="b" t="t" l="l"/>
              <a:pathLst>
                <a:path h="9092565" w="6998716">
                  <a:moveTo>
                    <a:pt x="0" y="52705"/>
                  </a:moveTo>
                  <a:cubicBezTo>
                    <a:pt x="0" y="23622"/>
                    <a:pt x="23622" y="0"/>
                    <a:pt x="52705" y="0"/>
                  </a:cubicBezTo>
                  <a:lnTo>
                    <a:pt x="6946011" y="0"/>
                  </a:lnTo>
                  <a:lnTo>
                    <a:pt x="6946011" y="12700"/>
                  </a:lnTo>
                  <a:lnTo>
                    <a:pt x="6946011" y="0"/>
                  </a:lnTo>
                  <a:cubicBezTo>
                    <a:pt x="6975094" y="0"/>
                    <a:pt x="6998716" y="23622"/>
                    <a:pt x="6998716" y="52705"/>
                  </a:cubicBezTo>
                  <a:lnTo>
                    <a:pt x="6986016" y="52705"/>
                  </a:lnTo>
                  <a:lnTo>
                    <a:pt x="6998716" y="52705"/>
                  </a:lnTo>
                  <a:lnTo>
                    <a:pt x="6998716" y="9039860"/>
                  </a:lnTo>
                  <a:lnTo>
                    <a:pt x="6986016" y="9039860"/>
                  </a:lnTo>
                  <a:lnTo>
                    <a:pt x="6998716" y="9039860"/>
                  </a:lnTo>
                  <a:cubicBezTo>
                    <a:pt x="6998716" y="9068943"/>
                    <a:pt x="6975094" y="9092565"/>
                    <a:pt x="6946011" y="9092565"/>
                  </a:cubicBezTo>
                  <a:lnTo>
                    <a:pt x="6946011" y="9079865"/>
                  </a:lnTo>
                  <a:lnTo>
                    <a:pt x="6946011" y="9092565"/>
                  </a:lnTo>
                  <a:lnTo>
                    <a:pt x="52705" y="9092565"/>
                  </a:lnTo>
                  <a:lnTo>
                    <a:pt x="52705" y="9079865"/>
                  </a:lnTo>
                  <a:lnTo>
                    <a:pt x="52705" y="9092565"/>
                  </a:lnTo>
                  <a:cubicBezTo>
                    <a:pt x="23622" y="9092565"/>
                    <a:pt x="0" y="9068943"/>
                    <a:pt x="0" y="9039860"/>
                  </a:cubicBezTo>
                  <a:lnTo>
                    <a:pt x="0" y="52705"/>
                  </a:lnTo>
                  <a:lnTo>
                    <a:pt x="12700" y="52705"/>
                  </a:lnTo>
                  <a:lnTo>
                    <a:pt x="0" y="52705"/>
                  </a:lnTo>
                  <a:moveTo>
                    <a:pt x="25400" y="52705"/>
                  </a:moveTo>
                  <a:lnTo>
                    <a:pt x="25400" y="9039860"/>
                  </a:lnTo>
                  <a:lnTo>
                    <a:pt x="12700" y="9039860"/>
                  </a:lnTo>
                  <a:lnTo>
                    <a:pt x="25400" y="9039860"/>
                  </a:lnTo>
                  <a:cubicBezTo>
                    <a:pt x="25400" y="9054973"/>
                    <a:pt x="37592" y="9067165"/>
                    <a:pt x="52705" y="9067165"/>
                  </a:cubicBezTo>
                  <a:lnTo>
                    <a:pt x="6946011" y="9067165"/>
                  </a:lnTo>
                  <a:cubicBezTo>
                    <a:pt x="6960997" y="9067165"/>
                    <a:pt x="6973316" y="9054973"/>
                    <a:pt x="6973316" y="9039860"/>
                  </a:cubicBezTo>
                  <a:lnTo>
                    <a:pt x="6973316" y="52705"/>
                  </a:lnTo>
                  <a:cubicBezTo>
                    <a:pt x="6973316" y="37592"/>
                    <a:pt x="6961124" y="25400"/>
                    <a:pt x="6946011" y="25400"/>
                  </a:cubicBezTo>
                  <a:lnTo>
                    <a:pt x="52705" y="25400"/>
                  </a:lnTo>
                  <a:lnTo>
                    <a:pt x="52705" y="12700"/>
                  </a:lnTo>
                  <a:lnTo>
                    <a:pt x="52705" y="25400"/>
                  </a:lnTo>
                  <a:cubicBezTo>
                    <a:pt x="37592" y="25400"/>
                    <a:pt x="25400" y="37592"/>
                    <a:pt x="25400" y="52705"/>
                  </a:cubicBezTo>
                  <a:close/>
                </a:path>
              </a:pathLst>
            </a:custGeom>
            <a:solidFill>
              <a:srgbClr val="40424D"/>
            </a:solidFill>
          </p:spPr>
          <p:txBody>
            <a:bodyPr/>
            <a:p/>
          </p:txBody>
        </p:sp>
      </p:grpSp>
      <p:grpSp>
        <p:nvGrpSpPr>
          <p:cNvPr name="Group 65" id="65"/>
          <p:cNvGrpSpPr/>
          <p:nvPr/>
        </p:nvGrpSpPr>
        <p:grpSpPr>
          <a:xfrm rot="0">
            <a:off x="12201830" y="2619832"/>
            <a:ext cx="76657" cy="6792011"/>
            <a:chOff x="0" y="0"/>
            <a:chExt cx="102210" cy="9056014"/>
          </a:xfrm>
        </p:grpSpPr>
        <p:sp>
          <p:nvSpPr>
            <p:cNvPr name="Freeform 66" id="66"/>
            <p:cNvSpPr/>
            <p:nvPr/>
          </p:nvSpPr>
          <p:spPr>
            <a:xfrm flipH="false" flipV="false" rot="0">
              <a:off x="12700" y="12700"/>
              <a:ext cx="76835" cy="9030589"/>
            </a:xfrm>
            <a:custGeom>
              <a:avLst/>
              <a:gdLst/>
              <a:ahLst/>
              <a:cxnLst/>
              <a:rect r="r" b="b" t="t" l="l"/>
              <a:pathLst>
                <a:path h="9030589" w="76835">
                  <a:moveTo>
                    <a:pt x="0" y="0"/>
                  </a:moveTo>
                  <a:lnTo>
                    <a:pt x="76835" y="0"/>
                  </a:lnTo>
                  <a:lnTo>
                    <a:pt x="76835" y="9030589"/>
                  </a:lnTo>
                  <a:lnTo>
                    <a:pt x="0" y="9030589"/>
                  </a:lnTo>
                  <a:close/>
                </a:path>
              </a:pathLst>
            </a:custGeom>
            <a:solidFill>
              <a:srgbClr val="40424D"/>
            </a:solidFill>
          </p:spPr>
          <p:txBody>
            <a:bodyPr/>
            <a:p/>
          </p:txBody>
        </p:sp>
      </p:grpSp>
      <p:grpSp>
        <p:nvGrpSpPr>
          <p:cNvPr name="Group 67" id="67"/>
          <p:cNvGrpSpPr/>
          <p:nvPr/>
        </p:nvGrpSpPr>
        <p:grpSpPr>
          <a:xfrm rot="0">
            <a:off x="15802204" y="3099816"/>
            <a:ext cx="1272845" cy="1593266"/>
            <a:chOff x="0" y="0"/>
            <a:chExt cx="1697126" cy="2124354"/>
          </a:xfrm>
        </p:grpSpPr>
        <p:sp>
          <p:nvSpPr>
            <p:cNvPr name="Freeform 68" id="68"/>
            <p:cNvSpPr/>
            <p:nvPr/>
          </p:nvSpPr>
          <p:spPr>
            <a:xfrm flipH="false" flipV="false" rot="0">
              <a:off x="0" y="0"/>
              <a:ext cx="1697126" cy="2124355"/>
            </a:xfrm>
            <a:custGeom>
              <a:avLst/>
              <a:gdLst/>
              <a:ahLst/>
              <a:cxnLst/>
              <a:rect r="r" b="b" t="t" l="l"/>
              <a:pathLst>
                <a:path h="2124355" w="1697126">
                  <a:moveTo>
                    <a:pt x="0" y="0"/>
                  </a:moveTo>
                  <a:lnTo>
                    <a:pt x="1697126" y="0"/>
                  </a:lnTo>
                  <a:lnTo>
                    <a:pt x="1697126" y="2124355"/>
                  </a:lnTo>
                  <a:lnTo>
                    <a:pt x="0" y="2124355"/>
                  </a:lnTo>
                  <a:close/>
                </a:path>
              </a:pathLst>
            </a:custGeom>
            <a:blipFill>
              <a:blip r:embed="rId5">
                <a:alphaModFix amt="0"/>
              </a:blip>
              <a:stretch>
                <a:fillRect l="-42218" t="0" r="-42218" b="42579"/>
              </a:stretch>
            </a:blipFill>
          </p:spPr>
          <p:txBody>
            <a:bodyPr/>
            <a:p/>
          </p:txBody>
        </p:sp>
        <p:sp>
          <p:nvSpPr>
            <p:cNvPr name="TextBox 69" id="69"/>
            <p:cNvSpPr txBox="true"/>
            <p:nvPr/>
          </p:nvSpPr>
          <p:spPr>
            <a:xfrm>
              <a:off x="0" y="0"/>
              <a:ext cx="1697126" cy="2124354"/>
            </a:xfrm>
            <a:prstGeom prst="rect">
              <a:avLst/>
            </a:prstGeom>
          </p:spPr>
          <p:txBody>
            <a:bodyPr anchor="ctr" rtlCol="false" tIns="0" lIns="0" bIns="0" rIns="0"/>
            <a:lstStyle/>
            <a:p>
              <a:pPr algn="l">
                <a:lnSpc>
                  <a:spcPts val="8640"/>
                </a:lnSpc>
              </a:pPr>
              <a:r>
                <a:rPr lang="en-US" sz="7200" b="true">
                  <a:solidFill>
                    <a:srgbClr val="FFFFFF"/>
                  </a:solidFill>
                  <a:latin typeface="Manrope Bold"/>
                  <a:ea typeface="Manrope Bold"/>
                  <a:cs typeface="Manrope Bold"/>
                  <a:sym typeface="Manrope Bold"/>
                </a:rPr>
                <a:t>03</a:t>
              </a:r>
            </a:p>
          </p:txBody>
        </p:sp>
      </p:grpSp>
      <p:grpSp>
        <p:nvGrpSpPr>
          <p:cNvPr name="Group 70" id="70"/>
          <p:cNvGrpSpPr/>
          <p:nvPr/>
        </p:nvGrpSpPr>
        <p:grpSpPr>
          <a:xfrm rot="0">
            <a:off x="12672289" y="3205505"/>
            <a:ext cx="933907" cy="933907"/>
            <a:chOff x="0" y="0"/>
            <a:chExt cx="1245210" cy="1245210"/>
          </a:xfrm>
        </p:grpSpPr>
        <p:sp>
          <p:nvSpPr>
            <p:cNvPr name="Freeform 71" id="71"/>
            <p:cNvSpPr/>
            <p:nvPr/>
          </p:nvSpPr>
          <p:spPr>
            <a:xfrm flipH="false" flipV="false" rot="0">
              <a:off x="12700" y="12700"/>
              <a:ext cx="1219835" cy="1219835"/>
            </a:xfrm>
            <a:custGeom>
              <a:avLst/>
              <a:gdLst/>
              <a:ahLst/>
              <a:cxnLst/>
              <a:rect r="r" b="b" t="t" l="l"/>
              <a:pathLst>
                <a:path h="1219835" w="1219835">
                  <a:moveTo>
                    <a:pt x="0" y="228600"/>
                  </a:moveTo>
                  <a:cubicBezTo>
                    <a:pt x="0" y="102362"/>
                    <a:pt x="102362" y="0"/>
                    <a:pt x="228600" y="0"/>
                  </a:cubicBezTo>
                  <a:lnTo>
                    <a:pt x="991235" y="0"/>
                  </a:lnTo>
                  <a:cubicBezTo>
                    <a:pt x="1117473" y="0"/>
                    <a:pt x="1219835" y="102362"/>
                    <a:pt x="1219835" y="228600"/>
                  </a:cubicBezTo>
                  <a:lnTo>
                    <a:pt x="1219835" y="991235"/>
                  </a:lnTo>
                  <a:cubicBezTo>
                    <a:pt x="1219835" y="1117473"/>
                    <a:pt x="1117473" y="1219835"/>
                    <a:pt x="991235" y="1219835"/>
                  </a:cubicBezTo>
                  <a:lnTo>
                    <a:pt x="228600" y="1219835"/>
                  </a:lnTo>
                  <a:cubicBezTo>
                    <a:pt x="102362" y="1219835"/>
                    <a:pt x="0" y="1117473"/>
                    <a:pt x="0" y="991235"/>
                  </a:cubicBezTo>
                  <a:close/>
                </a:path>
              </a:pathLst>
            </a:custGeom>
            <a:solidFill>
              <a:srgbClr val="1E1E24"/>
            </a:solidFill>
          </p:spPr>
          <p:txBody>
            <a:bodyPr/>
            <a:p/>
          </p:txBody>
        </p:sp>
        <p:sp>
          <p:nvSpPr>
            <p:cNvPr name="Freeform 72" id="72"/>
            <p:cNvSpPr/>
            <p:nvPr/>
          </p:nvSpPr>
          <p:spPr>
            <a:xfrm flipH="false" flipV="false" rot="0">
              <a:off x="0" y="0"/>
              <a:ext cx="1245235" cy="1245235"/>
            </a:xfrm>
            <a:custGeom>
              <a:avLst/>
              <a:gdLst/>
              <a:ahLst/>
              <a:cxnLst/>
              <a:rect r="r" b="b" t="t" l="l"/>
              <a:pathLst>
                <a:path h="1245235" w="1245235">
                  <a:moveTo>
                    <a:pt x="0" y="241300"/>
                  </a:moveTo>
                  <a:cubicBezTo>
                    <a:pt x="0" y="108077"/>
                    <a:pt x="108077" y="0"/>
                    <a:pt x="241300" y="0"/>
                  </a:cubicBezTo>
                  <a:lnTo>
                    <a:pt x="1003935" y="0"/>
                  </a:lnTo>
                  <a:lnTo>
                    <a:pt x="1003935" y="12700"/>
                  </a:lnTo>
                  <a:lnTo>
                    <a:pt x="1003935" y="0"/>
                  </a:lnTo>
                  <a:cubicBezTo>
                    <a:pt x="1137158" y="0"/>
                    <a:pt x="1245235" y="108077"/>
                    <a:pt x="1245235" y="241300"/>
                  </a:cubicBezTo>
                  <a:lnTo>
                    <a:pt x="1232535" y="241300"/>
                  </a:lnTo>
                  <a:lnTo>
                    <a:pt x="1245235" y="241300"/>
                  </a:lnTo>
                  <a:lnTo>
                    <a:pt x="1245235" y="1003935"/>
                  </a:lnTo>
                  <a:lnTo>
                    <a:pt x="1232535" y="1003935"/>
                  </a:lnTo>
                  <a:lnTo>
                    <a:pt x="1245235" y="1003935"/>
                  </a:lnTo>
                  <a:cubicBezTo>
                    <a:pt x="1245235" y="1137158"/>
                    <a:pt x="1137158" y="1245235"/>
                    <a:pt x="1003935" y="1245235"/>
                  </a:cubicBezTo>
                  <a:lnTo>
                    <a:pt x="1003935" y="1232535"/>
                  </a:lnTo>
                  <a:lnTo>
                    <a:pt x="1003935" y="1245235"/>
                  </a:lnTo>
                  <a:lnTo>
                    <a:pt x="241300" y="1245235"/>
                  </a:lnTo>
                  <a:lnTo>
                    <a:pt x="241300" y="1232535"/>
                  </a:lnTo>
                  <a:lnTo>
                    <a:pt x="241300" y="1245235"/>
                  </a:lnTo>
                  <a:cubicBezTo>
                    <a:pt x="108077" y="1245235"/>
                    <a:pt x="0" y="1137158"/>
                    <a:pt x="0" y="1003935"/>
                  </a:cubicBezTo>
                  <a:lnTo>
                    <a:pt x="0" y="241300"/>
                  </a:lnTo>
                  <a:lnTo>
                    <a:pt x="12700" y="241300"/>
                  </a:lnTo>
                  <a:lnTo>
                    <a:pt x="0" y="241300"/>
                  </a:lnTo>
                  <a:moveTo>
                    <a:pt x="25400" y="241300"/>
                  </a:moveTo>
                  <a:lnTo>
                    <a:pt x="25400" y="1003935"/>
                  </a:lnTo>
                  <a:lnTo>
                    <a:pt x="12700" y="1003935"/>
                  </a:lnTo>
                  <a:lnTo>
                    <a:pt x="25400" y="1003935"/>
                  </a:lnTo>
                  <a:cubicBezTo>
                    <a:pt x="25400" y="1123188"/>
                    <a:pt x="122047" y="1219835"/>
                    <a:pt x="241300" y="1219835"/>
                  </a:cubicBezTo>
                  <a:lnTo>
                    <a:pt x="1003935" y="1219835"/>
                  </a:lnTo>
                  <a:cubicBezTo>
                    <a:pt x="1123188" y="1219835"/>
                    <a:pt x="1219835" y="1123188"/>
                    <a:pt x="1219835" y="1003935"/>
                  </a:cubicBezTo>
                  <a:lnTo>
                    <a:pt x="1219835" y="241300"/>
                  </a:lnTo>
                  <a:cubicBezTo>
                    <a:pt x="1219835" y="122047"/>
                    <a:pt x="1123188" y="25400"/>
                    <a:pt x="1003935" y="25400"/>
                  </a:cubicBezTo>
                  <a:lnTo>
                    <a:pt x="241300" y="25400"/>
                  </a:lnTo>
                  <a:lnTo>
                    <a:pt x="241300" y="12700"/>
                  </a:lnTo>
                  <a:lnTo>
                    <a:pt x="241300" y="25400"/>
                  </a:lnTo>
                  <a:cubicBezTo>
                    <a:pt x="122047" y="25400"/>
                    <a:pt x="25400" y="122047"/>
                    <a:pt x="25400" y="241300"/>
                  </a:cubicBezTo>
                  <a:close/>
                </a:path>
              </a:pathLst>
            </a:custGeom>
            <a:solidFill>
              <a:srgbClr val="40424D"/>
            </a:solidFill>
          </p:spPr>
          <p:txBody>
            <a:bodyPr/>
            <a:p/>
          </p:txBody>
        </p:sp>
      </p:grpSp>
      <p:grpSp>
        <p:nvGrpSpPr>
          <p:cNvPr name="Group 73" id="73"/>
          <p:cNvGrpSpPr/>
          <p:nvPr/>
        </p:nvGrpSpPr>
        <p:grpSpPr>
          <a:xfrm rot="0">
            <a:off x="12968478" y="3442716"/>
            <a:ext cx="342900" cy="456743"/>
            <a:chOff x="0" y="0"/>
            <a:chExt cx="457200" cy="608990"/>
          </a:xfrm>
        </p:grpSpPr>
        <p:sp>
          <p:nvSpPr>
            <p:cNvPr name="Freeform 74" id="74" descr="preencoded.png"/>
            <p:cNvSpPr/>
            <p:nvPr/>
          </p:nvSpPr>
          <p:spPr>
            <a:xfrm flipH="false" flipV="false" rot="0">
              <a:off x="0" y="0"/>
              <a:ext cx="457200" cy="608965"/>
            </a:xfrm>
            <a:custGeom>
              <a:avLst/>
              <a:gdLst/>
              <a:ahLst/>
              <a:cxnLst/>
              <a:rect r="r" b="b" t="t" l="l"/>
              <a:pathLst>
                <a:path h="608965" w="457200">
                  <a:moveTo>
                    <a:pt x="0" y="0"/>
                  </a:moveTo>
                  <a:lnTo>
                    <a:pt x="457200" y="0"/>
                  </a:lnTo>
                  <a:lnTo>
                    <a:pt x="457200" y="608965"/>
                  </a:lnTo>
                  <a:lnTo>
                    <a:pt x="0" y="608965"/>
                  </a:lnTo>
                  <a:lnTo>
                    <a:pt x="0" y="0"/>
                  </a:lnTo>
                  <a:close/>
                </a:path>
              </a:pathLst>
            </a:custGeom>
            <a:blipFill>
              <a:blip r:embed="rId9"/>
              <a:stretch>
                <a:fillRect l="0" t="12462" r="0" b="12458"/>
              </a:stretch>
            </a:blipFill>
          </p:spPr>
          <p:txBody>
            <a:bodyPr/>
            <a:p/>
          </p:txBody>
        </p:sp>
      </p:grpSp>
      <p:grpSp>
        <p:nvGrpSpPr>
          <p:cNvPr name="Group 75" id="75"/>
          <p:cNvGrpSpPr/>
          <p:nvPr/>
        </p:nvGrpSpPr>
        <p:grpSpPr>
          <a:xfrm rot="0">
            <a:off x="12681814" y="4471416"/>
            <a:ext cx="4457700" cy="596284"/>
            <a:chOff x="0" y="0"/>
            <a:chExt cx="5943600" cy="795045"/>
          </a:xfrm>
        </p:grpSpPr>
        <p:sp>
          <p:nvSpPr>
            <p:cNvPr name="Freeform 76" id="76"/>
            <p:cNvSpPr/>
            <p:nvPr/>
          </p:nvSpPr>
          <p:spPr>
            <a:xfrm flipH="false" flipV="false" rot="0">
              <a:off x="0" y="0"/>
              <a:ext cx="5943600" cy="795046"/>
            </a:xfrm>
            <a:custGeom>
              <a:avLst/>
              <a:gdLst/>
              <a:ahLst/>
              <a:cxnLst/>
              <a:rect r="r" b="b" t="t" l="l"/>
              <a:pathLst>
                <a:path h="795046" w="5943600">
                  <a:moveTo>
                    <a:pt x="0" y="0"/>
                  </a:moveTo>
                  <a:lnTo>
                    <a:pt x="5943600" y="0"/>
                  </a:lnTo>
                  <a:lnTo>
                    <a:pt x="5943600" y="795046"/>
                  </a:lnTo>
                  <a:lnTo>
                    <a:pt x="0" y="795046"/>
                  </a:lnTo>
                  <a:close/>
                </a:path>
              </a:pathLst>
            </a:custGeom>
            <a:blipFill>
              <a:blip r:embed="rId5">
                <a:alphaModFix amt="0"/>
              </a:blip>
              <a:stretch>
                <a:fillRect l="0" t="-107252" r="0" b="-84080"/>
              </a:stretch>
            </a:blipFill>
          </p:spPr>
          <p:txBody>
            <a:bodyPr/>
            <a:p/>
          </p:txBody>
        </p:sp>
        <p:sp>
          <p:nvSpPr>
            <p:cNvPr name="TextBox 77" id="77"/>
            <p:cNvSpPr txBox="true"/>
            <p:nvPr/>
          </p:nvSpPr>
          <p:spPr>
            <a:xfrm>
              <a:off x="0" y="0"/>
              <a:ext cx="5943600" cy="795045"/>
            </a:xfrm>
            <a:prstGeom prst="rect">
              <a:avLst/>
            </a:prstGeom>
          </p:spPr>
          <p:txBody>
            <a:bodyPr anchor="ctr" rtlCol="false" tIns="0" lIns="0" bIns="0" rIns="0"/>
            <a:lstStyle/>
            <a:p>
              <a:pPr algn="l">
                <a:lnSpc>
                  <a:spcPts val="3240"/>
                </a:lnSpc>
              </a:pPr>
              <a:r>
                <a:rPr lang="en-US" b="true" sz="2700" spc="67">
                  <a:solidFill>
                    <a:srgbClr val="FFFFFF"/>
                  </a:solidFill>
                  <a:latin typeface="Manrope Bold"/>
                  <a:ea typeface="Manrope Bold"/>
                  <a:cs typeface="Manrope Bold"/>
                  <a:sym typeface="Manrope Bold"/>
                </a:rPr>
                <a:t>PLAISIR</a:t>
              </a:r>
            </a:p>
          </p:txBody>
        </p:sp>
      </p:grpSp>
      <p:grpSp>
        <p:nvGrpSpPr>
          <p:cNvPr name="Group 78" id="78"/>
          <p:cNvGrpSpPr/>
          <p:nvPr/>
        </p:nvGrpSpPr>
        <p:grpSpPr>
          <a:xfrm rot="0">
            <a:off x="12681814" y="5157216"/>
            <a:ext cx="4401464" cy="1486815"/>
            <a:chOff x="0" y="0"/>
            <a:chExt cx="5868619" cy="1982420"/>
          </a:xfrm>
        </p:grpSpPr>
        <p:sp>
          <p:nvSpPr>
            <p:cNvPr name="Freeform 79" id="79"/>
            <p:cNvSpPr/>
            <p:nvPr/>
          </p:nvSpPr>
          <p:spPr>
            <a:xfrm flipH="false" flipV="false" rot="0">
              <a:off x="0" y="0"/>
              <a:ext cx="5868620" cy="1982421"/>
            </a:xfrm>
            <a:custGeom>
              <a:avLst/>
              <a:gdLst/>
              <a:ahLst/>
              <a:cxnLst/>
              <a:rect r="r" b="b" t="t" l="l"/>
              <a:pathLst>
                <a:path h="1982421" w="5868620">
                  <a:moveTo>
                    <a:pt x="0" y="0"/>
                  </a:moveTo>
                  <a:lnTo>
                    <a:pt x="5868620" y="0"/>
                  </a:lnTo>
                  <a:lnTo>
                    <a:pt x="5868620" y="1982421"/>
                  </a:lnTo>
                  <a:lnTo>
                    <a:pt x="0" y="1982421"/>
                  </a:lnTo>
                  <a:close/>
                </a:path>
              </a:pathLst>
            </a:custGeom>
            <a:blipFill>
              <a:blip r:embed="rId5">
                <a:alphaModFix amt="0"/>
              </a:blip>
              <a:stretch>
                <a:fillRect l="0" t="-7682" r="0" b="-7682"/>
              </a:stretch>
            </a:blipFill>
          </p:spPr>
          <p:txBody>
            <a:bodyPr/>
            <a:p/>
          </p:txBody>
        </p:sp>
        <p:sp>
          <p:nvSpPr>
            <p:cNvPr name="TextBox 80" id="80"/>
            <p:cNvSpPr txBox="true"/>
            <p:nvPr/>
          </p:nvSpPr>
          <p:spPr>
            <a:xfrm>
              <a:off x="0" y="9525"/>
              <a:ext cx="5868619" cy="1972895"/>
            </a:xfrm>
            <a:prstGeom prst="rect">
              <a:avLst/>
            </a:prstGeom>
          </p:spPr>
          <p:txBody>
            <a:bodyPr anchor="ctr" rtlCol="false" tIns="0" lIns="0" bIns="0" rIns="0"/>
            <a:lstStyle/>
            <a:p>
              <a:pPr algn="l">
                <a:lnSpc>
                  <a:spcPts val="2160"/>
                </a:lnSpc>
              </a:pPr>
              <a:r>
                <a:rPr lang="en-US" sz="1800">
                  <a:solidFill>
                    <a:srgbClr val="9CA3AF"/>
                  </a:solidFill>
                  <a:latin typeface="Manrope"/>
                  <a:ea typeface="Manrope"/>
                  <a:cs typeface="Manrope"/>
                  <a:sym typeface="Manrope"/>
                </a:rPr>
                <a:t>L'adhérence à long terme vient du plaisir. Intégration du jeu, de la communauté, des récompenses et du sens personnel dans le processus.</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0" y="0"/>
            <a:ext cx="18287543" cy="10287000"/>
            <a:chOff x="0" y="0"/>
            <a:chExt cx="24383390" cy="13716000"/>
          </a:xfrm>
        </p:grpSpPr>
        <p:sp>
          <p:nvSpPr>
            <p:cNvPr name="Freeform 7" id="7"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0" t="1" r="0" b="1"/>
              </a:stretch>
            </a:blipFill>
          </p:spPr>
          <p:txBody>
            <a:bodyPr/>
            <a:p/>
          </p:txBody>
        </p:sp>
      </p:grpSp>
      <p:grpSp>
        <p:nvGrpSpPr>
          <p:cNvPr name="Group 8" id="8"/>
          <p:cNvGrpSpPr/>
          <p:nvPr/>
        </p:nvGrpSpPr>
        <p:grpSpPr>
          <a:xfrm rot="0">
            <a:off x="0" y="-64465"/>
            <a:ext cx="11429543" cy="10287000"/>
            <a:chOff x="0" y="0"/>
            <a:chExt cx="15239390" cy="13716000"/>
          </a:xfrm>
        </p:grpSpPr>
        <p:sp>
          <p:nvSpPr>
            <p:cNvPr name="Freeform 9" id="9"/>
            <p:cNvSpPr/>
            <p:nvPr/>
          </p:nvSpPr>
          <p:spPr>
            <a:xfrm flipH="false" flipV="false" rot="0">
              <a:off x="0" y="0"/>
              <a:ext cx="15239364" cy="13716000"/>
            </a:xfrm>
            <a:custGeom>
              <a:avLst/>
              <a:gdLst/>
              <a:ahLst/>
              <a:cxnLst/>
              <a:rect r="r" b="b" t="t" l="l"/>
              <a:pathLst>
                <a:path h="13716000" w="15239364">
                  <a:moveTo>
                    <a:pt x="0" y="0"/>
                  </a:moveTo>
                  <a:lnTo>
                    <a:pt x="15239364" y="0"/>
                  </a:lnTo>
                  <a:lnTo>
                    <a:pt x="15239364" y="13716000"/>
                  </a:lnTo>
                  <a:lnTo>
                    <a:pt x="0" y="13716000"/>
                  </a:lnTo>
                  <a:close/>
                </a:path>
              </a:pathLst>
            </a:custGeom>
            <a:solidFill>
              <a:srgbClr val="000000">
                <a:alpha val="24706"/>
              </a:srgbClr>
            </a:solidFill>
            <a:ln w="19050" cap="sq">
              <a:solidFill>
                <a:srgbClr val="000000"/>
              </a:solidFill>
              <a:prstDash val="solid"/>
              <a:miter/>
            </a:ln>
          </p:spPr>
          <p:txBody>
            <a:bodyPr/>
            <a:p/>
          </p:txBody>
        </p:sp>
      </p:grpSp>
      <p:grpSp>
        <p:nvGrpSpPr>
          <p:cNvPr name="Group 10" id="10"/>
          <p:cNvGrpSpPr/>
          <p:nvPr/>
        </p:nvGrpSpPr>
        <p:grpSpPr>
          <a:xfrm rot="0">
            <a:off x="11406302" y="-9525"/>
            <a:ext cx="32766" cy="10306050"/>
            <a:chOff x="0" y="0"/>
            <a:chExt cx="43688" cy="13741400"/>
          </a:xfrm>
        </p:grpSpPr>
        <p:sp>
          <p:nvSpPr>
            <p:cNvPr name="Freeform 11" id="11"/>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12" id="12"/>
          <p:cNvGrpSpPr/>
          <p:nvPr/>
        </p:nvGrpSpPr>
        <p:grpSpPr>
          <a:xfrm rot="0">
            <a:off x="857250" y="548640"/>
            <a:ext cx="9872777" cy="612724"/>
            <a:chOff x="0" y="0"/>
            <a:chExt cx="13163702" cy="816965"/>
          </a:xfrm>
        </p:grpSpPr>
        <p:sp>
          <p:nvSpPr>
            <p:cNvPr name="Freeform 13" id="13"/>
            <p:cNvSpPr/>
            <p:nvPr/>
          </p:nvSpPr>
          <p:spPr>
            <a:xfrm flipH="false" flipV="false" rot="0">
              <a:off x="0" y="0"/>
              <a:ext cx="13163702" cy="816965"/>
            </a:xfrm>
            <a:custGeom>
              <a:avLst/>
              <a:gdLst/>
              <a:ahLst/>
              <a:cxnLst/>
              <a:rect r="r" b="b" t="t" l="l"/>
              <a:pathLst>
                <a:path h="816965" w="13163702">
                  <a:moveTo>
                    <a:pt x="0" y="0"/>
                  </a:moveTo>
                  <a:lnTo>
                    <a:pt x="13163702" y="0"/>
                  </a:lnTo>
                  <a:lnTo>
                    <a:pt x="13163702" y="816965"/>
                  </a:lnTo>
                  <a:lnTo>
                    <a:pt x="0" y="816965"/>
                  </a:lnTo>
                  <a:close/>
                </a:path>
              </a:pathLst>
            </a:custGeom>
            <a:blipFill>
              <a:blip r:embed="rId4">
                <a:alphaModFix amt="0"/>
              </a:blip>
              <a:stretch>
                <a:fillRect l="0" t="-271988" r="0" b="-255933"/>
              </a:stretch>
            </a:blipFill>
          </p:spPr>
          <p:txBody>
            <a:bodyPr/>
            <a:p/>
          </p:txBody>
        </p:sp>
        <p:sp>
          <p:nvSpPr>
            <p:cNvPr name="TextBox 14" id="14"/>
            <p:cNvSpPr txBox="true"/>
            <p:nvPr/>
          </p:nvSpPr>
          <p:spPr>
            <a:xfrm>
              <a:off x="0" y="0"/>
              <a:ext cx="13163702" cy="816965"/>
            </a:xfrm>
            <a:prstGeom prst="rect">
              <a:avLst/>
            </a:prstGeom>
          </p:spPr>
          <p:txBody>
            <a:bodyPr anchor="ctr" rtlCol="false" tIns="0" lIns="0" bIns="0" rIns="0"/>
            <a:lstStyle/>
            <a:p>
              <a:pPr algn="l">
                <a:lnSpc>
                  <a:spcPts val="3359"/>
                </a:lnSpc>
              </a:pPr>
              <a:r>
                <a:rPr lang="en-US" b="true" sz="2799" spc="-116">
                  <a:solidFill>
                    <a:srgbClr val="FFFFFF"/>
                  </a:solidFill>
                  <a:latin typeface="Manrope Bold"/>
                  <a:ea typeface="Manrope Bold"/>
                  <a:cs typeface="Manrope Bold"/>
                  <a:sym typeface="Manrope Bold"/>
                </a:rPr>
                <a:t>DR. ADDOR</a:t>
              </a:r>
            </a:p>
          </p:txBody>
        </p:sp>
      </p:grpSp>
      <p:grpSp>
        <p:nvGrpSpPr>
          <p:cNvPr name="Group 15" id="15"/>
          <p:cNvGrpSpPr/>
          <p:nvPr/>
        </p:nvGrpSpPr>
        <p:grpSpPr>
          <a:xfrm rot="0">
            <a:off x="857250" y="1226735"/>
            <a:ext cx="9816541" cy="844848"/>
            <a:chOff x="0" y="0"/>
            <a:chExt cx="13088722" cy="1126463"/>
          </a:xfrm>
        </p:grpSpPr>
        <p:sp>
          <p:nvSpPr>
            <p:cNvPr name="Freeform 16" id="16"/>
            <p:cNvSpPr/>
            <p:nvPr/>
          </p:nvSpPr>
          <p:spPr>
            <a:xfrm flipH="false" flipV="false" rot="0">
              <a:off x="0" y="0"/>
              <a:ext cx="13088722" cy="1126463"/>
            </a:xfrm>
            <a:custGeom>
              <a:avLst/>
              <a:gdLst/>
              <a:ahLst/>
              <a:cxnLst/>
              <a:rect r="r" b="b" t="t" l="l"/>
              <a:pathLst>
                <a:path h="1126463" w="13088722">
                  <a:moveTo>
                    <a:pt x="0" y="0"/>
                  </a:moveTo>
                  <a:lnTo>
                    <a:pt x="13088722" y="0"/>
                  </a:lnTo>
                  <a:lnTo>
                    <a:pt x="13088722" y="1126463"/>
                  </a:lnTo>
                  <a:lnTo>
                    <a:pt x="0" y="1126463"/>
                  </a:lnTo>
                  <a:close/>
                </a:path>
              </a:pathLst>
            </a:custGeom>
            <a:blipFill>
              <a:blip r:embed="rId4">
                <a:alphaModFix amt="0"/>
              </a:blip>
              <a:stretch>
                <a:fillRect l="0" t="-195962" r="0" b="-156842"/>
              </a:stretch>
            </a:blipFill>
          </p:spPr>
          <p:txBody>
            <a:bodyPr/>
            <a:p/>
          </p:txBody>
        </p:sp>
        <p:sp>
          <p:nvSpPr>
            <p:cNvPr name="TextBox 17" id="17"/>
            <p:cNvSpPr txBox="true"/>
            <p:nvPr/>
          </p:nvSpPr>
          <p:spPr>
            <a:xfrm>
              <a:off x="0" y="0"/>
              <a:ext cx="13088722" cy="1126463"/>
            </a:xfrm>
            <a:prstGeom prst="rect">
              <a:avLst/>
            </a:prstGeom>
          </p:spPr>
          <p:txBody>
            <a:bodyPr anchor="ctr" rtlCol="false" tIns="0" lIns="0" bIns="0" rIns="0"/>
            <a:lstStyle/>
            <a:p>
              <a:pPr algn="l">
                <a:lnSpc>
                  <a:spcPts val="2759"/>
                </a:lnSpc>
              </a:pPr>
              <a:r>
                <a:rPr lang="en-US" sz="2299" spc="-287">
                  <a:solidFill>
                    <a:srgbClr val="FFFFFF"/>
                  </a:solidFill>
                  <a:latin typeface="Manrope"/>
                  <a:ea typeface="Manrope"/>
                  <a:cs typeface="Manrope"/>
                  <a:sym typeface="Manrope"/>
                </a:rPr>
                <a:t>Merci  de votre</a:t>
              </a:r>
            </a:p>
            <a:p>
              <a:pPr algn="l">
                <a:lnSpc>
                  <a:spcPts val="2759"/>
                </a:lnSpc>
              </a:pPr>
              <a:r>
                <a:rPr lang="en-US" sz="2299" spc="-287">
                  <a:solidFill>
                    <a:srgbClr val="FFFFFF"/>
                  </a:solidFill>
                  <a:latin typeface="Manrope"/>
                  <a:ea typeface="Manrope"/>
                  <a:cs typeface="Manrope"/>
                  <a:sym typeface="Manrope"/>
                </a:rPr>
                <a:t>attention.</a:t>
              </a:r>
            </a:p>
          </p:txBody>
        </p:sp>
      </p:grpSp>
      <p:grpSp>
        <p:nvGrpSpPr>
          <p:cNvPr name="Group 18" id="18"/>
          <p:cNvGrpSpPr/>
          <p:nvPr/>
        </p:nvGrpSpPr>
        <p:grpSpPr>
          <a:xfrm rot="0">
            <a:off x="847725" y="2340350"/>
            <a:ext cx="8687714" cy="1527191"/>
            <a:chOff x="0" y="0"/>
            <a:chExt cx="11583619" cy="2036255"/>
          </a:xfrm>
        </p:grpSpPr>
        <p:sp>
          <p:nvSpPr>
            <p:cNvPr name="Freeform 19" id="19"/>
            <p:cNvSpPr/>
            <p:nvPr/>
          </p:nvSpPr>
          <p:spPr>
            <a:xfrm flipH="false" flipV="false" rot="0">
              <a:off x="0" y="0"/>
              <a:ext cx="11583620" cy="2036255"/>
            </a:xfrm>
            <a:custGeom>
              <a:avLst/>
              <a:gdLst/>
              <a:ahLst/>
              <a:cxnLst/>
              <a:rect r="r" b="b" t="t" l="l"/>
              <a:pathLst>
                <a:path h="2036255" w="11583620">
                  <a:moveTo>
                    <a:pt x="0" y="0"/>
                  </a:moveTo>
                  <a:lnTo>
                    <a:pt x="11583620" y="0"/>
                  </a:lnTo>
                  <a:lnTo>
                    <a:pt x="11583620" y="2036255"/>
                  </a:lnTo>
                  <a:lnTo>
                    <a:pt x="0" y="2036255"/>
                  </a:lnTo>
                  <a:close/>
                </a:path>
              </a:pathLst>
            </a:custGeom>
            <a:blipFill>
              <a:blip r:embed="rId4">
                <a:alphaModFix amt="0"/>
              </a:blip>
              <a:stretch>
                <a:fillRect l="0" t="-65938" r="0" b="-55750"/>
              </a:stretch>
            </a:blipFill>
          </p:spPr>
          <p:txBody>
            <a:bodyPr/>
            <a:p/>
          </p:txBody>
        </p:sp>
        <p:sp>
          <p:nvSpPr>
            <p:cNvPr name="TextBox 20" id="20"/>
            <p:cNvSpPr txBox="true"/>
            <p:nvPr/>
          </p:nvSpPr>
          <p:spPr>
            <a:xfrm>
              <a:off x="0" y="-9525"/>
              <a:ext cx="11583619" cy="2045780"/>
            </a:xfrm>
            <a:prstGeom prst="rect">
              <a:avLst/>
            </a:prstGeom>
          </p:spPr>
          <p:txBody>
            <a:bodyPr anchor="ctr" rtlCol="false" tIns="0" lIns="0" bIns="0" rIns="0"/>
            <a:lstStyle/>
            <a:p>
              <a:pPr algn="l">
                <a:lnSpc>
                  <a:spcPts val="2700"/>
                </a:lnSpc>
              </a:pPr>
              <a:r>
                <a:rPr lang="en-US" sz="2250">
                  <a:solidFill>
                    <a:srgbClr val="BCBFCC"/>
                  </a:solidFill>
                  <a:latin typeface="Manrope"/>
                  <a:ea typeface="Manrope"/>
                  <a:cs typeface="Manrope"/>
                  <a:sym typeface="Manrope"/>
                </a:rPr>
                <a:t>La longévité n'est pas une destination,</a:t>
              </a:r>
            </a:p>
            <a:p>
              <a:pPr algn="l">
                <a:lnSpc>
                  <a:spcPts val="2700"/>
                </a:lnSpc>
              </a:pPr>
              <a:r>
                <a:rPr lang="en-US" sz="2250">
                  <a:solidFill>
                    <a:srgbClr val="BCBFCC"/>
                  </a:solidFill>
                  <a:latin typeface="Manrope"/>
                  <a:ea typeface="Manrope"/>
                  <a:cs typeface="Manrope"/>
                  <a:sym typeface="Manrope"/>
                </a:rPr>
                <a:t>c'est une compétence qui se construit chaque jour. </a:t>
              </a:r>
            </a:p>
            <a:p>
              <a:pPr algn="l">
                <a:lnSpc>
                  <a:spcPts val="2700"/>
                </a:lnSpc>
              </a:pPr>
            </a:p>
            <a:p>
              <a:pPr algn="l">
                <a:lnSpc>
                  <a:spcPts val="2700"/>
                </a:lnSpc>
              </a:pPr>
              <a:r>
                <a:rPr lang="en-US" sz="2250">
                  <a:solidFill>
                    <a:srgbClr val="BCBFCC"/>
                  </a:solidFill>
                  <a:latin typeface="Manrope"/>
                  <a:ea typeface="Manrope"/>
                  <a:cs typeface="Manrope"/>
                  <a:sym typeface="Manrope"/>
                </a:rPr>
                <a:t>Commencez votre transformation maintenant.</a:t>
              </a:r>
            </a:p>
          </p:txBody>
        </p:sp>
      </p:grpSp>
      <p:grpSp>
        <p:nvGrpSpPr>
          <p:cNvPr name="Group 21" id="21"/>
          <p:cNvGrpSpPr/>
          <p:nvPr/>
        </p:nvGrpSpPr>
        <p:grpSpPr>
          <a:xfrm rot="0">
            <a:off x="847725" y="5099685"/>
            <a:ext cx="9720377" cy="32766"/>
            <a:chOff x="0" y="0"/>
            <a:chExt cx="12960502" cy="43688"/>
          </a:xfrm>
        </p:grpSpPr>
        <p:sp>
          <p:nvSpPr>
            <p:cNvPr name="Freeform 22" id="22"/>
            <p:cNvSpPr/>
            <p:nvPr/>
          </p:nvSpPr>
          <p:spPr>
            <a:xfrm flipH="false" flipV="false" rot="0">
              <a:off x="12700" y="12700"/>
              <a:ext cx="12935077" cy="18288"/>
            </a:xfrm>
            <a:custGeom>
              <a:avLst/>
              <a:gdLst/>
              <a:ahLst/>
              <a:cxnLst/>
              <a:rect r="r" b="b" t="t" l="l"/>
              <a:pathLst>
                <a:path h="18288" w="12935077">
                  <a:moveTo>
                    <a:pt x="0" y="0"/>
                  </a:moveTo>
                  <a:lnTo>
                    <a:pt x="12935077" y="0"/>
                  </a:lnTo>
                  <a:lnTo>
                    <a:pt x="12935077" y="18288"/>
                  </a:lnTo>
                  <a:lnTo>
                    <a:pt x="0" y="18288"/>
                  </a:lnTo>
                  <a:close/>
                </a:path>
              </a:pathLst>
            </a:custGeom>
            <a:solidFill>
              <a:srgbClr val="FFFFFF">
                <a:alpha val="0"/>
              </a:srgbClr>
            </a:solidFill>
          </p:spPr>
          <p:txBody>
            <a:bodyPr/>
            <a:p/>
          </p:txBody>
        </p:sp>
      </p:grpSp>
      <p:grpSp>
        <p:nvGrpSpPr>
          <p:cNvPr name="Group 23" id="23"/>
          <p:cNvGrpSpPr/>
          <p:nvPr/>
        </p:nvGrpSpPr>
        <p:grpSpPr>
          <a:xfrm rot="0">
            <a:off x="847725" y="4356278"/>
            <a:ext cx="591007" cy="591007"/>
            <a:chOff x="0" y="0"/>
            <a:chExt cx="788010" cy="788010"/>
          </a:xfrm>
        </p:grpSpPr>
        <p:sp>
          <p:nvSpPr>
            <p:cNvPr name="Freeform 24" id="24"/>
            <p:cNvSpPr/>
            <p:nvPr/>
          </p:nvSpPr>
          <p:spPr>
            <a:xfrm flipH="false" flipV="false" rot="0">
              <a:off x="0" y="0"/>
              <a:ext cx="788035" cy="788035"/>
            </a:xfrm>
            <a:custGeom>
              <a:avLst/>
              <a:gdLst/>
              <a:ahLst/>
              <a:cxnLst/>
              <a:rect r="r" b="b" t="t" l="l"/>
              <a:pathLst>
                <a:path h="788035" w="788035">
                  <a:moveTo>
                    <a:pt x="0" y="393954"/>
                  </a:moveTo>
                  <a:cubicBezTo>
                    <a:pt x="0" y="176403"/>
                    <a:pt x="176403" y="0"/>
                    <a:pt x="393954" y="0"/>
                  </a:cubicBezTo>
                  <a:lnTo>
                    <a:pt x="393954" y="12700"/>
                  </a:lnTo>
                  <a:lnTo>
                    <a:pt x="393954" y="0"/>
                  </a:lnTo>
                  <a:cubicBezTo>
                    <a:pt x="611632" y="0"/>
                    <a:pt x="788035" y="176403"/>
                    <a:pt x="788035" y="393954"/>
                  </a:cubicBezTo>
                  <a:cubicBezTo>
                    <a:pt x="788035" y="611505"/>
                    <a:pt x="611632" y="788035"/>
                    <a:pt x="393954" y="788035"/>
                  </a:cubicBezTo>
                  <a:lnTo>
                    <a:pt x="393954" y="775335"/>
                  </a:lnTo>
                  <a:lnTo>
                    <a:pt x="393954" y="788035"/>
                  </a:lnTo>
                  <a:cubicBezTo>
                    <a:pt x="176403" y="788035"/>
                    <a:pt x="0" y="611632"/>
                    <a:pt x="0" y="393954"/>
                  </a:cubicBezTo>
                  <a:lnTo>
                    <a:pt x="12700" y="393954"/>
                  </a:lnTo>
                  <a:lnTo>
                    <a:pt x="23495" y="400685"/>
                  </a:lnTo>
                  <a:cubicBezTo>
                    <a:pt x="20447" y="405511"/>
                    <a:pt x="14732" y="407670"/>
                    <a:pt x="9271" y="406146"/>
                  </a:cubicBezTo>
                  <a:cubicBezTo>
                    <a:pt x="3810" y="404622"/>
                    <a:pt x="0" y="399669"/>
                    <a:pt x="0" y="393954"/>
                  </a:cubicBezTo>
                  <a:moveTo>
                    <a:pt x="25400" y="393954"/>
                  </a:moveTo>
                  <a:lnTo>
                    <a:pt x="12700" y="393954"/>
                  </a:lnTo>
                  <a:lnTo>
                    <a:pt x="1905" y="387223"/>
                  </a:lnTo>
                  <a:cubicBezTo>
                    <a:pt x="4953" y="382397"/>
                    <a:pt x="10668" y="380238"/>
                    <a:pt x="16129" y="381762"/>
                  </a:cubicBezTo>
                  <a:cubicBezTo>
                    <a:pt x="21590" y="383286"/>
                    <a:pt x="25273" y="388366"/>
                    <a:pt x="25273" y="393954"/>
                  </a:cubicBezTo>
                  <a:cubicBezTo>
                    <a:pt x="25400" y="597535"/>
                    <a:pt x="190373" y="762635"/>
                    <a:pt x="393954" y="762635"/>
                  </a:cubicBezTo>
                  <a:cubicBezTo>
                    <a:pt x="597535" y="762635"/>
                    <a:pt x="762635" y="597535"/>
                    <a:pt x="762635" y="393954"/>
                  </a:cubicBezTo>
                  <a:lnTo>
                    <a:pt x="775335" y="393954"/>
                  </a:lnTo>
                  <a:lnTo>
                    <a:pt x="762635" y="393954"/>
                  </a:lnTo>
                  <a:cubicBezTo>
                    <a:pt x="762635" y="190373"/>
                    <a:pt x="597535" y="25400"/>
                    <a:pt x="393954" y="25400"/>
                  </a:cubicBezTo>
                  <a:lnTo>
                    <a:pt x="393954" y="12700"/>
                  </a:lnTo>
                  <a:lnTo>
                    <a:pt x="393954" y="25400"/>
                  </a:lnTo>
                  <a:cubicBezTo>
                    <a:pt x="190373" y="25400"/>
                    <a:pt x="25400" y="190373"/>
                    <a:pt x="25400" y="393954"/>
                  </a:cubicBezTo>
                  <a:close/>
                </a:path>
              </a:pathLst>
            </a:custGeom>
            <a:solidFill>
              <a:srgbClr val="40424D"/>
            </a:solidFill>
          </p:spPr>
          <p:txBody>
            <a:bodyPr/>
            <a:p/>
          </p:txBody>
        </p:sp>
      </p:grpSp>
      <p:grpSp>
        <p:nvGrpSpPr>
          <p:cNvPr name="Group 25" id="25"/>
          <p:cNvGrpSpPr/>
          <p:nvPr/>
        </p:nvGrpSpPr>
        <p:grpSpPr>
          <a:xfrm rot="0">
            <a:off x="1028700" y="4537253"/>
            <a:ext cx="229057" cy="229057"/>
            <a:chOff x="0" y="0"/>
            <a:chExt cx="305410" cy="305410"/>
          </a:xfrm>
        </p:grpSpPr>
        <p:sp>
          <p:nvSpPr>
            <p:cNvPr name="Freeform 26" id="26" descr="preencoded.png"/>
            <p:cNvSpPr/>
            <p:nvPr/>
          </p:nvSpPr>
          <p:spPr>
            <a:xfrm flipH="false" flipV="false" rot="0">
              <a:off x="0" y="0"/>
              <a:ext cx="305435" cy="305435"/>
            </a:xfrm>
            <a:custGeom>
              <a:avLst/>
              <a:gdLst/>
              <a:ahLst/>
              <a:cxnLst/>
              <a:rect r="r" b="b" t="t" l="l"/>
              <a:pathLst>
                <a:path h="305435" w="305435">
                  <a:moveTo>
                    <a:pt x="0" y="0"/>
                  </a:moveTo>
                  <a:lnTo>
                    <a:pt x="305435" y="0"/>
                  </a:lnTo>
                  <a:lnTo>
                    <a:pt x="305435" y="305435"/>
                  </a:lnTo>
                  <a:lnTo>
                    <a:pt x="0" y="305435"/>
                  </a:lnTo>
                  <a:lnTo>
                    <a:pt x="0" y="0"/>
                  </a:lnTo>
                  <a:close/>
                </a:path>
              </a:pathLst>
            </a:custGeom>
            <a:blipFill>
              <a:blip r:embed="rId5"/>
              <a:stretch>
                <a:fillRect l="0" t="0" r="8" b="8"/>
              </a:stretch>
            </a:blipFill>
          </p:spPr>
          <p:txBody>
            <a:bodyPr/>
            <a:p/>
          </p:txBody>
        </p:sp>
      </p:grpSp>
      <p:grpSp>
        <p:nvGrpSpPr>
          <p:cNvPr name="Group 27" id="27"/>
          <p:cNvGrpSpPr/>
          <p:nvPr/>
        </p:nvGrpSpPr>
        <p:grpSpPr>
          <a:xfrm rot="0">
            <a:off x="1656893" y="4456195"/>
            <a:ext cx="3365785" cy="391173"/>
            <a:chOff x="0" y="0"/>
            <a:chExt cx="4487713" cy="521564"/>
          </a:xfrm>
        </p:grpSpPr>
        <p:sp>
          <p:nvSpPr>
            <p:cNvPr name="Freeform 28" id="28"/>
            <p:cNvSpPr/>
            <p:nvPr/>
          </p:nvSpPr>
          <p:spPr>
            <a:xfrm flipH="false" flipV="false" rot="0">
              <a:off x="0" y="0"/>
              <a:ext cx="4487713" cy="521564"/>
            </a:xfrm>
            <a:custGeom>
              <a:avLst/>
              <a:gdLst/>
              <a:ahLst/>
              <a:cxnLst/>
              <a:rect r="r" b="b" t="t" l="l"/>
              <a:pathLst>
                <a:path h="521564" w="4487713">
                  <a:moveTo>
                    <a:pt x="0" y="0"/>
                  </a:moveTo>
                  <a:lnTo>
                    <a:pt x="4487713" y="0"/>
                  </a:lnTo>
                  <a:lnTo>
                    <a:pt x="4487713" y="521564"/>
                  </a:lnTo>
                  <a:lnTo>
                    <a:pt x="0" y="521564"/>
                  </a:lnTo>
                  <a:close/>
                </a:path>
              </a:pathLst>
            </a:custGeom>
            <a:blipFill>
              <a:blip r:embed="rId4">
                <a:alphaModFix amt="0"/>
              </a:blip>
              <a:stretch>
                <a:fillRect l="0" t="-97801" r="15522" b="-85461"/>
              </a:stretch>
            </a:blipFill>
          </p:spPr>
          <p:txBody>
            <a:bodyPr/>
            <a:p/>
          </p:txBody>
        </p:sp>
        <p:sp>
          <p:nvSpPr>
            <p:cNvPr name="TextBox 29" id="29"/>
            <p:cNvSpPr txBox="true"/>
            <p:nvPr/>
          </p:nvSpPr>
          <p:spPr>
            <a:xfrm>
              <a:off x="0" y="9525"/>
              <a:ext cx="4487713" cy="512039"/>
            </a:xfrm>
            <a:prstGeom prst="rect">
              <a:avLst/>
            </a:prstGeom>
          </p:spPr>
          <p:txBody>
            <a:bodyPr anchor="ctr" rtlCol="false" tIns="0" lIns="0" bIns="0" rIns="0"/>
            <a:lstStyle/>
            <a:p>
              <a:pPr algn="l">
                <a:lnSpc>
                  <a:spcPts val="2160"/>
                </a:lnSpc>
              </a:pPr>
              <a:r>
                <a:rPr lang="en-US" sz="1800">
                  <a:solidFill>
                    <a:srgbClr val="D3D6E0"/>
                  </a:solidFill>
                  <a:latin typeface="Manrope"/>
                  <a:ea typeface="Manrope"/>
                  <a:cs typeface="Manrope"/>
                  <a:sym typeface="Manrope"/>
                </a:rPr>
                <a:t>longevity</a:t>
              </a:r>
              <a:r>
                <a:rPr lang="en-US" sz="1800">
                  <a:solidFill>
                    <a:srgbClr val="D3D6E0"/>
                  </a:solidFill>
                  <a:latin typeface="Manrope"/>
                  <a:ea typeface="Manrope"/>
                  <a:cs typeface="Manrope"/>
                  <a:sym typeface="Manrope"/>
                </a:rPr>
                <a:t>@draddor.com </a:t>
              </a:r>
            </a:p>
          </p:txBody>
        </p:sp>
      </p:grpSp>
      <p:grpSp>
        <p:nvGrpSpPr>
          <p:cNvPr name="Group 30" id="30"/>
          <p:cNvGrpSpPr/>
          <p:nvPr/>
        </p:nvGrpSpPr>
        <p:grpSpPr>
          <a:xfrm rot="0">
            <a:off x="847725" y="6314923"/>
            <a:ext cx="9720377" cy="32766"/>
            <a:chOff x="0" y="0"/>
            <a:chExt cx="12960502" cy="43688"/>
          </a:xfrm>
        </p:grpSpPr>
        <p:sp>
          <p:nvSpPr>
            <p:cNvPr name="Freeform 31" id="31"/>
            <p:cNvSpPr/>
            <p:nvPr/>
          </p:nvSpPr>
          <p:spPr>
            <a:xfrm flipH="false" flipV="false" rot="0">
              <a:off x="12700" y="12700"/>
              <a:ext cx="12935077" cy="18288"/>
            </a:xfrm>
            <a:custGeom>
              <a:avLst/>
              <a:gdLst/>
              <a:ahLst/>
              <a:cxnLst/>
              <a:rect r="r" b="b" t="t" l="l"/>
              <a:pathLst>
                <a:path h="18288" w="12935077">
                  <a:moveTo>
                    <a:pt x="0" y="0"/>
                  </a:moveTo>
                  <a:lnTo>
                    <a:pt x="12935077" y="0"/>
                  </a:lnTo>
                  <a:lnTo>
                    <a:pt x="12935077" y="18288"/>
                  </a:lnTo>
                  <a:lnTo>
                    <a:pt x="0" y="18288"/>
                  </a:lnTo>
                  <a:close/>
                </a:path>
              </a:pathLst>
            </a:custGeom>
            <a:solidFill>
              <a:srgbClr val="FFFFFF">
                <a:alpha val="0"/>
              </a:srgbClr>
            </a:solidFill>
          </p:spPr>
          <p:txBody>
            <a:bodyPr/>
            <a:p/>
          </p:txBody>
        </p:sp>
      </p:grpSp>
      <p:grpSp>
        <p:nvGrpSpPr>
          <p:cNvPr name="Group 32" id="32"/>
          <p:cNvGrpSpPr/>
          <p:nvPr/>
        </p:nvGrpSpPr>
        <p:grpSpPr>
          <a:xfrm rot="0">
            <a:off x="847725" y="5571515"/>
            <a:ext cx="591007" cy="591007"/>
            <a:chOff x="0" y="0"/>
            <a:chExt cx="788010" cy="788010"/>
          </a:xfrm>
        </p:grpSpPr>
        <p:sp>
          <p:nvSpPr>
            <p:cNvPr name="Freeform 33" id="33"/>
            <p:cNvSpPr/>
            <p:nvPr/>
          </p:nvSpPr>
          <p:spPr>
            <a:xfrm flipH="false" flipV="false" rot="0">
              <a:off x="0" y="0"/>
              <a:ext cx="788035" cy="788035"/>
            </a:xfrm>
            <a:custGeom>
              <a:avLst/>
              <a:gdLst/>
              <a:ahLst/>
              <a:cxnLst/>
              <a:rect r="r" b="b" t="t" l="l"/>
              <a:pathLst>
                <a:path h="788035" w="788035">
                  <a:moveTo>
                    <a:pt x="0" y="393954"/>
                  </a:moveTo>
                  <a:cubicBezTo>
                    <a:pt x="0" y="176403"/>
                    <a:pt x="176403" y="0"/>
                    <a:pt x="393954" y="0"/>
                  </a:cubicBezTo>
                  <a:lnTo>
                    <a:pt x="393954" y="12700"/>
                  </a:lnTo>
                  <a:lnTo>
                    <a:pt x="393954" y="0"/>
                  </a:lnTo>
                  <a:cubicBezTo>
                    <a:pt x="611632" y="0"/>
                    <a:pt x="788035" y="176403"/>
                    <a:pt x="788035" y="393954"/>
                  </a:cubicBezTo>
                  <a:cubicBezTo>
                    <a:pt x="788035" y="611505"/>
                    <a:pt x="611632" y="788035"/>
                    <a:pt x="393954" y="788035"/>
                  </a:cubicBezTo>
                  <a:lnTo>
                    <a:pt x="393954" y="775335"/>
                  </a:lnTo>
                  <a:lnTo>
                    <a:pt x="393954" y="788035"/>
                  </a:lnTo>
                  <a:cubicBezTo>
                    <a:pt x="176403" y="788035"/>
                    <a:pt x="0" y="611632"/>
                    <a:pt x="0" y="393954"/>
                  </a:cubicBezTo>
                  <a:lnTo>
                    <a:pt x="12700" y="393954"/>
                  </a:lnTo>
                  <a:lnTo>
                    <a:pt x="23495" y="400685"/>
                  </a:lnTo>
                  <a:cubicBezTo>
                    <a:pt x="20447" y="405511"/>
                    <a:pt x="14732" y="407670"/>
                    <a:pt x="9271" y="406146"/>
                  </a:cubicBezTo>
                  <a:cubicBezTo>
                    <a:pt x="3810" y="404622"/>
                    <a:pt x="0" y="399669"/>
                    <a:pt x="0" y="393954"/>
                  </a:cubicBezTo>
                  <a:moveTo>
                    <a:pt x="25400" y="393954"/>
                  </a:moveTo>
                  <a:lnTo>
                    <a:pt x="12700" y="393954"/>
                  </a:lnTo>
                  <a:lnTo>
                    <a:pt x="1905" y="387223"/>
                  </a:lnTo>
                  <a:cubicBezTo>
                    <a:pt x="4953" y="382397"/>
                    <a:pt x="10668" y="380238"/>
                    <a:pt x="16129" y="381762"/>
                  </a:cubicBezTo>
                  <a:cubicBezTo>
                    <a:pt x="21590" y="383286"/>
                    <a:pt x="25273" y="388366"/>
                    <a:pt x="25273" y="393954"/>
                  </a:cubicBezTo>
                  <a:cubicBezTo>
                    <a:pt x="25400" y="597535"/>
                    <a:pt x="190373" y="762635"/>
                    <a:pt x="393954" y="762635"/>
                  </a:cubicBezTo>
                  <a:cubicBezTo>
                    <a:pt x="597535" y="762635"/>
                    <a:pt x="762635" y="597535"/>
                    <a:pt x="762635" y="393954"/>
                  </a:cubicBezTo>
                  <a:lnTo>
                    <a:pt x="775335" y="393954"/>
                  </a:lnTo>
                  <a:lnTo>
                    <a:pt x="762635" y="393954"/>
                  </a:lnTo>
                  <a:cubicBezTo>
                    <a:pt x="762635" y="190373"/>
                    <a:pt x="597535" y="25400"/>
                    <a:pt x="393954" y="25400"/>
                  </a:cubicBezTo>
                  <a:lnTo>
                    <a:pt x="393954" y="12700"/>
                  </a:lnTo>
                  <a:lnTo>
                    <a:pt x="393954" y="25400"/>
                  </a:lnTo>
                  <a:cubicBezTo>
                    <a:pt x="190373" y="25400"/>
                    <a:pt x="25400" y="190373"/>
                    <a:pt x="25400" y="393954"/>
                  </a:cubicBezTo>
                  <a:close/>
                </a:path>
              </a:pathLst>
            </a:custGeom>
            <a:solidFill>
              <a:srgbClr val="40424D"/>
            </a:solidFill>
          </p:spPr>
          <p:txBody>
            <a:bodyPr/>
            <a:p/>
          </p:txBody>
        </p:sp>
      </p:grpSp>
      <p:grpSp>
        <p:nvGrpSpPr>
          <p:cNvPr name="Group 34" id="34"/>
          <p:cNvGrpSpPr/>
          <p:nvPr/>
        </p:nvGrpSpPr>
        <p:grpSpPr>
          <a:xfrm rot="0">
            <a:off x="1028700" y="5752490"/>
            <a:ext cx="229057" cy="229057"/>
            <a:chOff x="0" y="0"/>
            <a:chExt cx="305410" cy="305410"/>
          </a:xfrm>
        </p:grpSpPr>
        <p:sp>
          <p:nvSpPr>
            <p:cNvPr name="Freeform 35" id="35" descr="preencoded.png"/>
            <p:cNvSpPr/>
            <p:nvPr/>
          </p:nvSpPr>
          <p:spPr>
            <a:xfrm flipH="false" flipV="false" rot="0">
              <a:off x="0" y="0"/>
              <a:ext cx="305435" cy="305435"/>
            </a:xfrm>
            <a:custGeom>
              <a:avLst/>
              <a:gdLst/>
              <a:ahLst/>
              <a:cxnLst/>
              <a:rect r="r" b="b" t="t" l="l"/>
              <a:pathLst>
                <a:path h="305435" w="305435">
                  <a:moveTo>
                    <a:pt x="0" y="0"/>
                  </a:moveTo>
                  <a:lnTo>
                    <a:pt x="305435" y="0"/>
                  </a:lnTo>
                  <a:lnTo>
                    <a:pt x="305435" y="305435"/>
                  </a:lnTo>
                  <a:lnTo>
                    <a:pt x="0" y="305435"/>
                  </a:lnTo>
                  <a:lnTo>
                    <a:pt x="0" y="0"/>
                  </a:lnTo>
                  <a:close/>
                </a:path>
              </a:pathLst>
            </a:custGeom>
            <a:blipFill>
              <a:blip r:embed="rId6"/>
              <a:stretch>
                <a:fillRect l="0" t="0" r="8" b="8"/>
              </a:stretch>
            </a:blipFill>
          </p:spPr>
          <p:txBody>
            <a:bodyPr/>
            <a:p/>
          </p:txBody>
        </p:sp>
      </p:grpSp>
      <p:grpSp>
        <p:nvGrpSpPr>
          <p:cNvPr name="Group 36" id="36"/>
          <p:cNvGrpSpPr/>
          <p:nvPr/>
        </p:nvGrpSpPr>
        <p:grpSpPr>
          <a:xfrm rot="0">
            <a:off x="1656893" y="5694883"/>
            <a:ext cx="2275484" cy="391173"/>
            <a:chOff x="0" y="0"/>
            <a:chExt cx="3033979" cy="521564"/>
          </a:xfrm>
        </p:grpSpPr>
        <p:sp>
          <p:nvSpPr>
            <p:cNvPr name="Freeform 37" id="37"/>
            <p:cNvSpPr/>
            <p:nvPr/>
          </p:nvSpPr>
          <p:spPr>
            <a:xfrm flipH="false" flipV="false" rot="0">
              <a:off x="0" y="0"/>
              <a:ext cx="3033980" cy="521564"/>
            </a:xfrm>
            <a:custGeom>
              <a:avLst/>
              <a:gdLst/>
              <a:ahLst/>
              <a:cxnLst/>
              <a:rect r="r" b="b" t="t" l="l"/>
              <a:pathLst>
                <a:path h="521564" w="3033980">
                  <a:moveTo>
                    <a:pt x="0" y="0"/>
                  </a:moveTo>
                  <a:lnTo>
                    <a:pt x="3033980" y="0"/>
                  </a:lnTo>
                  <a:lnTo>
                    <a:pt x="3033980" y="521564"/>
                  </a:lnTo>
                  <a:lnTo>
                    <a:pt x="0" y="521564"/>
                  </a:lnTo>
                  <a:close/>
                </a:path>
              </a:pathLst>
            </a:custGeom>
            <a:blipFill>
              <a:blip r:embed="rId4">
                <a:alphaModFix amt="0"/>
              </a:blip>
              <a:stretch>
                <a:fillRect l="0" t="-69516" r="0" b="-57175"/>
              </a:stretch>
            </a:blipFill>
          </p:spPr>
          <p:txBody>
            <a:bodyPr/>
            <a:p/>
          </p:txBody>
        </p:sp>
        <p:sp>
          <p:nvSpPr>
            <p:cNvPr name="TextBox 38" id="38"/>
            <p:cNvSpPr txBox="true"/>
            <p:nvPr/>
          </p:nvSpPr>
          <p:spPr>
            <a:xfrm>
              <a:off x="0" y="9525"/>
              <a:ext cx="3033979" cy="512039"/>
            </a:xfrm>
            <a:prstGeom prst="rect">
              <a:avLst/>
            </a:prstGeom>
          </p:spPr>
          <p:txBody>
            <a:bodyPr anchor="ctr" rtlCol="false" tIns="0" lIns="0" bIns="0" rIns="0"/>
            <a:lstStyle/>
            <a:p>
              <a:pPr algn="l">
                <a:lnSpc>
                  <a:spcPts val="2160"/>
                </a:lnSpc>
              </a:pPr>
              <a:r>
                <a:rPr lang="en-US" sz="1800" u="sng">
                  <a:solidFill>
                    <a:srgbClr val="D3D6E0"/>
                  </a:solidFill>
                  <a:latin typeface="Manrope"/>
                  <a:ea typeface="Manrope"/>
                  <a:cs typeface="Manrope"/>
                  <a:sym typeface="Manrope"/>
                  <a:hlinkClick r:id="rId7" tooltip="https://draddor.com"/>
                </a:rPr>
                <a:t>https://draddor.com </a:t>
              </a:r>
            </a:p>
          </p:txBody>
        </p:sp>
      </p:grpSp>
      <p:grpSp>
        <p:nvGrpSpPr>
          <p:cNvPr name="Group 39" id="39"/>
          <p:cNvGrpSpPr/>
          <p:nvPr/>
        </p:nvGrpSpPr>
        <p:grpSpPr>
          <a:xfrm rot="0">
            <a:off x="847725" y="7528789"/>
            <a:ext cx="9720377" cy="32766"/>
            <a:chOff x="0" y="0"/>
            <a:chExt cx="12960502" cy="43688"/>
          </a:xfrm>
        </p:grpSpPr>
        <p:sp>
          <p:nvSpPr>
            <p:cNvPr name="Freeform 40" id="40"/>
            <p:cNvSpPr/>
            <p:nvPr/>
          </p:nvSpPr>
          <p:spPr>
            <a:xfrm flipH="false" flipV="false" rot="0">
              <a:off x="12700" y="12700"/>
              <a:ext cx="12935077" cy="18288"/>
            </a:xfrm>
            <a:custGeom>
              <a:avLst/>
              <a:gdLst/>
              <a:ahLst/>
              <a:cxnLst/>
              <a:rect r="r" b="b" t="t" l="l"/>
              <a:pathLst>
                <a:path h="18288" w="12935077">
                  <a:moveTo>
                    <a:pt x="0" y="0"/>
                  </a:moveTo>
                  <a:lnTo>
                    <a:pt x="12935077" y="0"/>
                  </a:lnTo>
                  <a:lnTo>
                    <a:pt x="12935077" y="18288"/>
                  </a:lnTo>
                  <a:lnTo>
                    <a:pt x="0" y="18288"/>
                  </a:lnTo>
                  <a:close/>
                </a:path>
              </a:pathLst>
            </a:custGeom>
            <a:solidFill>
              <a:srgbClr val="FFFFFF">
                <a:alpha val="0"/>
              </a:srgbClr>
            </a:solidFill>
          </p:spPr>
          <p:txBody>
            <a:bodyPr/>
            <a:p/>
          </p:txBody>
        </p:sp>
      </p:grpSp>
      <p:grpSp>
        <p:nvGrpSpPr>
          <p:cNvPr name="Group 41" id="41"/>
          <p:cNvGrpSpPr/>
          <p:nvPr/>
        </p:nvGrpSpPr>
        <p:grpSpPr>
          <a:xfrm rot="0">
            <a:off x="847725" y="6785381"/>
            <a:ext cx="591007" cy="591007"/>
            <a:chOff x="0" y="0"/>
            <a:chExt cx="788010" cy="788010"/>
          </a:xfrm>
        </p:grpSpPr>
        <p:sp>
          <p:nvSpPr>
            <p:cNvPr name="Freeform 42" id="42"/>
            <p:cNvSpPr/>
            <p:nvPr/>
          </p:nvSpPr>
          <p:spPr>
            <a:xfrm flipH="false" flipV="false" rot="0">
              <a:off x="0" y="0"/>
              <a:ext cx="788035" cy="788035"/>
            </a:xfrm>
            <a:custGeom>
              <a:avLst/>
              <a:gdLst/>
              <a:ahLst/>
              <a:cxnLst/>
              <a:rect r="r" b="b" t="t" l="l"/>
              <a:pathLst>
                <a:path h="788035" w="788035">
                  <a:moveTo>
                    <a:pt x="0" y="393954"/>
                  </a:moveTo>
                  <a:cubicBezTo>
                    <a:pt x="0" y="176403"/>
                    <a:pt x="176403" y="0"/>
                    <a:pt x="393954" y="0"/>
                  </a:cubicBezTo>
                  <a:lnTo>
                    <a:pt x="393954" y="12700"/>
                  </a:lnTo>
                  <a:lnTo>
                    <a:pt x="393954" y="0"/>
                  </a:lnTo>
                  <a:cubicBezTo>
                    <a:pt x="611632" y="0"/>
                    <a:pt x="788035" y="176403"/>
                    <a:pt x="788035" y="393954"/>
                  </a:cubicBezTo>
                  <a:cubicBezTo>
                    <a:pt x="788035" y="611505"/>
                    <a:pt x="611632" y="788035"/>
                    <a:pt x="393954" y="788035"/>
                  </a:cubicBezTo>
                  <a:lnTo>
                    <a:pt x="393954" y="775335"/>
                  </a:lnTo>
                  <a:lnTo>
                    <a:pt x="393954" y="788035"/>
                  </a:lnTo>
                  <a:cubicBezTo>
                    <a:pt x="176403" y="788035"/>
                    <a:pt x="0" y="611632"/>
                    <a:pt x="0" y="393954"/>
                  </a:cubicBezTo>
                  <a:lnTo>
                    <a:pt x="12700" y="393954"/>
                  </a:lnTo>
                  <a:lnTo>
                    <a:pt x="23495" y="400685"/>
                  </a:lnTo>
                  <a:cubicBezTo>
                    <a:pt x="20447" y="405511"/>
                    <a:pt x="14732" y="407670"/>
                    <a:pt x="9271" y="406146"/>
                  </a:cubicBezTo>
                  <a:cubicBezTo>
                    <a:pt x="3810" y="404622"/>
                    <a:pt x="0" y="399669"/>
                    <a:pt x="0" y="393954"/>
                  </a:cubicBezTo>
                  <a:moveTo>
                    <a:pt x="25400" y="393954"/>
                  </a:moveTo>
                  <a:lnTo>
                    <a:pt x="12700" y="393954"/>
                  </a:lnTo>
                  <a:lnTo>
                    <a:pt x="1905" y="387223"/>
                  </a:lnTo>
                  <a:cubicBezTo>
                    <a:pt x="4953" y="382397"/>
                    <a:pt x="10668" y="380238"/>
                    <a:pt x="16129" y="381762"/>
                  </a:cubicBezTo>
                  <a:cubicBezTo>
                    <a:pt x="21590" y="383286"/>
                    <a:pt x="25273" y="388366"/>
                    <a:pt x="25273" y="393954"/>
                  </a:cubicBezTo>
                  <a:cubicBezTo>
                    <a:pt x="25400" y="597535"/>
                    <a:pt x="190373" y="762635"/>
                    <a:pt x="393954" y="762635"/>
                  </a:cubicBezTo>
                  <a:cubicBezTo>
                    <a:pt x="597535" y="762635"/>
                    <a:pt x="762635" y="597535"/>
                    <a:pt x="762635" y="393954"/>
                  </a:cubicBezTo>
                  <a:lnTo>
                    <a:pt x="775335" y="393954"/>
                  </a:lnTo>
                  <a:lnTo>
                    <a:pt x="762635" y="393954"/>
                  </a:lnTo>
                  <a:cubicBezTo>
                    <a:pt x="762635" y="190373"/>
                    <a:pt x="597535" y="25400"/>
                    <a:pt x="393954" y="25400"/>
                  </a:cubicBezTo>
                  <a:lnTo>
                    <a:pt x="393954" y="12700"/>
                  </a:lnTo>
                  <a:lnTo>
                    <a:pt x="393954" y="25400"/>
                  </a:lnTo>
                  <a:cubicBezTo>
                    <a:pt x="190373" y="25400"/>
                    <a:pt x="25400" y="190373"/>
                    <a:pt x="25400" y="393954"/>
                  </a:cubicBezTo>
                  <a:close/>
                </a:path>
              </a:pathLst>
            </a:custGeom>
            <a:solidFill>
              <a:srgbClr val="40424D"/>
            </a:solidFill>
          </p:spPr>
          <p:txBody>
            <a:bodyPr/>
            <a:p/>
          </p:txBody>
        </p:sp>
      </p:grpSp>
      <p:grpSp>
        <p:nvGrpSpPr>
          <p:cNvPr name="Group 43" id="43"/>
          <p:cNvGrpSpPr/>
          <p:nvPr/>
        </p:nvGrpSpPr>
        <p:grpSpPr>
          <a:xfrm rot="0">
            <a:off x="1042416" y="6966356"/>
            <a:ext cx="200254" cy="229057"/>
            <a:chOff x="0" y="0"/>
            <a:chExt cx="267005" cy="305410"/>
          </a:xfrm>
        </p:grpSpPr>
        <p:sp>
          <p:nvSpPr>
            <p:cNvPr name="Freeform 44" id="44" descr="preencoded.png"/>
            <p:cNvSpPr/>
            <p:nvPr/>
          </p:nvSpPr>
          <p:spPr>
            <a:xfrm flipH="false" flipV="false" rot="0">
              <a:off x="0" y="0"/>
              <a:ext cx="266954" cy="305435"/>
            </a:xfrm>
            <a:custGeom>
              <a:avLst/>
              <a:gdLst/>
              <a:ahLst/>
              <a:cxnLst/>
              <a:rect r="r" b="b" t="t" l="l"/>
              <a:pathLst>
                <a:path h="305435" w="266954">
                  <a:moveTo>
                    <a:pt x="0" y="0"/>
                  </a:moveTo>
                  <a:lnTo>
                    <a:pt x="266954" y="0"/>
                  </a:lnTo>
                  <a:lnTo>
                    <a:pt x="266954" y="305435"/>
                  </a:lnTo>
                  <a:lnTo>
                    <a:pt x="0" y="305435"/>
                  </a:lnTo>
                  <a:lnTo>
                    <a:pt x="0" y="0"/>
                  </a:lnTo>
                  <a:close/>
                </a:path>
              </a:pathLst>
            </a:custGeom>
            <a:blipFill>
              <a:blip r:embed="rId8"/>
              <a:stretch>
                <a:fillRect l="0" t="41" r="-589" b="54"/>
              </a:stretch>
            </a:blipFill>
          </p:spPr>
          <p:txBody>
            <a:bodyPr/>
            <a:p/>
          </p:txBody>
        </p:sp>
      </p:grpSp>
      <p:grpSp>
        <p:nvGrpSpPr>
          <p:cNvPr name="Group 45" id="45"/>
          <p:cNvGrpSpPr/>
          <p:nvPr/>
        </p:nvGrpSpPr>
        <p:grpSpPr>
          <a:xfrm rot="0">
            <a:off x="1656893" y="6908749"/>
            <a:ext cx="2312518" cy="391173"/>
            <a:chOff x="0" y="0"/>
            <a:chExt cx="3083357" cy="521564"/>
          </a:xfrm>
        </p:grpSpPr>
        <p:sp>
          <p:nvSpPr>
            <p:cNvPr name="Freeform 46" id="46"/>
            <p:cNvSpPr/>
            <p:nvPr/>
          </p:nvSpPr>
          <p:spPr>
            <a:xfrm flipH="false" flipV="false" rot="0">
              <a:off x="0" y="0"/>
              <a:ext cx="3083356" cy="521564"/>
            </a:xfrm>
            <a:custGeom>
              <a:avLst/>
              <a:gdLst/>
              <a:ahLst/>
              <a:cxnLst/>
              <a:rect r="r" b="b" t="t" l="l"/>
              <a:pathLst>
                <a:path h="521564" w="3083356">
                  <a:moveTo>
                    <a:pt x="0" y="0"/>
                  </a:moveTo>
                  <a:lnTo>
                    <a:pt x="3083356" y="0"/>
                  </a:lnTo>
                  <a:lnTo>
                    <a:pt x="3083356" y="521564"/>
                  </a:lnTo>
                  <a:lnTo>
                    <a:pt x="0" y="521564"/>
                  </a:lnTo>
                  <a:close/>
                </a:path>
              </a:pathLst>
            </a:custGeom>
            <a:blipFill>
              <a:blip r:embed="rId4">
                <a:alphaModFix amt="0"/>
              </a:blip>
              <a:stretch>
                <a:fillRect l="0" t="-71361" r="0" b="-59020"/>
              </a:stretch>
            </a:blipFill>
          </p:spPr>
          <p:txBody>
            <a:bodyPr/>
            <a:p/>
          </p:txBody>
        </p:sp>
        <p:sp>
          <p:nvSpPr>
            <p:cNvPr name="TextBox 47" id="47"/>
            <p:cNvSpPr txBox="true"/>
            <p:nvPr/>
          </p:nvSpPr>
          <p:spPr>
            <a:xfrm>
              <a:off x="0" y="9525"/>
              <a:ext cx="3083357" cy="512039"/>
            </a:xfrm>
            <a:prstGeom prst="rect">
              <a:avLst/>
            </a:prstGeom>
          </p:spPr>
          <p:txBody>
            <a:bodyPr anchor="ctr" rtlCol="false" tIns="0" lIns="0" bIns="0" rIns="0"/>
            <a:lstStyle/>
            <a:p>
              <a:pPr algn="l">
                <a:lnSpc>
                  <a:spcPts val="2160"/>
                </a:lnSpc>
              </a:pPr>
              <a:r>
                <a:rPr lang="en-US" sz="1800">
                  <a:solidFill>
                    <a:srgbClr val="D3D6E0"/>
                  </a:solidFill>
                  <a:latin typeface="Manrope"/>
                  <a:ea typeface="Manrope"/>
                  <a:cs typeface="Manrope"/>
                  <a:sym typeface="Manrope"/>
                </a:rPr>
                <a:t>@dr.addor </a:t>
              </a:r>
            </a:p>
          </p:txBody>
        </p:sp>
      </p:grpSp>
      <p:grpSp>
        <p:nvGrpSpPr>
          <p:cNvPr name="Group 48" id="48"/>
          <p:cNvGrpSpPr/>
          <p:nvPr/>
        </p:nvGrpSpPr>
        <p:grpSpPr>
          <a:xfrm rot="0">
            <a:off x="847725" y="8000619"/>
            <a:ext cx="591007" cy="591007"/>
            <a:chOff x="0" y="0"/>
            <a:chExt cx="788010" cy="788010"/>
          </a:xfrm>
        </p:grpSpPr>
        <p:sp>
          <p:nvSpPr>
            <p:cNvPr name="Freeform 49" id="49"/>
            <p:cNvSpPr/>
            <p:nvPr/>
          </p:nvSpPr>
          <p:spPr>
            <a:xfrm flipH="false" flipV="false" rot="0">
              <a:off x="0" y="0"/>
              <a:ext cx="788035" cy="788035"/>
            </a:xfrm>
            <a:custGeom>
              <a:avLst/>
              <a:gdLst/>
              <a:ahLst/>
              <a:cxnLst/>
              <a:rect r="r" b="b" t="t" l="l"/>
              <a:pathLst>
                <a:path h="788035" w="788035">
                  <a:moveTo>
                    <a:pt x="0" y="393954"/>
                  </a:moveTo>
                  <a:cubicBezTo>
                    <a:pt x="0" y="176403"/>
                    <a:pt x="176403" y="0"/>
                    <a:pt x="393954" y="0"/>
                  </a:cubicBezTo>
                  <a:lnTo>
                    <a:pt x="393954" y="12700"/>
                  </a:lnTo>
                  <a:lnTo>
                    <a:pt x="393954" y="0"/>
                  </a:lnTo>
                  <a:cubicBezTo>
                    <a:pt x="611632" y="0"/>
                    <a:pt x="788035" y="176403"/>
                    <a:pt x="788035" y="393954"/>
                  </a:cubicBezTo>
                  <a:cubicBezTo>
                    <a:pt x="788035" y="611505"/>
                    <a:pt x="611632" y="788035"/>
                    <a:pt x="393954" y="788035"/>
                  </a:cubicBezTo>
                  <a:lnTo>
                    <a:pt x="393954" y="775335"/>
                  </a:lnTo>
                  <a:lnTo>
                    <a:pt x="393954" y="788035"/>
                  </a:lnTo>
                  <a:cubicBezTo>
                    <a:pt x="176403" y="788035"/>
                    <a:pt x="0" y="611632"/>
                    <a:pt x="0" y="393954"/>
                  </a:cubicBezTo>
                  <a:lnTo>
                    <a:pt x="12700" y="393954"/>
                  </a:lnTo>
                  <a:lnTo>
                    <a:pt x="23495" y="400685"/>
                  </a:lnTo>
                  <a:cubicBezTo>
                    <a:pt x="20447" y="405511"/>
                    <a:pt x="14732" y="407670"/>
                    <a:pt x="9271" y="406146"/>
                  </a:cubicBezTo>
                  <a:cubicBezTo>
                    <a:pt x="3810" y="404622"/>
                    <a:pt x="0" y="399669"/>
                    <a:pt x="0" y="393954"/>
                  </a:cubicBezTo>
                  <a:moveTo>
                    <a:pt x="25400" y="393954"/>
                  </a:moveTo>
                  <a:lnTo>
                    <a:pt x="12700" y="393954"/>
                  </a:lnTo>
                  <a:lnTo>
                    <a:pt x="1905" y="387223"/>
                  </a:lnTo>
                  <a:cubicBezTo>
                    <a:pt x="4953" y="382397"/>
                    <a:pt x="10668" y="380238"/>
                    <a:pt x="16129" y="381762"/>
                  </a:cubicBezTo>
                  <a:cubicBezTo>
                    <a:pt x="21590" y="383286"/>
                    <a:pt x="25273" y="388366"/>
                    <a:pt x="25273" y="393954"/>
                  </a:cubicBezTo>
                  <a:cubicBezTo>
                    <a:pt x="25400" y="597535"/>
                    <a:pt x="190373" y="762635"/>
                    <a:pt x="393954" y="762635"/>
                  </a:cubicBezTo>
                  <a:cubicBezTo>
                    <a:pt x="597535" y="762635"/>
                    <a:pt x="762635" y="597535"/>
                    <a:pt x="762635" y="393954"/>
                  </a:cubicBezTo>
                  <a:lnTo>
                    <a:pt x="775335" y="393954"/>
                  </a:lnTo>
                  <a:lnTo>
                    <a:pt x="762635" y="393954"/>
                  </a:lnTo>
                  <a:cubicBezTo>
                    <a:pt x="762635" y="190373"/>
                    <a:pt x="597535" y="25400"/>
                    <a:pt x="393954" y="25400"/>
                  </a:cubicBezTo>
                  <a:lnTo>
                    <a:pt x="393954" y="12700"/>
                  </a:lnTo>
                  <a:lnTo>
                    <a:pt x="393954" y="25400"/>
                  </a:lnTo>
                  <a:cubicBezTo>
                    <a:pt x="190373" y="25400"/>
                    <a:pt x="25400" y="190373"/>
                    <a:pt x="25400" y="393954"/>
                  </a:cubicBezTo>
                  <a:close/>
                </a:path>
              </a:pathLst>
            </a:custGeom>
            <a:solidFill>
              <a:srgbClr val="40424D"/>
            </a:solidFill>
          </p:spPr>
          <p:txBody>
            <a:bodyPr/>
            <a:p/>
          </p:txBody>
        </p:sp>
      </p:grpSp>
      <p:grpSp>
        <p:nvGrpSpPr>
          <p:cNvPr name="Group 50" id="50"/>
          <p:cNvGrpSpPr/>
          <p:nvPr/>
        </p:nvGrpSpPr>
        <p:grpSpPr>
          <a:xfrm rot="0">
            <a:off x="1042416" y="8181594"/>
            <a:ext cx="200254" cy="229057"/>
            <a:chOff x="0" y="0"/>
            <a:chExt cx="267005" cy="305410"/>
          </a:xfrm>
        </p:grpSpPr>
        <p:sp>
          <p:nvSpPr>
            <p:cNvPr name="Freeform 51" id="51" descr="preencoded.png"/>
            <p:cNvSpPr/>
            <p:nvPr/>
          </p:nvSpPr>
          <p:spPr>
            <a:xfrm flipH="false" flipV="false" rot="0">
              <a:off x="0" y="0"/>
              <a:ext cx="266954" cy="305435"/>
            </a:xfrm>
            <a:custGeom>
              <a:avLst/>
              <a:gdLst/>
              <a:ahLst/>
              <a:cxnLst/>
              <a:rect r="r" b="b" t="t" l="l"/>
              <a:pathLst>
                <a:path h="305435" w="266954">
                  <a:moveTo>
                    <a:pt x="0" y="0"/>
                  </a:moveTo>
                  <a:lnTo>
                    <a:pt x="266954" y="0"/>
                  </a:lnTo>
                  <a:lnTo>
                    <a:pt x="266954" y="305435"/>
                  </a:lnTo>
                  <a:lnTo>
                    <a:pt x="0" y="305435"/>
                  </a:lnTo>
                  <a:lnTo>
                    <a:pt x="0" y="0"/>
                  </a:lnTo>
                  <a:close/>
                </a:path>
              </a:pathLst>
            </a:custGeom>
            <a:blipFill>
              <a:blip r:embed="rId9"/>
              <a:stretch>
                <a:fillRect l="0" t="41" r="-589" b="54"/>
              </a:stretch>
            </a:blipFill>
          </p:spPr>
          <p:txBody>
            <a:bodyPr/>
            <a:p/>
          </p:txBody>
        </p:sp>
      </p:grpSp>
      <p:grpSp>
        <p:nvGrpSpPr>
          <p:cNvPr name="Group 52" id="52"/>
          <p:cNvGrpSpPr/>
          <p:nvPr/>
        </p:nvGrpSpPr>
        <p:grpSpPr>
          <a:xfrm rot="0">
            <a:off x="1656893" y="8123987"/>
            <a:ext cx="3622396" cy="391173"/>
            <a:chOff x="0" y="0"/>
            <a:chExt cx="4829861" cy="521564"/>
          </a:xfrm>
        </p:grpSpPr>
        <p:sp>
          <p:nvSpPr>
            <p:cNvPr name="Freeform 53" id="53"/>
            <p:cNvSpPr/>
            <p:nvPr/>
          </p:nvSpPr>
          <p:spPr>
            <a:xfrm flipH="false" flipV="false" rot="0">
              <a:off x="0" y="0"/>
              <a:ext cx="4829860" cy="521564"/>
            </a:xfrm>
            <a:custGeom>
              <a:avLst/>
              <a:gdLst/>
              <a:ahLst/>
              <a:cxnLst/>
              <a:rect r="r" b="b" t="t" l="l"/>
              <a:pathLst>
                <a:path h="521564" w="4829860">
                  <a:moveTo>
                    <a:pt x="0" y="0"/>
                  </a:moveTo>
                  <a:lnTo>
                    <a:pt x="4829860" y="0"/>
                  </a:lnTo>
                  <a:lnTo>
                    <a:pt x="4829860" y="521564"/>
                  </a:lnTo>
                  <a:lnTo>
                    <a:pt x="0" y="521564"/>
                  </a:lnTo>
                  <a:close/>
                </a:path>
              </a:pathLst>
            </a:custGeom>
            <a:blipFill>
              <a:blip r:embed="rId4">
                <a:alphaModFix amt="0"/>
              </a:blip>
              <a:stretch>
                <a:fillRect l="0" t="-136608" r="0" b="-124267"/>
              </a:stretch>
            </a:blipFill>
          </p:spPr>
          <p:txBody>
            <a:bodyPr/>
            <a:p/>
          </p:txBody>
        </p:sp>
        <p:sp>
          <p:nvSpPr>
            <p:cNvPr name="TextBox 54" id="54"/>
            <p:cNvSpPr txBox="true"/>
            <p:nvPr/>
          </p:nvSpPr>
          <p:spPr>
            <a:xfrm>
              <a:off x="0" y="9525"/>
              <a:ext cx="4829861" cy="512039"/>
            </a:xfrm>
            <a:prstGeom prst="rect">
              <a:avLst/>
            </a:prstGeom>
          </p:spPr>
          <p:txBody>
            <a:bodyPr anchor="ctr" rtlCol="false" tIns="0" lIns="0" bIns="0" rIns="0"/>
            <a:lstStyle/>
            <a:p>
              <a:pPr algn="l">
                <a:lnSpc>
                  <a:spcPts val="2160"/>
                </a:lnSpc>
              </a:pPr>
              <a:r>
                <a:rPr lang="en-US" sz="1800">
                  <a:solidFill>
                    <a:srgbClr val="D3D6E0"/>
                  </a:solidFill>
                  <a:latin typeface="Manrope"/>
                  <a:ea typeface="Manrope"/>
                  <a:cs typeface="Manrope"/>
                  <a:sym typeface="Manrope"/>
                </a:rPr>
                <a:t>@dr_addor</a:t>
              </a:r>
              <a:r>
                <a:rPr lang="en-US" sz="1800">
                  <a:solidFill>
                    <a:srgbClr val="D3D6E0"/>
                  </a:solidFill>
                  <a:latin typeface="Manrope"/>
                  <a:ea typeface="Manrope"/>
                  <a:cs typeface="Manrope"/>
                  <a:sym typeface="Manrope"/>
                </a:rPr>
                <a:t/>
              </a:r>
            </a:p>
          </p:txBody>
        </p:sp>
      </p:grpSp>
      <p:grpSp>
        <p:nvGrpSpPr>
          <p:cNvPr name="Group 55" id="55"/>
          <p:cNvGrpSpPr/>
          <p:nvPr/>
        </p:nvGrpSpPr>
        <p:grpSpPr>
          <a:xfrm rot="0">
            <a:off x="10122741" y="-9525"/>
            <a:ext cx="8174327" cy="10306050"/>
            <a:chOff x="0" y="0"/>
            <a:chExt cx="10899102" cy="13741400"/>
          </a:xfrm>
        </p:grpSpPr>
        <p:sp>
          <p:nvSpPr>
            <p:cNvPr name="Freeform 56" id="56"/>
            <p:cNvSpPr/>
            <p:nvPr/>
          </p:nvSpPr>
          <p:spPr>
            <a:xfrm flipH="false" flipV="false" rot="0">
              <a:off x="15096" y="12700"/>
              <a:ext cx="10868911" cy="13716000"/>
            </a:xfrm>
            <a:custGeom>
              <a:avLst/>
              <a:gdLst/>
              <a:ahLst/>
              <a:cxnLst/>
              <a:rect r="r" b="b" t="t" l="l"/>
              <a:pathLst>
                <a:path h="13716000" w="10868911">
                  <a:moveTo>
                    <a:pt x="0" y="0"/>
                  </a:moveTo>
                  <a:lnTo>
                    <a:pt x="10868911" y="0"/>
                  </a:lnTo>
                  <a:lnTo>
                    <a:pt x="10868911" y="13716000"/>
                  </a:lnTo>
                  <a:lnTo>
                    <a:pt x="0" y="13716000"/>
                  </a:lnTo>
                  <a:close/>
                </a:path>
              </a:pathLst>
            </a:custGeom>
            <a:solidFill>
              <a:srgbClr val="1E1E24"/>
            </a:solidFill>
          </p:spPr>
          <p:txBody>
            <a:bodyPr/>
            <a:p/>
          </p:txBody>
        </p:sp>
      </p:grpSp>
      <p:grpSp>
        <p:nvGrpSpPr>
          <p:cNvPr name="Group 57" id="57"/>
          <p:cNvGrpSpPr/>
          <p:nvPr/>
        </p:nvGrpSpPr>
        <p:grpSpPr>
          <a:xfrm rot="0">
            <a:off x="12801143" y="3021635"/>
            <a:ext cx="4114800" cy="4114800"/>
            <a:chOff x="0" y="0"/>
            <a:chExt cx="5486400" cy="5486400"/>
          </a:xfrm>
        </p:grpSpPr>
        <p:sp>
          <p:nvSpPr>
            <p:cNvPr name="Freeform 58" id="58"/>
            <p:cNvSpPr/>
            <p:nvPr/>
          </p:nvSpPr>
          <p:spPr>
            <a:xfrm flipH="false" flipV="false" rot="0">
              <a:off x="0" y="0"/>
              <a:ext cx="5486400" cy="5486400"/>
            </a:xfrm>
            <a:custGeom>
              <a:avLst/>
              <a:gdLst/>
              <a:ahLst/>
              <a:cxnLst/>
              <a:rect r="r" b="b" t="t" l="l"/>
              <a:pathLst>
                <a:path h="5486400" w="5486400">
                  <a:moveTo>
                    <a:pt x="127000" y="0"/>
                  </a:moveTo>
                  <a:lnTo>
                    <a:pt x="5359400" y="0"/>
                  </a:lnTo>
                  <a:cubicBezTo>
                    <a:pt x="5429540" y="0"/>
                    <a:pt x="5486400" y="56860"/>
                    <a:pt x="5486400" y="127000"/>
                  </a:cubicBezTo>
                  <a:lnTo>
                    <a:pt x="5486400" y="5359400"/>
                  </a:lnTo>
                  <a:cubicBezTo>
                    <a:pt x="5486400" y="5429540"/>
                    <a:pt x="5429540" y="5486400"/>
                    <a:pt x="5359400" y="5486400"/>
                  </a:cubicBezTo>
                  <a:lnTo>
                    <a:pt x="127000" y="5486400"/>
                  </a:lnTo>
                  <a:cubicBezTo>
                    <a:pt x="56860" y="5486400"/>
                    <a:pt x="0" y="5429540"/>
                    <a:pt x="0" y="5359400"/>
                  </a:cubicBezTo>
                  <a:lnTo>
                    <a:pt x="0" y="127000"/>
                  </a:lnTo>
                  <a:cubicBezTo>
                    <a:pt x="0" y="56860"/>
                    <a:pt x="56860" y="0"/>
                    <a:pt x="127000" y="0"/>
                  </a:cubicBezTo>
                  <a:close/>
                </a:path>
              </a:pathLst>
            </a:custGeom>
            <a:blipFill>
              <a:blip r:embed="rId10"/>
              <a:stretch>
                <a:fillRect l="0" t="0" r="0" b="0"/>
              </a:stretch>
            </a:blipFill>
          </p:spPr>
          <p:txBody>
            <a:bodyPr/>
            <a:p/>
          </p:txBody>
        </p:sp>
      </p:grpSp>
      <p:grpSp>
        <p:nvGrpSpPr>
          <p:cNvPr name="Group 59" id="59"/>
          <p:cNvGrpSpPr/>
          <p:nvPr/>
        </p:nvGrpSpPr>
        <p:grpSpPr>
          <a:xfrm rot="0">
            <a:off x="847725" y="9515551"/>
            <a:ext cx="1934489" cy="424568"/>
            <a:chOff x="0" y="0"/>
            <a:chExt cx="509495" cy="111820"/>
          </a:xfrm>
        </p:grpSpPr>
        <p:sp>
          <p:nvSpPr>
            <p:cNvPr name="Freeform 60" id="60"/>
            <p:cNvSpPr/>
            <p:nvPr/>
          </p:nvSpPr>
          <p:spPr>
            <a:xfrm flipH="false" flipV="false" rot="0">
              <a:off x="0" y="0"/>
              <a:ext cx="509495" cy="111820"/>
            </a:xfrm>
            <a:custGeom>
              <a:avLst/>
              <a:gdLst/>
              <a:ahLst/>
              <a:cxnLst/>
              <a:rect r="r" b="b" t="t" l="l"/>
              <a:pathLst>
                <a:path h="111820" w="509495">
                  <a:moveTo>
                    <a:pt x="0" y="0"/>
                  </a:moveTo>
                  <a:lnTo>
                    <a:pt x="509495" y="0"/>
                  </a:lnTo>
                  <a:lnTo>
                    <a:pt x="509495" y="111820"/>
                  </a:lnTo>
                  <a:lnTo>
                    <a:pt x="0" y="111820"/>
                  </a:lnTo>
                  <a:close/>
                </a:path>
              </a:pathLst>
            </a:custGeom>
            <a:solidFill>
              <a:srgbClr val="1E1E24"/>
            </a:solidFill>
            <a:ln w="19050" cap="sq">
              <a:solidFill>
                <a:srgbClr val="40424D"/>
              </a:solidFill>
              <a:prstDash val="solid"/>
              <a:miter/>
            </a:ln>
          </p:spPr>
          <p:txBody>
            <a:bodyPr/>
            <a:p/>
          </p:txBody>
        </p:sp>
        <p:sp>
          <p:nvSpPr>
            <p:cNvPr name="TextBox 61" id="61"/>
            <p:cNvSpPr txBox="true"/>
            <p:nvPr/>
          </p:nvSpPr>
          <p:spPr>
            <a:xfrm>
              <a:off x="0" y="0"/>
              <a:ext cx="509495" cy="111820"/>
            </a:xfrm>
            <a:prstGeom prst="rect">
              <a:avLst/>
            </a:prstGeom>
          </p:spPr>
          <p:txBody>
            <a:bodyPr anchor="ctr" rtlCol="false" tIns="50800" lIns="50800" bIns="50800" rIns="50800"/>
            <a:lstStyle/>
            <a:p>
              <a:pPr algn="ctr">
                <a:lnSpc>
                  <a:spcPts val="1620"/>
                </a:lnSpc>
              </a:pPr>
              <a:r>
                <a:rPr lang="en-US" b="true" sz="1350">
                  <a:solidFill>
                    <a:srgbClr val="9DA2B3"/>
                  </a:solidFill>
                  <a:latin typeface="Manrope Bold"/>
                  <a:ea typeface="Manrope Bold"/>
                  <a:cs typeface="Manrope Bold"/>
                  <a:sym typeface="Manrope Bold"/>
                </a:rPr>
                <a:t>Swiss-Grade Safety</a:t>
              </a:r>
            </a:p>
          </p:txBody>
        </p:sp>
      </p:grpSp>
      <p:grpSp>
        <p:nvGrpSpPr>
          <p:cNvPr name="Group 62" id="62"/>
          <p:cNvGrpSpPr/>
          <p:nvPr/>
        </p:nvGrpSpPr>
        <p:grpSpPr>
          <a:xfrm rot="0">
            <a:off x="3186057" y="9515551"/>
            <a:ext cx="4186463" cy="424568"/>
            <a:chOff x="0" y="0"/>
            <a:chExt cx="1102608" cy="111820"/>
          </a:xfrm>
        </p:grpSpPr>
        <p:sp>
          <p:nvSpPr>
            <p:cNvPr name="Freeform 63" id="63"/>
            <p:cNvSpPr/>
            <p:nvPr/>
          </p:nvSpPr>
          <p:spPr>
            <a:xfrm flipH="false" flipV="false" rot="0">
              <a:off x="0" y="0"/>
              <a:ext cx="1102608" cy="111820"/>
            </a:xfrm>
            <a:custGeom>
              <a:avLst/>
              <a:gdLst/>
              <a:ahLst/>
              <a:cxnLst/>
              <a:rect r="r" b="b" t="t" l="l"/>
              <a:pathLst>
                <a:path h="111820" w="1102608">
                  <a:moveTo>
                    <a:pt x="0" y="0"/>
                  </a:moveTo>
                  <a:lnTo>
                    <a:pt x="1102608" y="0"/>
                  </a:lnTo>
                  <a:lnTo>
                    <a:pt x="1102608" y="111820"/>
                  </a:lnTo>
                  <a:lnTo>
                    <a:pt x="0" y="111820"/>
                  </a:lnTo>
                  <a:close/>
                </a:path>
              </a:pathLst>
            </a:custGeom>
            <a:solidFill>
              <a:srgbClr val="1E1E24"/>
            </a:solidFill>
            <a:ln w="19050" cap="sq">
              <a:solidFill>
                <a:srgbClr val="40424D"/>
              </a:solidFill>
              <a:prstDash val="solid"/>
              <a:miter/>
            </a:ln>
          </p:spPr>
          <p:txBody>
            <a:bodyPr/>
            <a:p/>
          </p:txBody>
        </p:sp>
        <p:sp>
          <p:nvSpPr>
            <p:cNvPr name="TextBox 64" id="64"/>
            <p:cNvSpPr txBox="true"/>
            <p:nvPr/>
          </p:nvSpPr>
          <p:spPr>
            <a:xfrm>
              <a:off x="0" y="0"/>
              <a:ext cx="1102608" cy="111820"/>
            </a:xfrm>
            <a:prstGeom prst="rect">
              <a:avLst/>
            </a:prstGeom>
          </p:spPr>
          <p:txBody>
            <a:bodyPr anchor="ctr" rtlCol="false" tIns="50800" lIns="50800" bIns="50800" rIns="50800"/>
            <a:lstStyle/>
            <a:p>
              <a:pPr algn="ctr">
                <a:lnSpc>
                  <a:spcPts val="1620"/>
                </a:lnSpc>
              </a:pPr>
              <a:r>
                <a:rPr lang="en-US" b="true" sz="1350">
                  <a:solidFill>
                    <a:srgbClr val="9DA2B3"/>
                  </a:solidFill>
                  <a:latin typeface="Manrope Bold"/>
                  <a:ea typeface="Manrope Bold"/>
                  <a:cs typeface="Manrope Bold"/>
                  <a:sym typeface="Manrope Bold"/>
                </a:rPr>
                <a:t>Longevity Medicine - Premium Services </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25" y="-9525"/>
            <a:ext cx="18306593" cy="10306050"/>
            <a:chOff x="0" y="0"/>
            <a:chExt cx="24408790" cy="13741400"/>
          </a:xfrm>
        </p:grpSpPr>
        <p:sp>
          <p:nvSpPr>
            <p:cNvPr name="Freeform 3" id="3"/>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4" id="4"/>
          <p:cNvGrpSpPr/>
          <p:nvPr/>
        </p:nvGrpSpPr>
        <p:grpSpPr>
          <a:xfrm rot="0">
            <a:off x="-9525" y="-9525"/>
            <a:ext cx="18306593" cy="10306050"/>
            <a:chOff x="0" y="0"/>
            <a:chExt cx="24408790" cy="13741400"/>
          </a:xfrm>
        </p:grpSpPr>
        <p:sp>
          <p:nvSpPr>
            <p:cNvPr name="Freeform 5" id="5"/>
            <p:cNvSpPr/>
            <p:nvPr/>
          </p:nvSpPr>
          <p:spPr>
            <a:xfrm flipH="false" flipV="false" rot="0">
              <a:off x="12700" y="1270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solidFill>
          </p:spPr>
          <p:txBody>
            <a:bodyPr/>
            <a:p/>
          </p:txBody>
        </p:sp>
      </p:grpSp>
      <p:grpSp>
        <p:nvGrpSpPr>
          <p:cNvPr name="Group 6" id="6"/>
          <p:cNvGrpSpPr/>
          <p:nvPr/>
        </p:nvGrpSpPr>
        <p:grpSpPr>
          <a:xfrm rot="0">
            <a:off x="11406302" y="-9525"/>
            <a:ext cx="32766" cy="10306050"/>
            <a:chOff x="0" y="0"/>
            <a:chExt cx="43688" cy="13741400"/>
          </a:xfrm>
        </p:grpSpPr>
        <p:sp>
          <p:nvSpPr>
            <p:cNvPr name="Freeform 7" id="7"/>
            <p:cNvSpPr/>
            <p:nvPr/>
          </p:nvSpPr>
          <p:spPr>
            <a:xfrm flipH="false" flipV="false" rot="0">
              <a:off x="12700" y="12700"/>
              <a:ext cx="18288" cy="13716000"/>
            </a:xfrm>
            <a:custGeom>
              <a:avLst/>
              <a:gdLst/>
              <a:ahLst/>
              <a:cxnLst/>
              <a:rect r="r" b="b" t="t" l="l"/>
              <a:pathLst>
                <a:path h="13716000" w="18288">
                  <a:moveTo>
                    <a:pt x="0" y="0"/>
                  </a:moveTo>
                  <a:lnTo>
                    <a:pt x="18288" y="0"/>
                  </a:lnTo>
                  <a:lnTo>
                    <a:pt x="18288" y="13716000"/>
                  </a:lnTo>
                  <a:lnTo>
                    <a:pt x="0" y="13716000"/>
                  </a:lnTo>
                  <a:close/>
                </a:path>
              </a:pathLst>
            </a:custGeom>
            <a:solidFill>
              <a:srgbClr val="40424D"/>
            </a:solidFill>
          </p:spPr>
          <p:txBody>
            <a:bodyPr/>
            <a:p/>
          </p:txBody>
        </p:sp>
      </p:grpSp>
      <p:grpSp>
        <p:nvGrpSpPr>
          <p:cNvPr name="Group 8" id="8"/>
          <p:cNvGrpSpPr/>
          <p:nvPr/>
        </p:nvGrpSpPr>
        <p:grpSpPr>
          <a:xfrm rot="0">
            <a:off x="5077775" y="-9525"/>
            <a:ext cx="13219292" cy="10306050"/>
            <a:chOff x="0" y="0"/>
            <a:chExt cx="17625723" cy="13741400"/>
          </a:xfrm>
        </p:grpSpPr>
        <p:sp>
          <p:nvSpPr>
            <p:cNvPr name="Freeform 9" id="9"/>
            <p:cNvSpPr/>
            <p:nvPr/>
          </p:nvSpPr>
          <p:spPr>
            <a:xfrm flipH="false" flipV="false" rot="0">
              <a:off x="24412" y="12700"/>
              <a:ext cx="17576898" cy="13716000"/>
            </a:xfrm>
            <a:custGeom>
              <a:avLst/>
              <a:gdLst/>
              <a:ahLst/>
              <a:cxnLst/>
              <a:rect r="r" b="b" t="t" l="l"/>
              <a:pathLst>
                <a:path h="13716000" w="17576898">
                  <a:moveTo>
                    <a:pt x="0" y="0"/>
                  </a:moveTo>
                  <a:lnTo>
                    <a:pt x="17576898" y="0"/>
                  </a:lnTo>
                  <a:lnTo>
                    <a:pt x="17576898" y="13716000"/>
                  </a:lnTo>
                  <a:lnTo>
                    <a:pt x="0" y="13716000"/>
                  </a:lnTo>
                  <a:close/>
                </a:path>
              </a:pathLst>
            </a:custGeom>
            <a:solidFill>
              <a:srgbClr val="1E1E24"/>
            </a:solidFill>
          </p:spPr>
          <p:txBody>
            <a:bodyPr/>
            <a:p/>
          </p:txBody>
        </p:sp>
      </p:grpSp>
      <p:grpSp>
        <p:nvGrpSpPr>
          <p:cNvPr name="Group 10" id="10"/>
          <p:cNvGrpSpPr/>
          <p:nvPr/>
        </p:nvGrpSpPr>
        <p:grpSpPr>
          <a:xfrm rot="0">
            <a:off x="6741205" y="165626"/>
            <a:ext cx="10174738" cy="1779727"/>
            <a:chOff x="0" y="0"/>
            <a:chExt cx="13566318" cy="2372970"/>
          </a:xfrm>
        </p:grpSpPr>
        <p:sp>
          <p:nvSpPr>
            <p:cNvPr name="Freeform 11" id="11"/>
            <p:cNvSpPr/>
            <p:nvPr/>
          </p:nvSpPr>
          <p:spPr>
            <a:xfrm flipH="false" flipV="false" rot="0">
              <a:off x="0" y="0"/>
              <a:ext cx="13566318" cy="2372970"/>
            </a:xfrm>
            <a:custGeom>
              <a:avLst/>
              <a:gdLst/>
              <a:ahLst/>
              <a:cxnLst/>
              <a:rect r="r" b="b" t="t" l="l"/>
              <a:pathLst>
                <a:path h="2372970" w="13566318">
                  <a:moveTo>
                    <a:pt x="0" y="0"/>
                  </a:moveTo>
                  <a:lnTo>
                    <a:pt x="13566318" y="0"/>
                  </a:lnTo>
                  <a:lnTo>
                    <a:pt x="13566318" y="2372970"/>
                  </a:lnTo>
                  <a:lnTo>
                    <a:pt x="0" y="2372970"/>
                  </a:lnTo>
                  <a:close/>
                </a:path>
              </a:pathLst>
            </a:custGeom>
            <a:blipFill>
              <a:blip r:embed="rId3">
                <a:alphaModFix amt="0"/>
              </a:blip>
              <a:stretch>
                <a:fillRect l="0" t="-26024" r="69062" b="57097"/>
              </a:stretch>
            </a:blipFill>
          </p:spPr>
          <p:txBody>
            <a:bodyPr/>
            <a:p/>
          </p:txBody>
        </p:sp>
        <p:sp>
          <p:nvSpPr>
            <p:cNvPr name="TextBox 12" id="12"/>
            <p:cNvSpPr txBox="true"/>
            <p:nvPr/>
          </p:nvSpPr>
          <p:spPr>
            <a:xfrm>
              <a:off x="0" y="9525"/>
              <a:ext cx="13566318" cy="2363445"/>
            </a:xfrm>
            <a:prstGeom prst="rect">
              <a:avLst/>
            </a:prstGeom>
          </p:spPr>
          <p:txBody>
            <a:bodyPr anchor="ctr" rtlCol="false" tIns="0" lIns="0" bIns="0" rIns="0"/>
            <a:lstStyle/>
            <a:p>
              <a:pPr algn="ctr">
                <a:lnSpc>
                  <a:spcPts val="5759"/>
                </a:lnSpc>
              </a:pPr>
              <a:r>
                <a:rPr lang="en-US" b="true" sz="4800" spc="360">
                  <a:solidFill>
                    <a:srgbClr val="FFFFFF"/>
                  </a:solidFill>
                  <a:latin typeface="Manrope Bold"/>
                  <a:ea typeface="Manrope Bold"/>
                  <a:cs typeface="Manrope Bold"/>
                  <a:sym typeface="Manrope Bold"/>
                </a:rPr>
                <a:t>Recevez votre protocole personnalisé pour démarrer</a:t>
              </a:r>
            </a:p>
          </p:txBody>
        </p:sp>
      </p:grpSp>
      <p:grpSp>
        <p:nvGrpSpPr>
          <p:cNvPr name="Group 13" id="13"/>
          <p:cNvGrpSpPr/>
          <p:nvPr/>
        </p:nvGrpSpPr>
        <p:grpSpPr>
          <a:xfrm rot="0">
            <a:off x="8664735" y="1830584"/>
            <a:ext cx="6045374" cy="534773"/>
            <a:chOff x="0" y="0"/>
            <a:chExt cx="4422038" cy="391173"/>
          </a:xfrm>
        </p:grpSpPr>
        <p:sp>
          <p:nvSpPr>
            <p:cNvPr name="Freeform 14" id="14"/>
            <p:cNvSpPr/>
            <p:nvPr/>
          </p:nvSpPr>
          <p:spPr>
            <a:xfrm flipH="false" flipV="false" rot="0">
              <a:off x="0" y="0"/>
              <a:ext cx="4422038" cy="391172"/>
            </a:xfrm>
            <a:custGeom>
              <a:avLst/>
              <a:gdLst/>
              <a:ahLst/>
              <a:cxnLst/>
              <a:rect r="r" b="b" t="t" l="l"/>
              <a:pathLst>
                <a:path h="391172" w="4422038">
                  <a:moveTo>
                    <a:pt x="0" y="0"/>
                  </a:moveTo>
                  <a:lnTo>
                    <a:pt x="4422038" y="0"/>
                  </a:lnTo>
                  <a:lnTo>
                    <a:pt x="4422038" y="391172"/>
                  </a:lnTo>
                  <a:lnTo>
                    <a:pt x="0" y="391172"/>
                  </a:lnTo>
                  <a:close/>
                </a:path>
              </a:pathLst>
            </a:custGeom>
            <a:blipFill>
              <a:blip r:embed="rId3">
                <a:alphaModFix amt="0"/>
              </a:blip>
              <a:stretch>
                <a:fillRect l="0" t="-176323" r="0" b="-164216"/>
              </a:stretch>
            </a:blipFill>
          </p:spPr>
          <p:txBody>
            <a:bodyPr/>
            <a:p/>
          </p:txBody>
        </p:sp>
        <p:sp>
          <p:nvSpPr>
            <p:cNvPr name="TextBox 15" id="15"/>
            <p:cNvSpPr txBox="true"/>
            <p:nvPr/>
          </p:nvSpPr>
          <p:spPr>
            <a:xfrm>
              <a:off x="0" y="9525"/>
              <a:ext cx="4422038" cy="381648"/>
            </a:xfrm>
            <a:prstGeom prst="rect">
              <a:avLst/>
            </a:prstGeom>
          </p:spPr>
          <p:txBody>
            <a:bodyPr anchor="ctr" rtlCol="false" tIns="0" lIns="0" bIns="0" rIns="0"/>
            <a:lstStyle/>
            <a:p>
              <a:pPr algn="ctr">
                <a:lnSpc>
                  <a:spcPts val="2160"/>
                </a:lnSpc>
              </a:pPr>
              <a:r>
                <a:rPr lang="en-US" sz="1800">
                  <a:solidFill>
                    <a:srgbClr val="9DA2B3"/>
                  </a:solidFill>
                  <a:latin typeface="Manrope"/>
                  <a:ea typeface="Manrope"/>
                  <a:cs typeface="Manrope"/>
                  <a:sym typeface="Manrope"/>
                </a:rPr>
                <a:t>Sous quelques jours basé sur votre profil</a:t>
              </a:r>
            </a:p>
          </p:txBody>
        </p:sp>
      </p:grpSp>
      <p:grpSp>
        <p:nvGrpSpPr>
          <p:cNvPr name="Group 16" id="16"/>
          <p:cNvGrpSpPr/>
          <p:nvPr/>
        </p:nvGrpSpPr>
        <p:grpSpPr>
          <a:xfrm rot="0">
            <a:off x="7998600" y="2552141"/>
            <a:ext cx="7377644" cy="7377644"/>
            <a:chOff x="0" y="0"/>
            <a:chExt cx="9836858" cy="9836858"/>
          </a:xfrm>
        </p:grpSpPr>
        <p:grpSp>
          <p:nvGrpSpPr>
            <p:cNvPr name="Group 17" id="17"/>
            <p:cNvGrpSpPr/>
            <p:nvPr/>
          </p:nvGrpSpPr>
          <p:grpSpPr>
            <a:xfrm rot="0">
              <a:off x="0" y="0"/>
              <a:ext cx="9836858" cy="9836858"/>
              <a:chOff x="0" y="0"/>
              <a:chExt cx="5486400" cy="5486400"/>
            </a:xfrm>
          </p:grpSpPr>
          <p:sp>
            <p:nvSpPr>
              <p:cNvPr name="Freeform 18" id="18" descr="preencoded.png"/>
              <p:cNvSpPr/>
              <p:nvPr/>
            </p:nvSpPr>
            <p:spPr>
              <a:xfrm flipH="false" flipV="false" rot="0">
                <a:off x="0" y="0"/>
                <a:ext cx="5486400" cy="5486400"/>
              </a:xfrm>
              <a:custGeom>
                <a:avLst/>
                <a:gdLst/>
                <a:ahLst/>
                <a:cxnLst/>
                <a:rect r="r" b="b" t="t" l="l"/>
                <a:pathLst>
                  <a:path h="5486400" w="5486400">
                    <a:moveTo>
                      <a:pt x="127000" y="0"/>
                    </a:moveTo>
                    <a:lnTo>
                      <a:pt x="5359400" y="0"/>
                    </a:lnTo>
                    <a:cubicBezTo>
                      <a:pt x="5429540" y="0"/>
                      <a:pt x="5486400" y="56860"/>
                      <a:pt x="5486400" y="127000"/>
                    </a:cubicBezTo>
                    <a:lnTo>
                      <a:pt x="5486400" y="5359400"/>
                    </a:lnTo>
                    <a:cubicBezTo>
                      <a:pt x="5486400" y="5429540"/>
                      <a:pt x="5429540" y="5486400"/>
                      <a:pt x="5359400" y="5486400"/>
                    </a:cubicBezTo>
                    <a:lnTo>
                      <a:pt x="127000" y="5486400"/>
                    </a:lnTo>
                    <a:cubicBezTo>
                      <a:pt x="93318" y="5486400"/>
                      <a:pt x="61015" y="5473020"/>
                      <a:pt x="37197" y="5449203"/>
                    </a:cubicBezTo>
                    <a:cubicBezTo>
                      <a:pt x="13380" y="5425386"/>
                      <a:pt x="0" y="5393082"/>
                      <a:pt x="0" y="5359400"/>
                    </a:cubicBezTo>
                    <a:lnTo>
                      <a:pt x="0" y="127000"/>
                    </a:lnTo>
                    <a:cubicBezTo>
                      <a:pt x="0" y="56860"/>
                      <a:pt x="56860" y="0"/>
                      <a:pt x="127000" y="0"/>
                    </a:cubicBezTo>
                    <a:close/>
                  </a:path>
                </a:pathLst>
              </a:custGeom>
              <a:blipFill>
                <a:blip r:embed="rId4"/>
                <a:stretch>
                  <a:fillRect l="0" t="0" r="0" b="0"/>
                </a:stretch>
              </a:blipFill>
            </p:spPr>
            <p:txBody>
              <a:bodyPr/>
              <a:p/>
            </p:txBody>
          </p:sp>
        </p:grpSp>
        <p:grpSp>
          <p:nvGrpSpPr>
            <p:cNvPr name="Group 19" id="19"/>
            <p:cNvGrpSpPr/>
            <p:nvPr/>
          </p:nvGrpSpPr>
          <p:grpSpPr>
            <a:xfrm rot="0">
              <a:off x="259786" y="196771"/>
              <a:ext cx="9380301" cy="9380301"/>
              <a:chOff x="0" y="0"/>
              <a:chExt cx="4572000" cy="4572000"/>
            </a:xfrm>
          </p:grpSpPr>
          <p:sp>
            <p:nvSpPr>
              <p:cNvPr name="Freeform 20" id="20"/>
              <p:cNvSpPr/>
              <p:nvPr/>
            </p:nvSpPr>
            <p:spPr>
              <a:xfrm flipH="false" flipV="false" rot="0">
                <a:off x="0" y="0"/>
                <a:ext cx="4572000" cy="4572000"/>
              </a:xfrm>
              <a:custGeom>
                <a:avLst/>
                <a:gdLst/>
                <a:ahLst/>
                <a:cxnLst/>
                <a:rect r="r" b="b" t="t" l="l"/>
                <a:pathLst>
                  <a:path h="4572000" w="4572000">
                    <a:moveTo>
                      <a:pt x="0" y="0"/>
                    </a:moveTo>
                    <a:lnTo>
                      <a:pt x="4572000" y="0"/>
                    </a:lnTo>
                    <a:lnTo>
                      <a:pt x="4572000" y="4572000"/>
                    </a:lnTo>
                    <a:lnTo>
                      <a:pt x="0" y="4572000"/>
                    </a:lnTo>
                    <a:lnTo>
                      <a:pt x="0" y="0"/>
                    </a:lnTo>
                    <a:close/>
                  </a:path>
                </a:pathLst>
              </a:custGeom>
              <a:blipFill>
                <a:blip r:embed="rId5"/>
                <a:stretch>
                  <a:fillRect l="0" t="0" r="0" b="0"/>
                </a:stretch>
              </a:blipFill>
            </p:spPr>
            <p:txBody>
              <a:bodyPr/>
              <a:p/>
            </p:txBody>
          </p:sp>
        </p:grpSp>
      </p:grpSp>
      <p:grpSp>
        <p:nvGrpSpPr>
          <p:cNvPr name="Group 21" id="21"/>
          <p:cNvGrpSpPr/>
          <p:nvPr/>
        </p:nvGrpSpPr>
        <p:grpSpPr>
          <a:xfrm rot="0">
            <a:off x="1028700" y="9683082"/>
            <a:ext cx="2793949" cy="493405"/>
            <a:chOff x="0" y="0"/>
            <a:chExt cx="3725266" cy="657873"/>
          </a:xfrm>
        </p:grpSpPr>
        <p:sp>
          <p:nvSpPr>
            <p:cNvPr name="Freeform 22" id="22"/>
            <p:cNvSpPr/>
            <p:nvPr/>
          </p:nvSpPr>
          <p:spPr>
            <a:xfrm flipH="false" flipV="false" rot="0">
              <a:off x="0" y="0"/>
              <a:ext cx="3725266" cy="657874"/>
            </a:xfrm>
            <a:custGeom>
              <a:avLst/>
              <a:gdLst/>
              <a:ahLst/>
              <a:cxnLst/>
              <a:rect r="r" b="b" t="t" l="l"/>
              <a:pathLst>
                <a:path h="657874" w="3725266">
                  <a:moveTo>
                    <a:pt x="0" y="0"/>
                  </a:moveTo>
                  <a:lnTo>
                    <a:pt x="3725266" y="0"/>
                  </a:lnTo>
                  <a:lnTo>
                    <a:pt x="3725266" y="657874"/>
                  </a:lnTo>
                  <a:lnTo>
                    <a:pt x="0" y="657874"/>
                  </a:lnTo>
                  <a:close/>
                </a:path>
              </a:pathLst>
            </a:custGeom>
            <a:blipFill>
              <a:blip r:embed="rId3">
                <a:alphaModFix amt="0"/>
              </a:blip>
              <a:stretch>
                <a:fillRect l="0" t="-63911" r="0" b="-56759"/>
              </a:stretch>
            </a:blipFill>
          </p:spPr>
          <p:txBody>
            <a:bodyPr/>
            <a:p/>
          </p:txBody>
        </p:sp>
        <p:sp>
          <p:nvSpPr>
            <p:cNvPr name="TextBox 23" id="23"/>
            <p:cNvSpPr txBox="true"/>
            <p:nvPr/>
          </p:nvSpPr>
          <p:spPr>
            <a:xfrm>
              <a:off x="0" y="0"/>
              <a:ext cx="3725266" cy="657873"/>
            </a:xfrm>
            <a:prstGeom prst="rect">
              <a:avLst/>
            </a:prstGeom>
          </p:spPr>
          <p:txBody>
            <a:bodyPr anchor="ctr" rtlCol="false" tIns="0" lIns="0" bIns="0" rIns="0"/>
            <a:lstStyle/>
            <a:p>
              <a:pPr algn="ctr">
                <a:lnSpc>
                  <a:spcPts val="1620"/>
                </a:lnSpc>
              </a:pPr>
              <a:r>
                <a:rPr lang="en-US" sz="1350">
                  <a:solidFill>
                    <a:srgbClr val="FFFFFF"/>
                  </a:solidFill>
                  <a:latin typeface="Manrope"/>
                  <a:ea typeface="Manrope"/>
                  <a:cs typeface="Manrope"/>
                  <a:sym typeface="Manrope"/>
                </a:rPr>
                <a:t> THE ADDOR LONGEVITY WHEEL™</a:t>
              </a:r>
            </a:p>
            <a:p>
              <a:pPr algn="ctr">
                <a:lnSpc>
                  <a:spcPts val="1620"/>
                </a:lnSpc>
              </a:pPr>
              <a:r>
                <a:rPr lang="en-US" sz="1350">
                  <a:solidFill>
                    <a:srgbClr val="FFFFFF"/>
                  </a:solidFill>
                  <a:latin typeface="Manrope"/>
                  <a:ea typeface="Manrope"/>
                  <a:cs typeface="Manrope"/>
                  <a:sym typeface="Manrope"/>
                </a:rPr>
                <a:t> All rights reserved © 2026 </a:t>
              </a:r>
            </a:p>
          </p:txBody>
        </p:sp>
      </p:grpSp>
      <p:sp>
        <p:nvSpPr>
          <p:cNvPr name="Freeform 24" id="24"/>
          <p:cNvSpPr/>
          <p:nvPr/>
        </p:nvSpPr>
        <p:spPr>
          <a:xfrm flipH="false" flipV="false" rot="0">
            <a:off x="271381" y="1028700"/>
            <a:ext cx="4568654" cy="7943199"/>
          </a:xfrm>
          <a:custGeom>
            <a:avLst/>
            <a:gdLst/>
            <a:ahLst/>
            <a:cxnLst/>
            <a:rect r="r" b="b" t="t" l="l"/>
            <a:pathLst>
              <a:path h="7943199" w="4568654">
                <a:moveTo>
                  <a:pt x="0" y="0"/>
                </a:moveTo>
                <a:lnTo>
                  <a:pt x="4568654" y="0"/>
                </a:lnTo>
                <a:lnTo>
                  <a:pt x="4568654" y="7943199"/>
                </a:lnTo>
                <a:lnTo>
                  <a:pt x="0" y="7943199"/>
                </a:lnTo>
                <a:lnTo>
                  <a:pt x="0" y="0"/>
                </a:lnTo>
                <a:close/>
              </a:path>
            </a:pathLst>
          </a:custGeom>
          <a:blipFill>
            <a:blip r:embed="rId6"/>
            <a:stretch>
              <a:fillRect l="-1506" t="0" r="-1506" b="0"/>
            </a:stretch>
          </a:blipFill>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DAHDoK-pyfQ</dc:identifier>
  <dcterms:modified xsi:type="dcterms:W3CDTF">2011-08-01T06:04:30Z</dcterms:modified>
  <cp:revision>1</cp:revision>
  <dc:title>Dr Addor Paris 2026.pptx</dc:title>
</cp:coreProperties>
</file>